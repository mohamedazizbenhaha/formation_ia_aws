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embeddedFontLst>
    <p:embeddedFont>
      <p:font typeface="Coda" charset="-122" pitchFamily="34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2430" y="392430"/>
            <a:ext cx="889635" cy="889635"/>
          </a:xfrm>
          <a:custGeom>
            <a:avLst/>
            <a:gdLst/>
            <a:ahLst/>
            <a:cxnLst/>
            <a:rect l="l" t="t" r="r" b="b"/>
            <a:pathLst>
              <a:path w="889635" h="889635">
                <a:moveTo>
                  <a:pt x="444818" y="0"/>
                </a:moveTo>
                <a:lnTo>
                  <a:pt x="444818" y="0"/>
                </a:lnTo>
                <a:cubicBezTo>
                  <a:pt x="690483" y="0"/>
                  <a:pt x="889635" y="199152"/>
                  <a:pt x="889635" y="444817"/>
                </a:cubicBezTo>
                <a:lnTo>
                  <a:pt x="889635" y="444818"/>
                </a:lnTo>
                <a:cubicBezTo>
                  <a:pt x="889635" y="690483"/>
                  <a:pt x="690483" y="889635"/>
                  <a:pt x="444818" y="889635"/>
                </a:cubicBezTo>
                <a:lnTo>
                  <a:pt x="444818" y="889635"/>
                </a:lnTo>
                <a:cubicBezTo>
                  <a:pt x="199152" y="889635"/>
                  <a:pt x="0" y="690483"/>
                  <a:pt x="0" y="444818"/>
                </a:cubicBezTo>
                <a:lnTo>
                  <a:pt x="0" y="444818"/>
                </a:lnTo>
                <a:cubicBezTo>
                  <a:pt x="0" y="199152"/>
                  <a:pt x="199152" y="0"/>
                  <a:pt x="444817" y="0"/>
                </a:cubicBezTo>
                <a:close/>
              </a:path>
            </a:pathLst>
          </a:custGeom>
          <a:solidFill>
            <a:srgbClr val="FF6B6B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 rot="2700000">
            <a:off x="10705577" y="647178"/>
            <a:ext cx="584835" cy="584835"/>
          </a:xfrm>
          <a:custGeom>
            <a:avLst/>
            <a:gdLst/>
            <a:ahLst/>
            <a:cxnLst/>
            <a:rect l="l" t="t" r="r" b="b"/>
            <a:pathLst>
              <a:path w="584835" h="584835">
                <a:moveTo>
                  <a:pt x="0" y="0"/>
                </a:moveTo>
                <a:lnTo>
                  <a:pt x="584835" y="0"/>
                </a:lnTo>
                <a:lnTo>
                  <a:pt x="584835" y="584835"/>
                </a:lnTo>
                <a:lnTo>
                  <a:pt x="0" y="58483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21030" y="5802630"/>
            <a:ext cx="1194435" cy="432435"/>
          </a:xfrm>
          <a:custGeom>
            <a:avLst/>
            <a:gdLst/>
            <a:ahLst/>
            <a:cxnLst/>
            <a:rect l="l" t="t" r="r" b="b"/>
            <a:pathLst>
              <a:path w="1194435" h="432435">
                <a:moveTo>
                  <a:pt x="0" y="0"/>
                </a:moveTo>
                <a:lnTo>
                  <a:pt x="1194435" y="0"/>
                </a:lnTo>
                <a:lnTo>
                  <a:pt x="1194435" y="432435"/>
                </a:lnTo>
                <a:lnTo>
                  <a:pt x="0" y="432435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679430" y="4888230"/>
            <a:ext cx="280035" cy="1194435"/>
          </a:xfrm>
          <a:custGeom>
            <a:avLst/>
            <a:gdLst/>
            <a:ahLst/>
            <a:cxnLst/>
            <a:rect l="l" t="t" r="r" b="b"/>
            <a:pathLst>
              <a:path w="280035" h="1194435">
                <a:moveTo>
                  <a:pt x="0" y="0"/>
                </a:moveTo>
                <a:lnTo>
                  <a:pt x="280035" y="0"/>
                </a:lnTo>
                <a:lnTo>
                  <a:pt x="280035" y="1194435"/>
                </a:lnTo>
                <a:lnTo>
                  <a:pt x="0" y="119443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12630" y="4888230"/>
            <a:ext cx="737235" cy="737235"/>
          </a:xfrm>
          <a:custGeom>
            <a:avLst/>
            <a:gdLst/>
            <a:ahLst/>
            <a:cxnLst/>
            <a:rect l="l" t="t" r="r" b="b"/>
            <a:pathLst>
              <a:path w="737235" h="737235">
                <a:moveTo>
                  <a:pt x="368617" y="0"/>
                </a:moveTo>
                <a:lnTo>
                  <a:pt x="368617" y="0"/>
                </a:lnTo>
                <a:cubicBezTo>
                  <a:pt x="572199" y="0"/>
                  <a:pt x="737235" y="165036"/>
                  <a:pt x="737235" y="368617"/>
                </a:cubicBezTo>
                <a:lnTo>
                  <a:pt x="737235" y="368617"/>
                </a:lnTo>
                <a:cubicBezTo>
                  <a:pt x="737235" y="572199"/>
                  <a:pt x="572199" y="737235"/>
                  <a:pt x="368617" y="737235"/>
                </a:cubicBezTo>
                <a:lnTo>
                  <a:pt x="368617" y="737235"/>
                </a:lnTo>
                <a:cubicBezTo>
                  <a:pt x="165036" y="737235"/>
                  <a:pt x="0" y="572199"/>
                  <a:pt x="0" y="368618"/>
                </a:cubicBezTo>
                <a:lnTo>
                  <a:pt x="0" y="368617"/>
                </a:lnTo>
                <a:cubicBezTo>
                  <a:pt x="0" y="165036"/>
                  <a:pt x="165036" y="0"/>
                  <a:pt x="368617" y="0"/>
                </a:cubicBezTo>
                <a:close/>
              </a:path>
            </a:pathLst>
          </a:custGeom>
          <a:solidFill>
            <a:srgbClr val="4ECDC4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3048000" y="1219200"/>
            <a:ext cx="952500" cy="381000"/>
          </a:xfrm>
          <a:prstGeom prst="roundRect">
            <a:avLst>
              <a:gd name="adj" fmla="val 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1847850" y="1533525"/>
            <a:ext cx="8496300" cy="3486150"/>
          </a:xfrm>
          <a:custGeom>
            <a:avLst/>
            <a:gdLst/>
            <a:ahLst/>
            <a:cxnLst/>
            <a:rect l="l" t="t" r="r" b="b"/>
            <a:pathLst>
              <a:path w="8496300" h="3486150">
                <a:moveTo>
                  <a:pt x="0" y="0"/>
                </a:moveTo>
                <a:lnTo>
                  <a:pt x="8496300" y="0"/>
                </a:lnTo>
                <a:lnTo>
                  <a:pt x="8496300" y="3486150"/>
                </a:lnTo>
                <a:lnTo>
                  <a:pt x="0" y="3486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105025" y="1933575"/>
            <a:ext cx="79819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Apprentissage Automatique Non Supervisé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94020" y="3598545"/>
            <a:ext cx="1205865" cy="62865"/>
          </a:xfrm>
          <a:custGeom>
            <a:avLst/>
            <a:gdLst/>
            <a:ahLst/>
            <a:cxnLst/>
            <a:rect l="l" t="t" r="r" b="b"/>
            <a:pathLst>
              <a:path w="1205865" h="62865">
                <a:moveTo>
                  <a:pt x="0" y="0"/>
                </a:moveTo>
                <a:lnTo>
                  <a:pt x="1205865" y="0"/>
                </a:lnTo>
                <a:lnTo>
                  <a:pt x="1205865" y="62865"/>
                </a:lnTo>
                <a:lnTo>
                  <a:pt x="0" y="6286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190750" y="3895725"/>
            <a:ext cx="7810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Cours Complet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200275" y="4352806"/>
            <a:ext cx="7791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2D3436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Du Supervisé au Non Supervisé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107430" y="5354836"/>
            <a:ext cx="432435" cy="432435"/>
          </a:xfrm>
          <a:custGeom>
            <a:avLst/>
            <a:gdLst/>
            <a:ahLst/>
            <a:cxnLst/>
            <a:rect l="l" t="t" r="r" b="b"/>
            <a:pathLst>
              <a:path w="432435" h="432435">
                <a:moveTo>
                  <a:pt x="216218" y="0"/>
                </a:moveTo>
                <a:lnTo>
                  <a:pt x="216218" y="0"/>
                </a:lnTo>
                <a:cubicBezTo>
                  <a:pt x="335551" y="0"/>
                  <a:pt x="432435" y="96884"/>
                  <a:pt x="432435" y="216218"/>
                </a:cubicBezTo>
                <a:lnTo>
                  <a:pt x="432435" y="216218"/>
                </a:lnTo>
                <a:cubicBezTo>
                  <a:pt x="432435" y="335551"/>
                  <a:pt x="335551" y="432435"/>
                  <a:pt x="216218" y="432435"/>
                </a:cubicBezTo>
                <a:lnTo>
                  <a:pt x="216218" y="432435"/>
                </a:lnTo>
                <a:cubicBezTo>
                  <a:pt x="96884" y="432435"/>
                  <a:pt x="0" y="335551"/>
                  <a:pt x="0" y="216218"/>
                </a:cubicBezTo>
                <a:lnTo>
                  <a:pt x="0" y="216218"/>
                </a:lnTo>
                <a:cubicBezTo>
                  <a:pt x="0" y="96884"/>
                  <a:pt x="96884" y="0"/>
                  <a:pt x="216218" y="0"/>
                </a:cubicBezTo>
                <a:close/>
              </a:path>
            </a:pathLst>
          </a:custGeom>
          <a:solidFill>
            <a:srgbClr val="FFE66D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 rot="720000">
            <a:off x="6079075" y="5326481"/>
            <a:ext cx="280035" cy="280035"/>
          </a:xfrm>
          <a:custGeom>
            <a:avLst/>
            <a:gdLst/>
            <a:ahLst/>
            <a:cxnLst/>
            <a:rect l="l" t="t" r="r" b="b"/>
            <a:pathLst>
              <a:path w="280035" h="280035">
                <a:moveTo>
                  <a:pt x="0" y="0"/>
                </a:moveTo>
                <a:lnTo>
                  <a:pt x="280035" y="0"/>
                </a:lnTo>
                <a:lnTo>
                  <a:pt x="280035" y="280035"/>
                </a:lnTo>
                <a:lnTo>
                  <a:pt x="0" y="28003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107430" y="5354836"/>
            <a:ext cx="356235" cy="356235"/>
          </a:xfrm>
          <a:custGeom>
            <a:avLst/>
            <a:gdLst/>
            <a:ahLst/>
            <a:cxnLst/>
            <a:rect l="l" t="t" r="r" b="b"/>
            <a:pathLst>
              <a:path w="356235" h="356235">
                <a:moveTo>
                  <a:pt x="178118" y="0"/>
                </a:moveTo>
                <a:lnTo>
                  <a:pt x="178118" y="0"/>
                </a:lnTo>
                <a:cubicBezTo>
                  <a:pt x="276423" y="0"/>
                  <a:pt x="356235" y="79812"/>
                  <a:pt x="356235" y="178118"/>
                </a:cubicBezTo>
                <a:lnTo>
                  <a:pt x="356235" y="178118"/>
                </a:lnTo>
                <a:cubicBezTo>
                  <a:pt x="356235" y="276423"/>
                  <a:pt x="276423" y="356235"/>
                  <a:pt x="178118" y="356235"/>
                </a:cubicBezTo>
                <a:lnTo>
                  <a:pt x="178118" y="356235"/>
                </a:lnTo>
                <a:cubicBezTo>
                  <a:pt x="79812" y="356235"/>
                  <a:pt x="0" y="276423"/>
                  <a:pt x="0" y="178118"/>
                </a:cubicBezTo>
                <a:lnTo>
                  <a:pt x="0" y="178118"/>
                </a:lnTo>
                <a:cubicBezTo>
                  <a:pt x="0" y="79812"/>
                  <a:pt x="79812" y="0"/>
                  <a:pt x="178118" y="0"/>
                </a:cubicBezTo>
                <a:close/>
              </a:path>
            </a:pathLst>
          </a:custGeom>
          <a:solidFill>
            <a:srgbClr val="FF6B6B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245341" y="245341"/>
            <a:ext cx="737235" cy="737235"/>
          </a:xfrm>
          <a:custGeom>
            <a:avLst/>
            <a:gdLst/>
            <a:ahLst/>
            <a:cxnLst/>
            <a:rect l="l" t="t" r="r" b="b"/>
            <a:pathLst>
              <a:path w="737235" h="737235">
                <a:moveTo>
                  <a:pt x="0" y="0"/>
                </a:moveTo>
                <a:lnTo>
                  <a:pt x="737235" y="0"/>
                </a:lnTo>
                <a:lnTo>
                  <a:pt x="737235" y="737235"/>
                </a:lnTo>
                <a:lnTo>
                  <a:pt x="0" y="73723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0984230" y="621030"/>
            <a:ext cx="584835" cy="584835"/>
          </a:xfrm>
          <a:custGeom>
            <a:avLst/>
            <a:gdLst/>
            <a:ahLst/>
            <a:cxnLst/>
            <a:rect l="l" t="t" r="r" b="b"/>
            <a:pathLst>
              <a:path w="584835" h="584835">
                <a:moveTo>
                  <a:pt x="292418" y="0"/>
                </a:moveTo>
                <a:lnTo>
                  <a:pt x="292418" y="0"/>
                </a:lnTo>
                <a:cubicBezTo>
                  <a:pt x="453915" y="0"/>
                  <a:pt x="584835" y="130920"/>
                  <a:pt x="584835" y="292418"/>
                </a:cubicBezTo>
                <a:lnTo>
                  <a:pt x="584835" y="292418"/>
                </a:lnTo>
                <a:cubicBezTo>
                  <a:pt x="584835" y="453915"/>
                  <a:pt x="453915" y="584835"/>
                  <a:pt x="292418" y="584835"/>
                </a:cubicBezTo>
                <a:lnTo>
                  <a:pt x="292418" y="584835"/>
                </a:lnTo>
                <a:cubicBezTo>
                  <a:pt x="130920" y="584835"/>
                  <a:pt x="0" y="453915"/>
                  <a:pt x="0" y="292418"/>
                </a:cubicBezTo>
                <a:lnTo>
                  <a:pt x="0" y="292418"/>
                </a:lnTo>
                <a:cubicBezTo>
                  <a:pt x="0" y="130920"/>
                  <a:pt x="130920" y="0"/>
                  <a:pt x="292417" y="0"/>
                </a:cubicBezTo>
                <a:close/>
              </a:path>
            </a:pathLst>
          </a:custGeom>
          <a:solidFill>
            <a:srgbClr val="FFE66D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 rot="2700000">
            <a:off x="678741" y="5555542"/>
            <a:ext cx="432435" cy="432435"/>
          </a:xfrm>
          <a:custGeom>
            <a:avLst/>
            <a:gdLst/>
            <a:ahLst/>
            <a:cxnLst/>
            <a:rect l="l" t="t" r="r" b="b"/>
            <a:pathLst>
              <a:path w="432435" h="432435">
                <a:moveTo>
                  <a:pt x="0" y="0"/>
                </a:moveTo>
                <a:lnTo>
                  <a:pt x="432435" y="0"/>
                </a:lnTo>
                <a:lnTo>
                  <a:pt x="432435" y="432435"/>
                </a:lnTo>
                <a:lnTo>
                  <a:pt x="0" y="43243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679430" y="5345430"/>
            <a:ext cx="280035" cy="889635"/>
          </a:xfrm>
          <a:custGeom>
            <a:avLst/>
            <a:gdLst/>
            <a:ahLst/>
            <a:cxnLst/>
            <a:rect l="l" t="t" r="r" b="b"/>
            <a:pathLst>
              <a:path w="280035" h="889635">
                <a:moveTo>
                  <a:pt x="0" y="0"/>
                </a:moveTo>
                <a:lnTo>
                  <a:pt x="280035" y="0"/>
                </a:lnTo>
                <a:lnTo>
                  <a:pt x="280035" y="889635"/>
                </a:lnTo>
                <a:lnTo>
                  <a:pt x="0" y="88963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391900" y="17145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7" name="Shape 5"/>
          <p:cNvSpPr/>
          <p:nvPr/>
        </p:nvSpPr>
        <p:spPr>
          <a:xfrm>
            <a:off x="11582400" y="17145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8" name="Shape 6"/>
          <p:cNvSpPr/>
          <p:nvPr/>
        </p:nvSpPr>
        <p:spPr>
          <a:xfrm>
            <a:off x="11772900" y="17145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9" name="Text 7"/>
          <p:cNvSpPr/>
          <p:nvPr/>
        </p:nvSpPr>
        <p:spPr>
          <a:xfrm>
            <a:off x="381000" y="3810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Sommaire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8620" y="922020"/>
            <a:ext cx="901065" cy="62865"/>
          </a:xfrm>
          <a:custGeom>
            <a:avLst/>
            <a:gdLst/>
            <a:ahLst/>
            <a:cxnLst/>
            <a:rect l="l" t="t" r="r" b="b"/>
            <a:pathLst>
              <a:path w="901065" h="62865">
                <a:moveTo>
                  <a:pt x="0" y="0"/>
                </a:moveTo>
                <a:lnTo>
                  <a:pt x="901065" y="0"/>
                </a:lnTo>
                <a:lnTo>
                  <a:pt x="901065" y="62865"/>
                </a:lnTo>
                <a:lnTo>
                  <a:pt x="0" y="6286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2430" y="1230630"/>
            <a:ext cx="5537835" cy="937260"/>
          </a:xfrm>
          <a:custGeom>
            <a:avLst/>
            <a:gdLst/>
            <a:ahLst/>
            <a:cxnLst/>
            <a:rect l="l" t="t" r="r" b="b"/>
            <a:pathLst>
              <a:path w="5537835" h="937260">
                <a:moveTo>
                  <a:pt x="0" y="0"/>
                </a:moveTo>
                <a:lnTo>
                  <a:pt x="5537835" y="0"/>
                </a:lnTo>
                <a:lnTo>
                  <a:pt x="5537835" y="937260"/>
                </a:lnTo>
                <a:lnTo>
                  <a:pt x="0" y="9372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3880" y="1459230"/>
            <a:ext cx="367665" cy="367665"/>
          </a:xfrm>
          <a:custGeom>
            <a:avLst/>
            <a:gdLst/>
            <a:ahLst/>
            <a:cxnLst/>
            <a:rect l="l" t="t" r="r" b="b"/>
            <a:pathLst>
              <a:path w="367665" h="367665">
                <a:moveTo>
                  <a:pt x="0" y="0"/>
                </a:moveTo>
                <a:lnTo>
                  <a:pt x="367665" y="0"/>
                </a:lnTo>
                <a:lnTo>
                  <a:pt x="367665" y="367665"/>
                </a:lnTo>
                <a:lnTo>
                  <a:pt x="0" y="36766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8635" y="1451610"/>
            <a:ext cx="44767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1394460"/>
            <a:ext cx="3162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Introduction et Définition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1560" y="1661160"/>
            <a:ext cx="3152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Qu'est-ce que l'apprentissage non supervisé?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59830" y="1230630"/>
            <a:ext cx="5537835" cy="937260"/>
          </a:xfrm>
          <a:custGeom>
            <a:avLst/>
            <a:gdLst/>
            <a:ahLst/>
            <a:cxnLst/>
            <a:rect l="l" t="t" r="r" b="b"/>
            <a:pathLst>
              <a:path w="5537835" h="937260">
                <a:moveTo>
                  <a:pt x="0" y="0"/>
                </a:moveTo>
                <a:lnTo>
                  <a:pt x="5537835" y="0"/>
                </a:lnTo>
                <a:lnTo>
                  <a:pt x="5537835" y="937260"/>
                </a:lnTo>
                <a:lnTo>
                  <a:pt x="0" y="9372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31280" y="1459230"/>
            <a:ext cx="367665" cy="367665"/>
          </a:xfrm>
          <a:custGeom>
            <a:avLst/>
            <a:gdLst/>
            <a:ahLst/>
            <a:cxnLst/>
            <a:rect l="l" t="t" r="r" b="b"/>
            <a:pathLst>
              <a:path w="367665" h="367665">
                <a:moveTo>
                  <a:pt x="0" y="0"/>
                </a:moveTo>
                <a:lnTo>
                  <a:pt x="367665" y="0"/>
                </a:lnTo>
                <a:lnTo>
                  <a:pt x="367665" y="367665"/>
                </a:lnTo>
                <a:lnTo>
                  <a:pt x="0" y="36766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6035" y="1451610"/>
            <a:ext cx="44767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18960" y="1394460"/>
            <a:ext cx="1971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Comment ça Marche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18960" y="1661160"/>
            <a:ext cx="1962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Mécanismes fondamentaux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92430" y="2305050"/>
            <a:ext cx="5537835" cy="937260"/>
          </a:xfrm>
          <a:custGeom>
            <a:avLst/>
            <a:gdLst/>
            <a:ahLst/>
            <a:cxnLst/>
            <a:rect l="l" t="t" r="r" b="b"/>
            <a:pathLst>
              <a:path w="5537835" h="937260">
                <a:moveTo>
                  <a:pt x="0" y="0"/>
                </a:moveTo>
                <a:lnTo>
                  <a:pt x="5537835" y="0"/>
                </a:lnTo>
                <a:lnTo>
                  <a:pt x="5537835" y="937260"/>
                </a:lnTo>
                <a:lnTo>
                  <a:pt x="0" y="9372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63880" y="2533651"/>
            <a:ext cx="367665" cy="367665"/>
          </a:xfrm>
          <a:custGeom>
            <a:avLst/>
            <a:gdLst/>
            <a:ahLst/>
            <a:cxnLst/>
            <a:rect l="l" t="t" r="r" b="b"/>
            <a:pathLst>
              <a:path w="367665" h="367665">
                <a:moveTo>
                  <a:pt x="0" y="0"/>
                </a:moveTo>
                <a:lnTo>
                  <a:pt x="367665" y="0"/>
                </a:lnTo>
                <a:lnTo>
                  <a:pt x="367665" y="367665"/>
                </a:lnTo>
                <a:lnTo>
                  <a:pt x="0" y="367665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8635" y="2526031"/>
            <a:ext cx="44767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51560" y="2468881"/>
            <a:ext cx="2124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Familles d'Algorithmes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51560" y="2735581"/>
            <a:ext cx="2114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Vue d'ensemble des 4 familles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59830" y="2305050"/>
            <a:ext cx="5537835" cy="937260"/>
          </a:xfrm>
          <a:custGeom>
            <a:avLst/>
            <a:gdLst/>
            <a:ahLst/>
            <a:cxnLst/>
            <a:rect l="l" t="t" r="r" b="b"/>
            <a:pathLst>
              <a:path w="5537835" h="937260">
                <a:moveTo>
                  <a:pt x="0" y="0"/>
                </a:moveTo>
                <a:lnTo>
                  <a:pt x="5537835" y="0"/>
                </a:lnTo>
                <a:lnTo>
                  <a:pt x="5537835" y="937260"/>
                </a:lnTo>
                <a:lnTo>
                  <a:pt x="0" y="9372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31280" y="2533651"/>
            <a:ext cx="367665" cy="367665"/>
          </a:xfrm>
          <a:custGeom>
            <a:avLst/>
            <a:gdLst/>
            <a:ahLst/>
            <a:cxnLst/>
            <a:rect l="l" t="t" r="r" b="b"/>
            <a:pathLst>
              <a:path w="367665" h="367665">
                <a:moveTo>
                  <a:pt x="0" y="0"/>
                </a:moveTo>
                <a:lnTo>
                  <a:pt x="367665" y="0"/>
                </a:lnTo>
                <a:lnTo>
                  <a:pt x="367665" y="367665"/>
                </a:lnTo>
                <a:lnTo>
                  <a:pt x="0" y="36766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76035" y="2526031"/>
            <a:ext cx="44767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18960" y="2468881"/>
            <a:ext cx="1933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Clustering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18960" y="2735581"/>
            <a:ext cx="1924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Regroupement de données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92430" y="3379470"/>
            <a:ext cx="5537835" cy="937260"/>
          </a:xfrm>
          <a:custGeom>
            <a:avLst/>
            <a:gdLst/>
            <a:ahLst/>
            <a:cxnLst/>
            <a:rect l="l" t="t" r="r" b="b"/>
            <a:pathLst>
              <a:path w="5537835" h="937260">
                <a:moveTo>
                  <a:pt x="0" y="0"/>
                </a:moveTo>
                <a:lnTo>
                  <a:pt x="5537835" y="0"/>
                </a:lnTo>
                <a:lnTo>
                  <a:pt x="5537835" y="937260"/>
                </a:lnTo>
                <a:lnTo>
                  <a:pt x="0" y="9372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63880" y="3608070"/>
            <a:ext cx="367665" cy="367665"/>
          </a:xfrm>
          <a:custGeom>
            <a:avLst/>
            <a:gdLst/>
            <a:ahLst/>
            <a:cxnLst/>
            <a:rect l="l" t="t" r="r" b="b"/>
            <a:pathLst>
              <a:path w="367665" h="367665">
                <a:moveTo>
                  <a:pt x="0" y="0"/>
                </a:moveTo>
                <a:lnTo>
                  <a:pt x="367665" y="0"/>
                </a:lnTo>
                <a:lnTo>
                  <a:pt x="367665" y="367665"/>
                </a:lnTo>
                <a:lnTo>
                  <a:pt x="0" y="36766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8635" y="3600450"/>
            <a:ext cx="44767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51560" y="3543300"/>
            <a:ext cx="2400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Réduction de Dimensionnalité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51560" y="3810000"/>
            <a:ext cx="2390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Compression et visualisation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259830" y="3379470"/>
            <a:ext cx="5537835" cy="937260"/>
          </a:xfrm>
          <a:custGeom>
            <a:avLst/>
            <a:gdLst/>
            <a:ahLst/>
            <a:cxnLst/>
            <a:rect l="l" t="t" r="r" b="b"/>
            <a:pathLst>
              <a:path w="5537835" h="937260">
                <a:moveTo>
                  <a:pt x="0" y="0"/>
                </a:moveTo>
                <a:lnTo>
                  <a:pt x="5537835" y="0"/>
                </a:lnTo>
                <a:lnTo>
                  <a:pt x="5537835" y="937260"/>
                </a:lnTo>
                <a:lnTo>
                  <a:pt x="0" y="9372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431280" y="3608070"/>
            <a:ext cx="367665" cy="367665"/>
          </a:xfrm>
          <a:custGeom>
            <a:avLst/>
            <a:gdLst/>
            <a:ahLst/>
            <a:cxnLst/>
            <a:rect l="l" t="t" r="r" b="b"/>
            <a:pathLst>
              <a:path w="367665" h="367665">
                <a:moveTo>
                  <a:pt x="0" y="0"/>
                </a:moveTo>
                <a:lnTo>
                  <a:pt x="367665" y="0"/>
                </a:lnTo>
                <a:lnTo>
                  <a:pt x="367665" y="367665"/>
                </a:lnTo>
                <a:lnTo>
                  <a:pt x="0" y="367665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76035" y="3600450"/>
            <a:ext cx="44767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918960" y="3543300"/>
            <a:ext cx="1714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Règles d'Association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918960" y="3810000"/>
            <a:ext cx="1704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Découverte de relations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92430" y="4453890"/>
            <a:ext cx="5537835" cy="937260"/>
          </a:xfrm>
          <a:custGeom>
            <a:avLst/>
            <a:gdLst/>
            <a:ahLst/>
            <a:cxnLst/>
            <a:rect l="l" t="t" r="r" b="b"/>
            <a:pathLst>
              <a:path w="5537835" h="937260">
                <a:moveTo>
                  <a:pt x="0" y="0"/>
                </a:moveTo>
                <a:lnTo>
                  <a:pt x="5537835" y="0"/>
                </a:lnTo>
                <a:lnTo>
                  <a:pt x="5537835" y="937260"/>
                </a:lnTo>
                <a:lnTo>
                  <a:pt x="0" y="9372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63880" y="4682490"/>
            <a:ext cx="367665" cy="367665"/>
          </a:xfrm>
          <a:custGeom>
            <a:avLst/>
            <a:gdLst/>
            <a:ahLst/>
            <a:cxnLst/>
            <a:rect l="l" t="t" r="r" b="b"/>
            <a:pathLst>
              <a:path w="367665" h="367665">
                <a:moveTo>
                  <a:pt x="0" y="0"/>
                </a:moveTo>
                <a:lnTo>
                  <a:pt x="367665" y="0"/>
                </a:lnTo>
                <a:lnTo>
                  <a:pt x="367665" y="367665"/>
                </a:lnTo>
                <a:lnTo>
                  <a:pt x="0" y="36766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8635" y="4674870"/>
            <a:ext cx="44767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7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51560" y="4617720"/>
            <a:ext cx="1819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Détection d'Anomalies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51560" y="4884420"/>
            <a:ext cx="1809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Identification des outliers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259830" y="4453890"/>
            <a:ext cx="5537835" cy="937260"/>
          </a:xfrm>
          <a:custGeom>
            <a:avLst/>
            <a:gdLst/>
            <a:ahLst/>
            <a:cxnLst/>
            <a:rect l="l" t="t" r="r" b="b"/>
            <a:pathLst>
              <a:path w="5537835" h="937260">
                <a:moveTo>
                  <a:pt x="0" y="0"/>
                </a:moveTo>
                <a:lnTo>
                  <a:pt x="5537835" y="0"/>
                </a:lnTo>
                <a:lnTo>
                  <a:pt x="5537835" y="937260"/>
                </a:lnTo>
                <a:lnTo>
                  <a:pt x="0" y="9372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431280" y="4682490"/>
            <a:ext cx="367665" cy="367665"/>
          </a:xfrm>
          <a:custGeom>
            <a:avLst/>
            <a:gdLst/>
            <a:ahLst/>
            <a:cxnLst/>
            <a:rect l="l" t="t" r="r" b="b"/>
            <a:pathLst>
              <a:path w="367665" h="367665">
                <a:moveTo>
                  <a:pt x="0" y="0"/>
                </a:moveTo>
                <a:lnTo>
                  <a:pt x="367665" y="0"/>
                </a:lnTo>
                <a:lnTo>
                  <a:pt x="367665" y="367665"/>
                </a:lnTo>
                <a:lnTo>
                  <a:pt x="0" y="36766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76035" y="4674870"/>
            <a:ext cx="44767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8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918960" y="4617720"/>
            <a:ext cx="1885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Métriques d'Évaluation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918960" y="4884420"/>
            <a:ext cx="1876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Mesurer sans ground truth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392430" y="5528311"/>
            <a:ext cx="5537835" cy="937260"/>
          </a:xfrm>
          <a:custGeom>
            <a:avLst/>
            <a:gdLst/>
            <a:ahLst/>
            <a:cxnLst/>
            <a:rect l="l" t="t" r="r" b="b"/>
            <a:pathLst>
              <a:path w="5537835" h="937260">
                <a:moveTo>
                  <a:pt x="0" y="0"/>
                </a:moveTo>
                <a:lnTo>
                  <a:pt x="5537835" y="0"/>
                </a:lnTo>
                <a:lnTo>
                  <a:pt x="5537835" y="937260"/>
                </a:lnTo>
                <a:lnTo>
                  <a:pt x="0" y="9372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563880" y="5756910"/>
            <a:ext cx="367665" cy="367665"/>
          </a:xfrm>
          <a:custGeom>
            <a:avLst/>
            <a:gdLst/>
            <a:ahLst/>
            <a:cxnLst/>
            <a:rect l="l" t="t" r="r" b="b"/>
            <a:pathLst>
              <a:path w="367665" h="367665">
                <a:moveTo>
                  <a:pt x="0" y="0"/>
                </a:moveTo>
                <a:lnTo>
                  <a:pt x="367665" y="0"/>
                </a:lnTo>
                <a:lnTo>
                  <a:pt x="367665" y="367665"/>
                </a:lnTo>
                <a:lnTo>
                  <a:pt x="0" y="367665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8635" y="5749290"/>
            <a:ext cx="44767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9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051560" y="5692140"/>
            <a:ext cx="1447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Bonnes Pratiques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051560" y="5958840"/>
            <a:ext cx="1438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Conseils et astuces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259830" y="5528311"/>
            <a:ext cx="5537835" cy="937260"/>
          </a:xfrm>
          <a:custGeom>
            <a:avLst/>
            <a:gdLst/>
            <a:ahLst/>
            <a:cxnLst/>
            <a:rect l="l" t="t" r="r" b="b"/>
            <a:pathLst>
              <a:path w="5537835" h="937260">
                <a:moveTo>
                  <a:pt x="0" y="0"/>
                </a:moveTo>
                <a:lnTo>
                  <a:pt x="5537835" y="0"/>
                </a:lnTo>
                <a:lnTo>
                  <a:pt x="5537835" y="937260"/>
                </a:lnTo>
                <a:lnTo>
                  <a:pt x="0" y="9372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431280" y="5756910"/>
            <a:ext cx="367665" cy="367665"/>
          </a:xfrm>
          <a:custGeom>
            <a:avLst/>
            <a:gdLst/>
            <a:ahLst/>
            <a:cxnLst/>
            <a:rect l="l" t="t" r="r" b="b"/>
            <a:pathLst>
              <a:path w="367665" h="367665">
                <a:moveTo>
                  <a:pt x="0" y="0"/>
                </a:moveTo>
                <a:lnTo>
                  <a:pt x="367665" y="0"/>
                </a:lnTo>
                <a:lnTo>
                  <a:pt x="367665" y="367665"/>
                </a:lnTo>
                <a:lnTo>
                  <a:pt x="0" y="36766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76035" y="5749290"/>
            <a:ext cx="44767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10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918960" y="5692140"/>
            <a:ext cx="1276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Défis et Limites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918960" y="5958840"/>
            <a:ext cx="126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Points de douleur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65230" y="240030"/>
            <a:ext cx="584835" cy="584835"/>
          </a:xfrm>
          <a:custGeom>
            <a:avLst/>
            <a:gdLst/>
            <a:ahLst/>
            <a:cxnLst/>
            <a:rect l="l" t="t" r="r" b="b"/>
            <a:pathLst>
              <a:path w="584835" h="584835">
                <a:moveTo>
                  <a:pt x="292418" y="0"/>
                </a:moveTo>
                <a:lnTo>
                  <a:pt x="292418" y="0"/>
                </a:lnTo>
                <a:cubicBezTo>
                  <a:pt x="453915" y="0"/>
                  <a:pt x="584835" y="130920"/>
                  <a:pt x="584835" y="292418"/>
                </a:cubicBezTo>
                <a:lnTo>
                  <a:pt x="584835" y="292418"/>
                </a:lnTo>
                <a:cubicBezTo>
                  <a:pt x="584835" y="453915"/>
                  <a:pt x="453915" y="584835"/>
                  <a:pt x="292418" y="584835"/>
                </a:cubicBezTo>
                <a:lnTo>
                  <a:pt x="292418" y="584835"/>
                </a:lnTo>
                <a:cubicBezTo>
                  <a:pt x="130920" y="584835"/>
                  <a:pt x="0" y="453915"/>
                  <a:pt x="0" y="292418"/>
                </a:cubicBezTo>
                <a:lnTo>
                  <a:pt x="0" y="292418"/>
                </a:lnTo>
                <a:cubicBezTo>
                  <a:pt x="0" y="130920"/>
                  <a:pt x="130920" y="0"/>
                  <a:pt x="292417" y="0"/>
                </a:cubicBezTo>
                <a:close/>
              </a:path>
            </a:pathLst>
          </a:custGeom>
          <a:solidFill>
            <a:srgbClr val="FF6B6B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 rot="720000">
            <a:off x="10789297" y="730897"/>
            <a:ext cx="432435" cy="432435"/>
          </a:xfrm>
          <a:custGeom>
            <a:avLst/>
            <a:gdLst/>
            <a:ahLst/>
            <a:cxnLst/>
            <a:rect l="l" t="t" r="r" b="b"/>
            <a:pathLst>
              <a:path w="432435" h="432435">
                <a:moveTo>
                  <a:pt x="0" y="0"/>
                </a:moveTo>
                <a:lnTo>
                  <a:pt x="432435" y="0"/>
                </a:lnTo>
                <a:lnTo>
                  <a:pt x="432435" y="432435"/>
                </a:lnTo>
                <a:lnTo>
                  <a:pt x="0" y="43243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68630" y="6107430"/>
            <a:ext cx="737235" cy="280035"/>
          </a:xfrm>
          <a:custGeom>
            <a:avLst/>
            <a:gdLst/>
            <a:ahLst/>
            <a:cxnLst/>
            <a:rect l="l" t="t" r="r" b="b"/>
            <a:pathLst>
              <a:path w="737235" h="280035">
                <a:moveTo>
                  <a:pt x="0" y="0"/>
                </a:moveTo>
                <a:lnTo>
                  <a:pt x="737235" y="0"/>
                </a:lnTo>
                <a:lnTo>
                  <a:pt x="737235" y="280035"/>
                </a:lnTo>
                <a:lnTo>
                  <a:pt x="0" y="280035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365230" y="5193030"/>
            <a:ext cx="203835" cy="737235"/>
          </a:xfrm>
          <a:custGeom>
            <a:avLst/>
            <a:gdLst/>
            <a:ahLst/>
            <a:cxnLst/>
            <a:rect l="l" t="t" r="r" b="b"/>
            <a:pathLst>
              <a:path w="203835" h="737235">
                <a:moveTo>
                  <a:pt x="0" y="0"/>
                </a:moveTo>
                <a:lnTo>
                  <a:pt x="203835" y="0"/>
                </a:lnTo>
                <a:lnTo>
                  <a:pt x="203835" y="737235"/>
                </a:lnTo>
                <a:lnTo>
                  <a:pt x="0" y="73723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Qu'est-ce que l'Apprentissage Non Supervisé?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8620" y="845820"/>
            <a:ext cx="901065" cy="62865"/>
          </a:xfrm>
          <a:custGeom>
            <a:avLst/>
            <a:gdLst/>
            <a:ahLst/>
            <a:cxnLst/>
            <a:rect l="l" t="t" r="r" b="b"/>
            <a:pathLst>
              <a:path w="901065" h="62865">
                <a:moveTo>
                  <a:pt x="0" y="0"/>
                </a:moveTo>
                <a:lnTo>
                  <a:pt x="901065" y="0"/>
                </a:lnTo>
                <a:lnTo>
                  <a:pt x="901065" y="62865"/>
                </a:lnTo>
                <a:lnTo>
                  <a:pt x="0" y="6286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2430" y="1078230"/>
            <a:ext cx="5614035" cy="3318510"/>
          </a:xfrm>
          <a:custGeom>
            <a:avLst/>
            <a:gdLst/>
            <a:ahLst/>
            <a:cxnLst/>
            <a:rect l="l" t="t" r="r" b="b"/>
            <a:pathLst>
              <a:path w="5614035" h="3318510">
                <a:moveTo>
                  <a:pt x="0" y="0"/>
                </a:moveTo>
                <a:lnTo>
                  <a:pt x="5614035" y="0"/>
                </a:lnTo>
                <a:lnTo>
                  <a:pt x="5614035" y="3318510"/>
                </a:lnTo>
                <a:lnTo>
                  <a:pt x="0" y="331851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3880" y="1249680"/>
            <a:ext cx="443865" cy="443865"/>
          </a:xfrm>
          <a:custGeom>
            <a:avLst/>
            <a:gdLst/>
            <a:ahLst/>
            <a:cxnLst/>
            <a:rect l="l" t="t" r="r" b="b"/>
            <a:pathLst>
              <a:path w="443865" h="443865">
                <a:moveTo>
                  <a:pt x="0" y="0"/>
                </a:moveTo>
                <a:lnTo>
                  <a:pt x="443865" y="0"/>
                </a:lnTo>
                <a:lnTo>
                  <a:pt x="443865" y="443865"/>
                </a:lnTo>
                <a:lnTo>
                  <a:pt x="0" y="44386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9610" y="137541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127760" y="1318260"/>
            <a:ext cx="1123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Définition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6260" y="1813560"/>
            <a:ext cx="53625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L'apprentissage non supervisé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est une branche du ML où l'algorithme apprend à partir de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highlight>
                  <a:srgbClr val="FFE66D">
                    <a:alpha val="100000"/>
                  </a:srgbClr>
                </a:highlight>
                <a:latin typeface="Coda" pitchFamily="34" charset="0"/>
                <a:ea typeface="Coda" pitchFamily="34" charset="-122"/>
                <a:cs typeface="Coda" pitchFamily="34" charset="-120"/>
              </a:rPr>
              <a:t>données non étiquetées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, sans guidance externe. Il découvre automatiquement les structures, patterns et relations cachées.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3880" y="2678430"/>
            <a:ext cx="5273040" cy="701040"/>
          </a:xfrm>
          <a:custGeom>
            <a:avLst/>
            <a:gdLst/>
            <a:ahLst/>
            <a:cxnLst/>
            <a:rect l="l" t="t" r="r" b="b"/>
            <a:pathLst>
              <a:path w="5273040" h="701040">
                <a:moveTo>
                  <a:pt x="0" y="0"/>
                </a:moveTo>
                <a:lnTo>
                  <a:pt x="5273040" y="0"/>
                </a:lnTo>
                <a:lnTo>
                  <a:pt x="5273040" y="701040"/>
                </a:lnTo>
                <a:lnTo>
                  <a:pt x="0" y="70104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4ECD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800350"/>
            <a:ext cx="510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Métaphore: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Comme explorer une nouvelle ville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sans carte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— vous découvrez les quartiers par vous-même!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92430" y="4572000"/>
            <a:ext cx="5614035" cy="2194560"/>
          </a:xfrm>
          <a:custGeom>
            <a:avLst/>
            <a:gdLst/>
            <a:ahLst/>
            <a:cxnLst/>
            <a:rect l="l" t="t" r="r" b="b"/>
            <a:pathLst>
              <a:path w="5614035" h="2194560">
                <a:moveTo>
                  <a:pt x="0" y="0"/>
                </a:moveTo>
                <a:lnTo>
                  <a:pt x="5614035" y="0"/>
                </a:lnTo>
                <a:lnTo>
                  <a:pt x="5614035" y="2194560"/>
                </a:lnTo>
                <a:lnTo>
                  <a:pt x="0" y="21945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3880" y="4743450"/>
            <a:ext cx="443865" cy="443865"/>
          </a:xfrm>
          <a:custGeom>
            <a:avLst/>
            <a:gdLst/>
            <a:ahLst/>
            <a:cxnLst/>
            <a:rect l="l" t="t" r="r" b="b"/>
            <a:pathLst>
              <a:path w="443865" h="443865">
                <a:moveTo>
                  <a:pt x="0" y="0"/>
                </a:moveTo>
                <a:lnTo>
                  <a:pt x="443865" y="0"/>
                </a:lnTo>
                <a:lnTo>
                  <a:pt x="443865" y="443865"/>
                </a:lnTo>
                <a:lnTo>
                  <a:pt x="0" y="44386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9610" y="486918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127760" y="4812030"/>
            <a:ext cx="2162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Objectifs Principaux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63880" y="5353050"/>
            <a:ext cx="215265" cy="215265"/>
          </a:xfrm>
          <a:custGeom>
            <a:avLst/>
            <a:gdLst/>
            <a:ahLst/>
            <a:cxnLst/>
            <a:rect l="l" t="t" r="r" b="b"/>
            <a:pathLst>
              <a:path w="215265" h="215265">
                <a:moveTo>
                  <a:pt x="0" y="0"/>
                </a:moveTo>
                <a:lnTo>
                  <a:pt x="215265" y="0"/>
                </a:lnTo>
                <a:lnTo>
                  <a:pt x="215265" y="215265"/>
                </a:lnTo>
                <a:lnTo>
                  <a:pt x="0" y="21526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510" y="5364480"/>
            <a:ext cx="104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1060" y="5307330"/>
            <a:ext cx="3705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Découverte de patterns: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Identifier structures cachées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63880" y="5695950"/>
            <a:ext cx="215265" cy="215265"/>
          </a:xfrm>
          <a:custGeom>
            <a:avLst/>
            <a:gdLst/>
            <a:ahLst/>
            <a:cxnLst/>
            <a:rect l="l" t="t" r="r" b="b"/>
            <a:pathLst>
              <a:path w="215265" h="215265">
                <a:moveTo>
                  <a:pt x="0" y="0"/>
                </a:moveTo>
                <a:lnTo>
                  <a:pt x="215265" y="0"/>
                </a:lnTo>
                <a:lnTo>
                  <a:pt x="215265" y="215265"/>
                </a:lnTo>
                <a:lnTo>
                  <a:pt x="0" y="21526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4841" y="5707380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1060" y="5650230"/>
            <a:ext cx="3390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Regroupement: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Clustering de données similaires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63880" y="6038850"/>
            <a:ext cx="215265" cy="215265"/>
          </a:xfrm>
          <a:custGeom>
            <a:avLst/>
            <a:gdLst/>
            <a:ahLst/>
            <a:cxnLst/>
            <a:rect l="l" t="t" r="r" b="b"/>
            <a:pathLst>
              <a:path w="215265" h="215265">
                <a:moveTo>
                  <a:pt x="0" y="0"/>
                </a:moveTo>
                <a:lnTo>
                  <a:pt x="215265" y="0"/>
                </a:lnTo>
                <a:lnTo>
                  <a:pt x="215265" y="215265"/>
                </a:lnTo>
                <a:lnTo>
                  <a:pt x="0" y="215265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3889" y="6050280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61060" y="5993130"/>
            <a:ext cx="3067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Réduction: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Simplifier sans perdre l'essentiel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63880" y="6381750"/>
            <a:ext cx="215265" cy="215265"/>
          </a:xfrm>
          <a:custGeom>
            <a:avLst/>
            <a:gdLst/>
            <a:ahLst/>
            <a:cxnLst/>
            <a:rect l="l" t="t" r="r" b="b"/>
            <a:pathLst>
              <a:path w="215265" h="215265">
                <a:moveTo>
                  <a:pt x="0" y="0"/>
                </a:moveTo>
                <a:lnTo>
                  <a:pt x="215265" y="0"/>
                </a:lnTo>
                <a:lnTo>
                  <a:pt x="215265" y="215265"/>
                </a:lnTo>
                <a:lnTo>
                  <a:pt x="0" y="21526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6032" y="6393180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61060" y="6336030"/>
            <a:ext cx="2886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Détection: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Identifier anomalies et outliers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83630" y="1078230"/>
            <a:ext cx="5614035" cy="2527935"/>
          </a:xfrm>
          <a:custGeom>
            <a:avLst/>
            <a:gdLst/>
            <a:ahLst/>
            <a:cxnLst/>
            <a:rect l="l" t="t" r="r" b="b"/>
            <a:pathLst>
              <a:path w="5614035" h="2527935">
                <a:moveTo>
                  <a:pt x="0" y="0"/>
                </a:moveTo>
                <a:lnTo>
                  <a:pt x="5614035" y="0"/>
                </a:lnTo>
                <a:lnTo>
                  <a:pt x="5614035" y="2527935"/>
                </a:lnTo>
                <a:lnTo>
                  <a:pt x="0" y="25279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55080" y="1249680"/>
            <a:ext cx="443865" cy="443865"/>
          </a:xfrm>
          <a:custGeom>
            <a:avLst/>
            <a:gdLst/>
            <a:ahLst/>
            <a:cxnLst/>
            <a:rect l="l" t="t" r="r" b="b"/>
            <a:pathLst>
              <a:path w="443865" h="443865">
                <a:moveTo>
                  <a:pt x="0" y="0"/>
                </a:moveTo>
                <a:lnTo>
                  <a:pt x="443865" y="0"/>
                </a:lnTo>
                <a:lnTo>
                  <a:pt x="443865" y="443865"/>
                </a:lnTo>
                <a:lnTo>
                  <a:pt x="0" y="443865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92716" y="137541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40866" y="30435"/>
                </a:moveTo>
                <a:cubicBezTo>
                  <a:pt x="144512" y="24966"/>
                  <a:pt x="143024" y="17562"/>
                  <a:pt x="137554" y="13915"/>
                </a:cubicBezTo>
                <a:cubicBezTo>
                  <a:pt x="132085" y="10269"/>
                  <a:pt x="124681" y="11757"/>
                  <a:pt x="121034" y="17227"/>
                </a:cubicBezTo>
                <a:lnTo>
                  <a:pt x="100794" y="47625"/>
                </a:lnTo>
                <a:lnTo>
                  <a:pt x="11906" y="47625"/>
                </a:lnTo>
                <a:cubicBezTo>
                  <a:pt x="5321" y="47625"/>
                  <a:pt x="0" y="52946"/>
                  <a:pt x="0" y="59531"/>
                </a:cubicBezTo>
                <a:cubicBezTo>
                  <a:pt x="0" y="66117"/>
                  <a:pt x="5321" y="71438"/>
                  <a:pt x="11906" y="71438"/>
                </a:cubicBezTo>
                <a:lnTo>
                  <a:pt x="84906" y="71438"/>
                </a:lnTo>
                <a:lnTo>
                  <a:pt x="53169" y="119063"/>
                </a:lnTo>
                <a:lnTo>
                  <a:pt x="11906" y="119063"/>
                </a:lnTo>
                <a:cubicBezTo>
                  <a:pt x="5321" y="119063"/>
                  <a:pt x="0" y="124383"/>
                  <a:pt x="0" y="130969"/>
                </a:cubicBezTo>
                <a:cubicBezTo>
                  <a:pt x="0" y="137554"/>
                  <a:pt x="5321" y="142875"/>
                  <a:pt x="11906" y="142875"/>
                </a:cubicBezTo>
                <a:lnTo>
                  <a:pt x="37281" y="142875"/>
                </a:lnTo>
                <a:lnTo>
                  <a:pt x="25822" y="160065"/>
                </a:lnTo>
                <a:cubicBezTo>
                  <a:pt x="22175" y="165534"/>
                  <a:pt x="23664" y="172938"/>
                  <a:pt x="29133" y="176585"/>
                </a:cubicBezTo>
                <a:cubicBezTo>
                  <a:pt x="34603" y="180231"/>
                  <a:pt x="42007" y="178743"/>
                  <a:pt x="45653" y="173273"/>
                </a:cubicBezTo>
                <a:lnTo>
                  <a:pt x="65894" y="142875"/>
                </a:lnTo>
                <a:lnTo>
                  <a:pt x="154781" y="142875"/>
                </a:lnTo>
                <a:cubicBezTo>
                  <a:pt x="161367" y="142875"/>
                  <a:pt x="166688" y="137554"/>
                  <a:pt x="166688" y="130969"/>
                </a:cubicBezTo>
                <a:cubicBezTo>
                  <a:pt x="166688" y="124383"/>
                  <a:pt x="161367" y="119063"/>
                  <a:pt x="154781" y="119063"/>
                </a:cubicBezTo>
                <a:lnTo>
                  <a:pt x="81781" y="119063"/>
                </a:lnTo>
                <a:lnTo>
                  <a:pt x="113519" y="71438"/>
                </a:lnTo>
                <a:lnTo>
                  <a:pt x="154781" y="71438"/>
                </a:lnTo>
                <a:cubicBezTo>
                  <a:pt x="161367" y="71438"/>
                  <a:pt x="166688" y="66117"/>
                  <a:pt x="166688" y="59531"/>
                </a:cubicBezTo>
                <a:cubicBezTo>
                  <a:pt x="166688" y="52946"/>
                  <a:pt x="161367" y="47625"/>
                  <a:pt x="154781" y="47625"/>
                </a:cubicBezTo>
                <a:lnTo>
                  <a:pt x="129406" y="47625"/>
                </a:lnTo>
                <a:lnTo>
                  <a:pt x="140866" y="30435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34" name="Text 32"/>
          <p:cNvSpPr/>
          <p:nvPr/>
        </p:nvSpPr>
        <p:spPr>
          <a:xfrm>
            <a:off x="6918960" y="1318260"/>
            <a:ext cx="29432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Supervisé vs Non Supervisé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55080" y="1821180"/>
            <a:ext cx="2567940" cy="1615440"/>
          </a:xfrm>
          <a:custGeom>
            <a:avLst/>
            <a:gdLst/>
            <a:ahLst/>
            <a:cxnLst/>
            <a:rect l="l" t="t" r="r" b="b"/>
            <a:pathLst>
              <a:path w="2567940" h="1615440">
                <a:moveTo>
                  <a:pt x="0" y="0"/>
                </a:moveTo>
                <a:lnTo>
                  <a:pt x="2567940" y="0"/>
                </a:lnTo>
                <a:lnTo>
                  <a:pt x="2567940" y="1615440"/>
                </a:lnTo>
                <a:lnTo>
                  <a:pt x="0" y="161544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4ECDC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77000" y="1943100"/>
            <a:ext cx="2409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Supervisé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77000" y="2286000"/>
            <a:ext cx="2400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• Données étiquetées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77000" y="2552700"/>
            <a:ext cx="2400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• Objectif: prédiction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77000" y="2819400"/>
            <a:ext cx="2400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• Évaluation claire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77000" y="3086100"/>
            <a:ext cx="2400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• Nécessite labels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056370" y="1821180"/>
            <a:ext cx="2567940" cy="1615440"/>
          </a:xfrm>
          <a:custGeom>
            <a:avLst/>
            <a:gdLst/>
            <a:ahLst/>
            <a:cxnLst/>
            <a:rect l="l" t="t" r="r" b="b"/>
            <a:pathLst>
              <a:path w="2567940" h="1615440">
                <a:moveTo>
                  <a:pt x="0" y="0"/>
                </a:moveTo>
                <a:lnTo>
                  <a:pt x="2567940" y="0"/>
                </a:lnTo>
                <a:lnTo>
                  <a:pt x="2567940" y="1615440"/>
                </a:lnTo>
                <a:lnTo>
                  <a:pt x="0" y="161544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FF6B6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78290" y="1943100"/>
            <a:ext cx="2409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Non Supervisé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178290" y="2286000"/>
            <a:ext cx="2400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• Données brutes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178290" y="2552700"/>
            <a:ext cx="2400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• Objectif: exploration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178290" y="2819400"/>
            <a:ext cx="2400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• Évaluation subjective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178290" y="3086100"/>
            <a:ext cx="2400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• Pas de labels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183630" y="3783330"/>
            <a:ext cx="5614035" cy="2985135"/>
          </a:xfrm>
          <a:custGeom>
            <a:avLst/>
            <a:gdLst/>
            <a:ahLst/>
            <a:cxnLst/>
            <a:rect l="l" t="t" r="r" b="b"/>
            <a:pathLst>
              <a:path w="5614035" h="2985135">
                <a:moveTo>
                  <a:pt x="0" y="0"/>
                </a:moveTo>
                <a:lnTo>
                  <a:pt x="5614035" y="0"/>
                </a:lnTo>
                <a:lnTo>
                  <a:pt x="5614035" y="2985135"/>
                </a:lnTo>
                <a:lnTo>
                  <a:pt x="0" y="29851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355080" y="3954780"/>
            <a:ext cx="443865" cy="443865"/>
          </a:xfrm>
          <a:custGeom>
            <a:avLst/>
            <a:gdLst/>
            <a:ahLst/>
            <a:cxnLst/>
            <a:rect l="l" t="t" r="r" b="b"/>
            <a:pathLst>
              <a:path w="443865" h="443865">
                <a:moveTo>
                  <a:pt x="0" y="0"/>
                </a:moveTo>
                <a:lnTo>
                  <a:pt x="443865" y="0"/>
                </a:lnTo>
                <a:lnTo>
                  <a:pt x="443865" y="443865"/>
                </a:lnTo>
                <a:lnTo>
                  <a:pt x="0" y="44386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504623" y="408051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6918960" y="4023360"/>
            <a:ext cx="2200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Applications Réelles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55080" y="4526280"/>
            <a:ext cx="2586990" cy="624840"/>
          </a:xfrm>
          <a:custGeom>
            <a:avLst/>
            <a:gdLst/>
            <a:ahLst/>
            <a:cxnLst/>
            <a:rect l="l" t="t" r="r" b="b"/>
            <a:pathLst>
              <a:path w="2586990" h="624840">
                <a:moveTo>
                  <a:pt x="0" y="0"/>
                </a:moveTo>
                <a:lnTo>
                  <a:pt x="2586990" y="0"/>
                </a:lnTo>
                <a:lnTo>
                  <a:pt x="2586990" y="624840"/>
                </a:lnTo>
                <a:lnTo>
                  <a:pt x="0" y="624840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20320">
            <a:solidFill>
              <a:srgbClr val="FFE66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545705" y="4632960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07156" y="5358"/>
                </a:moveTo>
                <a:cubicBezTo>
                  <a:pt x="126377" y="5358"/>
                  <a:pt x="141982" y="20963"/>
                  <a:pt x="141982" y="40184"/>
                </a:cubicBezTo>
                <a:cubicBezTo>
                  <a:pt x="141982" y="59404"/>
                  <a:pt x="126377" y="75009"/>
                  <a:pt x="107156" y="75009"/>
                </a:cubicBezTo>
                <a:cubicBezTo>
                  <a:pt x="87935" y="75009"/>
                  <a:pt x="72330" y="59404"/>
                  <a:pt x="72330" y="40184"/>
                </a:cubicBezTo>
                <a:cubicBezTo>
                  <a:pt x="72330" y="20963"/>
                  <a:pt x="87935" y="5358"/>
                  <a:pt x="107156" y="5358"/>
                </a:cubicBezTo>
                <a:close/>
                <a:moveTo>
                  <a:pt x="32147" y="29468"/>
                </a:moveTo>
                <a:cubicBezTo>
                  <a:pt x="45454" y="29468"/>
                  <a:pt x="56257" y="40271"/>
                  <a:pt x="56257" y="53578"/>
                </a:cubicBezTo>
                <a:cubicBezTo>
                  <a:pt x="56257" y="66885"/>
                  <a:pt x="45454" y="77688"/>
                  <a:pt x="32147" y="77688"/>
                </a:cubicBezTo>
                <a:cubicBezTo>
                  <a:pt x="18840" y="77688"/>
                  <a:pt x="8037" y="66885"/>
                  <a:pt x="8037" y="53578"/>
                </a:cubicBezTo>
                <a:cubicBezTo>
                  <a:pt x="8037" y="40271"/>
                  <a:pt x="18840" y="29468"/>
                  <a:pt x="32147" y="29468"/>
                </a:cubicBezTo>
                <a:close/>
                <a:moveTo>
                  <a:pt x="0" y="139303"/>
                </a:moveTo>
                <a:cubicBezTo>
                  <a:pt x="0" y="115628"/>
                  <a:pt x="19188" y="96441"/>
                  <a:pt x="42863" y="96441"/>
                </a:cubicBezTo>
                <a:cubicBezTo>
                  <a:pt x="47149" y="96441"/>
                  <a:pt x="51301" y="97077"/>
                  <a:pt x="55219" y="98249"/>
                </a:cubicBezTo>
                <a:cubicBezTo>
                  <a:pt x="44202" y="110572"/>
                  <a:pt x="37505" y="126846"/>
                  <a:pt x="37505" y="144661"/>
                </a:cubicBezTo>
                <a:lnTo>
                  <a:pt x="37505" y="150019"/>
                </a:lnTo>
                <a:cubicBezTo>
                  <a:pt x="37505" y="153836"/>
                  <a:pt x="38308" y="157453"/>
                  <a:pt x="39748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lnTo>
                  <a:pt x="0" y="139303"/>
                </a:lnTo>
                <a:close/>
                <a:moveTo>
                  <a:pt x="174564" y="160734"/>
                </a:moveTo>
                <a:cubicBezTo>
                  <a:pt x="176004" y="157453"/>
                  <a:pt x="176808" y="153836"/>
                  <a:pt x="176808" y="150019"/>
                </a:cubicBezTo>
                <a:lnTo>
                  <a:pt x="176808" y="144661"/>
                </a:lnTo>
                <a:cubicBezTo>
                  <a:pt x="176808" y="126846"/>
                  <a:pt x="170111" y="110572"/>
                  <a:pt x="159094" y="98249"/>
                </a:cubicBezTo>
                <a:cubicBezTo>
                  <a:pt x="163011" y="97077"/>
                  <a:pt x="167164" y="96441"/>
                  <a:pt x="171450" y="96441"/>
                </a:cubicBezTo>
                <a:cubicBezTo>
                  <a:pt x="195125" y="96441"/>
                  <a:pt x="214313" y="115628"/>
                  <a:pt x="214313" y="139303"/>
                </a:cubicBezTo>
                <a:lnTo>
                  <a:pt x="214313" y="150019"/>
                </a:lnTo>
                <a:cubicBezTo>
                  <a:pt x="214313" y="155946"/>
                  <a:pt x="209524" y="160734"/>
                  <a:pt x="203597" y="160734"/>
                </a:cubicBezTo>
                <a:lnTo>
                  <a:pt x="174564" y="160734"/>
                </a:lnTo>
                <a:close/>
                <a:moveTo>
                  <a:pt x="158055" y="53578"/>
                </a:moveTo>
                <a:cubicBezTo>
                  <a:pt x="158055" y="40271"/>
                  <a:pt x="168859" y="29468"/>
                  <a:pt x="182166" y="29468"/>
                </a:cubicBezTo>
                <a:cubicBezTo>
                  <a:pt x="195472" y="29468"/>
                  <a:pt x="206276" y="40271"/>
                  <a:pt x="206276" y="53578"/>
                </a:cubicBezTo>
                <a:cubicBezTo>
                  <a:pt x="206276" y="66885"/>
                  <a:pt x="195472" y="77688"/>
                  <a:pt x="182166" y="77688"/>
                </a:cubicBezTo>
                <a:cubicBezTo>
                  <a:pt x="168859" y="77688"/>
                  <a:pt x="158055" y="66885"/>
                  <a:pt x="158055" y="53578"/>
                </a:cubicBezTo>
                <a:close/>
                <a:moveTo>
                  <a:pt x="53578" y="144661"/>
                </a:moveTo>
                <a:cubicBezTo>
                  <a:pt x="53578" y="115059"/>
                  <a:pt x="77554" y="91083"/>
                  <a:pt x="107156" y="91083"/>
                </a:cubicBezTo>
                <a:cubicBezTo>
                  <a:pt x="136758" y="91083"/>
                  <a:pt x="160734" y="115059"/>
                  <a:pt x="160734" y="144661"/>
                </a:cubicBezTo>
                <a:lnTo>
                  <a:pt x="160734" y="150019"/>
                </a:lnTo>
                <a:cubicBezTo>
                  <a:pt x="160734" y="155946"/>
                  <a:pt x="155946" y="160734"/>
                  <a:pt x="150019" y="160734"/>
                </a:cubicBezTo>
                <a:lnTo>
                  <a:pt x="64294" y="160734"/>
                </a:lnTo>
                <a:cubicBezTo>
                  <a:pt x="58367" y="160734"/>
                  <a:pt x="53578" y="155946"/>
                  <a:pt x="53578" y="150019"/>
                </a:cubicBezTo>
                <a:lnTo>
                  <a:pt x="53578" y="144661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53" name="Text 51"/>
          <p:cNvSpPr/>
          <p:nvPr/>
        </p:nvSpPr>
        <p:spPr>
          <a:xfrm>
            <a:off x="6400800" y="4842511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Segmentation clients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9037320" y="4526280"/>
            <a:ext cx="2586990" cy="624840"/>
          </a:xfrm>
          <a:custGeom>
            <a:avLst/>
            <a:gdLst/>
            <a:ahLst/>
            <a:cxnLst/>
            <a:rect l="l" t="t" r="r" b="b"/>
            <a:pathLst>
              <a:path w="2586990" h="624840">
                <a:moveTo>
                  <a:pt x="0" y="0"/>
                </a:moveTo>
                <a:lnTo>
                  <a:pt x="2586990" y="0"/>
                </a:lnTo>
                <a:lnTo>
                  <a:pt x="2586990" y="624840"/>
                </a:lnTo>
                <a:lnTo>
                  <a:pt x="0" y="62484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4ECDC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227945" y="4632960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8037" y="-5358"/>
                </a:moveTo>
                <a:cubicBezTo>
                  <a:pt x="3583" y="-5358"/>
                  <a:pt x="0" y="-1775"/>
                  <a:pt x="0" y="2679"/>
                </a:cubicBezTo>
                <a:cubicBezTo>
                  <a:pt x="0" y="7133"/>
                  <a:pt x="3583" y="10716"/>
                  <a:pt x="8037" y="10716"/>
                </a:cubicBezTo>
                <a:lnTo>
                  <a:pt x="23206" y="10716"/>
                </a:lnTo>
                <a:cubicBezTo>
                  <a:pt x="24512" y="10716"/>
                  <a:pt x="25617" y="11653"/>
                  <a:pt x="25851" y="12926"/>
                </a:cubicBezTo>
                <a:lnTo>
                  <a:pt x="43298" y="108797"/>
                </a:lnTo>
                <a:cubicBezTo>
                  <a:pt x="45374" y="120249"/>
                  <a:pt x="55353" y="128588"/>
                  <a:pt x="67006" y="128588"/>
                </a:cubicBezTo>
                <a:lnTo>
                  <a:pt x="152698" y="128588"/>
                </a:lnTo>
                <a:cubicBezTo>
                  <a:pt x="157151" y="128588"/>
                  <a:pt x="160734" y="125004"/>
                  <a:pt x="160734" y="120551"/>
                </a:cubicBezTo>
                <a:cubicBezTo>
                  <a:pt x="160734" y="116097"/>
                  <a:pt x="157151" y="112514"/>
                  <a:pt x="152698" y="112514"/>
                </a:cubicBezTo>
                <a:lnTo>
                  <a:pt x="67006" y="112514"/>
                </a:lnTo>
                <a:cubicBezTo>
                  <a:pt x="63122" y="112514"/>
                  <a:pt x="59807" y="109735"/>
                  <a:pt x="59103" y="105917"/>
                </a:cubicBezTo>
                <a:lnTo>
                  <a:pt x="57396" y="96441"/>
                </a:lnTo>
                <a:lnTo>
                  <a:pt x="159060" y="96441"/>
                </a:lnTo>
                <a:cubicBezTo>
                  <a:pt x="169374" y="96441"/>
                  <a:pt x="178214" y="89107"/>
                  <a:pt x="180123" y="78961"/>
                </a:cubicBezTo>
                <a:lnTo>
                  <a:pt x="190504" y="23407"/>
                </a:lnTo>
                <a:cubicBezTo>
                  <a:pt x="191743" y="16810"/>
                  <a:pt x="186686" y="10716"/>
                  <a:pt x="179956" y="10716"/>
                </a:cubicBezTo>
                <a:lnTo>
                  <a:pt x="41757" y="10716"/>
                </a:lnTo>
                <a:lnTo>
                  <a:pt x="41624" y="10046"/>
                </a:lnTo>
                <a:cubicBezTo>
                  <a:pt x="40016" y="1139"/>
                  <a:pt x="32247" y="-5358"/>
                  <a:pt x="23173" y="-5358"/>
                </a:cubicBezTo>
                <a:lnTo>
                  <a:pt x="8037" y="-5358"/>
                </a:lnTo>
                <a:close/>
                <a:moveTo>
                  <a:pt x="69652" y="171450"/>
                </a:moveTo>
                <a:cubicBezTo>
                  <a:pt x="78523" y="171450"/>
                  <a:pt x="85725" y="164248"/>
                  <a:pt x="85725" y="155377"/>
                </a:cubicBezTo>
                <a:cubicBezTo>
                  <a:pt x="85725" y="146505"/>
                  <a:pt x="78523" y="139303"/>
                  <a:pt x="69652" y="139303"/>
                </a:cubicBezTo>
                <a:cubicBezTo>
                  <a:pt x="60780" y="139303"/>
                  <a:pt x="53578" y="146505"/>
                  <a:pt x="53578" y="155377"/>
                </a:cubicBezTo>
                <a:cubicBezTo>
                  <a:pt x="53578" y="164248"/>
                  <a:pt x="60780" y="171450"/>
                  <a:pt x="69652" y="171450"/>
                </a:cubicBezTo>
                <a:close/>
                <a:moveTo>
                  <a:pt x="144661" y="171450"/>
                </a:moveTo>
                <a:cubicBezTo>
                  <a:pt x="153532" y="171450"/>
                  <a:pt x="160734" y="164248"/>
                  <a:pt x="160734" y="155377"/>
                </a:cubicBezTo>
                <a:cubicBezTo>
                  <a:pt x="160734" y="146505"/>
                  <a:pt x="153532" y="139303"/>
                  <a:pt x="144661" y="139303"/>
                </a:cubicBezTo>
                <a:cubicBezTo>
                  <a:pt x="135790" y="139303"/>
                  <a:pt x="128588" y="146505"/>
                  <a:pt x="128588" y="155377"/>
                </a:cubicBezTo>
                <a:cubicBezTo>
                  <a:pt x="128588" y="164248"/>
                  <a:pt x="135790" y="171450"/>
                  <a:pt x="144661" y="171450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56" name="Text 54"/>
          <p:cNvSpPr/>
          <p:nvPr/>
        </p:nvSpPr>
        <p:spPr>
          <a:xfrm>
            <a:off x="9083040" y="4842511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Recommandations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55080" y="5246370"/>
            <a:ext cx="2586990" cy="624840"/>
          </a:xfrm>
          <a:custGeom>
            <a:avLst/>
            <a:gdLst/>
            <a:ahLst/>
            <a:cxnLst/>
            <a:rect l="l" t="t" r="r" b="b"/>
            <a:pathLst>
              <a:path w="2586990" h="624840">
                <a:moveTo>
                  <a:pt x="0" y="0"/>
                </a:moveTo>
                <a:lnTo>
                  <a:pt x="2586990" y="0"/>
                </a:lnTo>
                <a:lnTo>
                  <a:pt x="2586990" y="624840"/>
                </a:lnTo>
                <a:lnTo>
                  <a:pt x="0" y="62484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FF6B6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567136" y="53530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87265" y="0"/>
                  <a:pt x="88806" y="335"/>
                  <a:pt x="90212" y="971"/>
                </a:cubicBezTo>
                <a:lnTo>
                  <a:pt x="153300" y="27727"/>
                </a:lnTo>
                <a:cubicBezTo>
                  <a:pt x="160667" y="30841"/>
                  <a:pt x="166159" y="38107"/>
                  <a:pt x="166126" y="46881"/>
                </a:cubicBezTo>
                <a:cubicBezTo>
                  <a:pt x="165958" y="80099"/>
                  <a:pt x="152296" y="140877"/>
                  <a:pt x="94599" y="168503"/>
                </a:cubicBezTo>
                <a:cubicBezTo>
                  <a:pt x="89007" y="171182"/>
                  <a:pt x="82510" y="171182"/>
                  <a:pt x="76918" y="168503"/>
                </a:cubicBezTo>
                <a:cubicBezTo>
                  <a:pt x="19188" y="140877"/>
                  <a:pt x="5559" y="80099"/>
                  <a:pt x="5391" y="46881"/>
                </a:cubicBezTo>
                <a:cubicBezTo>
                  <a:pt x="5358" y="38107"/>
                  <a:pt x="10850" y="30841"/>
                  <a:pt x="18217" y="27727"/>
                </a:cubicBezTo>
                <a:lnTo>
                  <a:pt x="81271" y="971"/>
                </a:lnTo>
                <a:cubicBezTo>
                  <a:pt x="82678" y="335"/>
                  <a:pt x="84185" y="0"/>
                  <a:pt x="85725" y="0"/>
                </a:cubicBezTo>
                <a:close/>
                <a:moveTo>
                  <a:pt x="85725" y="22369"/>
                </a:moveTo>
                <a:lnTo>
                  <a:pt x="85725" y="148981"/>
                </a:lnTo>
                <a:cubicBezTo>
                  <a:pt x="131936" y="126612"/>
                  <a:pt x="144360" y="77052"/>
                  <a:pt x="144661" y="47383"/>
                </a:cubicBezTo>
                <a:lnTo>
                  <a:pt x="85725" y="22402"/>
                </a:lnTo>
                <a:lnTo>
                  <a:pt x="85725" y="22402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59" name="Text 57"/>
          <p:cNvSpPr/>
          <p:nvPr/>
        </p:nvSpPr>
        <p:spPr>
          <a:xfrm>
            <a:off x="6400800" y="5562600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Détection fraude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9037320" y="5246370"/>
            <a:ext cx="2586990" cy="624840"/>
          </a:xfrm>
          <a:custGeom>
            <a:avLst/>
            <a:gdLst/>
            <a:ahLst/>
            <a:cxnLst/>
            <a:rect l="l" t="t" r="r" b="b"/>
            <a:pathLst>
              <a:path w="2586990" h="624840">
                <a:moveTo>
                  <a:pt x="0" y="0"/>
                </a:moveTo>
                <a:lnTo>
                  <a:pt x="2586990" y="0"/>
                </a:lnTo>
                <a:lnTo>
                  <a:pt x="2586990" y="624840"/>
                </a:lnTo>
                <a:lnTo>
                  <a:pt x="0" y="624840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20320">
            <a:solidFill>
              <a:srgbClr val="FFE66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260092" y="535305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21431" y="10716"/>
                </a:moveTo>
                <a:cubicBezTo>
                  <a:pt x="9611" y="10716"/>
                  <a:pt x="0" y="20326"/>
                  <a:pt x="0" y="32147"/>
                </a:cubicBezTo>
                <a:lnTo>
                  <a:pt x="0" y="139303"/>
                </a:lnTo>
                <a:cubicBezTo>
                  <a:pt x="0" y="151124"/>
                  <a:pt x="9611" y="160734"/>
                  <a:pt x="21431" y="160734"/>
                </a:cubicBezTo>
                <a:lnTo>
                  <a:pt x="128588" y="160734"/>
                </a:lnTo>
                <a:cubicBezTo>
                  <a:pt x="140408" y="160734"/>
                  <a:pt x="150019" y="151124"/>
                  <a:pt x="150019" y="139303"/>
                </a:cubicBezTo>
                <a:lnTo>
                  <a:pt x="150019" y="32147"/>
                </a:lnTo>
                <a:cubicBezTo>
                  <a:pt x="150019" y="20326"/>
                  <a:pt x="140408" y="10716"/>
                  <a:pt x="128588" y="10716"/>
                </a:cubicBezTo>
                <a:lnTo>
                  <a:pt x="21431" y="10716"/>
                </a:lnTo>
                <a:close/>
                <a:moveTo>
                  <a:pt x="42863" y="37505"/>
                </a:moveTo>
                <a:cubicBezTo>
                  <a:pt x="51734" y="37505"/>
                  <a:pt x="58936" y="44707"/>
                  <a:pt x="58936" y="53578"/>
                </a:cubicBezTo>
                <a:cubicBezTo>
                  <a:pt x="58936" y="62449"/>
                  <a:pt x="51734" y="69652"/>
                  <a:pt x="42863" y="69652"/>
                </a:cubicBezTo>
                <a:cubicBezTo>
                  <a:pt x="33991" y="69652"/>
                  <a:pt x="26789" y="62449"/>
                  <a:pt x="26789" y="53578"/>
                </a:cubicBezTo>
                <a:cubicBezTo>
                  <a:pt x="26789" y="44707"/>
                  <a:pt x="33991" y="37505"/>
                  <a:pt x="42863" y="37505"/>
                </a:cubicBezTo>
                <a:close/>
                <a:moveTo>
                  <a:pt x="91083" y="75009"/>
                </a:moveTo>
                <a:cubicBezTo>
                  <a:pt x="93896" y="75009"/>
                  <a:pt x="96474" y="76483"/>
                  <a:pt x="97948" y="78860"/>
                </a:cubicBezTo>
                <a:lnTo>
                  <a:pt x="127415" y="127081"/>
                </a:lnTo>
                <a:cubicBezTo>
                  <a:pt x="128922" y="129559"/>
                  <a:pt x="128989" y="132673"/>
                  <a:pt x="127583" y="135218"/>
                </a:cubicBezTo>
                <a:cubicBezTo>
                  <a:pt x="126176" y="137763"/>
                  <a:pt x="123464" y="139303"/>
                  <a:pt x="120551" y="139303"/>
                </a:cubicBezTo>
                <a:lnTo>
                  <a:pt x="29468" y="139303"/>
                </a:lnTo>
                <a:cubicBezTo>
                  <a:pt x="26488" y="139303"/>
                  <a:pt x="23708" y="137629"/>
                  <a:pt x="22335" y="134983"/>
                </a:cubicBezTo>
                <a:cubicBezTo>
                  <a:pt x="20962" y="132338"/>
                  <a:pt x="21163" y="129123"/>
                  <a:pt x="22871" y="126679"/>
                </a:cubicBezTo>
                <a:lnTo>
                  <a:pt x="41624" y="99890"/>
                </a:lnTo>
                <a:cubicBezTo>
                  <a:pt x="43130" y="97747"/>
                  <a:pt x="45575" y="96474"/>
                  <a:pt x="48220" y="96474"/>
                </a:cubicBezTo>
                <a:cubicBezTo>
                  <a:pt x="50866" y="96474"/>
                  <a:pt x="53310" y="97747"/>
                  <a:pt x="54817" y="99890"/>
                </a:cubicBezTo>
                <a:lnTo>
                  <a:pt x="63658" y="112548"/>
                </a:lnTo>
                <a:lnTo>
                  <a:pt x="84218" y="78894"/>
                </a:lnTo>
                <a:cubicBezTo>
                  <a:pt x="85692" y="76516"/>
                  <a:pt x="88270" y="75043"/>
                  <a:pt x="91083" y="75043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62" name="Text 60"/>
          <p:cNvSpPr/>
          <p:nvPr/>
        </p:nvSpPr>
        <p:spPr>
          <a:xfrm>
            <a:off x="9083040" y="5562600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Compression images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355080" y="5966461"/>
            <a:ext cx="2586990" cy="624840"/>
          </a:xfrm>
          <a:custGeom>
            <a:avLst/>
            <a:gdLst/>
            <a:ahLst/>
            <a:cxnLst/>
            <a:rect l="l" t="t" r="r" b="b"/>
            <a:pathLst>
              <a:path w="2586990" h="624840">
                <a:moveTo>
                  <a:pt x="0" y="0"/>
                </a:moveTo>
                <a:lnTo>
                  <a:pt x="2586990" y="0"/>
                </a:lnTo>
                <a:lnTo>
                  <a:pt x="2586990" y="624840"/>
                </a:lnTo>
                <a:lnTo>
                  <a:pt x="0" y="62484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4ECDC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588568" y="6073141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117872" y="0"/>
                </a:moveTo>
                <a:cubicBezTo>
                  <a:pt x="123799" y="0"/>
                  <a:pt x="128588" y="4789"/>
                  <a:pt x="128588" y="10716"/>
                </a:cubicBezTo>
                <a:cubicBezTo>
                  <a:pt x="128588" y="30071"/>
                  <a:pt x="120417" y="45809"/>
                  <a:pt x="109366" y="59103"/>
                </a:cubicBezTo>
                <a:cubicBezTo>
                  <a:pt x="101296" y="68781"/>
                  <a:pt x="91351" y="77554"/>
                  <a:pt x="81372" y="85725"/>
                </a:cubicBezTo>
                <a:cubicBezTo>
                  <a:pt x="91351" y="93929"/>
                  <a:pt x="101296" y="102669"/>
                  <a:pt x="109366" y="112347"/>
                </a:cubicBezTo>
                <a:cubicBezTo>
                  <a:pt x="120417" y="125607"/>
                  <a:pt x="128588" y="141379"/>
                  <a:pt x="128588" y="160734"/>
                </a:cubicBezTo>
                <a:cubicBezTo>
                  <a:pt x="128588" y="166661"/>
                  <a:pt x="123799" y="171450"/>
                  <a:pt x="117872" y="171450"/>
                </a:cubicBezTo>
                <a:cubicBezTo>
                  <a:pt x="111945" y="171450"/>
                  <a:pt x="107156" y="166661"/>
                  <a:pt x="107156" y="160734"/>
                </a:cubicBezTo>
                <a:lnTo>
                  <a:pt x="21431" y="160734"/>
                </a:lnTo>
                <a:cubicBezTo>
                  <a:pt x="21431" y="166661"/>
                  <a:pt x="16643" y="171450"/>
                  <a:pt x="10716" y="171450"/>
                </a:cubicBezTo>
                <a:cubicBezTo>
                  <a:pt x="4789" y="171450"/>
                  <a:pt x="0" y="166661"/>
                  <a:pt x="0" y="160734"/>
                </a:cubicBezTo>
                <a:cubicBezTo>
                  <a:pt x="0" y="141379"/>
                  <a:pt x="8171" y="125641"/>
                  <a:pt x="19221" y="112347"/>
                </a:cubicBezTo>
                <a:cubicBezTo>
                  <a:pt x="27291" y="102669"/>
                  <a:pt x="37237" y="93929"/>
                  <a:pt x="47216" y="85725"/>
                </a:cubicBezTo>
                <a:cubicBezTo>
                  <a:pt x="37237" y="77521"/>
                  <a:pt x="27291" y="68781"/>
                  <a:pt x="19221" y="59103"/>
                </a:cubicBezTo>
                <a:cubicBezTo>
                  <a:pt x="8171" y="45809"/>
                  <a:pt x="0" y="30071"/>
                  <a:pt x="0" y="10716"/>
                </a:cubicBezTo>
                <a:cubicBezTo>
                  <a:pt x="0" y="4789"/>
                  <a:pt x="4789" y="0"/>
                  <a:pt x="10716" y="0"/>
                </a:cubicBezTo>
                <a:cubicBezTo>
                  <a:pt x="16643" y="0"/>
                  <a:pt x="21431" y="4789"/>
                  <a:pt x="21431" y="10716"/>
                </a:cubicBezTo>
                <a:lnTo>
                  <a:pt x="107156" y="10716"/>
                </a:lnTo>
                <a:cubicBezTo>
                  <a:pt x="107156" y="4789"/>
                  <a:pt x="111945" y="0"/>
                  <a:pt x="117872" y="0"/>
                </a:cubicBezTo>
                <a:close/>
                <a:moveTo>
                  <a:pt x="94934" y="128588"/>
                </a:moveTo>
                <a:lnTo>
                  <a:pt x="33687" y="128588"/>
                </a:lnTo>
                <a:cubicBezTo>
                  <a:pt x="30941" y="132104"/>
                  <a:pt x="28631" y="135653"/>
                  <a:pt x="26789" y="139303"/>
                </a:cubicBezTo>
                <a:lnTo>
                  <a:pt x="101865" y="139303"/>
                </a:lnTo>
                <a:cubicBezTo>
                  <a:pt x="99990" y="135653"/>
                  <a:pt x="97680" y="132104"/>
                  <a:pt x="94967" y="128588"/>
                </a:cubicBezTo>
                <a:close/>
                <a:moveTo>
                  <a:pt x="79697" y="112514"/>
                </a:moveTo>
                <a:cubicBezTo>
                  <a:pt x="74909" y="108161"/>
                  <a:pt x="69719" y="103875"/>
                  <a:pt x="64294" y="99454"/>
                </a:cubicBezTo>
                <a:cubicBezTo>
                  <a:pt x="58869" y="103841"/>
                  <a:pt x="53679" y="108161"/>
                  <a:pt x="48890" y="112514"/>
                </a:cubicBezTo>
                <a:lnTo>
                  <a:pt x="79697" y="112514"/>
                </a:lnTo>
                <a:close/>
                <a:moveTo>
                  <a:pt x="33654" y="42863"/>
                </a:moveTo>
                <a:lnTo>
                  <a:pt x="94900" y="42863"/>
                </a:lnTo>
                <a:cubicBezTo>
                  <a:pt x="97646" y="39346"/>
                  <a:pt x="99957" y="35797"/>
                  <a:pt x="101798" y="32147"/>
                </a:cubicBezTo>
                <a:lnTo>
                  <a:pt x="26756" y="32147"/>
                </a:lnTo>
                <a:cubicBezTo>
                  <a:pt x="28631" y="35797"/>
                  <a:pt x="30941" y="39346"/>
                  <a:pt x="33654" y="42863"/>
                </a:cubicBezTo>
                <a:close/>
                <a:moveTo>
                  <a:pt x="48890" y="58936"/>
                </a:moveTo>
                <a:cubicBezTo>
                  <a:pt x="53679" y="63289"/>
                  <a:pt x="58869" y="67575"/>
                  <a:pt x="64294" y="71996"/>
                </a:cubicBezTo>
                <a:cubicBezTo>
                  <a:pt x="69719" y="67609"/>
                  <a:pt x="74909" y="63289"/>
                  <a:pt x="79697" y="58936"/>
                </a:cubicBezTo>
                <a:lnTo>
                  <a:pt x="48890" y="58936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65" name="Text 63"/>
          <p:cNvSpPr/>
          <p:nvPr/>
        </p:nvSpPr>
        <p:spPr>
          <a:xfrm>
            <a:off x="6400800" y="6282691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Bioinformatique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9037320" y="5966461"/>
            <a:ext cx="2586990" cy="624840"/>
          </a:xfrm>
          <a:custGeom>
            <a:avLst/>
            <a:gdLst/>
            <a:ahLst/>
            <a:cxnLst/>
            <a:rect l="l" t="t" r="r" b="b"/>
            <a:pathLst>
              <a:path w="2586990" h="624840">
                <a:moveTo>
                  <a:pt x="0" y="0"/>
                </a:moveTo>
                <a:lnTo>
                  <a:pt x="2586990" y="0"/>
                </a:lnTo>
                <a:lnTo>
                  <a:pt x="2586990" y="624840"/>
                </a:lnTo>
                <a:lnTo>
                  <a:pt x="0" y="62484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FF6B6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249377" y="6073141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68" name="Text 66"/>
          <p:cNvSpPr/>
          <p:nvPr/>
        </p:nvSpPr>
        <p:spPr>
          <a:xfrm>
            <a:off x="9083040" y="6282691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Analyse tendances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11065741" y="245341"/>
            <a:ext cx="737235" cy="737235"/>
          </a:xfrm>
          <a:custGeom>
            <a:avLst/>
            <a:gdLst/>
            <a:ahLst/>
            <a:cxnLst/>
            <a:rect l="l" t="t" r="r" b="b"/>
            <a:pathLst>
              <a:path w="737235" h="737235">
                <a:moveTo>
                  <a:pt x="0" y="0"/>
                </a:moveTo>
                <a:lnTo>
                  <a:pt x="737235" y="0"/>
                </a:lnTo>
                <a:lnTo>
                  <a:pt x="737235" y="737235"/>
                </a:lnTo>
                <a:lnTo>
                  <a:pt x="0" y="73723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21030" y="5726430"/>
            <a:ext cx="508635" cy="508635"/>
          </a:xfrm>
          <a:custGeom>
            <a:avLst/>
            <a:gdLst/>
            <a:ahLst/>
            <a:cxnLst/>
            <a:rect l="l" t="t" r="r" b="b"/>
            <a:pathLst>
              <a:path w="508635" h="508635">
                <a:moveTo>
                  <a:pt x="254318" y="0"/>
                </a:moveTo>
                <a:lnTo>
                  <a:pt x="254318" y="0"/>
                </a:lnTo>
                <a:cubicBezTo>
                  <a:pt x="394679" y="0"/>
                  <a:pt x="508635" y="113956"/>
                  <a:pt x="508635" y="254318"/>
                </a:cubicBezTo>
                <a:lnTo>
                  <a:pt x="508635" y="254318"/>
                </a:lnTo>
                <a:cubicBezTo>
                  <a:pt x="508635" y="394679"/>
                  <a:pt x="394679" y="508635"/>
                  <a:pt x="254317" y="508635"/>
                </a:cubicBezTo>
                <a:lnTo>
                  <a:pt x="254318" y="508635"/>
                </a:lnTo>
                <a:cubicBezTo>
                  <a:pt x="113956" y="508635"/>
                  <a:pt x="0" y="394679"/>
                  <a:pt x="0" y="254318"/>
                </a:cubicBezTo>
                <a:lnTo>
                  <a:pt x="0" y="254318"/>
                </a:lnTo>
                <a:cubicBezTo>
                  <a:pt x="0" y="113956"/>
                  <a:pt x="113956" y="0"/>
                  <a:pt x="254317" y="0"/>
                </a:cubicBezTo>
                <a:close/>
              </a:path>
            </a:pathLst>
          </a:custGeom>
          <a:solidFill>
            <a:srgbClr val="FFE66D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908030" y="5193030"/>
            <a:ext cx="356235" cy="889635"/>
          </a:xfrm>
          <a:custGeom>
            <a:avLst/>
            <a:gdLst/>
            <a:ahLst/>
            <a:cxnLst/>
            <a:rect l="l" t="t" r="r" b="b"/>
            <a:pathLst>
              <a:path w="356235" h="889635">
                <a:moveTo>
                  <a:pt x="0" y="0"/>
                </a:moveTo>
                <a:lnTo>
                  <a:pt x="356235" y="0"/>
                </a:lnTo>
                <a:lnTo>
                  <a:pt x="356235" y="889635"/>
                </a:lnTo>
                <a:lnTo>
                  <a:pt x="0" y="88963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304800" y="914400"/>
            <a:ext cx="571500" cy="476250"/>
          </a:xfrm>
          <a:prstGeom prst="roundRect">
            <a:avLst>
              <a:gd name="adj" fmla="val 0"/>
            </a:avLst>
          </a:prstGeom>
        </p:spPr>
      </p:pic>
      <p:sp>
        <p:nvSpPr>
          <p:cNvPr id="6" name="Text 3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Comment Fonctionne l'Apprentissage Non Supervisé?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8620" y="845820"/>
            <a:ext cx="901065" cy="62865"/>
          </a:xfrm>
          <a:custGeom>
            <a:avLst/>
            <a:gdLst/>
            <a:ahLst/>
            <a:cxnLst/>
            <a:rect l="l" t="t" r="r" b="b"/>
            <a:pathLst>
              <a:path w="901065" h="62865">
                <a:moveTo>
                  <a:pt x="0" y="0"/>
                </a:moveTo>
                <a:lnTo>
                  <a:pt x="901065" y="0"/>
                </a:lnTo>
                <a:lnTo>
                  <a:pt x="901065" y="62865"/>
                </a:lnTo>
                <a:lnTo>
                  <a:pt x="0" y="6286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92430" y="1078230"/>
            <a:ext cx="3689985" cy="3318510"/>
          </a:xfrm>
          <a:custGeom>
            <a:avLst/>
            <a:gdLst/>
            <a:ahLst/>
            <a:cxnLst/>
            <a:rect l="l" t="t" r="r" b="b"/>
            <a:pathLst>
              <a:path w="3689985" h="3318510">
                <a:moveTo>
                  <a:pt x="0" y="0"/>
                </a:moveTo>
                <a:lnTo>
                  <a:pt x="3689985" y="0"/>
                </a:lnTo>
                <a:lnTo>
                  <a:pt x="3689985" y="3318510"/>
                </a:lnTo>
                <a:lnTo>
                  <a:pt x="0" y="331851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63880" y="1249681"/>
            <a:ext cx="443865" cy="443865"/>
          </a:xfrm>
          <a:custGeom>
            <a:avLst/>
            <a:gdLst/>
            <a:ahLst/>
            <a:cxnLst/>
            <a:rect l="l" t="t" r="r" b="b"/>
            <a:pathLst>
              <a:path w="443865" h="443865">
                <a:moveTo>
                  <a:pt x="0" y="0"/>
                </a:moveTo>
                <a:lnTo>
                  <a:pt x="443865" y="0"/>
                </a:lnTo>
                <a:lnTo>
                  <a:pt x="443865" y="443865"/>
                </a:lnTo>
                <a:lnTo>
                  <a:pt x="0" y="44386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2237" y="1318261"/>
            <a:ext cx="180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27760" y="1337311"/>
            <a:ext cx="2066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Analyse des Similarités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56260" y="1813561"/>
            <a:ext cx="34385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L'algorithme calcule les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distances ou similarités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entre les données pour identifier lesquels se ressemblent.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63880" y="2678431"/>
            <a:ext cx="3339465" cy="701040"/>
          </a:xfrm>
          <a:custGeom>
            <a:avLst/>
            <a:gdLst/>
            <a:ahLst/>
            <a:cxnLst/>
            <a:rect l="l" t="t" r="r" b="b"/>
            <a:pathLst>
              <a:path w="3339465" h="701040">
                <a:moveTo>
                  <a:pt x="0" y="0"/>
                </a:moveTo>
                <a:lnTo>
                  <a:pt x="3339465" y="0"/>
                </a:lnTo>
                <a:lnTo>
                  <a:pt x="3339465" y="701040"/>
                </a:lnTo>
                <a:lnTo>
                  <a:pt x="0" y="70104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4ECDC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5800" y="2800350"/>
            <a:ext cx="31718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Métriques: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Distance euclidienne, Manhattan, similarité cosinus, corrélation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92430" y="4575810"/>
            <a:ext cx="3689985" cy="1889760"/>
          </a:xfrm>
          <a:custGeom>
            <a:avLst/>
            <a:gdLst/>
            <a:ahLst/>
            <a:cxnLst/>
            <a:rect l="l" t="t" r="r" b="b"/>
            <a:pathLst>
              <a:path w="3689985" h="1889760">
                <a:moveTo>
                  <a:pt x="0" y="0"/>
                </a:moveTo>
                <a:lnTo>
                  <a:pt x="3689985" y="0"/>
                </a:lnTo>
                <a:lnTo>
                  <a:pt x="3689985" y="1889760"/>
                </a:lnTo>
                <a:lnTo>
                  <a:pt x="0" y="18897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3880" y="4747261"/>
            <a:ext cx="443865" cy="443865"/>
          </a:xfrm>
          <a:custGeom>
            <a:avLst/>
            <a:gdLst/>
            <a:ahLst/>
            <a:cxnLst/>
            <a:rect l="l" t="t" r="r" b="b"/>
            <a:pathLst>
              <a:path w="443865" h="443865">
                <a:moveTo>
                  <a:pt x="0" y="0"/>
                </a:moveTo>
                <a:lnTo>
                  <a:pt x="443865" y="0"/>
                </a:lnTo>
                <a:lnTo>
                  <a:pt x="443865" y="443865"/>
                </a:lnTo>
                <a:lnTo>
                  <a:pt x="0" y="44386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3662" y="4815841"/>
            <a:ext cx="238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127760" y="4834891"/>
            <a:ext cx="2419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Identification de Structures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56260" y="5311141"/>
            <a:ext cx="343852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À partir des similarités, l'algorithme détecte des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highlight>
                  <a:srgbClr val="FFE66D">
                    <a:alpha val="100000"/>
                  </a:srgbClr>
                </a:highlight>
                <a:latin typeface="Coda" pitchFamily="34" charset="0"/>
                <a:ea typeface="Coda" pitchFamily="34" charset="-122"/>
                <a:cs typeface="Coda" pitchFamily="34" charset="-120"/>
              </a:rPr>
              <a:t>structures cachées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: clusters, dimensions importantes, relations fréquentes, ou points atypiques.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253151" y="1078230"/>
            <a:ext cx="3689985" cy="3318510"/>
          </a:xfrm>
          <a:custGeom>
            <a:avLst/>
            <a:gdLst/>
            <a:ahLst/>
            <a:cxnLst/>
            <a:rect l="l" t="t" r="r" b="b"/>
            <a:pathLst>
              <a:path w="3689985" h="3318510">
                <a:moveTo>
                  <a:pt x="0" y="0"/>
                </a:moveTo>
                <a:lnTo>
                  <a:pt x="3689985" y="0"/>
                </a:lnTo>
                <a:lnTo>
                  <a:pt x="3689985" y="3318510"/>
                </a:lnTo>
                <a:lnTo>
                  <a:pt x="0" y="331851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424601" y="1249681"/>
            <a:ext cx="443865" cy="443865"/>
          </a:xfrm>
          <a:custGeom>
            <a:avLst/>
            <a:gdLst/>
            <a:ahLst/>
            <a:cxnLst/>
            <a:rect l="l" t="t" r="r" b="b"/>
            <a:pathLst>
              <a:path w="443865" h="443865">
                <a:moveTo>
                  <a:pt x="0" y="0"/>
                </a:moveTo>
                <a:lnTo>
                  <a:pt x="443865" y="0"/>
                </a:lnTo>
                <a:lnTo>
                  <a:pt x="443865" y="443865"/>
                </a:lnTo>
                <a:lnTo>
                  <a:pt x="0" y="443865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82835" y="1318261"/>
            <a:ext cx="238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988481" y="1337311"/>
            <a:ext cx="1933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Apprentissage Itératif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4416981" y="1813561"/>
            <a:ext cx="34385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La plupart des algorithmes utilisent un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processus itératif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pour optimiser une fonction objectif: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4424601" y="2430781"/>
            <a:ext cx="291465" cy="291465"/>
          </a:xfrm>
          <a:custGeom>
            <a:avLst/>
            <a:gdLst/>
            <a:ahLst/>
            <a:cxnLst/>
            <a:rect l="l" t="t" r="r" b="b"/>
            <a:pathLst>
              <a:path w="291465" h="291465">
                <a:moveTo>
                  <a:pt x="0" y="0"/>
                </a:moveTo>
                <a:lnTo>
                  <a:pt x="291465" y="0"/>
                </a:lnTo>
                <a:lnTo>
                  <a:pt x="291465" y="291465"/>
                </a:lnTo>
                <a:lnTo>
                  <a:pt x="0" y="29146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513421" y="250888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23753" y="9611"/>
                </a:moveTo>
                <a:cubicBezTo>
                  <a:pt x="20523" y="7840"/>
                  <a:pt x="16617" y="7918"/>
                  <a:pt x="13439" y="9793"/>
                </a:cubicBezTo>
                <a:cubicBezTo>
                  <a:pt x="10262" y="11668"/>
                  <a:pt x="8334" y="15080"/>
                  <a:pt x="8334" y="18752"/>
                </a:cubicBezTo>
                <a:lnTo>
                  <a:pt x="8334" y="114598"/>
                </a:lnTo>
                <a:cubicBezTo>
                  <a:pt x="8334" y="118270"/>
                  <a:pt x="10288" y="121682"/>
                  <a:pt x="13439" y="123557"/>
                </a:cubicBezTo>
                <a:cubicBezTo>
                  <a:pt x="16591" y="125432"/>
                  <a:pt x="20523" y="125510"/>
                  <a:pt x="23753" y="123739"/>
                </a:cubicBezTo>
                <a:lnTo>
                  <a:pt x="111264" y="75817"/>
                </a:lnTo>
                <a:cubicBezTo>
                  <a:pt x="114598" y="73994"/>
                  <a:pt x="116681" y="70478"/>
                  <a:pt x="116681" y="66675"/>
                </a:cubicBezTo>
                <a:cubicBezTo>
                  <a:pt x="116681" y="62872"/>
                  <a:pt x="114598" y="59356"/>
                  <a:pt x="111264" y="57533"/>
                </a:cubicBezTo>
                <a:lnTo>
                  <a:pt x="23753" y="961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4"/>
          <p:cNvSpPr/>
          <p:nvPr/>
        </p:nvSpPr>
        <p:spPr>
          <a:xfrm>
            <a:off x="4797981" y="2461261"/>
            <a:ext cx="1552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Initialisation aléatoire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4424601" y="2811781"/>
            <a:ext cx="291465" cy="291465"/>
          </a:xfrm>
          <a:custGeom>
            <a:avLst/>
            <a:gdLst/>
            <a:ahLst/>
            <a:cxnLst/>
            <a:rect l="l" t="t" r="r" b="b"/>
            <a:pathLst>
              <a:path w="291465" h="291465">
                <a:moveTo>
                  <a:pt x="0" y="0"/>
                </a:moveTo>
                <a:lnTo>
                  <a:pt x="291465" y="0"/>
                </a:lnTo>
                <a:lnTo>
                  <a:pt x="291465" y="291465"/>
                </a:lnTo>
                <a:lnTo>
                  <a:pt x="0" y="29146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505087" y="2889886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7164" y="59513"/>
                </a:moveTo>
                <a:cubicBezTo>
                  <a:pt x="20628" y="35291"/>
                  <a:pt x="41490" y="16669"/>
                  <a:pt x="66675" y="16669"/>
                </a:cubicBezTo>
                <a:cubicBezTo>
                  <a:pt x="80479" y="16669"/>
                  <a:pt x="92980" y="22268"/>
                  <a:pt x="102044" y="31306"/>
                </a:cubicBezTo>
                <a:cubicBezTo>
                  <a:pt x="102096" y="31358"/>
                  <a:pt x="102148" y="31410"/>
                  <a:pt x="102200" y="31462"/>
                </a:cubicBezTo>
                <a:lnTo>
                  <a:pt x="104180" y="33337"/>
                </a:lnTo>
                <a:lnTo>
                  <a:pt x="91704" y="33337"/>
                </a:lnTo>
                <a:cubicBezTo>
                  <a:pt x="87094" y="33337"/>
                  <a:pt x="83370" y="37062"/>
                  <a:pt x="83370" y="41672"/>
                </a:cubicBezTo>
                <a:cubicBezTo>
                  <a:pt x="83370" y="46282"/>
                  <a:pt x="87094" y="50006"/>
                  <a:pt x="91704" y="50006"/>
                </a:cubicBezTo>
                <a:lnTo>
                  <a:pt x="125042" y="50006"/>
                </a:lnTo>
                <a:cubicBezTo>
                  <a:pt x="129652" y="50006"/>
                  <a:pt x="133376" y="46282"/>
                  <a:pt x="133376" y="41672"/>
                </a:cubicBezTo>
                <a:lnTo>
                  <a:pt x="133376" y="8334"/>
                </a:lnTo>
                <a:cubicBezTo>
                  <a:pt x="133376" y="3724"/>
                  <a:pt x="129652" y="0"/>
                  <a:pt x="125042" y="0"/>
                </a:cubicBezTo>
                <a:cubicBezTo>
                  <a:pt x="120432" y="0"/>
                  <a:pt x="116707" y="3724"/>
                  <a:pt x="116707" y="8334"/>
                </a:cubicBezTo>
                <a:lnTo>
                  <a:pt x="116707" y="22242"/>
                </a:lnTo>
                <a:lnTo>
                  <a:pt x="113764" y="19456"/>
                </a:lnTo>
                <a:cubicBezTo>
                  <a:pt x="101705" y="7449"/>
                  <a:pt x="85037" y="0"/>
                  <a:pt x="66675" y="0"/>
                </a:cubicBezTo>
                <a:cubicBezTo>
                  <a:pt x="33077" y="0"/>
                  <a:pt x="5287" y="24847"/>
                  <a:pt x="677" y="57169"/>
                </a:cubicBezTo>
                <a:cubicBezTo>
                  <a:pt x="26" y="61726"/>
                  <a:pt x="3177" y="65946"/>
                  <a:pt x="7735" y="66597"/>
                </a:cubicBezTo>
                <a:cubicBezTo>
                  <a:pt x="12293" y="67248"/>
                  <a:pt x="16512" y="64071"/>
                  <a:pt x="17164" y="59539"/>
                </a:cubicBezTo>
                <a:close/>
                <a:moveTo>
                  <a:pt x="132673" y="76181"/>
                </a:moveTo>
                <a:cubicBezTo>
                  <a:pt x="133324" y="71624"/>
                  <a:pt x="130146" y="67404"/>
                  <a:pt x="125615" y="66753"/>
                </a:cubicBezTo>
                <a:cubicBezTo>
                  <a:pt x="121083" y="66102"/>
                  <a:pt x="116838" y="69279"/>
                  <a:pt x="116186" y="73811"/>
                </a:cubicBezTo>
                <a:cubicBezTo>
                  <a:pt x="112722" y="98033"/>
                  <a:pt x="91860" y="116655"/>
                  <a:pt x="66675" y="116655"/>
                </a:cubicBezTo>
                <a:cubicBezTo>
                  <a:pt x="52871" y="116655"/>
                  <a:pt x="40370" y="111056"/>
                  <a:pt x="31306" y="102018"/>
                </a:cubicBezTo>
                <a:cubicBezTo>
                  <a:pt x="31254" y="101966"/>
                  <a:pt x="31202" y="101914"/>
                  <a:pt x="31150" y="101862"/>
                </a:cubicBezTo>
                <a:lnTo>
                  <a:pt x="29170" y="99986"/>
                </a:lnTo>
                <a:lnTo>
                  <a:pt x="41646" y="99986"/>
                </a:lnTo>
                <a:cubicBezTo>
                  <a:pt x="46256" y="99986"/>
                  <a:pt x="49980" y="96262"/>
                  <a:pt x="49980" y="91652"/>
                </a:cubicBezTo>
                <a:cubicBezTo>
                  <a:pt x="49980" y="87042"/>
                  <a:pt x="46256" y="83318"/>
                  <a:pt x="41646" y="83318"/>
                </a:cubicBezTo>
                <a:lnTo>
                  <a:pt x="8334" y="83344"/>
                </a:lnTo>
                <a:cubicBezTo>
                  <a:pt x="6121" y="83344"/>
                  <a:pt x="3985" y="84229"/>
                  <a:pt x="2422" y="85818"/>
                </a:cubicBezTo>
                <a:cubicBezTo>
                  <a:pt x="859" y="87407"/>
                  <a:pt x="-26" y="89516"/>
                  <a:pt x="0" y="91756"/>
                </a:cubicBezTo>
                <a:lnTo>
                  <a:pt x="260" y="124833"/>
                </a:lnTo>
                <a:cubicBezTo>
                  <a:pt x="286" y="129443"/>
                  <a:pt x="4063" y="133142"/>
                  <a:pt x="8673" y="133090"/>
                </a:cubicBezTo>
                <a:cubicBezTo>
                  <a:pt x="13283" y="133037"/>
                  <a:pt x="16981" y="129287"/>
                  <a:pt x="16929" y="124677"/>
                </a:cubicBezTo>
                <a:lnTo>
                  <a:pt x="16825" y="111264"/>
                </a:lnTo>
                <a:lnTo>
                  <a:pt x="19612" y="113894"/>
                </a:lnTo>
                <a:cubicBezTo>
                  <a:pt x="31671" y="125901"/>
                  <a:pt x="48313" y="133350"/>
                  <a:pt x="66675" y="133350"/>
                </a:cubicBezTo>
                <a:cubicBezTo>
                  <a:pt x="100273" y="133350"/>
                  <a:pt x="128063" y="108503"/>
                  <a:pt x="132673" y="7618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Text 27"/>
          <p:cNvSpPr/>
          <p:nvPr/>
        </p:nvSpPr>
        <p:spPr>
          <a:xfrm>
            <a:off x="4797981" y="2842261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Mise à jour des paramètres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4424601" y="3192781"/>
            <a:ext cx="291465" cy="291465"/>
          </a:xfrm>
          <a:custGeom>
            <a:avLst/>
            <a:gdLst/>
            <a:ahLst/>
            <a:cxnLst/>
            <a:rect l="l" t="t" r="r" b="b"/>
            <a:pathLst>
              <a:path w="291465" h="291465">
                <a:moveTo>
                  <a:pt x="0" y="0"/>
                </a:moveTo>
                <a:lnTo>
                  <a:pt x="291465" y="0"/>
                </a:lnTo>
                <a:lnTo>
                  <a:pt x="291465" y="291465"/>
                </a:lnTo>
                <a:lnTo>
                  <a:pt x="0" y="291465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513421" y="327088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33" name="Text 30"/>
          <p:cNvSpPr/>
          <p:nvPr/>
        </p:nvSpPr>
        <p:spPr>
          <a:xfrm>
            <a:off x="4797981" y="3223261"/>
            <a:ext cx="1885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Convergence vers solution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4253151" y="4575810"/>
            <a:ext cx="3689985" cy="1889760"/>
          </a:xfrm>
          <a:custGeom>
            <a:avLst/>
            <a:gdLst/>
            <a:ahLst/>
            <a:cxnLst/>
            <a:rect l="l" t="t" r="r" b="b"/>
            <a:pathLst>
              <a:path w="3689985" h="1889760">
                <a:moveTo>
                  <a:pt x="0" y="0"/>
                </a:moveTo>
                <a:lnTo>
                  <a:pt x="3689985" y="0"/>
                </a:lnTo>
                <a:lnTo>
                  <a:pt x="3689985" y="1889760"/>
                </a:lnTo>
                <a:lnTo>
                  <a:pt x="0" y="18897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4424601" y="4747261"/>
            <a:ext cx="443865" cy="443865"/>
          </a:xfrm>
          <a:custGeom>
            <a:avLst/>
            <a:gdLst/>
            <a:ahLst/>
            <a:cxnLst/>
            <a:rect l="l" t="t" r="r" b="b"/>
            <a:pathLst>
              <a:path w="443865" h="443865">
                <a:moveTo>
                  <a:pt x="0" y="0"/>
                </a:moveTo>
                <a:lnTo>
                  <a:pt x="443865" y="0"/>
                </a:lnTo>
                <a:lnTo>
                  <a:pt x="443865" y="443865"/>
                </a:lnTo>
                <a:lnTo>
                  <a:pt x="0" y="44386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586407" y="4815841"/>
            <a:ext cx="228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4988481" y="4834891"/>
            <a:ext cx="180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Pas de Ground Truth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4416981" y="5311141"/>
            <a:ext cx="343852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Contrairement au supervisé,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highlight>
                  <a:srgbClr val="FF6B6B">
                    <a:alpha val="100000"/>
                  </a:srgbClr>
                </a:highlight>
                <a:latin typeface="Coda" pitchFamily="34" charset="0"/>
                <a:ea typeface="Coda" pitchFamily="34" charset="-122"/>
                <a:cs typeface="Coda" pitchFamily="34" charset="-120"/>
              </a:rPr>
              <a:t>il n'y a pas de "bonne réponse" prédéfinie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. L'algorithme découvre les patterns de manière autonome sans validation externe.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8113991" y="1078230"/>
            <a:ext cx="3689985" cy="5385435"/>
          </a:xfrm>
          <a:custGeom>
            <a:avLst/>
            <a:gdLst/>
            <a:ahLst/>
            <a:cxnLst/>
            <a:rect l="l" t="t" r="r" b="b"/>
            <a:pathLst>
              <a:path w="3689985" h="5385435">
                <a:moveTo>
                  <a:pt x="0" y="0"/>
                </a:moveTo>
                <a:lnTo>
                  <a:pt x="3689985" y="0"/>
                </a:lnTo>
                <a:lnTo>
                  <a:pt x="3689985" y="5385435"/>
                </a:lnTo>
                <a:lnTo>
                  <a:pt x="0" y="53854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8230195" y="1242061"/>
            <a:ext cx="3457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Processus Global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8285440" y="1630681"/>
            <a:ext cx="3339465" cy="1043940"/>
          </a:xfrm>
          <a:custGeom>
            <a:avLst/>
            <a:gdLst/>
            <a:ahLst/>
            <a:cxnLst/>
            <a:rect l="l" t="t" r="r" b="b"/>
            <a:pathLst>
              <a:path w="3339465" h="1043940">
                <a:moveTo>
                  <a:pt x="0" y="0"/>
                </a:moveTo>
                <a:lnTo>
                  <a:pt x="3339465" y="0"/>
                </a:lnTo>
                <a:lnTo>
                  <a:pt x="3339465" y="1043940"/>
                </a:lnTo>
                <a:lnTo>
                  <a:pt x="0" y="104394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4ECDC4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414981" y="1760220"/>
            <a:ext cx="291465" cy="291465"/>
          </a:xfrm>
          <a:custGeom>
            <a:avLst/>
            <a:gdLst/>
            <a:ahLst/>
            <a:cxnLst/>
            <a:rect l="l" t="t" r="r" b="b"/>
            <a:pathLst>
              <a:path w="291465" h="291465">
                <a:moveTo>
                  <a:pt x="0" y="0"/>
                </a:moveTo>
                <a:lnTo>
                  <a:pt x="291465" y="0"/>
                </a:lnTo>
                <a:lnTo>
                  <a:pt x="291465" y="291465"/>
                </a:lnTo>
                <a:lnTo>
                  <a:pt x="0" y="29146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503801" y="183832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6681" y="53600"/>
                </a:moveTo>
                <a:cubicBezTo>
                  <a:pt x="112827" y="56153"/>
                  <a:pt x="108399" y="58210"/>
                  <a:pt x="103789" y="59851"/>
                </a:cubicBezTo>
                <a:cubicBezTo>
                  <a:pt x="91548" y="64227"/>
                  <a:pt x="75478" y="66675"/>
                  <a:pt x="58341" y="66675"/>
                </a:cubicBezTo>
                <a:cubicBezTo>
                  <a:pt x="41203" y="66675"/>
                  <a:pt x="25107" y="64201"/>
                  <a:pt x="12892" y="59851"/>
                </a:cubicBezTo>
                <a:cubicBezTo>
                  <a:pt x="8308" y="58210"/>
                  <a:pt x="3855" y="56153"/>
                  <a:pt x="0" y="53600"/>
                </a:cubicBezTo>
                <a:lnTo>
                  <a:pt x="0" y="75009"/>
                </a:lnTo>
                <a:cubicBezTo>
                  <a:pt x="0" y="86521"/>
                  <a:pt x="26123" y="95845"/>
                  <a:pt x="58341" y="95845"/>
                </a:cubicBezTo>
                <a:cubicBezTo>
                  <a:pt x="90558" y="95845"/>
                  <a:pt x="116681" y="86521"/>
                  <a:pt x="116681" y="75009"/>
                </a:cubicBezTo>
                <a:lnTo>
                  <a:pt x="116681" y="53600"/>
                </a:lnTo>
                <a:close/>
                <a:moveTo>
                  <a:pt x="116681" y="33337"/>
                </a:moveTo>
                <a:lnTo>
                  <a:pt x="116681" y="20836"/>
                </a:lnTo>
                <a:cubicBezTo>
                  <a:pt x="116681" y="9324"/>
                  <a:pt x="90558" y="0"/>
                  <a:pt x="58341" y="0"/>
                </a:cubicBezTo>
                <a:cubicBezTo>
                  <a:pt x="26123" y="0"/>
                  <a:pt x="0" y="9324"/>
                  <a:pt x="0" y="20836"/>
                </a:cubicBezTo>
                <a:lnTo>
                  <a:pt x="0" y="33337"/>
                </a:lnTo>
                <a:cubicBezTo>
                  <a:pt x="0" y="44849"/>
                  <a:pt x="26123" y="54173"/>
                  <a:pt x="58341" y="54173"/>
                </a:cubicBezTo>
                <a:cubicBezTo>
                  <a:pt x="90558" y="54173"/>
                  <a:pt x="116681" y="44849"/>
                  <a:pt x="116681" y="33337"/>
                </a:cubicBezTo>
                <a:close/>
                <a:moveTo>
                  <a:pt x="103789" y="101523"/>
                </a:moveTo>
                <a:cubicBezTo>
                  <a:pt x="91574" y="105873"/>
                  <a:pt x="75504" y="108347"/>
                  <a:pt x="58341" y="108347"/>
                </a:cubicBezTo>
                <a:cubicBezTo>
                  <a:pt x="41177" y="108347"/>
                  <a:pt x="25107" y="105873"/>
                  <a:pt x="12892" y="101523"/>
                </a:cubicBezTo>
                <a:cubicBezTo>
                  <a:pt x="8308" y="99882"/>
                  <a:pt x="3855" y="97825"/>
                  <a:pt x="0" y="95272"/>
                </a:cubicBezTo>
                <a:lnTo>
                  <a:pt x="0" y="112514"/>
                </a:lnTo>
                <a:cubicBezTo>
                  <a:pt x="0" y="124026"/>
                  <a:pt x="26123" y="133350"/>
                  <a:pt x="58341" y="133350"/>
                </a:cubicBezTo>
                <a:cubicBezTo>
                  <a:pt x="90558" y="133350"/>
                  <a:pt x="116681" y="124026"/>
                  <a:pt x="116681" y="112514"/>
                </a:cubicBezTo>
                <a:lnTo>
                  <a:pt x="116681" y="95272"/>
                </a:lnTo>
                <a:cubicBezTo>
                  <a:pt x="112827" y="97825"/>
                  <a:pt x="108399" y="99882"/>
                  <a:pt x="103789" y="10152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4" name="Text 41"/>
          <p:cNvSpPr/>
          <p:nvPr/>
        </p:nvSpPr>
        <p:spPr>
          <a:xfrm>
            <a:off x="8788361" y="1771650"/>
            <a:ext cx="1314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Données Brutes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8407361" y="2095500"/>
            <a:ext cx="31718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Ensemble de données sans labels ni catégories prédéfinies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9870996" y="2758441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5634" y="224403"/>
                </a:moveTo>
                <a:cubicBezTo>
                  <a:pt x="81216" y="229984"/>
                  <a:pt x="90279" y="229984"/>
                  <a:pt x="95860" y="224403"/>
                </a:cubicBezTo>
                <a:lnTo>
                  <a:pt x="167298" y="152966"/>
                </a:lnTo>
                <a:cubicBezTo>
                  <a:pt x="172879" y="147384"/>
                  <a:pt x="172879" y="138321"/>
                  <a:pt x="167298" y="132740"/>
                </a:cubicBezTo>
                <a:cubicBezTo>
                  <a:pt x="161717" y="127159"/>
                  <a:pt x="152653" y="127159"/>
                  <a:pt x="147072" y="132740"/>
                </a:cubicBezTo>
                <a:lnTo>
                  <a:pt x="100013" y="179799"/>
                </a:lnTo>
                <a:lnTo>
                  <a:pt x="100013" y="14288"/>
                </a:lnTo>
                <a:cubicBezTo>
                  <a:pt x="100013" y="6385"/>
                  <a:pt x="93628" y="0"/>
                  <a:pt x="85725" y="0"/>
                </a:cubicBezTo>
                <a:cubicBezTo>
                  <a:pt x="77822" y="0"/>
                  <a:pt x="71438" y="6385"/>
                  <a:pt x="71438" y="14288"/>
                </a:cubicBezTo>
                <a:lnTo>
                  <a:pt x="71438" y="179799"/>
                </a:lnTo>
                <a:lnTo>
                  <a:pt x="24378" y="132740"/>
                </a:lnTo>
                <a:cubicBezTo>
                  <a:pt x="18797" y="127159"/>
                  <a:pt x="9733" y="127159"/>
                  <a:pt x="4152" y="132740"/>
                </a:cubicBezTo>
                <a:cubicBezTo>
                  <a:pt x="-1429" y="138321"/>
                  <a:pt x="-1429" y="147384"/>
                  <a:pt x="4152" y="152966"/>
                </a:cubicBezTo>
                <a:lnTo>
                  <a:pt x="75590" y="224403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47" name="Shape 44"/>
          <p:cNvSpPr/>
          <p:nvPr/>
        </p:nvSpPr>
        <p:spPr>
          <a:xfrm>
            <a:off x="8285440" y="3070861"/>
            <a:ext cx="3339465" cy="815340"/>
          </a:xfrm>
          <a:custGeom>
            <a:avLst/>
            <a:gdLst/>
            <a:ahLst/>
            <a:cxnLst/>
            <a:rect l="l" t="t" r="r" b="b"/>
            <a:pathLst>
              <a:path w="3339465" h="815340">
                <a:moveTo>
                  <a:pt x="0" y="0"/>
                </a:moveTo>
                <a:lnTo>
                  <a:pt x="3339465" y="0"/>
                </a:lnTo>
                <a:lnTo>
                  <a:pt x="3339465" y="815340"/>
                </a:lnTo>
                <a:lnTo>
                  <a:pt x="0" y="815340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20320">
            <a:solidFill>
              <a:srgbClr val="FFE66D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8414981" y="3200400"/>
            <a:ext cx="291465" cy="291465"/>
          </a:xfrm>
          <a:custGeom>
            <a:avLst/>
            <a:gdLst/>
            <a:ahLst/>
            <a:cxnLst/>
            <a:rect l="l" t="t" r="r" b="b"/>
            <a:pathLst>
              <a:path w="291465" h="291465">
                <a:moveTo>
                  <a:pt x="0" y="0"/>
                </a:moveTo>
                <a:lnTo>
                  <a:pt x="291465" y="0"/>
                </a:lnTo>
                <a:lnTo>
                  <a:pt x="291465" y="291465"/>
                </a:lnTo>
                <a:lnTo>
                  <a:pt x="0" y="291465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8478798" y="3278505"/>
            <a:ext cx="166688" cy="133350"/>
          </a:xfrm>
          <a:custGeom>
            <a:avLst/>
            <a:gdLst/>
            <a:ahLst/>
            <a:cxnLst/>
            <a:rect l="l" t="t" r="r" b="b"/>
            <a:pathLst>
              <a:path w="166688" h="133350">
                <a:moveTo>
                  <a:pt x="108321" y="54825"/>
                </a:moveTo>
                <a:cubicBezTo>
                  <a:pt x="111498" y="53965"/>
                  <a:pt x="114832" y="55476"/>
                  <a:pt x="116265" y="58419"/>
                </a:cubicBezTo>
                <a:lnTo>
                  <a:pt x="121109" y="68212"/>
                </a:lnTo>
                <a:cubicBezTo>
                  <a:pt x="123792" y="68576"/>
                  <a:pt x="126422" y="69306"/>
                  <a:pt x="128896" y="70321"/>
                </a:cubicBezTo>
                <a:lnTo>
                  <a:pt x="138012" y="64253"/>
                </a:lnTo>
                <a:cubicBezTo>
                  <a:pt x="140747" y="62430"/>
                  <a:pt x="144367" y="62794"/>
                  <a:pt x="146685" y="65112"/>
                </a:cubicBezTo>
                <a:lnTo>
                  <a:pt x="151686" y="70113"/>
                </a:lnTo>
                <a:cubicBezTo>
                  <a:pt x="154004" y="72431"/>
                  <a:pt x="154368" y="76077"/>
                  <a:pt x="152545" y="78786"/>
                </a:cubicBezTo>
                <a:lnTo>
                  <a:pt x="146477" y="87876"/>
                </a:lnTo>
                <a:cubicBezTo>
                  <a:pt x="146971" y="89100"/>
                  <a:pt x="147414" y="90376"/>
                  <a:pt x="147779" y="91704"/>
                </a:cubicBezTo>
                <a:cubicBezTo>
                  <a:pt x="148144" y="93032"/>
                  <a:pt x="148378" y="94335"/>
                  <a:pt x="148560" y="95663"/>
                </a:cubicBezTo>
                <a:lnTo>
                  <a:pt x="158379" y="100507"/>
                </a:lnTo>
                <a:cubicBezTo>
                  <a:pt x="161322" y="101966"/>
                  <a:pt x="162833" y="105300"/>
                  <a:pt x="161973" y="108451"/>
                </a:cubicBezTo>
                <a:lnTo>
                  <a:pt x="160150" y="115275"/>
                </a:lnTo>
                <a:cubicBezTo>
                  <a:pt x="159291" y="118426"/>
                  <a:pt x="156348" y="120562"/>
                  <a:pt x="153066" y="120354"/>
                </a:cubicBezTo>
                <a:lnTo>
                  <a:pt x="142127" y="119650"/>
                </a:lnTo>
                <a:cubicBezTo>
                  <a:pt x="140486" y="121760"/>
                  <a:pt x="138585" y="123713"/>
                  <a:pt x="136423" y="125380"/>
                </a:cubicBezTo>
                <a:lnTo>
                  <a:pt x="137127" y="136293"/>
                </a:lnTo>
                <a:cubicBezTo>
                  <a:pt x="137335" y="139575"/>
                  <a:pt x="135199" y="142544"/>
                  <a:pt x="132048" y="143377"/>
                </a:cubicBezTo>
                <a:lnTo>
                  <a:pt x="125224" y="145200"/>
                </a:lnTo>
                <a:cubicBezTo>
                  <a:pt x="122047" y="146060"/>
                  <a:pt x="118739" y="144549"/>
                  <a:pt x="117280" y="141606"/>
                </a:cubicBezTo>
                <a:lnTo>
                  <a:pt x="112436" y="131813"/>
                </a:lnTo>
                <a:cubicBezTo>
                  <a:pt x="109753" y="131449"/>
                  <a:pt x="107123" y="130719"/>
                  <a:pt x="104648" y="129704"/>
                </a:cubicBezTo>
                <a:lnTo>
                  <a:pt x="95533" y="135772"/>
                </a:lnTo>
                <a:cubicBezTo>
                  <a:pt x="92798" y="137595"/>
                  <a:pt x="89178" y="137231"/>
                  <a:pt x="86860" y="134913"/>
                </a:cubicBezTo>
                <a:lnTo>
                  <a:pt x="81859" y="129912"/>
                </a:lnTo>
                <a:cubicBezTo>
                  <a:pt x="79541" y="127594"/>
                  <a:pt x="79177" y="123974"/>
                  <a:pt x="81000" y="121239"/>
                </a:cubicBezTo>
                <a:lnTo>
                  <a:pt x="87068" y="112123"/>
                </a:lnTo>
                <a:cubicBezTo>
                  <a:pt x="86573" y="110899"/>
                  <a:pt x="86131" y="109623"/>
                  <a:pt x="85766" y="108295"/>
                </a:cubicBezTo>
                <a:cubicBezTo>
                  <a:pt x="85401" y="106966"/>
                  <a:pt x="85167" y="105638"/>
                  <a:pt x="84985" y="104336"/>
                </a:cubicBezTo>
                <a:lnTo>
                  <a:pt x="75166" y="99492"/>
                </a:lnTo>
                <a:cubicBezTo>
                  <a:pt x="72223" y="98033"/>
                  <a:pt x="70738" y="94699"/>
                  <a:pt x="71571" y="91548"/>
                </a:cubicBezTo>
                <a:lnTo>
                  <a:pt x="73395" y="84724"/>
                </a:lnTo>
                <a:cubicBezTo>
                  <a:pt x="74254" y="81573"/>
                  <a:pt x="77197" y="79437"/>
                  <a:pt x="80479" y="79645"/>
                </a:cubicBezTo>
                <a:lnTo>
                  <a:pt x="91392" y="80349"/>
                </a:lnTo>
                <a:cubicBezTo>
                  <a:pt x="93032" y="78239"/>
                  <a:pt x="94934" y="76286"/>
                  <a:pt x="97095" y="74619"/>
                </a:cubicBezTo>
                <a:lnTo>
                  <a:pt x="96392" y="63732"/>
                </a:lnTo>
                <a:cubicBezTo>
                  <a:pt x="96184" y="60450"/>
                  <a:pt x="98320" y="57481"/>
                  <a:pt x="101471" y="56648"/>
                </a:cubicBezTo>
                <a:lnTo>
                  <a:pt x="108295" y="54825"/>
                </a:lnTo>
                <a:close/>
                <a:moveTo>
                  <a:pt x="116785" y="88553"/>
                </a:moveTo>
                <a:cubicBezTo>
                  <a:pt x="110461" y="88560"/>
                  <a:pt x="105331" y="93701"/>
                  <a:pt x="105339" y="100026"/>
                </a:cubicBezTo>
                <a:cubicBezTo>
                  <a:pt x="105346" y="106350"/>
                  <a:pt x="110487" y="111479"/>
                  <a:pt x="116811" y="111472"/>
                </a:cubicBezTo>
                <a:cubicBezTo>
                  <a:pt x="123136" y="111465"/>
                  <a:pt x="128265" y="106324"/>
                  <a:pt x="128258" y="99999"/>
                </a:cubicBezTo>
                <a:cubicBezTo>
                  <a:pt x="128251" y="93675"/>
                  <a:pt x="123110" y="88546"/>
                  <a:pt x="116785" y="88553"/>
                </a:cubicBezTo>
                <a:close/>
                <a:moveTo>
                  <a:pt x="58575" y="-11850"/>
                </a:moveTo>
                <a:lnTo>
                  <a:pt x="65399" y="-10027"/>
                </a:lnTo>
                <a:cubicBezTo>
                  <a:pt x="68550" y="-9168"/>
                  <a:pt x="70686" y="-6199"/>
                  <a:pt x="70478" y="-2943"/>
                </a:cubicBezTo>
                <a:lnTo>
                  <a:pt x="69774" y="7944"/>
                </a:lnTo>
                <a:cubicBezTo>
                  <a:pt x="71936" y="9611"/>
                  <a:pt x="73837" y="11538"/>
                  <a:pt x="75478" y="13674"/>
                </a:cubicBezTo>
                <a:lnTo>
                  <a:pt x="86417" y="12970"/>
                </a:lnTo>
                <a:cubicBezTo>
                  <a:pt x="89673" y="12762"/>
                  <a:pt x="92642" y="14898"/>
                  <a:pt x="93501" y="18049"/>
                </a:cubicBezTo>
                <a:lnTo>
                  <a:pt x="95324" y="24873"/>
                </a:lnTo>
                <a:cubicBezTo>
                  <a:pt x="96158" y="28024"/>
                  <a:pt x="94673" y="31358"/>
                  <a:pt x="91730" y="32817"/>
                </a:cubicBezTo>
                <a:lnTo>
                  <a:pt x="81911" y="37661"/>
                </a:lnTo>
                <a:cubicBezTo>
                  <a:pt x="81729" y="38989"/>
                  <a:pt x="81469" y="40318"/>
                  <a:pt x="81130" y="41620"/>
                </a:cubicBezTo>
                <a:cubicBezTo>
                  <a:pt x="80791" y="42922"/>
                  <a:pt x="80323" y="44224"/>
                  <a:pt x="79828" y="45448"/>
                </a:cubicBezTo>
                <a:lnTo>
                  <a:pt x="85896" y="54564"/>
                </a:lnTo>
                <a:cubicBezTo>
                  <a:pt x="87719" y="57299"/>
                  <a:pt x="87355" y="60919"/>
                  <a:pt x="85037" y="63237"/>
                </a:cubicBezTo>
                <a:lnTo>
                  <a:pt x="80036" y="68238"/>
                </a:lnTo>
                <a:cubicBezTo>
                  <a:pt x="77718" y="70556"/>
                  <a:pt x="74098" y="70920"/>
                  <a:pt x="71363" y="69097"/>
                </a:cubicBezTo>
                <a:lnTo>
                  <a:pt x="62247" y="63029"/>
                </a:lnTo>
                <a:cubicBezTo>
                  <a:pt x="59773" y="64044"/>
                  <a:pt x="57143" y="64774"/>
                  <a:pt x="54460" y="65138"/>
                </a:cubicBezTo>
                <a:lnTo>
                  <a:pt x="49616" y="74931"/>
                </a:lnTo>
                <a:cubicBezTo>
                  <a:pt x="48157" y="77874"/>
                  <a:pt x="44823" y="79359"/>
                  <a:pt x="41672" y="78525"/>
                </a:cubicBezTo>
                <a:lnTo>
                  <a:pt x="34848" y="76702"/>
                </a:lnTo>
                <a:cubicBezTo>
                  <a:pt x="31671" y="75843"/>
                  <a:pt x="29561" y="72874"/>
                  <a:pt x="29769" y="69618"/>
                </a:cubicBezTo>
                <a:lnTo>
                  <a:pt x="30473" y="58705"/>
                </a:lnTo>
                <a:cubicBezTo>
                  <a:pt x="28311" y="57038"/>
                  <a:pt x="26410" y="55111"/>
                  <a:pt x="24769" y="52975"/>
                </a:cubicBezTo>
                <a:lnTo>
                  <a:pt x="13830" y="53679"/>
                </a:lnTo>
                <a:cubicBezTo>
                  <a:pt x="10574" y="53887"/>
                  <a:pt x="7605" y="51751"/>
                  <a:pt x="6746" y="48600"/>
                </a:cubicBezTo>
                <a:lnTo>
                  <a:pt x="4922" y="41776"/>
                </a:lnTo>
                <a:cubicBezTo>
                  <a:pt x="4089" y="38625"/>
                  <a:pt x="5574" y="35291"/>
                  <a:pt x="8517" y="33832"/>
                </a:cubicBezTo>
                <a:lnTo>
                  <a:pt x="18336" y="28988"/>
                </a:lnTo>
                <a:cubicBezTo>
                  <a:pt x="18518" y="27660"/>
                  <a:pt x="18778" y="26357"/>
                  <a:pt x="19117" y="25029"/>
                </a:cubicBezTo>
                <a:cubicBezTo>
                  <a:pt x="19482" y="23701"/>
                  <a:pt x="19898" y="22425"/>
                  <a:pt x="20419" y="21201"/>
                </a:cubicBezTo>
                <a:lnTo>
                  <a:pt x="14351" y="12111"/>
                </a:lnTo>
                <a:cubicBezTo>
                  <a:pt x="12528" y="9376"/>
                  <a:pt x="12892" y="5756"/>
                  <a:pt x="15210" y="3438"/>
                </a:cubicBezTo>
                <a:lnTo>
                  <a:pt x="20211" y="-1563"/>
                </a:lnTo>
                <a:cubicBezTo>
                  <a:pt x="22529" y="-3881"/>
                  <a:pt x="26149" y="-4245"/>
                  <a:pt x="28884" y="-2422"/>
                </a:cubicBezTo>
                <a:lnTo>
                  <a:pt x="38000" y="3646"/>
                </a:lnTo>
                <a:cubicBezTo>
                  <a:pt x="40474" y="2631"/>
                  <a:pt x="43104" y="1901"/>
                  <a:pt x="45787" y="1537"/>
                </a:cubicBezTo>
                <a:lnTo>
                  <a:pt x="50631" y="-8256"/>
                </a:lnTo>
                <a:cubicBezTo>
                  <a:pt x="52090" y="-11199"/>
                  <a:pt x="55398" y="-12684"/>
                  <a:pt x="58575" y="-11850"/>
                </a:cubicBezTo>
                <a:close/>
                <a:moveTo>
                  <a:pt x="50110" y="21878"/>
                </a:moveTo>
                <a:cubicBezTo>
                  <a:pt x="43786" y="21878"/>
                  <a:pt x="38651" y="27013"/>
                  <a:pt x="38651" y="33337"/>
                </a:cubicBezTo>
                <a:cubicBezTo>
                  <a:pt x="38651" y="39662"/>
                  <a:pt x="43786" y="44797"/>
                  <a:pt x="50110" y="44797"/>
                </a:cubicBezTo>
                <a:cubicBezTo>
                  <a:pt x="56435" y="44797"/>
                  <a:pt x="61570" y="39662"/>
                  <a:pt x="61570" y="33337"/>
                </a:cubicBezTo>
                <a:cubicBezTo>
                  <a:pt x="61570" y="27013"/>
                  <a:pt x="56435" y="21878"/>
                  <a:pt x="50110" y="21878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50" name="Text 47"/>
          <p:cNvSpPr/>
          <p:nvPr/>
        </p:nvSpPr>
        <p:spPr>
          <a:xfrm>
            <a:off x="8788361" y="3211830"/>
            <a:ext cx="933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Algorithme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8407361" y="3535680"/>
            <a:ext cx="3171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Analyse et extraction des patterns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9870996" y="397002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5634" y="224403"/>
                </a:moveTo>
                <a:cubicBezTo>
                  <a:pt x="81216" y="229984"/>
                  <a:pt x="90279" y="229984"/>
                  <a:pt x="95860" y="224403"/>
                </a:cubicBezTo>
                <a:lnTo>
                  <a:pt x="167298" y="152966"/>
                </a:lnTo>
                <a:cubicBezTo>
                  <a:pt x="172879" y="147384"/>
                  <a:pt x="172879" y="138321"/>
                  <a:pt x="167298" y="132740"/>
                </a:cubicBezTo>
                <a:cubicBezTo>
                  <a:pt x="161717" y="127159"/>
                  <a:pt x="152653" y="127159"/>
                  <a:pt x="147072" y="132740"/>
                </a:cubicBezTo>
                <a:lnTo>
                  <a:pt x="100013" y="179799"/>
                </a:lnTo>
                <a:lnTo>
                  <a:pt x="100013" y="14288"/>
                </a:lnTo>
                <a:cubicBezTo>
                  <a:pt x="100013" y="6385"/>
                  <a:pt x="93628" y="0"/>
                  <a:pt x="85725" y="0"/>
                </a:cubicBezTo>
                <a:cubicBezTo>
                  <a:pt x="77822" y="0"/>
                  <a:pt x="71438" y="6385"/>
                  <a:pt x="71438" y="14288"/>
                </a:cubicBezTo>
                <a:lnTo>
                  <a:pt x="71438" y="179799"/>
                </a:lnTo>
                <a:lnTo>
                  <a:pt x="24378" y="132740"/>
                </a:lnTo>
                <a:cubicBezTo>
                  <a:pt x="18797" y="127159"/>
                  <a:pt x="9733" y="127159"/>
                  <a:pt x="4152" y="132740"/>
                </a:cubicBezTo>
                <a:cubicBezTo>
                  <a:pt x="-1429" y="138321"/>
                  <a:pt x="-1429" y="147384"/>
                  <a:pt x="4152" y="152966"/>
                </a:cubicBezTo>
                <a:lnTo>
                  <a:pt x="75590" y="224403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53" name="Shape 50"/>
          <p:cNvSpPr/>
          <p:nvPr/>
        </p:nvSpPr>
        <p:spPr>
          <a:xfrm>
            <a:off x="8285440" y="4282440"/>
            <a:ext cx="3339465" cy="815340"/>
          </a:xfrm>
          <a:custGeom>
            <a:avLst/>
            <a:gdLst/>
            <a:ahLst/>
            <a:cxnLst/>
            <a:rect l="l" t="t" r="r" b="b"/>
            <a:pathLst>
              <a:path w="3339465" h="815340">
                <a:moveTo>
                  <a:pt x="0" y="0"/>
                </a:moveTo>
                <a:lnTo>
                  <a:pt x="3339465" y="0"/>
                </a:lnTo>
                <a:lnTo>
                  <a:pt x="3339465" y="815340"/>
                </a:lnTo>
                <a:lnTo>
                  <a:pt x="0" y="81534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FF6B6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8414981" y="4411981"/>
            <a:ext cx="291465" cy="291465"/>
          </a:xfrm>
          <a:custGeom>
            <a:avLst/>
            <a:gdLst/>
            <a:ahLst/>
            <a:cxnLst/>
            <a:rect l="l" t="t" r="r" b="b"/>
            <a:pathLst>
              <a:path w="291465" h="291465">
                <a:moveTo>
                  <a:pt x="0" y="0"/>
                </a:moveTo>
                <a:lnTo>
                  <a:pt x="291465" y="0"/>
                </a:lnTo>
                <a:lnTo>
                  <a:pt x="291465" y="291465"/>
                </a:lnTo>
                <a:lnTo>
                  <a:pt x="0" y="29146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8512136" y="4490086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76286" y="100013"/>
                </a:moveTo>
                <a:cubicBezTo>
                  <a:pt x="78187" y="94204"/>
                  <a:pt x="81989" y="88943"/>
                  <a:pt x="86287" y="84412"/>
                </a:cubicBezTo>
                <a:cubicBezTo>
                  <a:pt x="94804" y="75452"/>
                  <a:pt x="100012" y="63341"/>
                  <a:pt x="100012" y="50006"/>
                </a:cubicBezTo>
                <a:cubicBezTo>
                  <a:pt x="100012" y="22399"/>
                  <a:pt x="77614" y="0"/>
                  <a:pt x="50006" y="0"/>
                </a:cubicBezTo>
                <a:cubicBezTo>
                  <a:pt x="22399" y="0"/>
                  <a:pt x="0" y="22399"/>
                  <a:pt x="0" y="50006"/>
                </a:cubicBezTo>
                <a:cubicBezTo>
                  <a:pt x="0" y="63341"/>
                  <a:pt x="5209" y="75452"/>
                  <a:pt x="13726" y="84412"/>
                </a:cubicBezTo>
                <a:cubicBezTo>
                  <a:pt x="18023" y="88943"/>
                  <a:pt x="21852" y="94204"/>
                  <a:pt x="23727" y="100013"/>
                </a:cubicBezTo>
                <a:lnTo>
                  <a:pt x="76260" y="100013"/>
                </a:lnTo>
                <a:close/>
                <a:moveTo>
                  <a:pt x="75009" y="112514"/>
                </a:moveTo>
                <a:lnTo>
                  <a:pt x="25003" y="112514"/>
                </a:lnTo>
                <a:lnTo>
                  <a:pt x="25003" y="116681"/>
                </a:lnTo>
                <a:cubicBezTo>
                  <a:pt x="25003" y="128193"/>
                  <a:pt x="34327" y="137517"/>
                  <a:pt x="45839" y="137517"/>
                </a:cubicBezTo>
                <a:lnTo>
                  <a:pt x="54173" y="137517"/>
                </a:lnTo>
                <a:cubicBezTo>
                  <a:pt x="65685" y="137517"/>
                  <a:pt x="75009" y="128193"/>
                  <a:pt x="75009" y="116681"/>
                </a:cubicBezTo>
                <a:lnTo>
                  <a:pt x="75009" y="112514"/>
                </a:lnTo>
                <a:close/>
                <a:moveTo>
                  <a:pt x="47923" y="29170"/>
                </a:moveTo>
                <a:cubicBezTo>
                  <a:pt x="37557" y="29170"/>
                  <a:pt x="29170" y="37557"/>
                  <a:pt x="29170" y="47923"/>
                </a:cubicBezTo>
                <a:cubicBezTo>
                  <a:pt x="29170" y="51387"/>
                  <a:pt x="26384" y="54173"/>
                  <a:pt x="22920" y="54173"/>
                </a:cubicBezTo>
                <a:cubicBezTo>
                  <a:pt x="19456" y="54173"/>
                  <a:pt x="16669" y="51387"/>
                  <a:pt x="16669" y="47923"/>
                </a:cubicBezTo>
                <a:cubicBezTo>
                  <a:pt x="16669" y="30655"/>
                  <a:pt x="30655" y="16669"/>
                  <a:pt x="47923" y="16669"/>
                </a:cubicBezTo>
                <a:cubicBezTo>
                  <a:pt x="51387" y="16669"/>
                  <a:pt x="54173" y="19456"/>
                  <a:pt x="54173" y="22920"/>
                </a:cubicBezTo>
                <a:cubicBezTo>
                  <a:pt x="54173" y="26384"/>
                  <a:pt x="51387" y="29170"/>
                  <a:pt x="47923" y="2917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6" name="Text 53"/>
          <p:cNvSpPr/>
          <p:nvPr/>
        </p:nvSpPr>
        <p:spPr>
          <a:xfrm>
            <a:off x="8788361" y="4423411"/>
            <a:ext cx="1619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Insights Découverts</a:t>
            </a:r>
            <a:endParaRPr lang="en-US" sz="1600" dirty="0"/>
          </a:p>
        </p:txBody>
      </p:sp>
      <p:sp>
        <p:nvSpPr>
          <p:cNvPr id="57" name="Text 54"/>
          <p:cNvSpPr/>
          <p:nvPr/>
        </p:nvSpPr>
        <p:spPr>
          <a:xfrm>
            <a:off x="8407361" y="4747261"/>
            <a:ext cx="3171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Clusters, patterns, réductions, anomalies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8156" y="208156"/>
            <a:ext cx="507174" cy="507174"/>
          </a:xfrm>
          <a:custGeom>
            <a:avLst/>
            <a:gdLst/>
            <a:ahLst/>
            <a:cxnLst/>
            <a:rect l="l" t="t" r="r" b="b"/>
            <a:pathLst>
              <a:path w="507174" h="507174">
                <a:moveTo>
                  <a:pt x="253587" y="0"/>
                </a:moveTo>
                <a:lnTo>
                  <a:pt x="253587" y="0"/>
                </a:lnTo>
                <a:cubicBezTo>
                  <a:pt x="393545" y="0"/>
                  <a:pt x="507174" y="113629"/>
                  <a:pt x="507174" y="253587"/>
                </a:cubicBezTo>
                <a:lnTo>
                  <a:pt x="507174" y="253587"/>
                </a:lnTo>
                <a:cubicBezTo>
                  <a:pt x="507174" y="393545"/>
                  <a:pt x="393545" y="507174"/>
                  <a:pt x="253587" y="507174"/>
                </a:cubicBezTo>
                <a:lnTo>
                  <a:pt x="253587" y="507174"/>
                </a:lnTo>
                <a:cubicBezTo>
                  <a:pt x="113629" y="507174"/>
                  <a:pt x="0" y="393545"/>
                  <a:pt x="0" y="253587"/>
                </a:cubicBezTo>
                <a:lnTo>
                  <a:pt x="0" y="253587"/>
                </a:lnTo>
                <a:cubicBezTo>
                  <a:pt x="0" y="113629"/>
                  <a:pt x="113629" y="0"/>
                  <a:pt x="253587" y="0"/>
                </a:cubicBezTo>
                <a:close/>
              </a:path>
            </a:pathLst>
          </a:custGeom>
          <a:solidFill>
            <a:srgbClr val="FF6B6B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3041" dir="2700000">
              <a:srgbClr val="2d3436">
                <a:alpha val="1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 rot="-720000">
            <a:off x="11236172" y="501678"/>
            <a:ext cx="375011" cy="375011"/>
          </a:xfrm>
          <a:custGeom>
            <a:avLst/>
            <a:gdLst/>
            <a:ahLst/>
            <a:cxnLst/>
            <a:rect l="l" t="t" r="r" b="b"/>
            <a:pathLst>
              <a:path w="375011" h="375011">
                <a:moveTo>
                  <a:pt x="0" y="0"/>
                </a:moveTo>
                <a:lnTo>
                  <a:pt x="375011" y="0"/>
                </a:lnTo>
                <a:lnTo>
                  <a:pt x="375011" y="375011"/>
                </a:lnTo>
                <a:lnTo>
                  <a:pt x="0" y="375011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3041" dir="2700000">
              <a:srgbClr val="2d3436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140895" y="6138953"/>
            <a:ext cx="639337" cy="308930"/>
          </a:xfrm>
          <a:custGeom>
            <a:avLst/>
            <a:gdLst/>
            <a:ahLst/>
            <a:cxnLst/>
            <a:rect l="l" t="t" r="r" b="b"/>
            <a:pathLst>
              <a:path w="639337" h="308930">
                <a:moveTo>
                  <a:pt x="0" y="0"/>
                </a:moveTo>
                <a:lnTo>
                  <a:pt x="639337" y="0"/>
                </a:lnTo>
                <a:lnTo>
                  <a:pt x="639337" y="308930"/>
                </a:lnTo>
                <a:lnTo>
                  <a:pt x="0" y="308930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3041" dir="2700000">
              <a:srgbClr val="2d3436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2888" y="5412059"/>
            <a:ext cx="242849" cy="639337"/>
          </a:xfrm>
          <a:custGeom>
            <a:avLst/>
            <a:gdLst/>
            <a:ahLst/>
            <a:cxnLst/>
            <a:rect l="l" t="t" r="r" b="b"/>
            <a:pathLst>
              <a:path w="242849" h="639337">
                <a:moveTo>
                  <a:pt x="0" y="0"/>
                </a:moveTo>
                <a:lnTo>
                  <a:pt x="242849" y="0"/>
                </a:lnTo>
                <a:lnTo>
                  <a:pt x="242849" y="639337"/>
                </a:lnTo>
                <a:lnTo>
                  <a:pt x="0" y="639337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3041" dir="2700000">
              <a:srgbClr val="2d3436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30407" y="330407"/>
            <a:ext cx="11679870" cy="330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4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Les 4 Grandes Familles d'Algorithmes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7015" y="733502"/>
            <a:ext cx="781411" cy="54517"/>
          </a:xfrm>
          <a:custGeom>
            <a:avLst/>
            <a:gdLst/>
            <a:ahLst/>
            <a:cxnLst/>
            <a:rect l="l" t="t" r="r" b="b"/>
            <a:pathLst>
              <a:path w="781411" h="54517">
                <a:moveTo>
                  <a:pt x="0" y="0"/>
                </a:moveTo>
                <a:lnTo>
                  <a:pt x="781411" y="0"/>
                </a:lnTo>
                <a:lnTo>
                  <a:pt x="781411" y="54517"/>
                </a:lnTo>
                <a:lnTo>
                  <a:pt x="0" y="54517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319" y="935050"/>
            <a:ext cx="5678036" cy="2877841"/>
          </a:xfrm>
          <a:custGeom>
            <a:avLst/>
            <a:gdLst/>
            <a:ahLst/>
            <a:cxnLst/>
            <a:rect l="l" t="t" r="r" b="b"/>
            <a:pathLst>
              <a:path w="5678036" h="2877841">
                <a:moveTo>
                  <a:pt x="0" y="0"/>
                </a:moveTo>
                <a:lnTo>
                  <a:pt x="5678036" y="0"/>
                </a:lnTo>
                <a:lnTo>
                  <a:pt x="5678036" y="2877841"/>
                </a:lnTo>
                <a:lnTo>
                  <a:pt x="0" y="287784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2306" y="1087039"/>
            <a:ext cx="441093" cy="441093"/>
          </a:xfrm>
          <a:custGeom>
            <a:avLst/>
            <a:gdLst/>
            <a:ahLst/>
            <a:cxnLst/>
            <a:rect l="l" t="t" r="r" b="b"/>
            <a:pathLst>
              <a:path w="441093" h="441093">
                <a:moveTo>
                  <a:pt x="0" y="0"/>
                </a:moveTo>
                <a:lnTo>
                  <a:pt x="441093" y="0"/>
                </a:lnTo>
                <a:lnTo>
                  <a:pt x="441093" y="441093"/>
                </a:lnTo>
                <a:lnTo>
                  <a:pt x="0" y="441093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0480">
            <a:solidFill>
              <a:srgbClr val="2D34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2166" y="1209289"/>
            <a:ext cx="223024" cy="198244"/>
          </a:xfrm>
          <a:custGeom>
            <a:avLst/>
            <a:gdLst/>
            <a:ahLst/>
            <a:cxnLst/>
            <a:rect l="l" t="t" r="r" b="b"/>
            <a:pathLst>
              <a:path w="223024" h="198244">
                <a:moveTo>
                  <a:pt x="12390" y="46231"/>
                </a:moveTo>
                <a:cubicBezTo>
                  <a:pt x="4995" y="41972"/>
                  <a:pt x="0" y="33957"/>
                  <a:pt x="0" y="24780"/>
                </a:cubicBezTo>
                <a:cubicBezTo>
                  <a:pt x="0" y="11112"/>
                  <a:pt x="11113" y="0"/>
                  <a:pt x="24780" y="0"/>
                </a:cubicBezTo>
                <a:cubicBezTo>
                  <a:pt x="33957" y="0"/>
                  <a:pt x="41972" y="4995"/>
                  <a:pt x="46231" y="12390"/>
                </a:cubicBezTo>
                <a:lnTo>
                  <a:pt x="176755" y="12390"/>
                </a:lnTo>
                <a:cubicBezTo>
                  <a:pt x="181052" y="4995"/>
                  <a:pt x="189029" y="0"/>
                  <a:pt x="198205" y="0"/>
                </a:cubicBezTo>
                <a:cubicBezTo>
                  <a:pt x="211873" y="0"/>
                  <a:pt x="222986" y="11112"/>
                  <a:pt x="222986" y="24780"/>
                </a:cubicBezTo>
                <a:cubicBezTo>
                  <a:pt x="222986" y="33957"/>
                  <a:pt x="217991" y="41972"/>
                  <a:pt x="210595" y="46231"/>
                </a:cubicBezTo>
                <a:lnTo>
                  <a:pt x="210595" y="151974"/>
                </a:lnTo>
                <a:cubicBezTo>
                  <a:pt x="217991" y="156272"/>
                  <a:pt x="222986" y="164248"/>
                  <a:pt x="222986" y="173425"/>
                </a:cubicBezTo>
                <a:cubicBezTo>
                  <a:pt x="222986" y="187093"/>
                  <a:pt x="211873" y="198205"/>
                  <a:pt x="198205" y="198205"/>
                </a:cubicBezTo>
                <a:cubicBezTo>
                  <a:pt x="189029" y="198205"/>
                  <a:pt x="181014" y="193210"/>
                  <a:pt x="176755" y="185815"/>
                </a:cubicBezTo>
                <a:lnTo>
                  <a:pt x="46231" y="185815"/>
                </a:lnTo>
                <a:cubicBezTo>
                  <a:pt x="41933" y="193210"/>
                  <a:pt x="33957" y="198205"/>
                  <a:pt x="24780" y="198205"/>
                </a:cubicBezTo>
                <a:cubicBezTo>
                  <a:pt x="11112" y="198205"/>
                  <a:pt x="0" y="187093"/>
                  <a:pt x="0" y="173425"/>
                </a:cubicBezTo>
                <a:cubicBezTo>
                  <a:pt x="0" y="164248"/>
                  <a:pt x="4995" y="156233"/>
                  <a:pt x="12390" y="151974"/>
                </a:cubicBezTo>
                <a:lnTo>
                  <a:pt x="12390" y="46231"/>
                </a:lnTo>
                <a:close/>
                <a:moveTo>
                  <a:pt x="185854" y="46231"/>
                </a:moveTo>
                <a:cubicBezTo>
                  <a:pt x="182098" y="44063"/>
                  <a:pt x="178962" y="40927"/>
                  <a:pt x="176793" y="37171"/>
                </a:cubicBezTo>
                <a:lnTo>
                  <a:pt x="46231" y="37171"/>
                </a:lnTo>
                <a:cubicBezTo>
                  <a:pt x="44063" y="40927"/>
                  <a:pt x="40927" y="44063"/>
                  <a:pt x="37171" y="46231"/>
                </a:cubicBezTo>
                <a:lnTo>
                  <a:pt x="37171" y="151974"/>
                </a:lnTo>
                <a:cubicBezTo>
                  <a:pt x="40927" y="154142"/>
                  <a:pt x="44063" y="157279"/>
                  <a:pt x="46231" y="161034"/>
                </a:cubicBezTo>
                <a:lnTo>
                  <a:pt x="176755" y="161034"/>
                </a:lnTo>
                <a:cubicBezTo>
                  <a:pt x="178923" y="157279"/>
                  <a:pt x="182059" y="154142"/>
                  <a:pt x="185815" y="151974"/>
                </a:cubicBezTo>
                <a:lnTo>
                  <a:pt x="185815" y="46231"/>
                </a:lnTo>
                <a:close/>
                <a:moveTo>
                  <a:pt x="55756" y="68146"/>
                </a:moveTo>
                <a:cubicBezTo>
                  <a:pt x="55756" y="61293"/>
                  <a:pt x="61293" y="55756"/>
                  <a:pt x="68146" y="55756"/>
                </a:cubicBezTo>
                <a:lnTo>
                  <a:pt x="111512" y="55756"/>
                </a:lnTo>
                <a:cubicBezTo>
                  <a:pt x="118366" y="55756"/>
                  <a:pt x="123902" y="61293"/>
                  <a:pt x="123902" y="68146"/>
                </a:cubicBezTo>
                <a:lnTo>
                  <a:pt x="123902" y="92927"/>
                </a:lnTo>
                <a:cubicBezTo>
                  <a:pt x="123902" y="99780"/>
                  <a:pt x="118366" y="105317"/>
                  <a:pt x="111512" y="105317"/>
                </a:cubicBezTo>
                <a:lnTo>
                  <a:pt x="68146" y="105317"/>
                </a:lnTo>
                <a:cubicBezTo>
                  <a:pt x="61293" y="105317"/>
                  <a:pt x="55756" y="99780"/>
                  <a:pt x="55756" y="92927"/>
                </a:cubicBezTo>
                <a:lnTo>
                  <a:pt x="55756" y="68146"/>
                </a:lnTo>
                <a:close/>
                <a:moveTo>
                  <a:pt x="99122" y="123902"/>
                </a:moveTo>
                <a:lnTo>
                  <a:pt x="111512" y="123902"/>
                </a:lnTo>
                <a:cubicBezTo>
                  <a:pt x="128626" y="123902"/>
                  <a:pt x="142488" y="110041"/>
                  <a:pt x="142488" y="92927"/>
                </a:cubicBezTo>
                <a:lnTo>
                  <a:pt x="154878" y="92927"/>
                </a:lnTo>
                <a:cubicBezTo>
                  <a:pt x="161731" y="92927"/>
                  <a:pt x="167268" y="98464"/>
                  <a:pt x="167268" y="105317"/>
                </a:cubicBezTo>
                <a:lnTo>
                  <a:pt x="167268" y="130098"/>
                </a:lnTo>
                <a:cubicBezTo>
                  <a:pt x="167268" y="136951"/>
                  <a:pt x="161731" y="142488"/>
                  <a:pt x="154878" y="142488"/>
                </a:cubicBezTo>
                <a:lnTo>
                  <a:pt x="111512" y="142488"/>
                </a:lnTo>
                <a:cubicBezTo>
                  <a:pt x="104659" y="142488"/>
                  <a:pt x="99122" y="136951"/>
                  <a:pt x="99122" y="130098"/>
                </a:cubicBezTo>
                <a:lnTo>
                  <a:pt x="99122" y="12390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044085" y="1077126"/>
            <a:ext cx="1156423" cy="26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1. Clustering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44085" y="1341347"/>
            <a:ext cx="1123382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dirty="0">
                <a:solidFill>
                  <a:srgbClr val="2D3436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Regroupement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2394" y="1638817"/>
            <a:ext cx="5459967" cy="429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Objectif:</a:t>
            </a:r>
            <a:pPr>
              <a:lnSpc>
                <a:spcPct val="140000"/>
              </a:lnSpc>
            </a:pPr>
            <a:r>
              <a:rPr lang="en-US" sz="104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Partitionner les données en </a:t>
            </a:r>
            <a:pPr>
              <a:lnSpc>
                <a:spcPct val="140000"/>
              </a:lnSpc>
            </a:pPr>
            <a:r>
              <a:rPr lang="en-US" sz="1041" dirty="0">
                <a:solidFill>
                  <a:srgbClr val="2D3436"/>
                </a:solidFill>
                <a:highlight>
                  <a:srgbClr val="FFE66D">
                    <a:alpha val="100000"/>
                  </a:srgbClr>
                </a:highlight>
                <a:latin typeface="Coda" pitchFamily="34" charset="0"/>
                <a:ea typeface="Coda" pitchFamily="34" charset="-122"/>
                <a:cs typeface="Coda" pitchFamily="34" charset="-120"/>
              </a:rPr>
              <a:t>groupes homogènes </a:t>
            </a:r>
            <a:pPr>
              <a:lnSpc>
                <a:spcPct val="140000"/>
              </a:lnSpc>
            </a:pPr>
            <a:r>
              <a:rPr lang="en-US" sz="104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où les éléments d'un même groupe se ressemblent.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9002" y="2174076"/>
            <a:ext cx="5382322" cy="1103558"/>
          </a:xfrm>
          <a:custGeom>
            <a:avLst/>
            <a:gdLst/>
            <a:ahLst/>
            <a:cxnLst/>
            <a:rect l="l" t="t" r="r" b="b"/>
            <a:pathLst>
              <a:path w="5382322" h="1103558">
                <a:moveTo>
                  <a:pt x="0" y="0"/>
                </a:moveTo>
                <a:lnTo>
                  <a:pt x="5382322" y="0"/>
                </a:lnTo>
                <a:lnTo>
                  <a:pt x="5382322" y="1103558"/>
                </a:lnTo>
                <a:lnTo>
                  <a:pt x="0" y="1103558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FF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732" y="2279805"/>
            <a:ext cx="985954" cy="191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Quand l'utiliser: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4732" y="2511089"/>
            <a:ext cx="5236943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• Segmentation clients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732" y="2742374"/>
            <a:ext cx="5236943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• Regroupement de documents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4732" y="2973659"/>
            <a:ext cx="5236943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• Compression d'images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9002" y="3389972"/>
            <a:ext cx="740111" cy="277541"/>
          </a:xfrm>
          <a:custGeom>
            <a:avLst/>
            <a:gdLst/>
            <a:ahLst/>
            <a:cxnLst/>
            <a:rect l="l" t="t" r="r" b="b"/>
            <a:pathLst>
              <a:path w="740111" h="277541">
                <a:moveTo>
                  <a:pt x="0" y="0"/>
                </a:moveTo>
                <a:lnTo>
                  <a:pt x="740111" y="0"/>
                </a:lnTo>
                <a:lnTo>
                  <a:pt x="740111" y="277541"/>
                </a:lnTo>
                <a:lnTo>
                  <a:pt x="0" y="277541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394" y="3383363"/>
            <a:ext cx="792976" cy="264325"/>
          </a:xfrm>
          <a:prstGeom prst="rect">
            <a:avLst/>
          </a:prstGeom>
          <a:noFill/>
          <a:ln/>
        </p:spPr>
        <p:txBody>
          <a:bodyPr wrap="square" lIns="99122" tIns="33041" rIns="99122" bIns="33041" rtlCol="0" anchor="ctr"/>
          <a:lstStyle/>
          <a:p>
            <a:pPr>
              <a:lnSpc>
                <a:spcPct val="130000"/>
              </a:lnSpc>
            </a:pPr>
            <a:r>
              <a:rPr lang="en-US" sz="1041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K-Means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308616" y="3389972"/>
            <a:ext cx="731850" cy="277541"/>
          </a:xfrm>
          <a:custGeom>
            <a:avLst/>
            <a:gdLst/>
            <a:ahLst/>
            <a:cxnLst/>
            <a:rect l="l" t="t" r="r" b="b"/>
            <a:pathLst>
              <a:path w="731850" h="277541">
                <a:moveTo>
                  <a:pt x="0" y="0"/>
                </a:moveTo>
                <a:lnTo>
                  <a:pt x="731850" y="0"/>
                </a:lnTo>
                <a:lnTo>
                  <a:pt x="731850" y="277541"/>
                </a:lnTo>
                <a:lnTo>
                  <a:pt x="0" y="277541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02008" y="3383363"/>
            <a:ext cx="784715" cy="264325"/>
          </a:xfrm>
          <a:prstGeom prst="rect">
            <a:avLst/>
          </a:prstGeom>
          <a:noFill/>
          <a:ln/>
        </p:spPr>
        <p:txBody>
          <a:bodyPr wrap="square" lIns="99122" tIns="33041" rIns="99122" bIns="33041" rtlCol="0" anchor="ctr"/>
          <a:lstStyle/>
          <a:p>
            <a:pPr>
              <a:lnSpc>
                <a:spcPct val="130000"/>
              </a:lnSpc>
            </a:pPr>
            <a:r>
              <a:rPr lang="en-US" sz="104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DBSCAN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115737" y="3389972"/>
            <a:ext cx="517086" cy="277541"/>
          </a:xfrm>
          <a:custGeom>
            <a:avLst/>
            <a:gdLst/>
            <a:ahLst/>
            <a:cxnLst/>
            <a:rect l="l" t="t" r="r" b="b"/>
            <a:pathLst>
              <a:path w="517086" h="277541">
                <a:moveTo>
                  <a:pt x="0" y="0"/>
                </a:moveTo>
                <a:lnTo>
                  <a:pt x="517086" y="0"/>
                </a:lnTo>
                <a:lnTo>
                  <a:pt x="517086" y="277541"/>
                </a:lnTo>
                <a:lnTo>
                  <a:pt x="0" y="277541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09129" y="3383363"/>
            <a:ext cx="569951" cy="264325"/>
          </a:xfrm>
          <a:prstGeom prst="rect">
            <a:avLst/>
          </a:prstGeom>
          <a:noFill/>
          <a:ln/>
        </p:spPr>
        <p:txBody>
          <a:bodyPr wrap="square" lIns="99122" tIns="33041" rIns="99122" bIns="33041" rtlCol="0" anchor="ctr"/>
          <a:lstStyle/>
          <a:p>
            <a:pPr>
              <a:lnSpc>
                <a:spcPct val="130000"/>
              </a:lnSpc>
            </a:pPr>
            <a:r>
              <a:rPr lang="en-US" sz="1041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GMM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70135" y="935050"/>
            <a:ext cx="5678036" cy="2877841"/>
          </a:xfrm>
          <a:custGeom>
            <a:avLst/>
            <a:gdLst/>
            <a:ahLst/>
            <a:cxnLst/>
            <a:rect l="l" t="t" r="r" b="b"/>
            <a:pathLst>
              <a:path w="5678036" h="2877841">
                <a:moveTo>
                  <a:pt x="0" y="0"/>
                </a:moveTo>
                <a:lnTo>
                  <a:pt x="5678036" y="0"/>
                </a:lnTo>
                <a:lnTo>
                  <a:pt x="5678036" y="2877841"/>
                </a:lnTo>
                <a:lnTo>
                  <a:pt x="0" y="287784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22122" y="1087039"/>
            <a:ext cx="441093" cy="441093"/>
          </a:xfrm>
          <a:custGeom>
            <a:avLst/>
            <a:gdLst/>
            <a:ahLst/>
            <a:cxnLst/>
            <a:rect l="l" t="t" r="r" b="b"/>
            <a:pathLst>
              <a:path w="441093" h="441093">
                <a:moveTo>
                  <a:pt x="0" y="0"/>
                </a:moveTo>
                <a:lnTo>
                  <a:pt x="441093" y="0"/>
                </a:lnTo>
                <a:lnTo>
                  <a:pt x="441093" y="441093"/>
                </a:lnTo>
                <a:lnTo>
                  <a:pt x="0" y="441093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0480">
            <a:solidFill>
              <a:srgbClr val="2D343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44372" y="1209289"/>
            <a:ext cx="198244" cy="198244"/>
          </a:xfrm>
          <a:custGeom>
            <a:avLst/>
            <a:gdLst/>
            <a:ahLst/>
            <a:cxnLst/>
            <a:rect l="l" t="t" r="r" b="b"/>
            <a:pathLst>
              <a:path w="198244" h="198244">
                <a:moveTo>
                  <a:pt x="176561" y="86732"/>
                </a:moveTo>
                <a:lnTo>
                  <a:pt x="120805" y="86732"/>
                </a:lnTo>
                <a:cubicBezTo>
                  <a:pt x="115655" y="86732"/>
                  <a:pt x="111512" y="82589"/>
                  <a:pt x="111512" y="77439"/>
                </a:cubicBezTo>
                <a:lnTo>
                  <a:pt x="111512" y="21683"/>
                </a:lnTo>
                <a:cubicBezTo>
                  <a:pt x="111512" y="17927"/>
                  <a:pt x="113758" y="14520"/>
                  <a:pt x="117243" y="13087"/>
                </a:cubicBezTo>
                <a:cubicBezTo>
                  <a:pt x="120727" y="11655"/>
                  <a:pt x="124716" y="12468"/>
                  <a:pt x="127387" y="15101"/>
                </a:cubicBezTo>
                <a:lnTo>
                  <a:pt x="142875" y="30588"/>
                </a:lnTo>
                <a:lnTo>
                  <a:pt x="171295" y="2168"/>
                </a:lnTo>
                <a:cubicBezTo>
                  <a:pt x="172689" y="774"/>
                  <a:pt x="174586" y="0"/>
                  <a:pt x="176561" y="0"/>
                </a:cubicBezTo>
                <a:cubicBezTo>
                  <a:pt x="178536" y="0"/>
                  <a:pt x="180433" y="774"/>
                  <a:pt x="181866" y="2207"/>
                </a:cubicBezTo>
                <a:lnTo>
                  <a:pt x="196076" y="16417"/>
                </a:lnTo>
                <a:cubicBezTo>
                  <a:pt x="197470" y="17811"/>
                  <a:pt x="198244" y="19708"/>
                  <a:pt x="198244" y="21683"/>
                </a:cubicBezTo>
                <a:cubicBezTo>
                  <a:pt x="198244" y="23658"/>
                  <a:pt x="197470" y="25555"/>
                  <a:pt x="196037" y="26988"/>
                </a:cubicBezTo>
                <a:lnTo>
                  <a:pt x="167655" y="55369"/>
                </a:lnTo>
                <a:lnTo>
                  <a:pt x="183143" y="70857"/>
                </a:lnTo>
                <a:cubicBezTo>
                  <a:pt x="185815" y="73528"/>
                  <a:pt x="186589" y="77516"/>
                  <a:pt x="185157" y="81001"/>
                </a:cubicBezTo>
                <a:cubicBezTo>
                  <a:pt x="183724" y="84486"/>
                  <a:pt x="180317" y="86732"/>
                  <a:pt x="176561" y="86732"/>
                </a:cubicBezTo>
                <a:close/>
                <a:moveTo>
                  <a:pt x="176561" y="111512"/>
                </a:moveTo>
                <a:cubicBezTo>
                  <a:pt x="180317" y="111512"/>
                  <a:pt x="183724" y="113758"/>
                  <a:pt x="185157" y="117243"/>
                </a:cubicBezTo>
                <a:cubicBezTo>
                  <a:pt x="186589" y="120727"/>
                  <a:pt x="185815" y="124716"/>
                  <a:pt x="183143" y="127387"/>
                </a:cubicBezTo>
                <a:lnTo>
                  <a:pt x="167655" y="142875"/>
                </a:lnTo>
                <a:lnTo>
                  <a:pt x="196076" y="171295"/>
                </a:lnTo>
                <a:cubicBezTo>
                  <a:pt x="197470" y="172689"/>
                  <a:pt x="198283" y="174586"/>
                  <a:pt x="198283" y="176600"/>
                </a:cubicBezTo>
                <a:cubicBezTo>
                  <a:pt x="198283" y="178613"/>
                  <a:pt x="197508" y="180472"/>
                  <a:pt x="196076" y="181904"/>
                </a:cubicBezTo>
                <a:lnTo>
                  <a:pt x="181866" y="196114"/>
                </a:lnTo>
                <a:cubicBezTo>
                  <a:pt x="180433" y="197470"/>
                  <a:pt x="178536" y="198244"/>
                  <a:pt x="176561" y="198244"/>
                </a:cubicBezTo>
                <a:cubicBezTo>
                  <a:pt x="174586" y="198244"/>
                  <a:pt x="172689" y="197470"/>
                  <a:pt x="171256" y="196037"/>
                </a:cubicBezTo>
                <a:lnTo>
                  <a:pt x="142875" y="167655"/>
                </a:lnTo>
                <a:lnTo>
                  <a:pt x="127387" y="183143"/>
                </a:lnTo>
                <a:cubicBezTo>
                  <a:pt x="124716" y="185815"/>
                  <a:pt x="120727" y="186589"/>
                  <a:pt x="117243" y="185157"/>
                </a:cubicBezTo>
                <a:cubicBezTo>
                  <a:pt x="113758" y="183724"/>
                  <a:pt x="111512" y="180317"/>
                  <a:pt x="111512" y="176561"/>
                </a:cubicBezTo>
                <a:lnTo>
                  <a:pt x="111512" y="120805"/>
                </a:lnTo>
                <a:cubicBezTo>
                  <a:pt x="111512" y="115655"/>
                  <a:pt x="115655" y="111512"/>
                  <a:pt x="120805" y="111512"/>
                </a:cubicBezTo>
                <a:lnTo>
                  <a:pt x="176561" y="111512"/>
                </a:lnTo>
                <a:close/>
                <a:moveTo>
                  <a:pt x="77439" y="111512"/>
                </a:moveTo>
                <a:cubicBezTo>
                  <a:pt x="82589" y="111512"/>
                  <a:pt x="86732" y="115655"/>
                  <a:pt x="86732" y="120805"/>
                </a:cubicBezTo>
                <a:lnTo>
                  <a:pt x="86732" y="176561"/>
                </a:lnTo>
                <a:cubicBezTo>
                  <a:pt x="86732" y="180317"/>
                  <a:pt x="84486" y="183724"/>
                  <a:pt x="81001" y="185157"/>
                </a:cubicBezTo>
                <a:cubicBezTo>
                  <a:pt x="77516" y="186589"/>
                  <a:pt x="73528" y="185815"/>
                  <a:pt x="70857" y="183143"/>
                </a:cubicBezTo>
                <a:lnTo>
                  <a:pt x="55369" y="167655"/>
                </a:lnTo>
                <a:lnTo>
                  <a:pt x="26949" y="196076"/>
                </a:lnTo>
                <a:cubicBezTo>
                  <a:pt x="25555" y="197470"/>
                  <a:pt x="23658" y="198244"/>
                  <a:pt x="21683" y="198244"/>
                </a:cubicBezTo>
                <a:cubicBezTo>
                  <a:pt x="19708" y="198244"/>
                  <a:pt x="17811" y="197470"/>
                  <a:pt x="16378" y="196037"/>
                </a:cubicBezTo>
                <a:lnTo>
                  <a:pt x="2207" y="181866"/>
                </a:lnTo>
                <a:cubicBezTo>
                  <a:pt x="774" y="180433"/>
                  <a:pt x="0" y="178536"/>
                  <a:pt x="0" y="176561"/>
                </a:cubicBezTo>
                <a:cubicBezTo>
                  <a:pt x="0" y="174586"/>
                  <a:pt x="774" y="172689"/>
                  <a:pt x="2207" y="171256"/>
                </a:cubicBezTo>
                <a:lnTo>
                  <a:pt x="30588" y="142875"/>
                </a:lnTo>
                <a:lnTo>
                  <a:pt x="15101" y="127387"/>
                </a:lnTo>
                <a:cubicBezTo>
                  <a:pt x="12429" y="124716"/>
                  <a:pt x="11655" y="120727"/>
                  <a:pt x="13087" y="117243"/>
                </a:cubicBezTo>
                <a:cubicBezTo>
                  <a:pt x="14520" y="113758"/>
                  <a:pt x="17927" y="111512"/>
                  <a:pt x="21683" y="111512"/>
                </a:cubicBezTo>
                <a:lnTo>
                  <a:pt x="77439" y="111512"/>
                </a:lnTo>
                <a:close/>
                <a:moveTo>
                  <a:pt x="21683" y="86732"/>
                </a:moveTo>
                <a:cubicBezTo>
                  <a:pt x="17927" y="86732"/>
                  <a:pt x="14520" y="84486"/>
                  <a:pt x="13087" y="81001"/>
                </a:cubicBezTo>
                <a:cubicBezTo>
                  <a:pt x="11655" y="77516"/>
                  <a:pt x="12468" y="73528"/>
                  <a:pt x="15101" y="70857"/>
                </a:cubicBezTo>
                <a:lnTo>
                  <a:pt x="30588" y="55369"/>
                </a:lnTo>
                <a:lnTo>
                  <a:pt x="2207" y="26988"/>
                </a:lnTo>
                <a:cubicBezTo>
                  <a:pt x="774" y="25555"/>
                  <a:pt x="0" y="23658"/>
                  <a:pt x="0" y="21683"/>
                </a:cubicBezTo>
                <a:cubicBezTo>
                  <a:pt x="0" y="19708"/>
                  <a:pt x="774" y="17811"/>
                  <a:pt x="2207" y="16378"/>
                </a:cubicBezTo>
                <a:lnTo>
                  <a:pt x="16378" y="2207"/>
                </a:lnTo>
                <a:cubicBezTo>
                  <a:pt x="17811" y="774"/>
                  <a:pt x="19708" y="0"/>
                  <a:pt x="21683" y="0"/>
                </a:cubicBezTo>
                <a:cubicBezTo>
                  <a:pt x="23658" y="0"/>
                  <a:pt x="25555" y="774"/>
                  <a:pt x="26988" y="2207"/>
                </a:cubicBezTo>
                <a:lnTo>
                  <a:pt x="55369" y="30588"/>
                </a:lnTo>
                <a:lnTo>
                  <a:pt x="70857" y="15101"/>
                </a:lnTo>
                <a:cubicBezTo>
                  <a:pt x="73528" y="12429"/>
                  <a:pt x="77516" y="11655"/>
                  <a:pt x="81001" y="13087"/>
                </a:cubicBezTo>
                <a:cubicBezTo>
                  <a:pt x="84486" y="14520"/>
                  <a:pt x="86732" y="17927"/>
                  <a:pt x="86732" y="21683"/>
                </a:cubicBezTo>
                <a:lnTo>
                  <a:pt x="86732" y="77439"/>
                </a:lnTo>
                <a:cubicBezTo>
                  <a:pt x="86732" y="82589"/>
                  <a:pt x="82589" y="86732"/>
                  <a:pt x="77439" y="86732"/>
                </a:cubicBezTo>
                <a:lnTo>
                  <a:pt x="21683" y="8673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873901" y="1077126"/>
            <a:ext cx="2469789" cy="26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2. Réduction de Dimension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873901" y="1341347"/>
            <a:ext cx="2436748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dirty="0">
                <a:solidFill>
                  <a:srgbClr val="2D3436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Compression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12210" y="1638817"/>
            <a:ext cx="5459967" cy="2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Objectif:</a:t>
            </a:r>
            <a:pPr>
              <a:lnSpc>
                <a:spcPct val="140000"/>
              </a:lnSpc>
            </a:pPr>
            <a:r>
              <a:rPr lang="en-US" sz="1041" dirty="0">
                <a:solidFill>
                  <a:srgbClr val="FFFFFF"/>
                </a:solidFill>
                <a:highlight>
                  <a:srgbClr val="4ECDC4">
                    <a:alpha val="100000"/>
                  </a:srgbClr>
                </a:highlight>
                <a:latin typeface="Coda" pitchFamily="34" charset="0"/>
                <a:ea typeface="Coda" pitchFamily="34" charset="-122"/>
                <a:cs typeface="Coda" pitchFamily="34" charset="-120"/>
              </a:rPr>
              <a:t> Réduire le nombre de variables </a:t>
            </a:r>
            <a:pPr>
              <a:lnSpc>
                <a:spcPct val="140000"/>
              </a:lnSpc>
            </a:pPr>
            <a:r>
              <a:rPr lang="en-US" sz="104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tout en préservant l'information essentielle.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18818" y="1959312"/>
            <a:ext cx="5382322" cy="1103558"/>
          </a:xfrm>
          <a:custGeom>
            <a:avLst/>
            <a:gdLst/>
            <a:ahLst/>
            <a:cxnLst/>
            <a:rect l="l" t="t" r="r" b="b"/>
            <a:pathLst>
              <a:path w="5382322" h="1103558">
                <a:moveTo>
                  <a:pt x="0" y="0"/>
                </a:moveTo>
                <a:lnTo>
                  <a:pt x="5382322" y="0"/>
                </a:lnTo>
                <a:lnTo>
                  <a:pt x="5382322" y="1103558"/>
                </a:lnTo>
                <a:lnTo>
                  <a:pt x="0" y="1103558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4ECD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4548" y="2065041"/>
            <a:ext cx="985954" cy="191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Quand l'utiliser: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24548" y="2296325"/>
            <a:ext cx="5236943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• Visualisation haute dimension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24548" y="2527610"/>
            <a:ext cx="5236943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• Prétraitement avant ML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24548" y="2758894"/>
            <a:ext cx="5236943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• Élimination du bruit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18818" y="3175207"/>
            <a:ext cx="459265" cy="277541"/>
          </a:xfrm>
          <a:custGeom>
            <a:avLst/>
            <a:gdLst/>
            <a:ahLst/>
            <a:cxnLst/>
            <a:rect l="l" t="t" r="r" b="b"/>
            <a:pathLst>
              <a:path w="459265" h="277541">
                <a:moveTo>
                  <a:pt x="0" y="0"/>
                </a:moveTo>
                <a:lnTo>
                  <a:pt x="459265" y="0"/>
                </a:lnTo>
                <a:lnTo>
                  <a:pt x="459265" y="277541"/>
                </a:lnTo>
                <a:lnTo>
                  <a:pt x="0" y="277541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12210" y="3168599"/>
            <a:ext cx="512130" cy="264325"/>
          </a:xfrm>
          <a:prstGeom prst="rect">
            <a:avLst/>
          </a:prstGeom>
          <a:noFill/>
          <a:ln/>
        </p:spPr>
        <p:txBody>
          <a:bodyPr wrap="square" lIns="99122" tIns="33041" rIns="99122" bIns="33041" rtlCol="0" anchor="ctr"/>
          <a:lstStyle/>
          <a:p>
            <a:pPr>
              <a:lnSpc>
                <a:spcPct val="130000"/>
              </a:lnSpc>
            </a:pPr>
            <a:r>
              <a:rPr lang="en-US" sz="1041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PCA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858413" y="3175207"/>
            <a:ext cx="558387" cy="277541"/>
          </a:xfrm>
          <a:custGeom>
            <a:avLst/>
            <a:gdLst/>
            <a:ahLst/>
            <a:cxnLst/>
            <a:rect l="l" t="t" r="r" b="b"/>
            <a:pathLst>
              <a:path w="558387" h="277541">
                <a:moveTo>
                  <a:pt x="0" y="0"/>
                </a:moveTo>
                <a:lnTo>
                  <a:pt x="558387" y="0"/>
                </a:lnTo>
                <a:lnTo>
                  <a:pt x="558387" y="277541"/>
                </a:lnTo>
                <a:lnTo>
                  <a:pt x="0" y="277541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1805" y="3168599"/>
            <a:ext cx="611252" cy="264325"/>
          </a:xfrm>
          <a:prstGeom prst="rect">
            <a:avLst/>
          </a:prstGeom>
          <a:noFill/>
          <a:ln/>
        </p:spPr>
        <p:txBody>
          <a:bodyPr wrap="square" lIns="99122" tIns="33041" rIns="99122" bIns="33041" rtlCol="0" anchor="ctr"/>
          <a:lstStyle/>
          <a:p>
            <a:pPr>
              <a:lnSpc>
                <a:spcPct val="130000"/>
              </a:lnSpc>
            </a:pPr>
            <a:r>
              <a:rPr lang="en-US" sz="104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t-SNE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493723" y="3175207"/>
            <a:ext cx="574907" cy="277541"/>
          </a:xfrm>
          <a:custGeom>
            <a:avLst/>
            <a:gdLst/>
            <a:ahLst/>
            <a:cxnLst/>
            <a:rect l="l" t="t" r="r" b="b"/>
            <a:pathLst>
              <a:path w="574907" h="277541">
                <a:moveTo>
                  <a:pt x="0" y="0"/>
                </a:moveTo>
                <a:lnTo>
                  <a:pt x="574907" y="0"/>
                </a:lnTo>
                <a:lnTo>
                  <a:pt x="574907" y="277541"/>
                </a:lnTo>
                <a:lnTo>
                  <a:pt x="0" y="277541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87115" y="3168599"/>
            <a:ext cx="627772" cy="264325"/>
          </a:xfrm>
          <a:prstGeom prst="rect">
            <a:avLst/>
          </a:prstGeom>
          <a:noFill/>
          <a:ln/>
        </p:spPr>
        <p:txBody>
          <a:bodyPr wrap="square" lIns="99122" tIns="33041" rIns="99122" bIns="33041" rtlCol="0" anchor="ctr"/>
          <a:lstStyle/>
          <a:p>
            <a:pPr>
              <a:lnSpc>
                <a:spcPct val="130000"/>
              </a:lnSpc>
            </a:pPr>
            <a:r>
              <a:rPr lang="en-US" sz="1041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UMAP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40319" y="3968182"/>
            <a:ext cx="5678036" cy="2877841"/>
          </a:xfrm>
          <a:custGeom>
            <a:avLst/>
            <a:gdLst/>
            <a:ahLst/>
            <a:cxnLst/>
            <a:rect l="l" t="t" r="r" b="b"/>
            <a:pathLst>
              <a:path w="5678036" h="2877841">
                <a:moveTo>
                  <a:pt x="0" y="0"/>
                </a:moveTo>
                <a:lnTo>
                  <a:pt x="5678036" y="0"/>
                </a:lnTo>
                <a:lnTo>
                  <a:pt x="5678036" y="2877841"/>
                </a:lnTo>
                <a:lnTo>
                  <a:pt x="0" y="287784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92306" y="4120170"/>
            <a:ext cx="441093" cy="441093"/>
          </a:xfrm>
          <a:custGeom>
            <a:avLst/>
            <a:gdLst/>
            <a:ahLst/>
            <a:cxnLst/>
            <a:rect l="l" t="t" r="r" b="b"/>
            <a:pathLst>
              <a:path w="441093" h="441093">
                <a:moveTo>
                  <a:pt x="0" y="0"/>
                </a:moveTo>
                <a:lnTo>
                  <a:pt x="441093" y="0"/>
                </a:lnTo>
                <a:lnTo>
                  <a:pt x="441093" y="441093"/>
                </a:lnTo>
                <a:lnTo>
                  <a:pt x="0" y="441093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30480">
            <a:solidFill>
              <a:srgbClr val="2D343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2166" y="4242420"/>
            <a:ext cx="223024" cy="198244"/>
          </a:xfrm>
          <a:custGeom>
            <a:avLst/>
            <a:gdLst/>
            <a:ahLst/>
            <a:cxnLst/>
            <a:rect l="l" t="t" r="r" b="b"/>
            <a:pathLst>
              <a:path w="223024" h="198244">
                <a:moveTo>
                  <a:pt x="162428" y="37171"/>
                </a:moveTo>
                <a:cubicBezTo>
                  <a:pt x="156001" y="37171"/>
                  <a:pt x="149767" y="38913"/>
                  <a:pt x="144308" y="42088"/>
                </a:cubicBezTo>
                <a:cubicBezTo>
                  <a:pt x="138190" y="35893"/>
                  <a:pt x="131066" y="30705"/>
                  <a:pt x="123205" y="26794"/>
                </a:cubicBezTo>
                <a:cubicBezTo>
                  <a:pt x="134124" y="17501"/>
                  <a:pt x="148025" y="12390"/>
                  <a:pt x="162428" y="12390"/>
                </a:cubicBezTo>
                <a:cubicBezTo>
                  <a:pt x="195882" y="12390"/>
                  <a:pt x="223024" y="39494"/>
                  <a:pt x="223024" y="72986"/>
                </a:cubicBezTo>
                <a:cubicBezTo>
                  <a:pt x="223024" y="89055"/>
                  <a:pt x="216636" y="104465"/>
                  <a:pt x="205291" y="115810"/>
                </a:cubicBezTo>
                <a:lnTo>
                  <a:pt x="177761" y="143340"/>
                </a:lnTo>
                <a:cubicBezTo>
                  <a:pt x="166416" y="154684"/>
                  <a:pt x="151006" y="161073"/>
                  <a:pt x="134938" y="161073"/>
                </a:cubicBezTo>
                <a:cubicBezTo>
                  <a:pt x="101484" y="161073"/>
                  <a:pt x="74341" y="133970"/>
                  <a:pt x="74341" y="100477"/>
                </a:cubicBezTo>
                <a:cubicBezTo>
                  <a:pt x="74341" y="99896"/>
                  <a:pt x="74341" y="99316"/>
                  <a:pt x="74380" y="98735"/>
                </a:cubicBezTo>
                <a:cubicBezTo>
                  <a:pt x="74574" y="91881"/>
                  <a:pt x="80266" y="86499"/>
                  <a:pt x="87119" y="86693"/>
                </a:cubicBezTo>
                <a:cubicBezTo>
                  <a:pt x="93972" y="86887"/>
                  <a:pt x="99354" y="92578"/>
                  <a:pt x="99161" y="99432"/>
                </a:cubicBezTo>
                <a:cubicBezTo>
                  <a:pt x="99161" y="99780"/>
                  <a:pt x="99161" y="100129"/>
                  <a:pt x="99161" y="100438"/>
                </a:cubicBezTo>
                <a:cubicBezTo>
                  <a:pt x="99161" y="120224"/>
                  <a:pt x="115191" y="136254"/>
                  <a:pt x="134976" y="136254"/>
                </a:cubicBezTo>
                <a:cubicBezTo>
                  <a:pt x="144463" y="136254"/>
                  <a:pt x="153562" y="132498"/>
                  <a:pt x="160299" y="125761"/>
                </a:cubicBezTo>
                <a:lnTo>
                  <a:pt x="187828" y="98231"/>
                </a:lnTo>
                <a:cubicBezTo>
                  <a:pt x="194527" y="91533"/>
                  <a:pt x="198321" y="82395"/>
                  <a:pt x="198321" y="72909"/>
                </a:cubicBezTo>
                <a:cubicBezTo>
                  <a:pt x="198321" y="53123"/>
                  <a:pt x="182291" y="37093"/>
                  <a:pt x="162506" y="37093"/>
                </a:cubicBezTo>
                <a:close/>
                <a:moveTo>
                  <a:pt x="106556" y="67101"/>
                </a:moveTo>
                <a:cubicBezTo>
                  <a:pt x="105820" y="66791"/>
                  <a:pt x="105085" y="66365"/>
                  <a:pt x="104427" y="65901"/>
                </a:cubicBezTo>
                <a:cubicBezTo>
                  <a:pt x="99548" y="63384"/>
                  <a:pt x="93972" y="61951"/>
                  <a:pt x="88126" y="61951"/>
                </a:cubicBezTo>
                <a:cubicBezTo>
                  <a:pt x="78639" y="61951"/>
                  <a:pt x="69540" y="65707"/>
                  <a:pt x="62803" y="72444"/>
                </a:cubicBezTo>
                <a:lnTo>
                  <a:pt x="35273" y="99974"/>
                </a:lnTo>
                <a:cubicBezTo>
                  <a:pt x="28575" y="106672"/>
                  <a:pt x="24780" y="115810"/>
                  <a:pt x="24780" y="125296"/>
                </a:cubicBezTo>
                <a:cubicBezTo>
                  <a:pt x="24780" y="145082"/>
                  <a:pt x="40810" y="161112"/>
                  <a:pt x="60596" y="161112"/>
                </a:cubicBezTo>
                <a:cubicBezTo>
                  <a:pt x="66985" y="161112"/>
                  <a:pt x="73219" y="159408"/>
                  <a:pt x="78678" y="156233"/>
                </a:cubicBezTo>
                <a:cubicBezTo>
                  <a:pt x="84796" y="162428"/>
                  <a:pt x="91920" y="167617"/>
                  <a:pt x="99819" y="171527"/>
                </a:cubicBezTo>
                <a:cubicBezTo>
                  <a:pt x="88900" y="180781"/>
                  <a:pt x="75038" y="185931"/>
                  <a:pt x="60596" y="185931"/>
                </a:cubicBezTo>
                <a:cubicBezTo>
                  <a:pt x="27142" y="185931"/>
                  <a:pt x="0" y="158827"/>
                  <a:pt x="0" y="125335"/>
                </a:cubicBezTo>
                <a:cubicBezTo>
                  <a:pt x="0" y="109266"/>
                  <a:pt x="6389" y="93856"/>
                  <a:pt x="17734" y="82511"/>
                </a:cubicBezTo>
                <a:lnTo>
                  <a:pt x="45263" y="54982"/>
                </a:lnTo>
                <a:cubicBezTo>
                  <a:pt x="56608" y="43637"/>
                  <a:pt x="72018" y="37248"/>
                  <a:pt x="88087" y="37248"/>
                </a:cubicBezTo>
                <a:cubicBezTo>
                  <a:pt x="121618" y="37248"/>
                  <a:pt x="148683" y="64584"/>
                  <a:pt x="148683" y="97999"/>
                </a:cubicBezTo>
                <a:cubicBezTo>
                  <a:pt x="148683" y="98502"/>
                  <a:pt x="148683" y="99006"/>
                  <a:pt x="148683" y="99509"/>
                </a:cubicBezTo>
                <a:cubicBezTo>
                  <a:pt x="148528" y="106363"/>
                  <a:pt x="142836" y="111745"/>
                  <a:pt x="135983" y="111590"/>
                </a:cubicBezTo>
                <a:cubicBezTo>
                  <a:pt x="129130" y="111435"/>
                  <a:pt x="123748" y="105743"/>
                  <a:pt x="123902" y="98890"/>
                </a:cubicBezTo>
                <a:cubicBezTo>
                  <a:pt x="123902" y="98580"/>
                  <a:pt x="123902" y="98309"/>
                  <a:pt x="123902" y="97999"/>
                </a:cubicBezTo>
                <a:cubicBezTo>
                  <a:pt x="123902" y="84951"/>
                  <a:pt x="116933" y="73490"/>
                  <a:pt x="106556" y="67178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45" name="Text 43"/>
          <p:cNvSpPr/>
          <p:nvPr/>
        </p:nvSpPr>
        <p:spPr>
          <a:xfrm>
            <a:off x="1044085" y="4110258"/>
            <a:ext cx="2147642" cy="26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3. Règles d'Association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044085" y="4374480"/>
            <a:ext cx="2114602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dirty="0">
                <a:solidFill>
                  <a:srgbClr val="2D3436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Relations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82394" y="4671949"/>
            <a:ext cx="5459967" cy="429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Objectif:</a:t>
            </a:r>
            <a:pPr>
              <a:lnSpc>
                <a:spcPct val="140000"/>
              </a:lnSpc>
            </a:pPr>
            <a:r>
              <a:rPr lang="en-US" sz="104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Découvrir des </a:t>
            </a:r>
            <a:pPr>
              <a:lnSpc>
                <a:spcPct val="140000"/>
              </a:lnSpc>
            </a:pPr>
            <a:r>
              <a:rPr lang="en-US" sz="1041" dirty="0">
                <a:solidFill>
                  <a:srgbClr val="2D3436"/>
                </a:solidFill>
                <a:highlight>
                  <a:srgbClr val="FFE66D">
                    <a:alpha val="100000"/>
                  </a:srgbClr>
                </a:highlight>
                <a:latin typeface="Coda" pitchFamily="34" charset="0"/>
                <a:ea typeface="Coda" pitchFamily="34" charset="-122"/>
                <a:cs typeface="Coda" pitchFamily="34" charset="-120"/>
              </a:rPr>
              <a:t>relations fréquentes </a:t>
            </a:r>
            <a:pPr>
              <a:lnSpc>
                <a:spcPct val="140000"/>
              </a:lnSpc>
            </a:pPr>
            <a:r>
              <a:rPr lang="en-US" sz="104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entre variables dans de grandes bases de données.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89002" y="5207207"/>
            <a:ext cx="5382322" cy="1103558"/>
          </a:xfrm>
          <a:custGeom>
            <a:avLst/>
            <a:gdLst/>
            <a:ahLst/>
            <a:cxnLst/>
            <a:rect l="l" t="t" r="r" b="b"/>
            <a:pathLst>
              <a:path w="5382322" h="1103558">
                <a:moveTo>
                  <a:pt x="0" y="0"/>
                </a:moveTo>
                <a:lnTo>
                  <a:pt x="5382322" y="0"/>
                </a:lnTo>
                <a:lnTo>
                  <a:pt x="5382322" y="1103558"/>
                </a:lnTo>
                <a:lnTo>
                  <a:pt x="0" y="1103558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20320">
            <a:solidFill>
              <a:srgbClr val="FFE66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4732" y="5312936"/>
            <a:ext cx="985954" cy="191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Quand l'utiliser: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94732" y="5544221"/>
            <a:ext cx="5236943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• Analyse de panier de marché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94732" y="5775505"/>
            <a:ext cx="5236943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• Systèmes de recommandation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594732" y="6006790"/>
            <a:ext cx="5236943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• Découverte de co-occurrences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89002" y="6423103"/>
            <a:ext cx="607948" cy="277541"/>
          </a:xfrm>
          <a:custGeom>
            <a:avLst/>
            <a:gdLst/>
            <a:ahLst/>
            <a:cxnLst/>
            <a:rect l="l" t="t" r="r" b="b"/>
            <a:pathLst>
              <a:path w="607948" h="277541">
                <a:moveTo>
                  <a:pt x="0" y="0"/>
                </a:moveTo>
                <a:lnTo>
                  <a:pt x="607948" y="0"/>
                </a:lnTo>
                <a:lnTo>
                  <a:pt x="607948" y="277541"/>
                </a:lnTo>
                <a:lnTo>
                  <a:pt x="0" y="277541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2394" y="6416495"/>
            <a:ext cx="660813" cy="264325"/>
          </a:xfrm>
          <a:prstGeom prst="rect">
            <a:avLst/>
          </a:prstGeom>
          <a:noFill/>
          <a:ln/>
        </p:spPr>
        <p:txBody>
          <a:bodyPr wrap="square" lIns="99122" tIns="33041" rIns="99122" bIns="33041" rtlCol="0" anchor="ctr"/>
          <a:lstStyle/>
          <a:p>
            <a:pPr>
              <a:lnSpc>
                <a:spcPct val="130000"/>
              </a:lnSpc>
            </a:pPr>
            <a:r>
              <a:rPr lang="en-US" sz="1041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Apriori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1173356" y="6423103"/>
            <a:ext cx="847493" cy="277541"/>
          </a:xfrm>
          <a:custGeom>
            <a:avLst/>
            <a:gdLst/>
            <a:ahLst/>
            <a:cxnLst/>
            <a:rect l="l" t="t" r="r" b="b"/>
            <a:pathLst>
              <a:path w="847493" h="277541">
                <a:moveTo>
                  <a:pt x="0" y="0"/>
                </a:moveTo>
                <a:lnTo>
                  <a:pt x="847493" y="0"/>
                </a:lnTo>
                <a:lnTo>
                  <a:pt x="847493" y="277541"/>
                </a:lnTo>
                <a:lnTo>
                  <a:pt x="0" y="277541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166748" y="6416495"/>
            <a:ext cx="900358" cy="264325"/>
          </a:xfrm>
          <a:prstGeom prst="rect">
            <a:avLst/>
          </a:prstGeom>
          <a:noFill/>
          <a:ln/>
        </p:spPr>
        <p:txBody>
          <a:bodyPr wrap="square" lIns="99122" tIns="33041" rIns="99122" bIns="33041" rtlCol="0" anchor="ctr"/>
          <a:lstStyle/>
          <a:p>
            <a:pPr>
              <a:lnSpc>
                <a:spcPct val="130000"/>
              </a:lnSpc>
            </a:pPr>
            <a:r>
              <a:rPr lang="en-US" sz="1041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FP-Growth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2098804" y="6423103"/>
            <a:ext cx="574907" cy="277541"/>
          </a:xfrm>
          <a:custGeom>
            <a:avLst/>
            <a:gdLst/>
            <a:ahLst/>
            <a:cxnLst/>
            <a:rect l="l" t="t" r="r" b="b"/>
            <a:pathLst>
              <a:path w="574907" h="277541">
                <a:moveTo>
                  <a:pt x="0" y="0"/>
                </a:moveTo>
                <a:lnTo>
                  <a:pt x="574907" y="0"/>
                </a:lnTo>
                <a:lnTo>
                  <a:pt x="574907" y="277541"/>
                </a:lnTo>
                <a:lnTo>
                  <a:pt x="0" y="277541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092196" y="6416495"/>
            <a:ext cx="627772" cy="264325"/>
          </a:xfrm>
          <a:prstGeom prst="rect">
            <a:avLst/>
          </a:prstGeom>
          <a:noFill/>
          <a:ln/>
        </p:spPr>
        <p:txBody>
          <a:bodyPr wrap="square" lIns="99122" tIns="33041" rIns="99122" bIns="33041" rtlCol="0" anchor="ctr"/>
          <a:lstStyle/>
          <a:p>
            <a:pPr>
              <a:lnSpc>
                <a:spcPct val="130000"/>
              </a:lnSpc>
            </a:pPr>
            <a:r>
              <a:rPr lang="en-US" sz="104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ECLAT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170135" y="3968182"/>
            <a:ext cx="5678036" cy="2877841"/>
          </a:xfrm>
          <a:custGeom>
            <a:avLst/>
            <a:gdLst/>
            <a:ahLst/>
            <a:cxnLst/>
            <a:rect l="l" t="t" r="r" b="b"/>
            <a:pathLst>
              <a:path w="5678036" h="2877841">
                <a:moveTo>
                  <a:pt x="0" y="0"/>
                </a:moveTo>
                <a:lnTo>
                  <a:pt x="5678036" y="0"/>
                </a:lnTo>
                <a:lnTo>
                  <a:pt x="5678036" y="2877841"/>
                </a:lnTo>
                <a:lnTo>
                  <a:pt x="0" y="287784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322122" y="4120170"/>
            <a:ext cx="441093" cy="441093"/>
          </a:xfrm>
          <a:custGeom>
            <a:avLst/>
            <a:gdLst/>
            <a:ahLst/>
            <a:cxnLst/>
            <a:rect l="l" t="t" r="r" b="b"/>
            <a:pathLst>
              <a:path w="441093" h="441093">
                <a:moveTo>
                  <a:pt x="0" y="0"/>
                </a:moveTo>
                <a:lnTo>
                  <a:pt x="441093" y="0"/>
                </a:lnTo>
                <a:lnTo>
                  <a:pt x="441093" y="441093"/>
                </a:lnTo>
                <a:lnTo>
                  <a:pt x="0" y="441093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0480">
            <a:solidFill>
              <a:srgbClr val="2D343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444372" y="4242420"/>
            <a:ext cx="198244" cy="198244"/>
          </a:xfrm>
          <a:custGeom>
            <a:avLst/>
            <a:gdLst/>
            <a:ahLst/>
            <a:cxnLst/>
            <a:rect l="l" t="t" r="r" b="b"/>
            <a:pathLst>
              <a:path w="198244" h="198244">
                <a:moveTo>
                  <a:pt x="99122" y="0"/>
                </a:moveTo>
                <a:cubicBezTo>
                  <a:pt x="104814" y="0"/>
                  <a:pt x="110041" y="3136"/>
                  <a:pt x="112751" y="8131"/>
                </a:cubicBezTo>
                <a:lnTo>
                  <a:pt x="196385" y="163009"/>
                </a:lnTo>
                <a:cubicBezTo>
                  <a:pt x="198980" y="167810"/>
                  <a:pt x="198863" y="173618"/>
                  <a:pt x="196076" y="178303"/>
                </a:cubicBezTo>
                <a:cubicBezTo>
                  <a:pt x="193288" y="182988"/>
                  <a:pt x="188216" y="185854"/>
                  <a:pt x="182756" y="185854"/>
                </a:cubicBezTo>
                <a:lnTo>
                  <a:pt x="15488" y="185854"/>
                </a:lnTo>
                <a:cubicBezTo>
                  <a:pt x="10028" y="185854"/>
                  <a:pt x="4995" y="182988"/>
                  <a:pt x="2168" y="178303"/>
                </a:cubicBezTo>
                <a:cubicBezTo>
                  <a:pt x="-658" y="173618"/>
                  <a:pt x="-736" y="167810"/>
                  <a:pt x="1859" y="163009"/>
                </a:cubicBezTo>
                <a:lnTo>
                  <a:pt x="85493" y="8131"/>
                </a:lnTo>
                <a:cubicBezTo>
                  <a:pt x="88203" y="3136"/>
                  <a:pt x="93430" y="0"/>
                  <a:pt x="99122" y="0"/>
                </a:cubicBezTo>
                <a:close/>
                <a:moveTo>
                  <a:pt x="99122" y="65049"/>
                </a:moveTo>
                <a:cubicBezTo>
                  <a:pt x="93972" y="65049"/>
                  <a:pt x="89829" y="69192"/>
                  <a:pt x="89829" y="74341"/>
                </a:cubicBezTo>
                <a:lnTo>
                  <a:pt x="89829" y="117707"/>
                </a:lnTo>
                <a:cubicBezTo>
                  <a:pt x="89829" y="122857"/>
                  <a:pt x="93972" y="127000"/>
                  <a:pt x="99122" y="127000"/>
                </a:cubicBezTo>
                <a:cubicBezTo>
                  <a:pt x="104272" y="127000"/>
                  <a:pt x="108415" y="122857"/>
                  <a:pt x="108415" y="117707"/>
                </a:cubicBezTo>
                <a:lnTo>
                  <a:pt x="108415" y="74341"/>
                </a:lnTo>
                <a:cubicBezTo>
                  <a:pt x="108415" y="69192"/>
                  <a:pt x="104272" y="65049"/>
                  <a:pt x="99122" y="65049"/>
                </a:cubicBezTo>
                <a:close/>
                <a:moveTo>
                  <a:pt x="109460" y="148683"/>
                </a:moveTo>
                <a:cubicBezTo>
                  <a:pt x="109695" y="144846"/>
                  <a:pt x="107782" y="141195"/>
                  <a:pt x="104492" y="139205"/>
                </a:cubicBezTo>
                <a:cubicBezTo>
                  <a:pt x="101202" y="137215"/>
                  <a:pt x="97080" y="137215"/>
                  <a:pt x="93791" y="139205"/>
                </a:cubicBezTo>
                <a:cubicBezTo>
                  <a:pt x="90501" y="141195"/>
                  <a:pt x="88587" y="144846"/>
                  <a:pt x="88823" y="148683"/>
                </a:cubicBezTo>
                <a:cubicBezTo>
                  <a:pt x="88587" y="152520"/>
                  <a:pt x="90501" y="156171"/>
                  <a:pt x="93791" y="158161"/>
                </a:cubicBezTo>
                <a:cubicBezTo>
                  <a:pt x="97080" y="160151"/>
                  <a:pt x="101202" y="160151"/>
                  <a:pt x="104492" y="158161"/>
                </a:cubicBezTo>
                <a:cubicBezTo>
                  <a:pt x="107782" y="156171"/>
                  <a:pt x="109695" y="152520"/>
                  <a:pt x="109460" y="14868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2" name="Text 60"/>
          <p:cNvSpPr/>
          <p:nvPr/>
        </p:nvSpPr>
        <p:spPr>
          <a:xfrm>
            <a:off x="6873901" y="4110258"/>
            <a:ext cx="2296325" cy="26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4. Détection d'Anomalies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873901" y="4374480"/>
            <a:ext cx="2263285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dirty="0">
                <a:solidFill>
                  <a:srgbClr val="2D3436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Outliers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312210" y="4671949"/>
            <a:ext cx="5459967" cy="2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Objectif:</a:t>
            </a:r>
            <a:pPr>
              <a:lnSpc>
                <a:spcPct val="140000"/>
              </a:lnSpc>
            </a:pPr>
            <a:r>
              <a:rPr lang="en-US" sz="104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Identifier les </a:t>
            </a:r>
            <a:pPr>
              <a:lnSpc>
                <a:spcPct val="140000"/>
              </a:lnSpc>
            </a:pPr>
            <a:r>
              <a:rPr lang="en-US" sz="1041" dirty="0">
                <a:solidFill>
                  <a:srgbClr val="FFFFFF"/>
                </a:solidFill>
                <a:highlight>
                  <a:srgbClr val="FF6B6B">
                    <a:alpha val="100000"/>
                  </a:srgbClr>
                </a:highlight>
                <a:latin typeface="Coda" pitchFamily="34" charset="0"/>
                <a:ea typeface="Coda" pitchFamily="34" charset="-122"/>
                <a:cs typeface="Coda" pitchFamily="34" charset="-120"/>
              </a:rPr>
              <a:t>points atypiques </a:t>
            </a:r>
            <a:pPr>
              <a:lnSpc>
                <a:spcPct val="140000"/>
              </a:lnSpc>
            </a:pPr>
            <a:r>
              <a:rPr lang="en-US" sz="104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qui diffèrent significativement de la majorité.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318818" y="4992443"/>
            <a:ext cx="5382322" cy="1103558"/>
          </a:xfrm>
          <a:custGeom>
            <a:avLst/>
            <a:gdLst/>
            <a:ahLst/>
            <a:cxnLst/>
            <a:rect l="l" t="t" r="r" b="b"/>
            <a:pathLst>
              <a:path w="5382322" h="1103558">
                <a:moveTo>
                  <a:pt x="0" y="0"/>
                </a:moveTo>
                <a:lnTo>
                  <a:pt x="5382322" y="0"/>
                </a:lnTo>
                <a:lnTo>
                  <a:pt x="5382322" y="1103558"/>
                </a:lnTo>
                <a:lnTo>
                  <a:pt x="0" y="1103558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FF6B6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24548" y="5098172"/>
            <a:ext cx="985954" cy="191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Quand l'utiliser: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424548" y="5329457"/>
            <a:ext cx="5236943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• Détection de fraude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6424548" y="5560741"/>
            <a:ext cx="5236943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• Maintenance prédictive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6424548" y="5792026"/>
            <a:ext cx="5236943" cy="198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• Cybersécurité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6318818" y="6208339"/>
            <a:ext cx="1120078" cy="277541"/>
          </a:xfrm>
          <a:custGeom>
            <a:avLst/>
            <a:gdLst/>
            <a:ahLst/>
            <a:cxnLst/>
            <a:rect l="l" t="t" r="r" b="b"/>
            <a:pathLst>
              <a:path w="1120078" h="277541">
                <a:moveTo>
                  <a:pt x="0" y="0"/>
                </a:moveTo>
                <a:lnTo>
                  <a:pt x="1120078" y="0"/>
                </a:lnTo>
                <a:lnTo>
                  <a:pt x="1120078" y="277541"/>
                </a:lnTo>
                <a:lnTo>
                  <a:pt x="0" y="277541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312210" y="6201730"/>
            <a:ext cx="1172943" cy="264325"/>
          </a:xfrm>
          <a:prstGeom prst="rect">
            <a:avLst/>
          </a:prstGeom>
          <a:noFill/>
          <a:ln/>
        </p:spPr>
        <p:txBody>
          <a:bodyPr wrap="square" lIns="99122" tIns="33041" rIns="99122" bIns="33041" rtlCol="0" anchor="ctr"/>
          <a:lstStyle/>
          <a:p>
            <a:pPr>
              <a:lnSpc>
                <a:spcPct val="130000"/>
              </a:lnSpc>
            </a:pPr>
            <a:r>
              <a:rPr lang="en-US" sz="1041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Isolation Forest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7521704" y="6208339"/>
            <a:ext cx="1128338" cy="277541"/>
          </a:xfrm>
          <a:custGeom>
            <a:avLst/>
            <a:gdLst/>
            <a:ahLst/>
            <a:cxnLst/>
            <a:rect l="l" t="t" r="r" b="b"/>
            <a:pathLst>
              <a:path w="1128338" h="277541">
                <a:moveTo>
                  <a:pt x="0" y="0"/>
                </a:moveTo>
                <a:lnTo>
                  <a:pt x="1128338" y="0"/>
                </a:lnTo>
                <a:lnTo>
                  <a:pt x="1128338" y="277541"/>
                </a:lnTo>
                <a:lnTo>
                  <a:pt x="0" y="277541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515096" y="6201730"/>
            <a:ext cx="1181203" cy="264325"/>
          </a:xfrm>
          <a:prstGeom prst="rect">
            <a:avLst/>
          </a:prstGeom>
          <a:noFill/>
          <a:ln/>
        </p:spPr>
        <p:txBody>
          <a:bodyPr wrap="square" lIns="99122" tIns="33041" rIns="99122" bIns="33041" rtlCol="0" anchor="ctr"/>
          <a:lstStyle/>
          <a:p>
            <a:pPr>
              <a:lnSpc>
                <a:spcPct val="130000"/>
              </a:lnSpc>
            </a:pPr>
            <a:r>
              <a:rPr lang="en-US" sz="104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One-Class SVM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8725416" y="6208339"/>
            <a:ext cx="434485" cy="277541"/>
          </a:xfrm>
          <a:custGeom>
            <a:avLst/>
            <a:gdLst/>
            <a:ahLst/>
            <a:cxnLst/>
            <a:rect l="l" t="t" r="r" b="b"/>
            <a:pathLst>
              <a:path w="434485" h="277541">
                <a:moveTo>
                  <a:pt x="0" y="0"/>
                </a:moveTo>
                <a:lnTo>
                  <a:pt x="434485" y="0"/>
                </a:lnTo>
                <a:lnTo>
                  <a:pt x="434485" y="277541"/>
                </a:lnTo>
                <a:lnTo>
                  <a:pt x="0" y="277541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718808" y="6201730"/>
            <a:ext cx="487350" cy="264325"/>
          </a:xfrm>
          <a:prstGeom prst="rect">
            <a:avLst/>
          </a:prstGeom>
          <a:noFill/>
          <a:ln/>
        </p:spPr>
        <p:txBody>
          <a:bodyPr wrap="square" lIns="99122" tIns="33041" rIns="99122" bIns="33041" rtlCol="0" anchor="ctr"/>
          <a:lstStyle/>
          <a:p>
            <a:pPr>
              <a:lnSpc>
                <a:spcPct val="130000"/>
              </a:lnSpc>
            </a:pPr>
            <a:r>
              <a:rPr lang="en-US" sz="1041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LOF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58774" y="279347"/>
            <a:ext cx="651250" cy="651250"/>
          </a:xfrm>
          <a:custGeom>
            <a:avLst/>
            <a:gdLst/>
            <a:ahLst/>
            <a:cxnLst/>
            <a:rect l="l" t="t" r="r" b="b"/>
            <a:pathLst>
              <a:path w="651250" h="651250">
                <a:moveTo>
                  <a:pt x="325625" y="0"/>
                </a:moveTo>
                <a:lnTo>
                  <a:pt x="325625" y="0"/>
                </a:lnTo>
                <a:cubicBezTo>
                  <a:pt x="505462" y="0"/>
                  <a:pt x="651250" y="145787"/>
                  <a:pt x="651250" y="325625"/>
                </a:cubicBezTo>
                <a:lnTo>
                  <a:pt x="651250" y="325625"/>
                </a:lnTo>
                <a:cubicBezTo>
                  <a:pt x="651250" y="505462"/>
                  <a:pt x="505462" y="651250"/>
                  <a:pt x="325625" y="651250"/>
                </a:cubicBezTo>
                <a:lnTo>
                  <a:pt x="325625" y="651250"/>
                </a:lnTo>
                <a:cubicBezTo>
                  <a:pt x="145787" y="651250"/>
                  <a:pt x="0" y="505462"/>
                  <a:pt x="0" y="325625"/>
                </a:cubicBezTo>
                <a:lnTo>
                  <a:pt x="0" y="325625"/>
                </a:lnTo>
                <a:cubicBezTo>
                  <a:pt x="0" y="145787"/>
                  <a:pt x="145787" y="0"/>
                  <a:pt x="325625" y="0"/>
                </a:cubicBezTo>
                <a:close/>
              </a:path>
            </a:pathLst>
          </a:custGeom>
          <a:solidFill>
            <a:srgbClr val="4ECDC4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3656" dir="2700000">
              <a:srgbClr val="2d3436">
                <a:alpha val="1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 rot="2700000">
            <a:off x="10689999" y="585638"/>
            <a:ext cx="449312" cy="449312"/>
          </a:xfrm>
          <a:custGeom>
            <a:avLst/>
            <a:gdLst/>
            <a:ahLst/>
            <a:cxnLst/>
            <a:rect l="l" t="t" r="r" b="b"/>
            <a:pathLst>
              <a:path w="449312" h="449312">
                <a:moveTo>
                  <a:pt x="0" y="0"/>
                </a:moveTo>
                <a:lnTo>
                  <a:pt x="449312" y="0"/>
                </a:lnTo>
                <a:lnTo>
                  <a:pt x="449312" y="449312"/>
                </a:lnTo>
                <a:lnTo>
                  <a:pt x="0" y="449312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3656" dir="2700000">
              <a:srgbClr val="2d3436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598" y="5521318"/>
            <a:ext cx="314687" cy="785875"/>
          </a:xfrm>
          <a:custGeom>
            <a:avLst/>
            <a:gdLst/>
            <a:ahLst/>
            <a:cxnLst/>
            <a:rect l="l" t="t" r="r" b="b"/>
            <a:pathLst>
              <a:path w="314687" h="785875">
                <a:moveTo>
                  <a:pt x="0" y="0"/>
                </a:moveTo>
                <a:lnTo>
                  <a:pt x="314687" y="0"/>
                </a:lnTo>
                <a:lnTo>
                  <a:pt x="314687" y="785875"/>
                </a:lnTo>
                <a:lnTo>
                  <a:pt x="0" y="78587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3656" dir="2700000">
              <a:srgbClr val="2d3436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89524" y="5790569"/>
            <a:ext cx="516624" cy="247374"/>
          </a:xfrm>
          <a:custGeom>
            <a:avLst/>
            <a:gdLst/>
            <a:ahLst/>
            <a:cxnLst/>
            <a:rect l="l" t="t" r="r" b="b"/>
            <a:pathLst>
              <a:path w="516624" h="247374">
                <a:moveTo>
                  <a:pt x="0" y="0"/>
                </a:moveTo>
                <a:lnTo>
                  <a:pt x="516624" y="0"/>
                </a:lnTo>
                <a:lnTo>
                  <a:pt x="516624" y="247374"/>
                </a:lnTo>
                <a:lnTo>
                  <a:pt x="0" y="247374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3656" dir="2700000">
              <a:srgbClr val="2d3436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6660" y="346660"/>
            <a:ext cx="449312" cy="449312"/>
          </a:xfrm>
          <a:custGeom>
            <a:avLst/>
            <a:gdLst/>
            <a:ahLst/>
            <a:cxnLst/>
            <a:rect l="l" t="t" r="r" b="b"/>
            <a:pathLst>
              <a:path w="449312" h="449312">
                <a:moveTo>
                  <a:pt x="0" y="0"/>
                </a:moveTo>
                <a:lnTo>
                  <a:pt x="449312" y="0"/>
                </a:lnTo>
                <a:lnTo>
                  <a:pt x="449312" y="449312"/>
                </a:lnTo>
                <a:lnTo>
                  <a:pt x="0" y="449312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0480">
            <a:solidFill>
              <a:srgbClr val="2D34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6082" y="420704"/>
            <a:ext cx="201938" cy="302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88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42377" y="403876"/>
            <a:ext cx="3037482" cy="336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85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Famille: Le Clustering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49108" y="881795"/>
            <a:ext cx="795972" cy="55533"/>
          </a:xfrm>
          <a:custGeom>
            <a:avLst/>
            <a:gdLst/>
            <a:ahLst/>
            <a:cxnLst/>
            <a:rect l="l" t="t" r="r" b="b"/>
            <a:pathLst>
              <a:path w="795972" h="55533">
                <a:moveTo>
                  <a:pt x="0" y="0"/>
                </a:moveTo>
                <a:lnTo>
                  <a:pt x="795972" y="0"/>
                </a:lnTo>
                <a:lnTo>
                  <a:pt x="795972" y="55533"/>
                </a:lnTo>
                <a:lnTo>
                  <a:pt x="0" y="55533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6660" y="1087099"/>
            <a:ext cx="5674455" cy="2047987"/>
          </a:xfrm>
          <a:custGeom>
            <a:avLst/>
            <a:gdLst/>
            <a:ahLst/>
            <a:cxnLst/>
            <a:rect l="l" t="t" r="r" b="b"/>
            <a:pathLst>
              <a:path w="5674455" h="2047987">
                <a:moveTo>
                  <a:pt x="0" y="0"/>
                </a:moveTo>
                <a:lnTo>
                  <a:pt x="5674455" y="0"/>
                </a:lnTo>
                <a:lnTo>
                  <a:pt x="5674455" y="2047987"/>
                </a:lnTo>
                <a:lnTo>
                  <a:pt x="0" y="204798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1382" y="1231822"/>
            <a:ext cx="5485979" cy="269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Qu'est-ce que le Clustering?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1382" y="1601937"/>
            <a:ext cx="5452323" cy="6562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Le </a:t>
            </a:r>
            <a:pPr>
              <a:lnSpc>
                <a:spcPct val="140000"/>
              </a:lnSpc>
            </a:pPr>
            <a:r>
              <a:rPr lang="en-US" sz="106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clustering</a:t>
            </a:r>
            <a:pPr>
              <a:lnSpc>
                <a:spcPct val="140000"/>
              </a:lnSpc>
            </a:pPr>
            <a:r>
              <a:rPr lang="en-US" sz="106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est une technique qui vise à </a:t>
            </a:r>
            <a:pPr>
              <a:lnSpc>
                <a:spcPct val="140000"/>
              </a:lnSpc>
            </a:pPr>
            <a:r>
              <a:rPr lang="en-US" sz="1060" dirty="0">
                <a:solidFill>
                  <a:srgbClr val="2D3436"/>
                </a:solidFill>
                <a:highlight>
                  <a:srgbClr val="FFE66D">
                    <a:alpha val="100000"/>
                  </a:srgbClr>
                </a:highlight>
                <a:latin typeface="Coda" pitchFamily="34" charset="0"/>
                <a:ea typeface="Coda" pitchFamily="34" charset="-122"/>
                <a:cs typeface="Coda" pitchFamily="34" charset="-120"/>
              </a:rPr>
              <a:t>regrouper les données similaires </a:t>
            </a:r>
            <a:pPr>
              <a:lnSpc>
                <a:spcPct val="140000"/>
              </a:lnSpc>
            </a:pPr>
            <a:r>
              <a:rPr lang="en-US" sz="106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en clusters ou groupes naturels. Les points d'un même cluster partagent des caractéristiques communes.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8113" y="2365935"/>
            <a:ext cx="5364817" cy="619276"/>
          </a:xfrm>
          <a:custGeom>
            <a:avLst/>
            <a:gdLst/>
            <a:ahLst/>
            <a:cxnLst/>
            <a:rect l="l" t="t" r="r" b="b"/>
            <a:pathLst>
              <a:path w="5364817" h="619276">
                <a:moveTo>
                  <a:pt x="0" y="0"/>
                </a:moveTo>
                <a:lnTo>
                  <a:pt x="5364817" y="0"/>
                </a:lnTo>
                <a:lnTo>
                  <a:pt x="5364817" y="619276"/>
                </a:lnTo>
                <a:lnTo>
                  <a:pt x="0" y="619276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4ECD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5814" y="2473636"/>
            <a:ext cx="5216729" cy="403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Principe fondamental:</a:t>
            </a:r>
            <a:pPr>
              <a:lnSpc>
                <a:spcPct val="130000"/>
              </a:lnSpc>
            </a:pPr>
            <a:r>
              <a:rPr lang="en-US" sz="106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Maximiser la similarité intra-cluster et minimiser la similarité inter-clusters.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46660" y="3291485"/>
            <a:ext cx="5674455" cy="3394239"/>
          </a:xfrm>
          <a:custGeom>
            <a:avLst/>
            <a:gdLst/>
            <a:ahLst/>
            <a:cxnLst/>
            <a:rect l="l" t="t" r="r" b="b"/>
            <a:pathLst>
              <a:path w="5674455" h="3394239">
                <a:moveTo>
                  <a:pt x="0" y="0"/>
                </a:moveTo>
                <a:lnTo>
                  <a:pt x="5674455" y="0"/>
                </a:lnTo>
                <a:lnTo>
                  <a:pt x="5674455" y="3394239"/>
                </a:lnTo>
                <a:lnTo>
                  <a:pt x="0" y="339423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1382" y="3436206"/>
            <a:ext cx="5485979" cy="269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Types d'Algorithmes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98113" y="3813050"/>
            <a:ext cx="5364817" cy="619276"/>
          </a:xfrm>
          <a:custGeom>
            <a:avLst/>
            <a:gdLst/>
            <a:ahLst/>
            <a:cxnLst/>
            <a:rect l="l" t="t" r="r" b="b"/>
            <a:pathLst>
              <a:path w="5364817" h="619276">
                <a:moveTo>
                  <a:pt x="0" y="0"/>
                </a:moveTo>
                <a:lnTo>
                  <a:pt x="5364817" y="0"/>
                </a:lnTo>
                <a:lnTo>
                  <a:pt x="5364817" y="619276"/>
                </a:lnTo>
                <a:lnTo>
                  <a:pt x="0" y="619276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FF6B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2157" y="3887095"/>
            <a:ext cx="5292455" cy="23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Partitionnement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2157" y="4156345"/>
            <a:ext cx="5284041" cy="20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Divise les données en </a:t>
            </a:r>
            <a:pPr>
              <a:lnSpc>
                <a:spcPct val="130000"/>
              </a:lnSpc>
            </a:pPr>
            <a:r>
              <a:rPr lang="en-US" sz="106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k groupes</a:t>
            </a:r>
            <a:pPr>
              <a:lnSpc>
                <a:spcPct val="130000"/>
              </a:lnSpc>
            </a:pPr>
            <a:r>
              <a:rPr lang="en-US" sz="106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. Ex: K-Means, K-Medoids.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98113" y="4513103"/>
            <a:ext cx="5364817" cy="619276"/>
          </a:xfrm>
          <a:custGeom>
            <a:avLst/>
            <a:gdLst/>
            <a:ahLst/>
            <a:cxnLst/>
            <a:rect l="l" t="t" r="r" b="b"/>
            <a:pathLst>
              <a:path w="5364817" h="619276">
                <a:moveTo>
                  <a:pt x="0" y="0"/>
                </a:moveTo>
                <a:lnTo>
                  <a:pt x="5364817" y="0"/>
                </a:lnTo>
                <a:lnTo>
                  <a:pt x="5364817" y="619276"/>
                </a:lnTo>
                <a:lnTo>
                  <a:pt x="0" y="619276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4ECD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2157" y="4587148"/>
            <a:ext cx="5292455" cy="23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Hiérarchique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72157" y="4856398"/>
            <a:ext cx="5284041" cy="20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Construit une </a:t>
            </a:r>
            <a:pPr>
              <a:lnSpc>
                <a:spcPct val="130000"/>
              </a:lnSpc>
            </a:pPr>
            <a:r>
              <a:rPr lang="en-US" sz="106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hiérarchie de clusters</a:t>
            </a:r>
            <a:pPr>
              <a:lnSpc>
                <a:spcPct val="130000"/>
              </a:lnSpc>
            </a:pPr>
            <a:r>
              <a:rPr lang="en-US" sz="106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. Agglomératif ou divisif.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98113" y="5213152"/>
            <a:ext cx="5364817" cy="619276"/>
          </a:xfrm>
          <a:custGeom>
            <a:avLst/>
            <a:gdLst/>
            <a:ahLst/>
            <a:cxnLst/>
            <a:rect l="l" t="t" r="r" b="b"/>
            <a:pathLst>
              <a:path w="5364817" h="619276">
                <a:moveTo>
                  <a:pt x="0" y="0"/>
                </a:moveTo>
                <a:lnTo>
                  <a:pt x="5364817" y="0"/>
                </a:lnTo>
                <a:lnTo>
                  <a:pt x="5364817" y="619276"/>
                </a:lnTo>
                <a:lnTo>
                  <a:pt x="0" y="619276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20320">
            <a:solidFill>
              <a:srgbClr val="FFE66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2157" y="5287197"/>
            <a:ext cx="5292455" cy="23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Basé sur la Densité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72157" y="5556447"/>
            <a:ext cx="5284041" cy="20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Trouve des zones </a:t>
            </a:r>
            <a:pPr>
              <a:lnSpc>
                <a:spcPct val="130000"/>
              </a:lnSpc>
            </a:pPr>
            <a:r>
              <a:rPr lang="en-US" sz="106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denses</a:t>
            </a:r>
            <a:pPr>
              <a:lnSpc>
                <a:spcPct val="130000"/>
              </a:lnSpc>
            </a:pPr>
            <a:r>
              <a:rPr lang="en-US" sz="106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séparées par zones peu denses. Ex: DBSCAN.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98113" y="5913205"/>
            <a:ext cx="5364817" cy="619276"/>
          </a:xfrm>
          <a:custGeom>
            <a:avLst/>
            <a:gdLst/>
            <a:ahLst/>
            <a:cxnLst/>
            <a:rect l="l" t="t" r="r" b="b"/>
            <a:pathLst>
              <a:path w="5364817" h="619276">
                <a:moveTo>
                  <a:pt x="0" y="0"/>
                </a:moveTo>
                <a:lnTo>
                  <a:pt x="5364817" y="0"/>
                </a:lnTo>
                <a:lnTo>
                  <a:pt x="5364817" y="619276"/>
                </a:lnTo>
                <a:lnTo>
                  <a:pt x="0" y="619276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FF6B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2157" y="5987250"/>
            <a:ext cx="5292455" cy="23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Probabiliste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72157" y="6256500"/>
            <a:ext cx="5284041" cy="20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Modélise les clusters comme des </a:t>
            </a:r>
            <a:pPr>
              <a:lnSpc>
                <a:spcPct val="130000"/>
              </a:lnSpc>
            </a:pPr>
            <a:r>
              <a:rPr lang="en-US" sz="106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distributions</a:t>
            </a:r>
            <a:pPr>
              <a:lnSpc>
                <a:spcPct val="130000"/>
              </a:lnSpc>
            </a:pPr>
            <a:r>
              <a:rPr lang="en-US" sz="106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. Ex: GMM.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72884" y="1087099"/>
            <a:ext cx="5674455" cy="2813668"/>
          </a:xfrm>
          <a:custGeom>
            <a:avLst/>
            <a:gdLst/>
            <a:ahLst/>
            <a:cxnLst/>
            <a:rect l="l" t="t" r="r" b="b"/>
            <a:pathLst>
              <a:path w="5674455" h="2813668">
                <a:moveTo>
                  <a:pt x="0" y="0"/>
                </a:moveTo>
                <a:lnTo>
                  <a:pt x="5674455" y="0"/>
                </a:lnTo>
                <a:lnTo>
                  <a:pt x="5674455" y="2813668"/>
                </a:lnTo>
                <a:lnTo>
                  <a:pt x="0" y="281366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317606" y="1231822"/>
            <a:ext cx="5485979" cy="269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Quand Utiliser le Clustering?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24337" y="1608668"/>
            <a:ext cx="324783" cy="324783"/>
          </a:xfrm>
          <a:custGeom>
            <a:avLst/>
            <a:gdLst/>
            <a:ahLst/>
            <a:cxnLst/>
            <a:rect l="l" t="t" r="r" b="b"/>
            <a:pathLst>
              <a:path w="324783" h="324783">
                <a:moveTo>
                  <a:pt x="0" y="0"/>
                </a:moveTo>
                <a:lnTo>
                  <a:pt x="324783" y="0"/>
                </a:lnTo>
                <a:lnTo>
                  <a:pt x="324783" y="324783"/>
                </a:lnTo>
                <a:lnTo>
                  <a:pt x="0" y="324783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1747" y="1702906"/>
            <a:ext cx="168282" cy="134625"/>
          </a:xfrm>
          <a:custGeom>
            <a:avLst/>
            <a:gdLst/>
            <a:ahLst/>
            <a:cxnLst/>
            <a:rect l="l" t="t" r="r" b="b"/>
            <a:pathLst>
              <a:path w="168282" h="134625">
                <a:moveTo>
                  <a:pt x="84141" y="4207"/>
                </a:moveTo>
                <a:cubicBezTo>
                  <a:pt x="99233" y="4207"/>
                  <a:pt x="111487" y="16460"/>
                  <a:pt x="111487" y="31553"/>
                </a:cubicBezTo>
                <a:cubicBezTo>
                  <a:pt x="111487" y="46645"/>
                  <a:pt x="99233" y="58899"/>
                  <a:pt x="84141" y="58899"/>
                </a:cubicBezTo>
                <a:cubicBezTo>
                  <a:pt x="69048" y="58899"/>
                  <a:pt x="56795" y="46645"/>
                  <a:pt x="56795" y="31553"/>
                </a:cubicBezTo>
                <a:cubicBezTo>
                  <a:pt x="56795" y="16460"/>
                  <a:pt x="69048" y="4207"/>
                  <a:pt x="84141" y="4207"/>
                </a:cubicBezTo>
                <a:close/>
                <a:moveTo>
                  <a:pt x="25242" y="23139"/>
                </a:moveTo>
                <a:cubicBezTo>
                  <a:pt x="35691" y="23139"/>
                  <a:pt x="44174" y="31622"/>
                  <a:pt x="44174" y="42070"/>
                </a:cubicBezTo>
                <a:cubicBezTo>
                  <a:pt x="44174" y="52519"/>
                  <a:pt x="35691" y="61002"/>
                  <a:pt x="25242" y="61002"/>
                </a:cubicBezTo>
                <a:cubicBezTo>
                  <a:pt x="14794" y="61002"/>
                  <a:pt x="6311" y="52519"/>
                  <a:pt x="6311" y="42070"/>
                </a:cubicBezTo>
                <a:cubicBezTo>
                  <a:pt x="6311" y="31622"/>
                  <a:pt x="14794" y="23139"/>
                  <a:pt x="25242" y="23139"/>
                </a:cubicBezTo>
                <a:close/>
                <a:moveTo>
                  <a:pt x="0" y="109383"/>
                </a:moveTo>
                <a:cubicBezTo>
                  <a:pt x="0" y="90793"/>
                  <a:pt x="15066" y="75727"/>
                  <a:pt x="33656" y="75727"/>
                </a:cubicBezTo>
                <a:cubicBezTo>
                  <a:pt x="37022" y="75727"/>
                  <a:pt x="40282" y="76226"/>
                  <a:pt x="43359" y="77147"/>
                </a:cubicBezTo>
                <a:cubicBezTo>
                  <a:pt x="34708" y="86823"/>
                  <a:pt x="29449" y="99602"/>
                  <a:pt x="29449" y="113590"/>
                </a:cubicBezTo>
                <a:lnTo>
                  <a:pt x="29449" y="117797"/>
                </a:lnTo>
                <a:cubicBezTo>
                  <a:pt x="29449" y="120795"/>
                  <a:pt x="30080" y="123634"/>
                  <a:pt x="31211" y="126211"/>
                </a:cubicBezTo>
                <a:lnTo>
                  <a:pt x="8414" y="126211"/>
                </a:lnTo>
                <a:cubicBezTo>
                  <a:pt x="3760" y="126211"/>
                  <a:pt x="0" y="122451"/>
                  <a:pt x="0" y="117797"/>
                </a:cubicBezTo>
                <a:lnTo>
                  <a:pt x="0" y="109383"/>
                </a:lnTo>
                <a:close/>
                <a:moveTo>
                  <a:pt x="137071" y="126211"/>
                </a:moveTo>
                <a:cubicBezTo>
                  <a:pt x="138201" y="123634"/>
                  <a:pt x="138832" y="120795"/>
                  <a:pt x="138832" y="117797"/>
                </a:cubicBezTo>
                <a:lnTo>
                  <a:pt x="138832" y="113590"/>
                </a:lnTo>
                <a:cubicBezTo>
                  <a:pt x="138832" y="99602"/>
                  <a:pt x="133573" y="86823"/>
                  <a:pt x="124923" y="77147"/>
                </a:cubicBezTo>
                <a:cubicBezTo>
                  <a:pt x="127999" y="76226"/>
                  <a:pt x="131260" y="75727"/>
                  <a:pt x="134625" y="75727"/>
                </a:cubicBezTo>
                <a:cubicBezTo>
                  <a:pt x="153215" y="75727"/>
                  <a:pt x="168282" y="90793"/>
                  <a:pt x="168282" y="109383"/>
                </a:cubicBezTo>
                <a:lnTo>
                  <a:pt x="168282" y="117797"/>
                </a:lnTo>
                <a:cubicBezTo>
                  <a:pt x="168282" y="122451"/>
                  <a:pt x="164522" y="126211"/>
                  <a:pt x="159867" y="126211"/>
                </a:cubicBezTo>
                <a:lnTo>
                  <a:pt x="137071" y="126211"/>
                </a:lnTo>
                <a:close/>
                <a:moveTo>
                  <a:pt x="124108" y="42070"/>
                </a:moveTo>
                <a:cubicBezTo>
                  <a:pt x="124108" y="31622"/>
                  <a:pt x="132591" y="23139"/>
                  <a:pt x="143039" y="23139"/>
                </a:cubicBezTo>
                <a:cubicBezTo>
                  <a:pt x="153488" y="23139"/>
                  <a:pt x="161971" y="31622"/>
                  <a:pt x="161971" y="42070"/>
                </a:cubicBezTo>
                <a:cubicBezTo>
                  <a:pt x="161971" y="52519"/>
                  <a:pt x="153488" y="61002"/>
                  <a:pt x="143039" y="61002"/>
                </a:cubicBezTo>
                <a:cubicBezTo>
                  <a:pt x="132591" y="61002"/>
                  <a:pt x="124108" y="52519"/>
                  <a:pt x="124108" y="42070"/>
                </a:cubicBezTo>
                <a:close/>
                <a:moveTo>
                  <a:pt x="42070" y="113590"/>
                </a:moveTo>
                <a:cubicBezTo>
                  <a:pt x="42070" y="90346"/>
                  <a:pt x="60897" y="71520"/>
                  <a:pt x="84141" y="71520"/>
                </a:cubicBezTo>
                <a:cubicBezTo>
                  <a:pt x="107385" y="71520"/>
                  <a:pt x="126211" y="90346"/>
                  <a:pt x="126211" y="113590"/>
                </a:cubicBezTo>
                <a:lnTo>
                  <a:pt x="126211" y="117797"/>
                </a:lnTo>
                <a:cubicBezTo>
                  <a:pt x="126211" y="122451"/>
                  <a:pt x="122451" y="126211"/>
                  <a:pt x="117797" y="126211"/>
                </a:cubicBezTo>
                <a:lnTo>
                  <a:pt x="50484" y="126211"/>
                </a:lnTo>
                <a:cubicBezTo>
                  <a:pt x="45830" y="126211"/>
                  <a:pt x="42070" y="122451"/>
                  <a:pt x="42070" y="117797"/>
                </a:cubicBezTo>
                <a:lnTo>
                  <a:pt x="42070" y="11359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6721482" y="1601937"/>
            <a:ext cx="5056861" cy="23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Segmentation Clients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721482" y="1837531"/>
            <a:ext cx="5048447" cy="403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Identifier des groupes de clients aux comportements similaires pour marketing ciblé.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24337" y="2315451"/>
            <a:ext cx="324783" cy="324783"/>
          </a:xfrm>
          <a:custGeom>
            <a:avLst/>
            <a:gdLst/>
            <a:ahLst/>
            <a:cxnLst/>
            <a:rect l="l" t="t" r="r" b="b"/>
            <a:pathLst>
              <a:path w="324783" h="324783">
                <a:moveTo>
                  <a:pt x="0" y="0"/>
                </a:moveTo>
                <a:lnTo>
                  <a:pt x="324783" y="0"/>
                </a:lnTo>
                <a:lnTo>
                  <a:pt x="324783" y="324783"/>
                </a:lnTo>
                <a:lnTo>
                  <a:pt x="0" y="324783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35403" y="2409689"/>
            <a:ext cx="100969" cy="134625"/>
          </a:xfrm>
          <a:custGeom>
            <a:avLst/>
            <a:gdLst/>
            <a:ahLst/>
            <a:cxnLst/>
            <a:rect l="l" t="t" r="r" b="b"/>
            <a:pathLst>
              <a:path w="100969" h="134625">
                <a:moveTo>
                  <a:pt x="0" y="16828"/>
                </a:moveTo>
                <a:cubicBezTo>
                  <a:pt x="0" y="7546"/>
                  <a:pt x="7546" y="0"/>
                  <a:pt x="16828" y="0"/>
                </a:cubicBezTo>
                <a:lnTo>
                  <a:pt x="56138" y="0"/>
                </a:lnTo>
                <a:cubicBezTo>
                  <a:pt x="60608" y="0"/>
                  <a:pt x="64894" y="1762"/>
                  <a:pt x="68049" y="4917"/>
                </a:cubicBezTo>
                <a:lnTo>
                  <a:pt x="96052" y="32946"/>
                </a:lnTo>
                <a:cubicBezTo>
                  <a:pt x="99207" y="36102"/>
                  <a:pt x="100969" y="40388"/>
                  <a:pt x="100969" y="44858"/>
                </a:cubicBezTo>
                <a:lnTo>
                  <a:pt x="100969" y="117797"/>
                </a:lnTo>
                <a:cubicBezTo>
                  <a:pt x="100969" y="127079"/>
                  <a:pt x="93423" y="134625"/>
                  <a:pt x="84141" y="134625"/>
                </a:cubicBezTo>
                <a:lnTo>
                  <a:pt x="16828" y="134625"/>
                </a:lnTo>
                <a:cubicBezTo>
                  <a:pt x="7546" y="134625"/>
                  <a:pt x="0" y="127079"/>
                  <a:pt x="0" y="117797"/>
                </a:cubicBezTo>
                <a:lnTo>
                  <a:pt x="0" y="16828"/>
                </a:lnTo>
                <a:close/>
                <a:moveTo>
                  <a:pt x="54692" y="15382"/>
                </a:moveTo>
                <a:lnTo>
                  <a:pt x="54692" y="39967"/>
                </a:lnTo>
                <a:cubicBezTo>
                  <a:pt x="54692" y="43464"/>
                  <a:pt x="57505" y="46277"/>
                  <a:pt x="61002" y="46277"/>
                </a:cubicBezTo>
                <a:lnTo>
                  <a:pt x="85587" y="46277"/>
                </a:lnTo>
                <a:lnTo>
                  <a:pt x="54692" y="15382"/>
                </a:lnTo>
                <a:close/>
                <a:moveTo>
                  <a:pt x="31553" y="67313"/>
                </a:moveTo>
                <a:cubicBezTo>
                  <a:pt x="28056" y="67313"/>
                  <a:pt x="25242" y="70126"/>
                  <a:pt x="25242" y="73623"/>
                </a:cubicBezTo>
                <a:cubicBezTo>
                  <a:pt x="25242" y="77120"/>
                  <a:pt x="28056" y="79934"/>
                  <a:pt x="31553" y="79934"/>
                </a:cubicBezTo>
                <a:lnTo>
                  <a:pt x="69416" y="79934"/>
                </a:lnTo>
                <a:cubicBezTo>
                  <a:pt x="72913" y="79934"/>
                  <a:pt x="75727" y="77120"/>
                  <a:pt x="75727" y="73623"/>
                </a:cubicBezTo>
                <a:cubicBezTo>
                  <a:pt x="75727" y="70126"/>
                  <a:pt x="72913" y="67313"/>
                  <a:pt x="69416" y="67313"/>
                </a:cubicBezTo>
                <a:lnTo>
                  <a:pt x="31553" y="67313"/>
                </a:lnTo>
                <a:close/>
                <a:moveTo>
                  <a:pt x="31553" y="92555"/>
                </a:moveTo>
                <a:cubicBezTo>
                  <a:pt x="28056" y="92555"/>
                  <a:pt x="25242" y="95368"/>
                  <a:pt x="25242" y="98865"/>
                </a:cubicBezTo>
                <a:cubicBezTo>
                  <a:pt x="25242" y="102363"/>
                  <a:pt x="28056" y="105176"/>
                  <a:pt x="31553" y="105176"/>
                </a:cubicBezTo>
                <a:lnTo>
                  <a:pt x="69416" y="105176"/>
                </a:lnTo>
                <a:cubicBezTo>
                  <a:pt x="72913" y="105176"/>
                  <a:pt x="75727" y="102363"/>
                  <a:pt x="75727" y="98865"/>
                </a:cubicBezTo>
                <a:cubicBezTo>
                  <a:pt x="75727" y="95368"/>
                  <a:pt x="72913" y="92555"/>
                  <a:pt x="69416" y="92555"/>
                </a:cubicBezTo>
                <a:lnTo>
                  <a:pt x="31553" y="9255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6721482" y="2308720"/>
            <a:ext cx="4821267" cy="23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Regroupement de Documents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721482" y="2544314"/>
            <a:ext cx="4812853" cy="20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Organiser automatiquement des articles, emails ou documents par thématique.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24337" y="2820296"/>
            <a:ext cx="324783" cy="324783"/>
          </a:xfrm>
          <a:custGeom>
            <a:avLst/>
            <a:gdLst/>
            <a:ahLst/>
            <a:cxnLst/>
            <a:rect l="l" t="t" r="r" b="b"/>
            <a:pathLst>
              <a:path w="324783" h="324783">
                <a:moveTo>
                  <a:pt x="0" y="0"/>
                </a:moveTo>
                <a:lnTo>
                  <a:pt x="324783" y="0"/>
                </a:lnTo>
                <a:lnTo>
                  <a:pt x="324783" y="324783"/>
                </a:lnTo>
                <a:lnTo>
                  <a:pt x="0" y="324783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26989" y="2914533"/>
            <a:ext cx="117797" cy="134625"/>
          </a:xfrm>
          <a:custGeom>
            <a:avLst/>
            <a:gdLst/>
            <a:ahLst/>
            <a:cxnLst/>
            <a:rect l="l" t="t" r="r" b="b"/>
            <a:pathLst>
              <a:path w="117797" h="134625">
                <a:moveTo>
                  <a:pt x="16828" y="8414"/>
                </a:moveTo>
                <a:cubicBezTo>
                  <a:pt x="7546" y="8414"/>
                  <a:pt x="0" y="15960"/>
                  <a:pt x="0" y="25242"/>
                </a:cubicBezTo>
                <a:lnTo>
                  <a:pt x="0" y="109383"/>
                </a:lnTo>
                <a:cubicBezTo>
                  <a:pt x="0" y="118665"/>
                  <a:pt x="7546" y="126211"/>
                  <a:pt x="16828" y="126211"/>
                </a:cubicBezTo>
                <a:lnTo>
                  <a:pt x="100969" y="126211"/>
                </a:lnTo>
                <a:cubicBezTo>
                  <a:pt x="110251" y="126211"/>
                  <a:pt x="117797" y="118665"/>
                  <a:pt x="117797" y="109383"/>
                </a:cubicBezTo>
                <a:lnTo>
                  <a:pt x="117797" y="25242"/>
                </a:lnTo>
                <a:cubicBezTo>
                  <a:pt x="117797" y="15960"/>
                  <a:pt x="110251" y="8414"/>
                  <a:pt x="100969" y="8414"/>
                </a:cubicBezTo>
                <a:lnTo>
                  <a:pt x="16828" y="8414"/>
                </a:lnTo>
                <a:close/>
                <a:moveTo>
                  <a:pt x="33656" y="29449"/>
                </a:moveTo>
                <a:cubicBezTo>
                  <a:pt x="40622" y="29449"/>
                  <a:pt x="46277" y="35105"/>
                  <a:pt x="46277" y="42070"/>
                </a:cubicBezTo>
                <a:cubicBezTo>
                  <a:pt x="46277" y="49036"/>
                  <a:pt x="40622" y="54692"/>
                  <a:pt x="33656" y="54692"/>
                </a:cubicBezTo>
                <a:cubicBezTo>
                  <a:pt x="26691" y="54692"/>
                  <a:pt x="21035" y="49036"/>
                  <a:pt x="21035" y="42070"/>
                </a:cubicBezTo>
                <a:cubicBezTo>
                  <a:pt x="21035" y="35105"/>
                  <a:pt x="26691" y="29449"/>
                  <a:pt x="33656" y="29449"/>
                </a:cubicBezTo>
                <a:close/>
                <a:moveTo>
                  <a:pt x="71520" y="58899"/>
                </a:moveTo>
                <a:cubicBezTo>
                  <a:pt x="73728" y="58899"/>
                  <a:pt x="75753" y="60055"/>
                  <a:pt x="76910" y="61922"/>
                </a:cubicBezTo>
                <a:lnTo>
                  <a:pt x="100049" y="99786"/>
                </a:lnTo>
                <a:cubicBezTo>
                  <a:pt x="101232" y="101731"/>
                  <a:pt x="101284" y="104177"/>
                  <a:pt x="100180" y="106175"/>
                </a:cubicBezTo>
                <a:cubicBezTo>
                  <a:pt x="99076" y="108173"/>
                  <a:pt x="96946" y="109383"/>
                  <a:pt x="94658" y="109383"/>
                </a:cubicBezTo>
                <a:lnTo>
                  <a:pt x="23139" y="109383"/>
                </a:lnTo>
                <a:cubicBezTo>
                  <a:pt x="20799" y="109383"/>
                  <a:pt x="18616" y="108068"/>
                  <a:pt x="17538" y="105991"/>
                </a:cubicBezTo>
                <a:cubicBezTo>
                  <a:pt x="16460" y="103914"/>
                  <a:pt x="16618" y="101390"/>
                  <a:pt x="17959" y="99470"/>
                </a:cubicBezTo>
                <a:lnTo>
                  <a:pt x="32683" y="78435"/>
                </a:lnTo>
                <a:cubicBezTo>
                  <a:pt x="33867" y="76752"/>
                  <a:pt x="35786" y="75753"/>
                  <a:pt x="37863" y="75753"/>
                </a:cubicBezTo>
                <a:cubicBezTo>
                  <a:pt x="39941" y="75753"/>
                  <a:pt x="41860" y="76752"/>
                  <a:pt x="43043" y="78435"/>
                </a:cubicBezTo>
                <a:lnTo>
                  <a:pt x="49985" y="88374"/>
                </a:lnTo>
                <a:lnTo>
                  <a:pt x="66129" y="61949"/>
                </a:lnTo>
                <a:cubicBezTo>
                  <a:pt x="67286" y="60082"/>
                  <a:pt x="69311" y="58925"/>
                  <a:pt x="71520" y="58925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41" name="Text 39"/>
          <p:cNvSpPr/>
          <p:nvPr/>
        </p:nvSpPr>
        <p:spPr>
          <a:xfrm>
            <a:off x="6721482" y="2813564"/>
            <a:ext cx="4543602" cy="23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Analyse d'Images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721482" y="3049159"/>
            <a:ext cx="4535188" cy="20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Segmentation d'images, compression, regroupement de photos similaires.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24337" y="3325140"/>
            <a:ext cx="324783" cy="324783"/>
          </a:xfrm>
          <a:custGeom>
            <a:avLst/>
            <a:gdLst/>
            <a:ahLst/>
            <a:cxnLst/>
            <a:rect l="l" t="t" r="r" b="b"/>
            <a:pathLst>
              <a:path w="324783" h="324783">
                <a:moveTo>
                  <a:pt x="0" y="0"/>
                </a:moveTo>
                <a:lnTo>
                  <a:pt x="324783" y="0"/>
                </a:lnTo>
                <a:lnTo>
                  <a:pt x="324783" y="324783"/>
                </a:lnTo>
                <a:lnTo>
                  <a:pt x="0" y="324783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35403" y="3419378"/>
            <a:ext cx="100969" cy="134625"/>
          </a:xfrm>
          <a:custGeom>
            <a:avLst/>
            <a:gdLst/>
            <a:ahLst/>
            <a:cxnLst/>
            <a:rect l="l" t="t" r="r" b="b"/>
            <a:pathLst>
              <a:path w="100969" h="134625">
                <a:moveTo>
                  <a:pt x="92555" y="0"/>
                </a:moveTo>
                <a:cubicBezTo>
                  <a:pt x="97209" y="0"/>
                  <a:pt x="100969" y="3760"/>
                  <a:pt x="100969" y="8414"/>
                </a:cubicBezTo>
                <a:cubicBezTo>
                  <a:pt x="100969" y="23612"/>
                  <a:pt x="94553" y="35970"/>
                  <a:pt x="85876" y="46409"/>
                </a:cubicBezTo>
                <a:cubicBezTo>
                  <a:pt x="79539" y="54008"/>
                  <a:pt x="71730" y="60897"/>
                  <a:pt x="63894" y="67313"/>
                </a:cubicBezTo>
                <a:cubicBezTo>
                  <a:pt x="71730" y="73755"/>
                  <a:pt x="79539" y="80617"/>
                  <a:pt x="85876" y="88216"/>
                </a:cubicBezTo>
                <a:cubicBezTo>
                  <a:pt x="94553" y="98629"/>
                  <a:pt x="100969" y="111013"/>
                  <a:pt x="100969" y="126211"/>
                </a:cubicBezTo>
                <a:cubicBezTo>
                  <a:pt x="100969" y="130865"/>
                  <a:pt x="97209" y="134625"/>
                  <a:pt x="92555" y="134625"/>
                </a:cubicBezTo>
                <a:cubicBezTo>
                  <a:pt x="87901" y="134625"/>
                  <a:pt x="84141" y="130865"/>
                  <a:pt x="84141" y="126211"/>
                </a:cubicBezTo>
                <a:lnTo>
                  <a:pt x="16828" y="126211"/>
                </a:lnTo>
                <a:cubicBezTo>
                  <a:pt x="16828" y="130865"/>
                  <a:pt x="13068" y="134625"/>
                  <a:pt x="8414" y="134625"/>
                </a:cubicBezTo>
                <a:cubicBezTo>
                  <a:pt x="3760" y="134625"/>
                  <a:pt x="0" y="130865"/>
                  <a:pt x="0" y="126211"/>
                </a:cubicBezTo>
                <a:cubicBezTo>
                  <a:pt x="0" y="111013"/>
                  <a:pt x="6416" y="98655"/>
                  <a:pt x="15093" y="88216"/>
                </a:cubicBezTo>
                <a:cubicBezTo>
                  <a:pt x="21430" y="80617"/>
                  <a:pt x="29239" y="73755"/>
                  <a:pt x="37075" y="67313"/>
                </a:cubicBezTo>
                <a:cubicBezTo>
                  <a:pt x="29239" y="60871"/>
                  <a:pt x="21430" y="54008"/>
                  <a:pt x="15093" y="46409"/>
                </a:cubicBezTo>
                <a:cubicBezTo>
                  <a:pt x="6416" y="35970"/>
                  <a:pt x="0" y="23612"/>
                  <a:pt x="0" y="8414"/>
                </a:cubicBezTo>
                <a:cubicBezTo>
                  <a:pt x="0" y="3760"/>
                  <a:pt x="3760" y="0"/>
                  <a:pt x="8414" y="0"/>
                </a:cubicBezTo>
                <a:cubicBezTo>
                  <a:pt x="13068" y="0"/>
                  <a:pt x="16828" y="3760"/>
                  <a:pt x="16828" y="8414"/>
                </a:cubicBezTo>
                <a:lnTo>
                  <a:pt x="84141" y="8414"/>
                </a:lnTo>
                <a:cubicBezTo>
                  <a:pt x="84141" y="3760"/>
                  <a:pt x="87901" y="0"/>
                  <a:pt x="92555" y="0"/>
                </a:cubicBezTo>
                <a:close/>
                <a:moveTo>
                  <a:pt x="74543" y="100969"/>
                </a:moveTo>
                <a:lnTo>
                  <a:pt x="26452" y="100969"/>
                </a:lnTo>
                <a:cubicBezTo>
                  <a:pt x="24296" y="103730"/>
                  <a:pt x="22481" y="106517"/>
                  <a:pt x="21035" y="109383"/>
                </a:cubicBezTo>
                <a:lnTo>
                  <a:pt x="79986" y="109383"/>
                </a:lnTo>
                <a:cubicBezTo>
                  <a:pt x="78514" y="106517"/>
                  <a:pt x="76700" y="103730"/>
                  <a:pt x="74570" y="100969"/>
                </a:cubicBezTo>
                <a:close/>
                <a:moveTo>
                  <a:pt x="62580" y="88348"/>
                </a:moveTo>
                <a:cubicBezTo>
                  <a:pt x="58820" y="84930"/>
                  <a:pt x="54744" y="81564"/>
                  <a:pt x="50484" y="78093"/>
                </a:cubicBezTo>
                <a:cubicBezTo>
                  <a:pt x="46225" y="81538"/>
                  <a:pt x="42149" y="84930"/>
                  <a:pt x="38389" y="88348"/>
                </a:cubicBezTo>
                <a:lnTo>
                  <a:pt x="62580" y="88348"/>
                </a:lnTo>
                <a:close/>
                <a:moveTo>
                  <a:pt x="26425" y="33656"/>
                </a:moveTo>
                <a:lnTo>
                  <a:pt x="74517" y="33656"/>
                </a:lnTo>
                <a:cubicBezTo>
                  <a:pt x="76673" y="30895"/>
                  <a:pt x="78488" y="28108"/>
                  <a:pt x="79934" y="25242"/>
                </a:cubicBezTo>
                <a:lnTo>
                  <a:pt x="21009" y="25242"/>
                </a:lnTo>
                <a:cubicBezTo>
                  <a:pt x="22481" y="28108"/>
                  <a:pt x="24296" y="30895"/>
                  <a:pt x="26425" y="33656"/>
                </a:cubicBezTo>
                <a:close/>
                <a:moveTo>
                  <a:pt x="38389" y="46277"/>
                </a:moveTo>
                <a:cubicBezTo>
                  <a:pt x="42149" y="49696"/>
                  <a:pt x="46225" y="53061"/>
                  <a:pt x="50484" y="56532"/>
                </a:cubicBezTo>
                <a:cubicBezTo>
                  <a:pt x="54744" y="53088"/>
                  <a:pt x="58820" y="49696"/>
                  <a:pt x="62580" y="46277"/>
                </a:cubicBezTo>
                <a:lnTo>
                  <a:pt x="38389" y="4627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6721482" y="3318409"/>
            <a:ext cx="4333251" cy="235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Bioinformatique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721482" y="3554003"/>
            <a:ext cx="4324836" cy="20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Classification de gènes, regroupement de patients par profil génétique.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172884" y="4055482"/>
            <a:ext cx="5674455" cy="2628558"/>
          </a:xfrm>
          <a:custGeom>
            <a:avLst/>
            <a:gdLst/>
            <a:ahLst/>
            <a:cxnLst/>
            <a:rect l="l" t="t" r="r" b="b"/>
            <a:pathLst>
              <a:path w="5674455" h="2628558">
                <a:moveTo>
                  <a:pt x="0" y="0"/>
                </a:moveTo>
                <a:lnTo>
                  <a:pt x="5674455" y="0"/>
                </a:lnTo>
                <a:lnTo>
                  <a:pt x="5674455" y="2628558"/>
                </a:lnTo>
                <a:lnTo>
                  <a:pt x="0" y="262855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317606" y="4200203"/>
            <a:ext cx="5485979" cy="269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Vue d'Ensemble des Algorithmes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24337" y="4577051"/>
            <a:ext cx="2647069" cy="518307"/>
          </a:xfrm>
          <a:custGeom>
            <a:avLst/>
            <a:gdLst/>
            <a:ahLst/>
            <a:cxnLst/>
            <a:rect l="l" t="t" r="r" b="b"/>
            <a:pathLst>
              <a:path w="2647069" h="518307">
                <a:moveTo>
                  <a:pt x="0" y="0"/>
                </a:moveTo>
                <a:lnTo>
                  <a:pt x="2647069" y="0"/>
                </a:lnTo>
                <a:lnTo>
                  <a:pt x="2647069" y="518307"/>
                </a:lnTo>
                <a:lnTo>
                  <a:pt x="0" y="518307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64725" y="4651092"/>
            <a:ext cx="2566294" cy="20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6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K-Means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368932" y="4853029"/>
            <a:ext cx="2557880" cy="168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8" dirty="0">
                <a:solidFill>
                  <a:srgbClr val="FFFFFF">
                    <a:alpha val="9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Partitionnement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9049026" y="4577051"/>
            <a:ext cx="2647069" cy="518307"/>
          </a:xfrm>
          <a:custGeom>
            <a:avLst/>
            <a:gdLst/>
            <a:ahLst/>
            <a:cxnLst/>
            <a:rect l="l" t="t" r="r" b="b"/>
            <a:pathLst>
              <a:path w="2647069" h="518307">
                <a:moveTo>
                  <a:pt x="0" y="0"/>
                </a:moveTo>
                <a:lnTo>
                  <a:pt x="2647069" y="0"/>
                </a:lnTo>
                <a:lnTo>
                  <a:pt x="2647069" y="518307"/>
                </a:lnTo>
                <a:lnTo>
                  <a:pt x="0" y="518307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089414" y="4651092"/>
            <a:ext cx="2566294" cy="20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6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DBSCAN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093621" y="4853029"/>
            <a:ext cx="2557880" cy="168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8" dirty="0">
                <a:solidFill>
                  <a:srgbClr val="FFFFFF">
                    <a:alpha val="9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Densité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24337" y="5176131"/>
            <a:ext cx="2647069" cy="518307"/>
          </a:xfrm>
          <a:custGeom>
            <a:avLst/>
            <a:gdLst/>
            <a:ahLst/>
            <a:cxnLst/>
            <a:rect l="l" t="t" r="r" b="b"/>
            <a:pathLst>
              <a:path w="2647069" h="518307">
                <a:moveTo>
                  <a:pt x="0" y="0"/>
                </a:moveTo>
                <a:lnTo>
                  <a:pt x="2647069" y="0"/>
                </a:lnTo>
                <a:lnTo>
                  <a:pt x="2647069" y="518307"/>
                </a:lnTo>
                <a:lnTo>
                  <a:pt x="0" y="518307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64725" y="5250176"/>
            <a:ext cx="2566294" cy="20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6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Hiérarchique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368932" y="5452113"/>
            <a:ext cx="2557880" cy="168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8" dirty="0">
                <a:solidFill>
                  <a:srgbClr val="2D3436">
                    <a:alpha val="9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Agglomératif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9049026" y="5176131"/>
            <a:ext cx="2647069" cy="518307"/>
          </a:xfrm>
          <a:custGeom>
            <a:avLst/>
            <a:gdLst/>
            <a:ahLst/>
            <a:cxnLst/>
            <a:rect l="l" t="t" r="r" b="b"/>
            <a:pathLst>
              <a:path w="2647069" h="518307">
                <a:moveTo>
                  <a:pt x="0" y="0"/>
                </a:moveTo>
                <a:lnTo>
                  <a:pt x="2647069" y="0"/>
                </a:lnTo>
                <a:lnTo>
                  <a:pt x="2647069" y="518307"/>
                </a:lnTo>
                <a:lnTo>
                  <a:pt x="0" y="518307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089414" y="5250176"/>
            <a:ext cx="2566294" cy="20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6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GMM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9093621" y="5452113"/>
            <a:ext cx="2557880" cy="168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8" dirty="0">
                <a:solidFill>
                  <a:srgbClr val="FFFFFF">
                    <a:alpha val="9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Probabiliste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324337" y="5775215"/>
            <a:ext cx="2647069" cy="518307"/>
          </a:xfrm>
          <a:custGeom>
            <a:avLst/>
            <a:gdLst/>
            <a:ahLst/>
            <a:cxnLst/>
            <a:rect l="l" t="t" r="r" b="b"/>
            <a:pathLst>
              <a:path w="2647069" h="518307">
                <a:moveTo>
                  <a:pt x="0" y="0"/>
                </a:moveTo>
                <a:lnTo>
                  <a:pt x="2647069" y="0"/>
                </a:lnTo>
                <a:lnTo>
                  <a:pt x="2647069" y="518307"/>
                </a:lnTo>
                <a:lnTo>
                  <a:pt x="0" y="518307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64725" y="5849260"/>
            <a:ext cx="2566294" cy="20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6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Spectral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368932" y="6051197"/>
            <a:ext cx="2557880" cy="168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8" dirty="0">
                <a:solidFill>
                  <a:srgbClr val="FFFFFF">
                    <a:alpha val="9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Graphes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9049026" y="5775215"/>
            <a:ext cx="2647069" cy="518307"/>
          </a:xfrm>
          <a:custGeom>
            <a:avLst/>
            <a:gdLst/>
            <a:ahLst/>
            <a:cxnLst/>
            <a:rect l="l" t="t" r="r" b="b"/>
            <a:pathLst>
              <a:path w="2647069" h="518307">
                <a:moveTo>
                  <a:pt x="0" y="0"/>
                </a:moveTo>
                <a:lnTo>
                  <a:pt x="2647069" y="0"/>
                </a:lnTo>
                <a:lnTo>
                  <a:pt x="2647069" y="518307"/>
                </a:lnTo>
                <a:lnTo>
                  <a:pt x="0" y="518307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089414" y="5849260"/>
            <a:ext cx="2566294" cy="20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6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CLARA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9093621" y="6051197"/>
            <a:ext cx="2557880" cy="168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28" dirty="0">
                <a:solidFill>
                  <a:srgbClr val="2D3436">
                    <a:alpha val="9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Médoïdes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11308520" y="183322"/>
            <a:ext cx="584835" cy="584835"/>
          </a:xfrm>
          <a:custGeom>
            <a:avLst/>
            <a:gdLst/>
            <a:ahLst/>
            <a:cxnLst/>
            <a:rect l="l" t="t" r="r" b="b"/>
            <a:pathLst>
              <a:path w="584835" h="584835">
                <a:moveTo>
                  <a:pt x="0" y="0"/>
                </a:moveTo>
                <a:lnTo>
                  <a:pt x="584835" y="0"/>
                </a:lnTo>
                <a:lnTo>
                  <a:pt x="584835" y="584835"/>
                </a:lnTo>
                <a:lnTo>
                  <a:pt x="0" y="58483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0831830" y="773430"/>
            <a:ext cx="432435" cy="432435"/>
          </a:xfrm>
          <a:custGeom>
            <a:avLst/>
            <a:gdLst/>
            <a:ahLst/>
            <a:cxnLst/>
            <a:rect l="l" t="t" r="r" b="b"/>
            <a:pathLst>
              <a:path w="432435" h="432435">
                <a:moveTo>
                  <a:pt x="216218" y="0"/>
                </a:moveTo>
                <a:lnTo>
                  <a:pt x="216218" y="0"/>
                </a:lnTo>
                <a:cubicBezTo>
                  <a:pt x="335551" y="0"/>
                  <a:pt x="432435" y="96884"/>
                  <a:pt x="432435" y="216218"/>
                </a:cubicBezTo>
                <a:lnTo>
                  <a:pt x="432435" y="216218"/>
                </a:lnTo>
                <a:cubicBezTo>
                  <a:pt x="432435" y="335551"/>
                  <a:pt x="335551" y="432435"/>
                  <a:pt x="216218" y="432435"/>
                </a:cubicBezTo>
                <a:lnTo>
                  <a:pt x="216218" y="432435"/>
                </a:lnTo>
                <a:cubicBezTo>
                  <a:pt x="96884" y="432435"/>
                  <a:pt x="0" y="335551"/>
                  <a:pt x="0" y="216218"/>
                </a:cubicBezTo>
                <a:lnTo>
                  <a:pt x="0" y="216218"/>
                </a:lnTo>
                <a:cubicBezTo>
                  <a:pt x="0" y="96884"/>
                  <a:pt x="96884" y="0"/>
                  <a:pt x="216218" y="0"/>
                </a:cubicBezTo>
                <a:close/>
              </a:path>
            </a:pathLst>
          </a:custGeom>
          <a:solidFill>
            <a:srgbClr val="4ECDC4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68630" y="6031230"/>
            <a:ext cx="737235" cy="356235"/>
          </a:xfrm>
          <a:custGeom>
            <a:avLst/>
            <a:gdLst/>
            <a:ahLst/>
            <a:cxnLst/>
            <a:rect l="l" t="t" r="r" b="b"/>
            <a:pathLst>
              <a:path w="737235" h="356235">
                <a:moveTo>
                  <a:pt x="0" y="0"/>
                </a:moveTo>
                <a:lnTo>
                  <a:pt x="737235" y="0"/>
                </a:lnTo>
                <a:lnTo>
                  <a:pt x="737235" y="356235"/>
                </a:lnTo>
                <a:lnTo>
                  <a:pt x="0" y="356235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289030" y="5193030"/>
            <a:ext cx="280035" cy="737235"/>
          </a:xfrm>
          <a:custGeom>
            <a:avLst/>
            <a:gdLst/>
            <a:ahLst/>
            <a:cxnLst/>
            <a:rect l="l" t="t" r="r" b="b"/>
            <a:pathLst>
              <a:path w="280035" h="737235">
                <a:moveTo>
                  <a:pt x="0" y="0"/>
                </a:moveTo>
                <a:lnTo>
                  <a:pt x="280035" y="0"/>
                </a:lnTo>
                <a:lnTo>
                  <a:pt x="280035" y="737235"/>
                </a:lnTo>
                <a:lnTo>
                  <a:pt x="0" y="73723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277600" y="6400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7" name="Shape 5"/>
          <p:cNvSpPr/>
          <p:nvPr/>
        </p:nvSpPr>
        <p:spPr>
          <a:xfrm>
            <a:off x="11506200" y="6400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8" name="Shape 6"/>
          <p:cNvSpPr/>
          <p:nvPr/>
        </p:nvSpPr>
        <p:spPr>
          <a:xfrm>
            <a:off x="11734800" y="6400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9" name="Text 7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Clustering: Avantages et Inconvénients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8620" y="845820"/>
            <a:ext cx="901065" cy="62865"/>
          </a:xfrm>
          <a:custGeom>
            <a:avLst/>
            <a:gdLst/>
            <a:ahLst/>
            <a:cxnLst/>
            <a:rect l="l" t="t" r="r" b="b"/>
            <a:pathLst>
              <a:path w="901065" h="62865">
                <a:moveTo>
                  <a:pt x="0" y="0"/>
                </a:moveTo>
                <a:lnTo>
                  <a:pt x="901065" y="0"/>
                </a:lnTo>
                <a:lnTo>
                  <a:pt x="901065" y="62865"/>
                </a:lnTo>
                <a:lnTo>
                  <a:pt x="0" y="6286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2430" y="1078230"/>
            <a:ext cx="5614035" cy="5442585"/>
          </a:xfrm>
          <a:custGeom>
            <a:avLst/>
            <a:gdLst/>
            <a:ahLst/>
            <a:cxnLst/>
            <a:rect l="l" t="t" r="r" b="b"/>
            <a:pathLst>
              <a:path w="5614035" h="5442585">
                <a:moveTo>
                  <a:pt x="0" y="0"/>
                </a:moveTo>
                <a:lnTo>
                  <a:pt x="5614035" y="0"/>
                </a:lnTo>
                <a:lnTo>
                  <a:pt x="5614035" y="5442585"/>
                </a:lnTo>
                <a:lnTo>
                  <a:pt x="0" y="544258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7690" y="1253489"/>
            <a:ext cx="508635" cy="508635"/>
          </a:xfrm>
          <a:custGeom>
            <a:avLst/>
            <a:gdLst/>
            <a:ahLst/>
            <a:cxnLst/>
            <a:rect l="l" t="t" r="r" b="b"/>
            <a:pathLst>
              <a:path w="508635" h="508635">
                <a:moveTo>
                  <a:pt x="0" y="0"/>
                </a:moveTo>
                <a:lnTo>
                  <a:pt x="508635" y="0"/>
                </a:lnTo>
                <a:lnTo>
                  <a:pt x="508635" y="508635"/>
                </a:lnTo>
                <a:lnTo>
                  <a:pt x="0" y="50863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0480">
            <a:solidFill>
              <a:srgbClr val="2D343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8660" y="139445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5719" y="71438"/>
                </a:moveTo>
                <a:cubicBezTo>
                  <a:pt x="43622" y="71438"/>
                  <a:pt x="50006" y="77822"/>
                  <a:pt x="50006" y="85725"/>
                </a:cubicBezTo>
                <a:lnTo>
                  <a:pt x="50006" y="200025"/>
                </a:lnTo>
                <a:cubicBezTo>
                  <a:pt x="50006" y="207928"/>
                  <a:pt x="43622" y="214313"/>
                  <a:pt x="35719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85725"/>
                </a:lnTo>
                <a:cubicBezTo>
                  <a:pt x="0" y="77822"/>
                  <a:pt x="6385" y="71438"/>
                  <a:pt x="14288" y="71438"/>
                </a:cubicBezTo>
                <a:lnTo>
                  <a:pt x="35719" y="71438"/>
                </a:lnTo>
                <a:close/>
                <a:moveTo>
                  <a:pt x="120819" y="7144"/>
                </a:moveTo>
                <a:cubicBezTo>
                  <a:pt x="133008" y="7144"/>
                  <a:pt x="142875" y="17011"/>
                  <a:pt x="142875" y="29200"/>
                </a:cubicBezTo>
                <a:lnTo>
                  <a:pt x="142875" y="31075"/>
                </a:lnTo>
                <a:cubicBezTo>
                  <a:pt x="142875" y="34111"/>
                  <a:pt x="142295" y="37148"/>
                  <a:pt x="141178" y="39960"/>
                </a:cubicBezTo>
                <a:lnTo>
                  <a:pt x="128588" y="71438"/>
                </a:lnTo>
                <a:lnTo>
                  <a:pt x="200025" y="71438"/>
                </a:lnTo>
                <a:cubicBezTo>
                  <a:pt x="211857" y="71438"/>
                  <a:pt x="221456" y="81037"/>
                  <a:pt x="221456" y="92869"/>
                </a:cubicBezTo>
                <a:cubicBezTo>
                  <a:pt x="221456" y="101664"/>
                  <a:pt x="216143" y="109210"/>
                  <a:pt x="208553" y="112514"/>
                </a:cubicBezTo>
                <a:cubicBezTo>
                  <a:pt x="216143" y="115818"/>
                  <a:pt x="221456" y="123364"/>
                  <a:pt x="221456" y="132159"/>
                </a:cubicBezTo>
                <a:cubicBezTo>
                  <a:pt x="221456" y="142607"/>
                  <a:pt x="213955" y="151314"/>
                  <a:pt x="204043" y="153189"/>
                </a:cubicBezTo>
                <a:cubicBezTo>
                  <a:pt x="206008" y="156448"/>
                  <a:pt x="207169" y="160243"/>
                  <a:pt x="207169" y="164306"/>
                </a:cubicBezTo>
                <a:cubicBezTo>
                  <a:pt x="207169" y="174218"/>
                  <a:pt x="200471" y="182523"/>
                  <a:pt x="191363" y="184978"/>
                </a:cubicBezTo>
                <a:cubicBezTo>
                  <a:pt x="192345" y="187434"/>
                  <a:pt x="192881" y="190113"/>
                  <a:pt x="192881" y="192881"/>
                </a:cubicBezTo>
                <a:cubicBezTo>
                  <a:pt x="192881" y="204713"/>
                  <a:pt x="183282" y="214313"/>
                  <a:pt x="171450" y="214313"/>
                </a:cubicBezTo>
                <a:lnTo>
                  <a:pt x="132204" y="214313"/>
                </a:lnTo>
                <a:cubicBezTo>
                  <a:pt x="115997" y="214313"/>
                  <a:pt x="100236" y="208776"/>
                  <a:pt x="87600" y="198641"/>
                </a:cubicBezTo>
                <a:lnTo>
                  <a:pt x="82153" y="194310"/>
                </a:lnTo>
                <a:cubicBezTo>
                  <a:pt x="75367" y="188908"/>
                  <a:pt x="71438" y="180692"/>
                  <a:pt x="71438" y="171986"/>
                </a:cubicBezTo>
                <a:lnTo>
                  <a:pt x="71438" y="88672"/>
                </a:lnTo>
                <a:cubicBezTo>
                  <a:pt x="71438" y="82019"/>
                  <a:pt x="73000" y="75456"/>
                  <a:pt x="75947" y="69518"/>
                </a:cubicBezTo>
                <a:lnTo>
                  <a:pt x="101039" y="19333"/>
                </a:lnTo>
                <a:cubicBezTo>
                  <a:pt x="104790" y="11876"/>
                  <a:pt x="112425" y="7144"/>
                  <a:pt x="120819" y="714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203960" y="1337309"/>
            <a:ext cx="14954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Avantages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3880" y="1935479"/>
            <a:ext cx="5273040" cy="1005840"/>
          </a:xfrm>
          <a:custGeom>
            <a:avLst/>
            <a:gdLst/>
            <a:ahLst/>
            <a:cxnLst/>
            <a:rect l="l" t="t" r="r" b="b"/>
            <a:pathLst>
              <a:path w="5273040" h="1005840">
                <a:moveTo>
                  <a:pt x="0" y="0"/>
                </a:moveTo>
                <a:lnTo>
                  <a:pt x="5273040" y="0"/>
                </a:lnTo>
                <a:lnTo>
                  <a:pt x="5273040" y="1005840"/>
                </a:lnTo>
                <a:lnTo>
                  <a:pt x="0" y="100584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4ECD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9613" y="210312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7" name="Text 15"/>
          <p:cNvSpPr/>
          <p:nvPr/>
        </p:nvSpPr>
        <p:spPr>
          <a:xfrm>
            <a:off x="962025" y="2057400"/>
            <a:ext cx="483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Pas Besoin de Labels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" y="2362200"/>
            <a:ext cx="510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Fonctionne avec des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données brutes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— aucun besoin d'étiquetage coûteux et chronophage.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63880" y="3070861"/>
            <a:ext cx="5273040" cy="777240"/>
          </a:xfrm>
          <a:custGeom>
            <a:avLst/>
            <a:gdLst/>
            <a:ahLst/>
            <a:cxnLst/>
            <a:rect l="l" t="t" r="r" b="b"/>
            <a:pathLst>
              <a:path w="5273040" h="777240">
                <a:moveTo>
                  <a:pt x="0" y="0"/>
                </a:moveTo>
                <a:lnTo>
                  <a:pt x="5273040" y="0"/>
                </a:lnTo>
                <a:lnTo>
                  <a:pt x="5273040" y="777240"/>
                </a:lnTo>
                <a:lnTo>
                  <a:pt x="0" y="77724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4ECD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9613" y="32385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1" name="Text 19"/>
          <p:cNvSpPr/>
          <p:nvPr/>
        </p:nvSpPr>
        <p:spPr>
          <a:xfrm>
            <a:off x="962025" y="3192782"/>
            <a:ext cx="483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Découverte de Structures Naturelles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5800" y="3497582"/>
            <a:ext cx="510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Révèle des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patterns cachés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et groupes que vous ne soupçonniez pas.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63880" y="3977643"/>
            <a:ext cx="5273040" cy="1005840"/>
          </a:xfrm>
          <a:custGeom>
            <a:avLst/>
            <a:gdLst/>
            <a:ahLst/>
            <a:cxnLst/>
            <a:rect l="l" t="t" r="r" b="b"/>
            <a:pathLst>
              <a:path w="5273040" h="1005840">
                <a:moveTo>
                  <a:pt x="0" y="0"/>
                </a:moveTo>
                <a:lnTo>
                  <a:pt x="5273040" y="0"/>
                </a:lnTo>
                <a:lnTo>
                  <a:pt x="5273040" y="1005840"/>
                </a:lnTo>
                <a:lnTo>
                  <a:pt x="0" y="100584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4ECDC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9613" y="4145282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5" name="Text 23"/>
          <p:cNvSpPr/>
          <p:nvPr/>
        </p:nvSpPr>
        <p:spPr>
          <a:xfrm>
            <a:off x="962025" y="4099559"/>
            <a:ext cx="483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Interprétable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5800" y="4404359"/>
            <a:ext cx="510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Les résultats sont souvent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faciles à comprendre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et à expliquer aux parties prenantes.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63880" y="5113020"/>
            <a:ext cx="5273040" cy="1005840"/>
          </a:xfrm>
          <a:custGeom>
            <a:avLst/>
            <a:gdLst/>
            <a:ahLst/>
            <a:cxnLst/>
            <a:rect l="l" t="t" r="r" b="b"/>
            <a:pathLst>
              <a:path w="5273040" h="1005840">
                <a:moveTo>
                  <a:pt x="0" y="0"/>
                </a:moveTo>
                <a:lnTo>
                  <a:pt x="5273040" y="0"/>
                </a:lnTo>
                <a:lnTo>
                  <a:pt x="5273040" y="1005840"/>
                </a:lnTo>
                <a:lnTo>
                  <a:pt x="0" y="100584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4ECDC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9613" y="5280659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9" name="Text 27"/>
          <p:cNvSpPr/>
          <p:nvPr/>
        </p:nvSpPr>
        <p:spPr>
          <a:xfrm>
            <a:off x="962025" y="5234941"/>
            <a:ext cx="483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Polyvalent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5800" y="5539741"/>
            <a:ext cx="510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Applicable à de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nombreux domaines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: marketing, biologie, informatique, etc.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83630" y="1078230"/>
            <a:ext cx="5614035" cy="5442585"/>
          </a:xfrm>
          <a:custGeom>
            <a:avLst/>
            <a:gdLst/>
            <a:ahLst/>
            <a:cxnLst/>
            <a:rect l="l" t="t" r="r" b="b"/>
            <a:pathLst>
              <a:path w="5614035" h="5442585">
                <a:moveTo>
                  <a:pt x="0" y="0"/>
                </a:moveTo>
                <a:lnTo>
                  <a:pt x="5614035" y="0"/>
                </a:lnTo>
                <a:lnTo>
                  <a:pt x="5614035" y="5442585"/>
                </a:lnTo>
                <a:lnTo>
                  <a:pt x="0" y="544258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58890" y="1253489"/>
            <a:ext cx="508635" cy="508635"/>
          </a:xfrm>
          <a:custGeom>
            <a:avLst/>
            <a:gdLst/>
            <a:ahLst/>
            <a:cxnLst/>
            <a:rect l="l" t="t" r="r" b="b"/>
            <a:pathLst>
              <a:path w="508635" h="508635">
                <a:moveTo>
                  <a:pt x="0" y="0"/>
                </a:moveTo>
                <a:lnTo>
                  <a:pt x="508635" y="0"/>
                </a:lnTo>
                <a:lnTo>
                  <a:pt x="508635" y="508635"/>
                </a:lnTo>
                <a:lnTo>
                  <a:pt x="0" y="50863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0480">
            <a:solidFill>
              <a:srgbClr val="2D343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99860" y="139445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71450" y="14288"/>
                </a:moveTo>
                <a:cubicBezTo>
                  <a:pt x="183282" y="14288"/>
                  <a:pt x="192881" y="23887"/>
                  <a:pt x="192881" y="35719"/>
                </a:cubicBezTo>
                <a:cubicBezTo>
                  <a:pt x="192881" y="38532"/>
                  <a:pt x="192301" y="41166"/>
                  <a:pt x="191363" y="43622"/>
                </a:cubicBezTo>
                <a:cubicBezTo>
                  <a:pt x="200471" y="46077"/>
                  <a:pt x="207169" y="54382"/>
                  <a:pt x="207169" y="64294"/>
                </a:cubicBezTo>
                <a:cubicBezTo>
                  <a:pt x="207169" y="68357"/>
                  <a:pt x="206008" y="72152"/>
                  <a:pt x="204043" y="75411"/>
                </a:cubicBezTo>
                <a:cubicBezTo>
                  <a:pt x="213955" y="77286"/>
                  <a:pt x="221456" y="85993"/>
                  <a:pt x="221456" y="96441"/>
                </a:cubicBezTo>
                <a:cubicBezTo>
                  <a:pt x="221456" y="105236"/>
                  <a:pt x="216143" y="112782"/>
                  <a:pt x="208553" y="116086"/>
                </a:cubicBezTo>
                <a:cubicBezTo>
                  <a:pt x="216143" y="119390"/>
                  <a:pt x="221456" y="126936"/>
                  <a:pt x="221456" y="135731"/>
                </a:cubicBezTo>
                <a:cubicBezTo>
                  <a:pt x="221456" y="147563"/>
                  <a:pt x="211857" y="157163"/>
                  <a:pt x="200025" y="157163"/>
                </a:cubicBezTo>
                <a:lnTo>
                  <a:pt x="128588" y="157163"/>
                </a:lnTo>
                <a:lnTo>
                  <a:pt x="141178" y="188595"/>
                </a:lnTo>
                <a:cubicBezTo>
                  <a:pt x="142295" y="191408"/>
                  <a:pt x="142875" y="194444"/>
                  <a:pt x="142875" y="197480"/>
                </a:cubicBezTo>
                <a:lnTo>
                  <a:pt x="142875" y="199355"/>
                </a:lnTo>
                <a:cubicBezTo>
                  <a:pt x="142875" y="211544"/>
                  <a:pt x="133008" y="221412"/>
                  <a:pt x="120819" y="221412"/>
                </a:cubicBezTo>
                <a:cubicBezTo>
                  <a:pt x="112469" y="221412"/>
                  <a:pt x="104835" y="216679"/>
                  <a:pt x="101084" y="209223"/>
                </a:cubicBezTo>
                <a:lnTo>
                  <a:pt x="75947" y="159082"/>
                </a:lnTo>
                <a:cubicBezTo>
                  <a:pt x="72956" y="153144"/>
                  <a:pt x="71438" y="146581"/>
                  <a:pt x="71438" y="139928"/>
                </a:cubicBezTo>
                <a:lnTo>
                  <a:pt x="71438" y="56614"/>
                </a:lnTo>
                <a:cubicBezTo>
                  <a:pt x="71438" y="47952"/>
                  <a:pt x="75411" y="39737"/>
                  <a:pt x="82153" y="34290"/>
                </a:cubicBezTo>
                <a:lnTo>
                  <a:pt x="87600" y="29959"/>
                </a:lnTo>
                <a:cubicBezTo>
                  <a:pt x="100280" y="19824"/>
                  <a:pt x="115997" y="14288"/>
                  <a:pt x="132204" y="14288"/>
                </a:cubicBezTo>
                <a:lnTo>
                  <a:pt x="171450" y="14288"/>
                </a:lnTo>
                <a:close/>
                <a:moveTo>
                  <a:pt x="35719" y="42863"/>
                </a:moveTo>
                <a:cubicBezTo>
                  <a:pt x="43622" y="42863"/>
                  <a:pt x="50006" y="49247"/>
                  <a:pt x="50006" y="57150"/>
                </a:cubicBezTo>
                <a:lnTo>
                  <a:pt x="50006" y="171450"/>
                </a:lnTo>
                <a:cubicBezTo>
                  <a:pt x="50006" y="179353"/>
                  <a:pt x="43622" y="185738"/>
                  <a:pt x="35719" y="185738"/>
                </a:cubicBezTo>
                <a:lnTo>
                  <a:pt x="14288" y="185738"/>
                </a:lnTo>
                <a:cubicBezTo>
                  <a:pt x="6385" y="185738"/>
                  <a:pt x="0" y="179353"/>
                  <a:pt x="0" y="171450"/>
                </a:cubicBezTo>
                <a:lnTo>
                  <a:pt x="0" y="57150"/>
                </a:lnTo>
                <a:cubicBezTo>
                  <a:pt x="0" y="49247"/>
                  <a:pt x="6385" y="42863"/>
                  <a:pt x="14288" y="42863"/>
                </a:cubicBezTo>
                <a:lnTo>
                  <a:pt x="35719" y="4286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6995160" y="1337309"/>
            <a:ext cx="1962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Inconvénients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55080" y="1935479"/>
            <a:ext cx="5273040" cy="1005840"/>
          </a:xfrm>
          <a:custGeom>
            <a:avLst/>
            <a:gdLst/>
            <a:ahLst/>
            <a:cxnLst/>
            <a:rect l="l" t="t" r="r" b="b"/>
            <a:pathLst>
              <a:path w="5273040" h="1005840">
                <a:moveTo>
                  <a:pt x="0" y="0"/>
                </a:moveTo>
                <a:lnTo>
                  <a:pt x="5273040" y="0"/>
                </a:lnTo>
                <a:lnTo>
                  <a:pt x="5273040" y="1005840"/>
                </a:lnTo>
                <a:lnTo>
                  <a:pt x="0" y="100584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FF6B6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00813" y="210312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55922" y="55922"/>
                </a:moveTo>
                <a:cubicBezTo>
                  <a:pt x="59070" y="52774"/>
                  <a:pt x="64160" y="52774"/>
                  <a:pt x="67274" y="55922"/>
                </a:cubicBezTo>
                <a:lnTo>
                  <a:pt x="85692" y="74340"/>
                </a:lnTo>
                <a:lnTo>
                  <a:pt x="104109" y="55922"/>
                </a:lnTo>
                <a:cubicBezTo>
                  <a:pt x="107257" y="52774"/>
                  <a:pt x="112347" y="52774"/>
                  <a:pt x="115461" y="55922"/>
                </a:cubicBezTo>
                <a:cubicBezTo>
                  <a:pt x="118575" y="59070"/>
                  <a:pt x="118609" y="64160"/>
                  <a:pt x="115461" y="67274"/>
                </a:cubicBezTo>
                <a:lnTo>
                  <a:pt x="97043" y="85692"/>
                </a:lnTo>
                <a:lnTo>
                  <a:pt x="115461" y="104109"/>
                </a:lnTo>
                <a:cubicBezTo>
                  <a:pt x="118609" y="107257"/>
                  <a:pt x="118609" y="112347"/>
                  <a:pt x="115461" y="115461"/>
                </a:cubicBezTo>
                <a:cubicBezTo>
                  <a:pt x="112313" y="118575"/>
                  <a:pt x="107223" y="118609"/>
                  <a:pt x="104109" y="115461"/>
                </a:cubicBezTo>
                <a:lnTo>
                  <a:pt x="85692" y="97043"/>
                </a:lnTo>
                <a:lnTo>
                  <a:pt x="67274" y="115461"/>
                </a:lnTo>
                <a:cubicBezTo>
                  <a:pt x="64126" y="118609"/>
                  <a:pt x="59036" y="118609"/>
                  <a:pt x="55922" y="115461"/>
                </a:cubicBezTo>
                <a:cubicBezTo>
                  <a:pt x="52808" y="112313"/>
                  <a:pt x="52774" y="107223"/>
                  <a:pt x="55922" y="104109"/>
                </a:cubicBezTo>
                <a:lnTo>
                  <a:pt x="74340" y="85692"/>
                </a:lnTo>
                <a:lnTo>
                  <a:pt x="55922" y="67274"/>
                </a:lnTo>
                <a:cubicBezTo>
                  <a:pt x="52774" y="64126"/>
                  <a:pt x="52774" y="59036"/>
                  <a:pt x="55922" y="55922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37" name="Text 35"/>
          <p:cNvSpPr/>
          <p:nvPr/>
        </p:nvSpPr>
        <p:spPr>
          <a:xfrm>
            <a:off x="6753225" y="2057400"/>
            <a:ext cx="483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Choix du Nombre de Clusters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77000" y="2362200"/>
            <a:ext cx="510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Beaucoup d'algorithmes nécessitent de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spécifier k à l'avance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— choix souvent arbitraire.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55080" y="3070861"/>
            <a:ext cx="5273040" cy="1005840"/>
          </a:xfrm>
          <a:custGeom>
            <a:avLst/>
            <a:gdLst/>
            <a:ahLst/>
            <a:cxnLst/>
            <a:rect l="l" t="t" r="r" b="b"/>
            <a:pathLst>
              <a:path w="5273040" h="1005840">
                <a:moveTo>
                  <a:pt x="0" y="0"/>
                </a:moveTo>
                <a:lnTo>
                  <a:pt x="5273040" y="0"/>
                </a:lnTo>
                <a:lnTo>
                  <a:pt x="5273040" y="1005840"/>
                </a:lnTo>
                <a:lnTo>
                  <a:pt x="0" y="100584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FF6B6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00813" y="32385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55922" y="55922"/>
                </a:moveTo>
                <a:cubicBezTo>
                  <a:pt x="59070" y="52774"/>
                  <a:pt x="64160" y="52774"/>
                  <a:pt x="67274" y="55922"/>
                </a:cubicBezTo>
                <a:lnTo>
                  <a:pt x="85692" y="74340"/>
                </a:lnTo>
                <a:lnTo>
                  <a:pt x="104109" y="55922"/>
                </a:lnTo>
                <a:cubicBezTo>
                  <a:pt x="107257" y="52774"/>
                  <a:pt x="112347" y="52774"/>
                  <a:pt x="115461" y="55922"/>
                </a:cubicBezTo>
                <a:cubicBezTo>
                  <a:pt x="118575" y="59070"/>
                  <a:pt x="118609" y="64160"/>
                  <a:pt x="115461" y="67274"/>
                </a:cubicBezTo>
                <a:lnTo>
                  <a:pt x="97043" y="85692"/>
                </a:lnTo>
                <a:lnTo>
                  <a:pt x="115461" y="104109"/>
                </a:lnTo>
                <a:cubicBezTo>
                  <a:pt x="118609" y="107257"/>
                  <a:pt x="118609" y="112347"/>
                  <a:pt x="115461" y="115461"/>
                </a:cubicBezTo>
                <a:cubicBezTo>
                  <a:pt x="112313" y="118575"/>
                  <a:pt x="107223" y="118609"/>
                  <a:pt x="104109" y="115461"/>
                </a:cubicBezTo>
                <a:lnTo>
                  <a:pt x="85692" y="97043"/>
                </a:lnTo>
                <a:lnTo>
                  <a:pt x="67274" y="115461"/>
                </a:lnTo>
                <a:cubicBezTo>
                  <a:pt x="64126" y="118609"/>
                  <a:pt x="59036" y="118609"/>
                  <a:pt x="55922" y="115461"/>
                </a:cubicBezTo>
                <a:cubicBezTo>
                  <a:pt x="52808" y="112313"/>
                  <a:pt x="52774" y="107223"/>
                  <a:pt x="55922" y="104109"/>
                </a:cubicBezTo>
                <a:lnTo>
                  <a:pt x="74340" y="85692"/>
                </a:lnTo>
                <a:lnTo>
                  <a:pt x="55922" y="67274"/>
                </a:lnTo>
                <a:cubicBezTo>
                  <a:pt x="52774" y="64126"/>
                  <a:pt x="52774" y="59036"/>
                  <a:pt x="55922" y="55922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41" name="Text 39"/>
          <p:cNvSpPr/>
          <p:nvPr/>
        </p:nvSpPr>
        <p:spPr>
          <a:xfrm>
            <a:off x="6753225" y="3192782"/>
            <a:ext cx="483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Sensibilité aux Échelles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477000" y="3497582"/>
            <a:ext cx="510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Les features avec de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grandes valeurs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dominent — normalisation obligatoire!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55080" y="4206243"/>
            <a:ext cx="5273040" cy="1005840"/>
          </a:xfrm>
          <a:custGeom>
            <a:avLst/>
            <a:gdLst/>
            <a:ahLst/>
            <a:cxnLst/>
            <a:rect l="l" t="t" r="r" b="b"/>
            <a:pathLst>
              <a:path w="5273040" h="1005840">
                <a:moveTo>
                  <a:pt x="0" y="0"/>
                </a:moveTo>
                <a:lnTo>
                  <a:pt x="5273040" y="0"/>
                </a:lnTo>
                <a:lnTo>
                  <a:pt x="5273040" y="1005840"/>
                </a:lnTo>
                <a:lnTo>
                  <a:pt x="0" y="100584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FF6B6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500813" y="4373882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55922" y="55922"/>
                </a:moveTo>
                <a:cubicBezTo>
                  <a:pt x="59070" y="52774"/>
                  <a:pt x="64160" y="52774"/>
                  <a:pt x="67274" y="55922"/>
                </a:cubicBezTo>
                <a:lnTo>
                  <a:pt x="85692" y="74340"/>
                </a:lnTo>
                <a:lnTo>
                  <a:pt x="104109" y="55922"/>
                </a:lnTo>
                <a:cubicBezTo>
                  <a:pt x="107257" y="52774"/>
                  <a:pt x="112347" y="52774"/>
                  <a:pt x="115461" y="55922"/>
                </a:cubicBezTo>
                <a:cubicBezTo>
                  <a:pt x="118575" y="59070"/>
                  <a:pt x="118609" y="64160"/>
                  <a:pt x="115461" y="67274"/>
                </a:cubicBezTo>
                <a:lnTo>
                  <a:pt x="97043" y="85692"/>
                </a:lnTo>
                <a:lnTo>
                  <a:pt x="115461" y="104109"/>
                </a:lnTo>
                <a:cubicBezTo>
                  <a:pt x="118609" y="107257"/>
                  <a:pt x="118609" y="112347"/>
                  <a:pt x="115461" y="115461"/>
                </a:cubicBezTo>
                <a:cubicBezTo>
                  <a:pt x="112313" y="118575"/>
                  <a:pt x="107223" y="118609"/>
                  <a:pt x="104109" y="115461"/>
                </a:cubicBezTo>
                <a:lnTo>
                  <a:pt x="85692" y="97043"/>
                </a:lnTo>
                <a:lnTo>
                  <a:pt x="67274" y="115461"/>
                </a:lnTo>
                <a:cubicBezTo>
                  <a:pt x="64126" y="118609"/>
                  <a:pt x="59036" y="118609"/>
                  <a:pt x="55922" y="115461"/>
                </a:cubicBezTo>
                <a:cubicBezTo>
                  <a:pt x="52808" y="112313"/>
                  <a:pt x="52774" y="107223"/>
                  <a:pt x="55922" y="104109"/>
                </a:cubicBezTo>
                <a:lnTo>
                  <a:pt x="74340" y="85692"/>
                </a:lnTo>
                <a:lnTo>
                  <a:pt x="55922" y="67274"/>
                </a:lnTo>
                <a:cubicBezTo>
                  <a:pt x="52774" y="64126"/>
                  <a:pt x="52774" y="59036"/>
                  <a:pt x="55922" y="55922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45" name="Text 43"/>
          <p:cNvSpPr/>
          <p:nvPr/>
        </p:nvSpPr>
        <p:spPr>
          <a:xfrm>
            <a:off x="6753225" y="4328159"/>
            <a:ext cx="483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Résultats Variables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477000" y="4632959"/>
            <a:ext cx="510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Différents algorithmes ou initialisations peuvent donner des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résultats différents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.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55080" y="5341620"/>
            <a:ext cx="5273040" cy="1005840"/>
          </a:xfrm>
          <a:custGeom>
            <a:avLst/>
            <a:gdLst/>
            <a:ahLst/>
            <a:cxnLst/>
            <a:rect l="l" t="t" r="r" b="b"/>
            <a:pathLst>
              <a:path w="5273040" h="1005840">
                <a:moveTo>
                  <a:pt x="0" y="0"/>
                </a:moveTo>
                <a:lnTo>
                  <a:pt x="5273040" y="0"/>
                </a:lnTo>
                <a:lnTo>
                  <a:pt x="5273040" y="1005840"/>
                </a:lnTo>
                <a:lnTo>
                  <a:pt x="0" y="100584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FF6B6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500813" y="5509259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55922" y="55922"/>
                </a:moveTo>
                <a:cubicBezTo>
                  <a:pt x="59070" y="52774"/>
                  <a:pt x="64160" y="52774"/>
                  <a:pt x="67274" y="55922"/>
                </a:cubicBezTo>
                <a:lnTo>
                  <a:pt x="85692" y="74340"/>
                </a:lnTo>
                <a:lnTo>
                  <a:pt x="104109" y="55922"/>
                </a:lnTo>
                <a:cubicBezTo>
                  <a:pt x="107257" y="52774"/>
                  <a:pt x="112347" y="52774"/>
                  <a:pt x="115461" y="55922"/>
                </a:cubicBezTo>
                <a:cubicBezTo>
                  <a:pt x="118575" y="59070"/>
                  <a:pt x="118609" y="64160"/>
                  <a:pt x="115461" y="67274"/>
                </a:cubicBezTo>
                <a:lnTo>
                  <a:pt x="97043" y="85692"/>
                </a:lnTo>
                <a:lnTo>
                  <a:pt x="115461" y="104109"/>
                </a:lnTo>
                <a:cubicBezTo>
                  <a:pt x="118609" y="107257"/>
                  <a:pt x="118609" y="112347"/>
                  <a:pt x="115461" y="115461"/>
                </a:cubicBezTo>
                <a:cubicBezTo>
                  <a:pt x="112313" y="118575"/>
                  <a:pt x="107223" y="118609"/>
                  <a:pt x="104109" y="115461"/>
                </a:cubicBezTo>
                <a:lnTo>
                  <a:pt x="85692" y="97043"/>
                </a:lnTo>
                <a:lnTo>
                  <a:pt x="67274" y="115461"/>
                </a:lnTo>
                <a:cubicBezTo>
                  <a:pt x="64126" y="118609"/>
                  <a:pt x="59036" y="118609"/>
                  <a:pt x="55922" y="115461"/>
                </a:cubicBezTo>
                <a:cubicBezTo>
                  <a:pt x="52808" y="112313"/>
                  <a:pt x="52774" y="107223"/>
                  <a:pt x="55922" y="104109"/>
                </a:cubicBezTo>
                <a:lnTo>
                  <a:pt x="74340" y="85692"/>
                </a:lnTo>
                <a:lnTo>
                  <a:pt x="55922" y="67274"/>
                </a:lnTo>
                <a:cubicBezTo>
                  <a:pt x="52774" y="64126"/>
                  <a:pt x="52774" y="59036"/>
                  <a:pt x="55922" y="55922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49" name="Text 47"/>
          <p:cNvSpPr/>
          <p:nvPr/>
        </p:nvSpPr>
        <p:spPr>
          <a:xfrm>
            <a:off x="6753225" y="5463541"/>
            <a:ext cx="483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Forme des Clusters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477000" y="5768341"/>
            <a:ext cx="510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Certains algorithmes supposent des clusters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sphériques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— limité pour formes complexes.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157553" y="157555"/>
            <a:ext cx="733225" cy="733225"/>
          </a:xfrm>
          <a:custGeom>
            <a:avLst/>
            <a:gdLst/>
            <a:ahLst/>
            <a:cxnLst/>
            <a:rect l="l" t="t" r="r" b="b"/>
            <a:pathLst>
              <a:path w="733225" h="733225">
                <a:moveTo>
                  <a:pt x="0" y="0"/>
                </a:moveTo>
                <a:lnTo>
                  <a:pt x="733225" y="0"/>
                </a:lnTo>
                <a:lnTo>
                  <a:pt x="733225" y="733225"/>
                </a:lnTo>
                <a:lnTo>
                  <a:pt x="0" y="73322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7893" dir="2700000">
              <a:srgbClr val="2d3436">
                <a:alpha val="1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1067532" y="617652"/>
            <a:ext cx="505869" cy="505869"/>
          </a:xfrm>
          <a:custGeom>
            <a:avLst/>
            <a:gdLst/>
            <a:ahLst/>
            <a:cxnLst/>
            <a:rect l="l" t="t" r="r" b="b"/>
            <a:pathLst>
              <a:path w="505869" h="505869">
                <a:moveTo>
                  <a:pt x="252934" y="0"/>
                </a:moveTo>
                <a:lnTo>
                  <a:pt x="252934" y="0"/>
                </a:lnTo>
                <a:cubicBezTo>
                  <a:pt x="392626" y="0"/>
                  <a:pt x="505869" y="113243"/>
                  <a:pt x="505869" y="252934"/>
                </a:cubicBezTo>
                <a:lnTo>
                  <a:pt x="505869" y="252934"/>
                </a:lnTo>
                <a:cubicBezTo>
                  <a:pt x="505869" y="392626"/>
                  <a:pt x="392626" y="505869"/>
                  <a:pt x="252934" y="505869"/>
                </a:cubicBezTo>
                <a:lnTo>
                  <a:pt x="252934" y="505869"/>
                </a:lnTo>
                <a:cubicBezTo>
                  <a:pt x="113243" y="505869"/>
                  <a:pt x="0" y="392626"/>
                  <a:pt x="0" y="252934"/>
                </a:cubicBezTo>
                <a:lnTo>
                  <a:pt x="0" y="252934"/>
                </a:lnTo>
                <a:cubicBezTo>
                  <a:pt x="0" y="113243"/>
                  <a:pt x="113243" y="0"/>
                  <a:pt x="252934" y="0"/>
                </a:cubicBezTo>
                <a:close/>
              </a:path>
            </a:pathLst>
          </a:custGeom>
          <a:solidFill>
            <a:srgbClr val="FFE66D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7893" dir="2700000">
              <a:srgbClr val="2d3436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219103" y="5354249"/>
            <a:ext cx="354297" cy="884796"/>
          </a:xfrm>
          <a:custGeom>
            <a:avLst/>
            <a:gdLst/>
            <a:ahLst/>
            <a:cxnLst/>
            <a:rect l="l" t="t" r="r" b="b"/>
            <a:pathLst>
              <a:path w="354297" h="884796">
                <a:moveTo>
                  <a:pt x="0" y="0"/>
                </a:moveTo>
                <a:lnTo>
                  <a:pt x="354297" y="0"/>
                </a:lnTo>
                <a:lnTo>
                  <a:pt x="354297" y="884796"/>
                </a:lnTo>
                <a:lnTo>
                  <a:pt x="0" y="884796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7893" dir="2700000">
              <a:srgbClr val="2d3436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20794" y="5657391"/>
            <a:ext cx="581654" cy="278512"/>
          </a:xfrm>
          <a:custGeom>
            <a:avLst/>
            <a:gdLst/>
            <a:ahLst/>
            <a:cxnLst/>
            <a:rect l="l" t="t" r="r" b="b"/>
            <a:pathLst>
              <a:path w="581654" h="278512">
                <a:moveTo>
                  <a:pt x="0" y="0"/>
                </a:moveTo>
                <a:lnTo>
                  <a:pt x="581654" y="0"/>
                </a:lnTo>
                <a:lnTo>
                  <a:pt x="581654" y="278512"/>
                </a:lnTo>
                <a:lnTo>
                  <a:pt x="0" y="278512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7893" dir="2700000">
              <a:srgbClr val="2d3436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90296" y="390296"/>
            <a:ext cx="505869" cy="505869"/>
          </a:xfrm>
          <a:custGeom>
            <a:avLst/>
            <a:gdLst/>
            <a:ahLst/>
            <a:cxnLst/>
            <a:rect l="l" t="t" r="r" b="b"/>
            <a:pathLst>
              <a:path w="505869" h="505869">
                <a:moveTo>
                  <a:pt x="0" y="0"/>
                </a:moveTo>
                <a:lnTo>
                  <a:pt x="505869" y="0"/>
                </a:lnTo>
                <a:lnTo>
                  <a:pt x="505869" y="505869"/>
                </a:lnTo>
                <a:lnTo>
                  <a:pt x="0" y="505869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0480">
            <a:solidFill>
              <a:srgbClr val="2D34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8155" y="473660"/>
            <a:ext cx="293669" cy="341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38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0998" y="454713"/>
            <a:ext cx="6024951" cy="378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85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Famille: Réduction de Dimensionnalité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68576" y="992791"/>
            <a:ext cx="896164" cy="62523"/>
          </a:xfrm>
          <a:custGeom>
            <a:avLst/>
            <a:gdLst/>
            <a:ahLst/>
            <a:cxnLst/>
            <a:rect l="l" t="t" r="r" b="b"/>
            <a:pathLst>
              <a:path w="896164" h="62523">
                <a:moveTo>
                  <a:pt x="0" y="0"/>
                </a:moveTo>
                <a:lnTo>
                  <a:pt x="896164" y="0"/>
                </a:lnTo>
                <a:lnTo>
                  <a:pt x="896164" y="62523"/>
                </a:lnTo>
                <a:lnTo>
                  <a:pt x="0" y="62523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0296" y="1223937"/>
            <a:ext cx="5621393" cy="2533132"/>
          </a:xfrm>
          <a:custGeom>
            <a:avLst/>
            <a:gdLst/>
            <a:ahLst/>
            <a:cxnLst/>
            <a:rect l="l" t="t" r="r" b="b"/>
            <a:pathLst>
              <a:path w="5621393" h="2533132">
                <a:moveTo>
                  <a:pt x="0" y="0"/>
                </a:moveTo>
                <a:lnTo>
                  <a:pt x="5621393" y="0"/>
                </a:lnTo>
                <a:lnTo>
                  <a:pt x="5621393" y="2533132"/>
                </a:lnTo>
                <a:lnTo>
                  <a:pt x="0" y="25331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53235" y="1386875"/>
            <a:ext cx="5409193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Objectif Principal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3235" y="1803579"/>
            <a:ext cx="5371301" cy="738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3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La </a:t>
            </a:r>
            <a:pPr>
              <a:lnSpc>
                <a:spcPct val="140000"/>
              </a:lnSpc>
            </a:pPr>
            <a:r>
              <a:rPr lang="en-US" sz="119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réduction de dimensionnalité</a:t>
            </a:r>
            <a:pPr>
              <a:lnSpc>
                <a:spcPct val="140000"/>
              </a:lnSpc>
            </a:pPr>
            <a:r>
              <a:rPr lang="en-US" sz="1193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vise à </a:t>
            </a:r>
            <a:pPr>
              <a:lnSpc>
                <a:spcPct val="140000"/>
              </a:lnSpc>
            </a:pPr>
            <a:r>
              <a:rPr lang="en-US" sz="1193" dirty="0">
                <a:solidFill>
                  <a:srgbClr val="FFFFFF"/>
                </a:solidFill>
                <a:highlight>
                  <a:srgbClr val="4ECDC4">
                    <a:alpha val="100000"/>
                  </a:srgbClr>
                </a:highlight>
                <a:latin typeface="Coda" pitchFamily="34" charset="0"/>
                <a:ea typeface="Coda" pitchFamily="34" charset="-122"/>
                <a:cs typeface="Coda" pitchFamily="34" charset="-120"/>
              </a:rPr>
              <a:t>compresser les données </a:t>
            </a:r>
            <a:pPr>
              <a:lnSpc>
                <a:spcPct val="140000"/>
              </a:lnSpc>
            </a:pPr>
            <a:r>
              <a:rPr lang="en-US" sz="1193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en réduisant le nombre de variables tout en préservant l'information essentielle et la structure.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0813" y="2663745"/>
            <a:ext cx="5282253" cy="924584"/>
          </a:xfrm>
          <a:custGeom>
            <a:avLst/>
            <a:gdLst/>
            <a:ahLst/>
            <a:cxnLst/>
            <a:rect l="l" t="t" r="r" b="b"/>
            <a:pathLst>
              <a:path w="5282253" h="924584">
                <a:moveTo>
                  <a:pt x="0" y="0"/>
                </a:moveTo>
                <a:lnTo>
                  <a:pt x="5282253" y="0"/>
                </a:lnTo>
                <a:lnTo>
                  <a:pt x="5282253" y="924584"/>
                </a:lnTo>
                <a:lnTo>
                  <a:pt x="0" y="924584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20320">
            <a:solidFill>
              <a:srgbClr val="FFE6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2070" y="2785003"/>
            <a:ext cx="5115524" cy="682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Analogie:</a:t>
            </a:r>
            <a:pPr>
              <a:lnSpc>
                <a:spcPct val="130000"/>
              </a:lnSpc>
            </a:pPr>
            <a:r>
              <a:rPr lang="en-US" sz="1193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Comme réduire une carte 3D en carte 2D — vous perdez une dimension mais conservez les informations importantes pour la navigation.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90296" y="3933154"/>
            <a:ext cx="5621393" cy="2912060"/>
          </a:xfrm>
          <a:custGeom>
            <a:avLst/>
            <a:gdLst/>
            <a:ahLst/>
            <a:cxnLst/>
            <a:rect l="l" t="t" r="r" b="b"/>
            <a:pathLst>
              <a:path w="5621393" h="2912060">
                <a:moveTo>
                  <a:pt x="0" y="0"/>
                </a:moveTo>
                <a:lnTo>
                  <a:pt x="5621393" y="0"/>
                </a:lnTo>
                <a:lnTo>
                  <a:pt x="5621393" y="2912060"/>
                </a:lnTo>
                <a:lnTo>
                  <a:pt x="0" y="29120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53235" y="4096092"/>
            <a:ext cx="5409193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Types de Méthodes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0813" y="4520371"/>
            <a:ext cx="5282253" cy="1000369"/>
          </a:xfrm>
          <a:custGeom>
            <a:avLst/>
            <a:gdLst/>
            <a:ahLst/>
            <a:cxnLst/>
            <a:rect l="l" t="t" r="r" b="b"/>
            <a:pathLst>
              <a:path w="5282253" h="1000369">
                <a:moveTo>
                  <a:pt x="0" y="0"/>
                </a:moveTo>
                <a:lnTo>
                  <a:pt x="5282253" y="0"/>
                </a:lnTo>
                <a:lnTo>
                  <a:pt x="5282253" y="1000369"/>
                </a:lnTo>
                <a:lnTo>
                  <a:pt x="0" y="1000369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4ECD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5753" y="4687098"/>
            <a:ext cx="170517" cy="170517"/>
          </a:xfrm>
          <a:custGeom>
            <a:avLst/>
            <a:gdLst/>
            <a:ahLst/>
            <a:cxnLst/>
            <a:rect l="l" t="t" r="r" b="b"/>
            <a:pathLst>
              <a:path w="170517" h="170517">
                <a:moveTo>
                  <a:pt x="21315" y="21315"/>
                </a:moveTo>
                <a:cubicBezTo>
                  <a:pt x="21315" y="15420"/>
                  <a:pt x="16552" y="10657"/>
                  <a:pt x="10657" y="10657"/>
                </a:cubicBezTo>
                <a:cubicBezTo>
                  <a:pt x="4762" y="10657"/>
                  <a:pt x="0" y="15420"/>
                  <a:pt x="0" y="21315"/>
                </a:cubicBezTo>
                <a:lnTo>
                  <a:pt x="0" y="133217"/>
                </a:lnTo>
                <a:cubicBezTo>
                  <a:pt x="0" y="147937"/>
                  <a:pt x="11923" y="159860"/>
                  <a:pt x="26643" y="159860"/>
                </a:cubicBezTo>
                <a:lnTo>
                  <a:pt x="159860" y="159860"/>
                </a:lnTo>
                <a:cubicBezTo>
                  <a:pt x="165755" y="159860"/>
                  <a:pt x="170517" y="155098"/>
                  <a:pt x="170517" y="149203"/>
                </a:cubicBezTo>
                <a:cubicBezTo>
                  <a:pt x="170517" y="143308"/>
                  <a:pt x="165755" y="138545"/>
                  <a:pt x="159860" y="138545"/>
                </a:cubicBezTo>
                <a:lnTo>
                  <a:pt x="26643" y="138545"/>
                </a:lnTo>
                <a:cubicBezTo>
                  <a:pt x="23713" y="138545"/>
                  <a:pt x="21315" y="136148"/>
                  <a:pt x="21315" y="133217"/>
                </a:cubicBezTo>
                <a:lnTo>
                  <a:pt x="21315" y="21315"/>
                </a:lnTo>
                <a:close/>
                <a:moveTo>
                  <a:pt x="156730" y="50156"/>
                </a:moveTo>
                <a:cubicBezTo>
                  <a:pt x="160893" y="45993"/>
                  <a:pt x="160893" y="39232"/>
                  <a:pt x="156730" y="35069"/>
                </a:cubicBezTo>
                <a:cubicBezTo>
                  <a:pt x="152567" y="30906"/>
                  <a:pt x="145806" y="30906"/>
                  <a:pt x="141643" y="35069"/>
                </a:cubicBezTo>
                <a:lnTo>
                  <a:pt x="106573" y="70172"/>
                </a:lnTo>
                <a:lnTo>
                  <a:pt x="87457" y="51089"/>
                </a:lnTo>
                <a:cubicBezTo>
                  <a:pt x="83294" y="46926"/>
                  <a:pt x="76533" y="46926"/>
                  <a:pt x="72370" y="51089"/>
                </a:cubicBezTo>
                <a:lnTo>
                  <a:pt x="40398" y="83061"/>
                </a:lnTo>
                <a:cubicBezTo>
                  <a:pt x="36235" y="87224"/>
                  <a:pt x="36235" y="93984"/>
                  <a:pt x="40398" y="98147"/>
                </a:cubicBezTo>
                <a:cubicBezTo>
                  <a:pt x="44561" y="102310"/>
                  <a:pt x="51322" y="102310"/>
                  <a:pt x="55485" y="98147"/>
                </a:cubicBezTo>
                <a:lnTo>
                  <a:pt x="79930" y="73702"/>
                </a:lnTo>
                <a:lnTo>
                  <a:pt x="99047" y="92819"/>
                </a:lnTo>
                <a:cubicBezTo>
                  <a:pt x="103210" y="96982"/>
                  <a:pt x="109970" y="96982"/>
                  <a:pt x="114133" y="92819"/>
                </a:cubicBezTo>
                <a:lnTo>
                  <a:pt x="156763" y="50189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9" name="Text 17"/>
          <p:cNvSpPr/>
          <p:nvPr/>
        </p:nvSpPr>
        <p:spPr>
          <a:xfrm>
            <a:off x="956483" y="4641629"/>
            <a:ext cx="4850584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Linéaire (PCA)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2070" y="4944771"/>
            <a:ext cx="5115524" cy="454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Trouve les </a:t>
            </a:r>
            <a:pPr>
              <a:lnSpc>
                <a:spcPct val="130000"/>
              </a:lnSpc>
            </a:pPr>
            <a:r>
              <a:rPr lang="en-US" sz="119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directions de variance maximale</a:t>
            </a:r>
            <a:pPr>
              <a:lnSpc>
                <a:spcPct val="130000"/>
              </a:lnSpc>
            </a:pPr>
            <a:r>
              <a:rPr lang="en-US" sz="1193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. Rapide, interprétable, mais limité aux relations linéaires.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60813" y="5649578"/>
            <a:ext cx="5282253" cy="1000369"/>
          </a:xfrm>
          <a:custGeom>
            <a:avLst/>
            <a:gdLst/>
            <a:ahLst/>
            <a:cxnLst/>
            <a:rect l="l" t="t" r="r" b="b"/>
            <a:pathLst>
              <a:path w="5282253" h="1000369">
                <a:moveTo>
                  <a:pt x="0" y="0"/>
                </a:moveTo>
                <a:lnTo>
                  <a:pt x="5282253" y="0"/>
                </a:lnTo>
                <a:lnTo>
                  <a:pt x="5282253" y="1000369"/>
                </a:lnTo>
                <a:lnTo>
                  <a:pt x="0" y="1000369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FF6B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5753" y="5816305"/>
            <a:ext cx="170517" cy="170517"/>
          </a:xfrm>
          <a:custGeom>
            <a:avLst/>
            <a:gdLst/>
            <a:ahLst/>
            <a:cxnLst/>
            <a:rect l="l" t="t" r="r" b="b"/>
            <a:pathLst>
              <a:path w="170517" h="170517">
                <a:moveTo>
                  <a:pt x="0" y="26643"/>
                </a:moveTo>
                <a:cubicBezTo>
                  <a:pt x="0" y="17818"/>
                  <a:pt x="7160" y="10657"/>
                  <a:pt x="15986" y="10657"/>
                </a:cubicBezTo>
                <a:lnTo>
                  <a:pt x="47958" y="10657"/>
                </a:lnTo>
                <a:cubicBezTo>
                  <a:pt x="56784" y="10657"/>
                  <a:pt x="63944" y="17818"/>
                  <a:pt x="63944" y="26643"/>
                </a:cubicBezTo>
                <a:lnTo>
                  <a:pt x="63944" y="31972"/>
                </a:lnTo>
                <a:lnTo>
                  <a:pt x="106573" y="31972"/>
                </a:lnTo>
                <a:lnTo>
                  <a:pt x="106573" y="26643"/>
                </a:lnTo>
                <a:cubicBezTo>
                  <a:pt x="106573" y="17818"/>
                  <a:pt x="113734" y="10657"/>
                  <a:pt x="122559" y="10657"/>
                </a:cubicBezTo>
                <a:lnTo>
                  <a:pt x="154531" y="10657"/>
                </a:lnTo>
                <a:cubicBezTo>
                  <a:pt x="163357" y="10657"/>
                  <a:pt x="170517" y="17818"/>
                  <a:pt x="170517" y="26643"/>
                </a:cubicBezTo>
                <a:lnTo>
                  <a:pt x="170517" y="58615"/>
                </a:lnTo>
                <a:cubicBezTo>
                  <a:pt x="170517" y="67441"/>
                  <a:pt x="163357" y="74601"/>
                  <a:pt x="154531" y="74601"/>
                </a:cubicBezTo>
                <a:lnTo>
                  <a:pt x="122559" y="74601"/>
                </a:lnTo>
                <a:cubicBezTo>
                  <a:pt x="113734" y="74601"/>
                  <a:pt x="106573" y="67441"/>
                  <a:pt x="106573" y="58615"/>
                </a:cubicBezTo>
                <a:lnTo>
                  <a:pt x="106573" y="53287"/>
                </a:lnTo>
                <a:lnTo>
                  <a:pt x="63944" y="53287"/>
                </a:lnTo>
                <a:lnTo>
                  <a:pt x="63944" y="58615"/>
                </a:lnTo>
                <a:cubicBezTo>
                  <a:pt x="63944" y="61047"/>
                  <a:pt x="63378" y="63378"/>
                  <a:pt x="62412" y="65443"/>
                </a:cubicBezTo>
                <a:lnTo>
                  <a:pt x="85259" y="95916"/>
                </a:lnTo>
                <a:lnTo>
                  <a:pt x="111902" y="95916"/>
                </a:lnTo>
                <a:cubicBezTo>
                  <a:pt x="120728" y="95916"/>
                  <a:pt x="127888" y="103076"/>
                  <a:pt x="127888" y="111902"/>
                </a:cubicBezTo>
                <a:lnTo>
                  <a:pt x="127888" y="143874"/>
                </a:lnTo>
                <a:cubicBezTo>
                  <a:pt x="127888" y="152700"/>
                  <a:pt x="120728" y="159860"/>
                  <a:pt x="111902" y="159860"/>
                </a:cubicBezTo>
                <a:lnTo>
                  <a:pt x="79930" y="159860"/>
                </a:lnTo>
                <a:cubicBezTo>
                  <a:pt x="71104" y="159860"/>
                  <a:pt x="63944" y="152700"/>
                  <a:pt x="63944" y="143874"/>
                </a:cubicBezTo>
                <a:lnTo>
                  <a:pt x="63944" y="111902"/>
                </a:lnTo>
                <a:cubicBezTo>
                  <a:pt x="63944" y="109471"/>
                  <a:pt x="64510" y="107140"/>
                  <a:pt x="65476" y="105075"/>
                </a:cubicBezTo>
                <a:lnTo>
                  <a:pt x="42629" y="74601"/>
                </a:lnTo>
                <a:lnTo>
                  <a:pt x="15986" y="74601"/>
                </a:lnTo>
                <a:cubicBezTo>
                  <a:pt x="7160" y="74601"/>
                  <a:pt x="0" y="67441"/>
                  <a:pt x="0" y="58615"/>
                </a:cubicBezTo>
                <a:lnTo>
                  <a:pt x="0" y="26643"/>
                </a:ln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23" name="Text 21"/>
          <p:cNvSpPr/>
          <p:nvPr/>
        </p:nvSpPr>
        <p:spPr>
          <a:xfrm>
            <a:off x="956483" y="5770835"/>
            <a:ext cx="4850584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Non-Linéaire (t-SNE, UMAP)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2070" y="6073978"/>
            <a:ext cx="5115524" cy="454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Capture les </a:t>
            </a:r>
            <a:pPr>
              <a:lnSpc>
                <a:spcPct val="130000"/>
              </a:lnSpc>
            </a:pPr>
            <a:r>
              <a:rPr lang="en-US" sz="119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relations complexes</a:t>
            </a:r>
            <a:pPr>
              <a:lnSpc>
                <a:spcPct val="130000"/>
              </a:lnSpc>
            </a:pPr>
            <a:r>
              <a:rPr lang="en-US" sz="1193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et structures non linéaires. Meilleur pour visualisation.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83627" y="1223937"/>
            <a:ext cx="5621393" cy="3167836"/>
          </a:xfrm>
          <a:custGeom>
            <a:avLst/>
            <a:gdLst/>
            <a:ahLst/>
            <a:cxnLst/>
            <a:rect l="l" t="t" r="r" b="b"/>
            <a:pathLst>
              <a:path w="5621393" h="3167836">
                <a:moveTo>
                  <a:pt x="0" y="0"/>
                </a:moveTo>
                <a:lnTo>
                  <a:pt x="5621393" y="0"/>
                </a:lnTo>
                <a:lnTo>
                  <a:pt x="5621393" y="3167836"/>
                </a:lnTo>
                <a:lnTo>
                  <a:pt x="0" y="31678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46566" y="1386875"/>
            <a:ext cx="5409193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Quand Utiliser?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354145" y="1811158"/>
            <a:ext cx="365665" cy="365665"/>
          </a:xfrm>
          <a:custGeom>
            <a:avLst/>
            <a:gdLst/>
            <a:ahLst/>
            <a:cxnLst/>
            <a:rect l="l" t="t" r="r" b="b"/>
            <a:pathLst>
              <a:path w="365665" h="365665">
                <a:moveTo>
                  <a:pt x="0" y="0"/>
                </a:moveTo>
                <a:lnTo>
                  <a:pt x="365665" y="0"/>
                </a:lnTo>
                <a:lnTo>
                  <a:pt x="365665" y="365665"/>
                </a:lnTo>
                <a:lnTo>
                  <a:pt x="0" y="36566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50771" y="1917258"/>
            <a:ext cx="170517" cy="151571"/>
          </a:xfrm>
          <a:custGeom>
            <a:avLst/>
            <a:gdLst/>
            <a:ahLst/>
            <a:cxnLst/>
            <a:rect l="l" t="t" r="r" b="b"/>
            <a:pathLst>
              <a:path w="170517" h="151571">
                <a:moveTo>
                  <a:pt x="85259" y="9473"/>
                </a:moveTo>
                <a:cubicBezTo>
                  <a:pt x="61339" y="9473"/>
                  <a:pt x="42185" y="20367"/>
                  <a:pt x="28242" y="33334"/>
                </a:cubicBezTo>
                <a:cubicBezTo>
                  <a:pt x="14387" y="46211"/>
                  <a:pt x="5121" y="61576"/>
                  <a:pt x="710" y="72144"/>
                </a:cubicBezTo>
                <a:cubicBezTo>
                  <a:pt x="-266" y="74483"/>
                  <a:pt x="-266" y="77088"/>
                  <a:pt x="710" y="79427"/>
                </a:cubicBezTo>
                <a:cubicBezTo>
                  <a:pt x="5121" y="89995"/>
                  <a:pt x="14387" y="105389"/>
                  <a:pt x="28242" y="118237"/>
                </a:cubicBezTo>
                <a:cubicBezTo>
                  <a:pt x="42185" y="131174"/>
                  <a:pt x="61339" y="142098"/>
                  <a:pt x="85259" y="142098"/>
                </a:cubicBezTo>
                <a:cubicBezTo>
                  <a:pt x="109179" y="142098"/>
                  <a:pt x="128332" y="131204"/>
                  <a:pt x="142276" y="118237"/>
                </a:cubicBezTo>
                <a:cubicBezTo>
                  <a:pt x="156130" y="105360"/>
                  <a:pt x="165396" y="89995"/>
                  <a:pt x="169807" y="79427"/>
                </a:cubicBezTo>
                <a:cubicBezTo>
                  <a:pt x="170784" y="77088"/>
                  <a:pt x="170784" y="74483"/>
                  <a:pt x="169807" y="72144"/>
                </a:cubicBezTo>
                <a:cubicBezTo>
                  <a:pt x="165396" y="61576"/>
                  <a:pt x="156130" y="46182"/>
                  <a:pt x="142276" y="33334"/>
                </a:cubicBezTo>
                <a:cubicBezTo>
                  <a:pt x="128332" y="20397"/>
                  <a:pt x="109179" y="9473"/>
                  <a:pt x="85259" y="9473"/>
                </a:cubicBezTo>
                <a:close/>
                <a:moveTo>
                  <a:pt x="42629" y="75786"/>
                </a:moveTo>
                <a:cubicBezTo>
                  <a:pt x="42629" y="52258"/>
                  <a:pt x="61731" y="33156"/>
                  <a:pt x="85259" y="33156"/>
                </a:cubicBezTo>
                <a:cubicBezTo>
                  <a:pt x="108787" y="33156"/>
                  <a:pt x="127888" y="52258"/>
                  <a:pt x="127888" y="75786"/>
                </a:cubicBezTo>
                <a:cubicBezTo>
                  <a:pt x="127888" y="99313"/>
                  <a:pt x="108787" y="118415"/>
                  <a:pt x="85259" y="118415"/>
                </a:cubicBezTo>
                <a:cubicBezTo>
                  <a:pt x="61731" y="118415"/>
                  <a:pt x="42629" y="99313"/>
                  <a:pt x="42629" y="75786"/>
                </a:cubicBezTo>
                <a:close/>
                <a:moveTo>
                  <a:pt x="85259" y="56839"/>
                </a:moveTo>
                <a:cubicBezTo>
                  <a:pt x="85259" y="67289"/>
                  <a:pt x="76762" y="75786"/>
                  <a:pt x="66312" y="75786"/>
                </a:cubicBezTo>
                <a:cubicBezTo>
                  <a:pt x="62908" y="75786"/>
                  <a:pt x="59711" y="74897"/>
                  <a:pt x="56928" y="73299"/>
                </a:cubicBezTo>
                <a:cubicBezTo>
                  <a:pt x="56632" y="76526"/>
                  <a:pt x="56898" y="79841"/>
                  <a:pt x="57786" y="83127"/>
                </a:cubicBezTo>
                <a:cubicBezTo>
                  <a:pt x="61842" y="98284"/>
                  <a:pt x="77443" y="107284"/>
                  <a:pt x="92600" y="103228"/>
                </a:cubicBezTo>
                <a:cubicBezTo>
                  <a:pt x="107758" y="99172"/>
                  <a:pt x="116757" y="83571"/>
                  <a:pt x="112701" y="68414"/>
                </a:cubicBezTo>
                <a:cubicBezTo>
                  <a:pt x="109090" y="54885"/>
                  <a:pt x="96271" y="46271"/>
                  <a:pt x="82772" y="47455"/>
                </a:cubicBezTo>
                <a:cubicBezTo>
                  <a:pt x="84341" y="50208"/>
                  <a:pt x="85259" y="53405"/>
                  <a:pt x="85259" y="5683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801279" y="1803579"/>
            <a:ext cx="4926061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Visualisation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01279" y="2068829"/>
            <a:ext cx="4916587" cy="454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Projeter des données haute dimension en 2D/3D pour exploration visuelle.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354145" y="2606906"/>
            <a:ext cx="365665" cy="365665"/>
          </a:xfrm>
          <a:custGeom>
            <a:avLst/>
            <a:gdLst/>
            <a:ahLst/>
            <a:cxnLst/>
            <a:rect l="l" t="t" r="r" b="b"/>
            <a:pathLst>
              <a:path w="365665" h="365665">
                <a:moveTo>
                  <a:pt x="0" y="0"/>
                </a:moveTo>
                <a:lnTo>
                  <a:pt x="365665" y="0"/>
                </a:lnTo>
                <a:lnTo>
                  <a:pt x="365665" y="365665"/>
                </a:lnTo>
                <a:lnTo>
                  <a:pt x="0" y="36566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41298" y="2713006"/>
            <a:ext cx="189464" cy="151571"/>
          </a:xfrm>
          <a:custGeom>
            <a:avLst/>
            <a:gdLst/>
            <a:ahLst/>
            <a:cxnLst/>
            <a:rect l="l" t="t" r="r" b="b"/>
            <a:pathLst>
              <a:path w="189464" h="151571">
                <a:moveTo>
                  <a:pt x="123122" y="62316"/>
                </a:moveTo>
                <a:cubicBezTo>
                  <a:pt x="126734" y="61339"/>
                  <a:pt x="130523" y="63056"/>
                  <a:pt x="132151" y="66401"/>
                </a:cubicBezTo>
                <a:lnTo>
                  <a:pt x="137657" y="77532"/>
                </a:lnTo>
                <a:cubicBezTo>
                  <a:pt x="140707" y="77947"/>
                  <a:pt x="143697" y="78776"/>
                  <a:pt x="146509" y="79930"/>
                </a:cubicBezTo>
                <a:lnTo>
                  <a:pt x="156870" y="73032"/>
                </a:lnTo>
                <a:cubicBezTo>
                  <a:pt x="159979" y="70960"/>
                  <a:pt x="164093" y="71375"/>
                  <a:pt x="166728" y="74009"/>
                </a:cubicBezTo>
                <a:lnTo>
                  <a:pt x="172412" y="79693"/>
                </a:lnTo>
                <a:cubicBezTo>
                  <a:pt x="175047" y="82328"/>
                  <a:pt x="175461" y="86472"/>
                  <a:pt x="173389" y="89551"/>
                </a:cubicBezTo>
                <a:lnTo>
                  <a:pt x="166491" y="99883"/>
                </a:lnTo>
                <a:cubicBezTo>
                  <a:pt x="167054" y="101274"/>
                  <a:pt x="167557" y="102725"/>
                  <a:pt x="167972" y="104235"/>
                </a:cubicBezTo>
                <a:cubicBezTo>
                  <a:pt x="168386" y="105745"/>
                  <a:pt x="168652" y="107225"/>
                  <a:pt x="168860" y="108734"/>
                </a:cubicBezTo>
                <a:lnTo>
                  <a:pt x="180020" y="114241"/>
                </a:lnTo>
                <a:cubicBezTo>
                  <a:pt x="183366" y="115899"/>
                  <a:pt x="185083" y="119688"/>
                  <a:pt x="184106" y="123270"/>
                </a:cubicBezTo>
                <a:lnTo>
                  <a:pt x="182033" y="131026"/>
                </a:lnTo>
                <a:cubicBezTo>
                  <a:pt x="181056" y="134608"/>
                  <a:pt x="177711" y="137036"/>
                  <a:pt x="173981" y="136799"/>
                </a:cubicBezTo>
                <a:lnTo>
                  <a:pt x="161548" y="136000"/>
                </a:lnTo>
                <a:cubicBezTo>
                  <a:pt x="159683" y="138397"/>
                  <a:pt x="157521" y="140618"/>
                  <a:pt x="155064" y="142512"/>
                </a:cubicBezTo>
                <a:lnTo>
                  <a:pt x="155864" y="154916"/>
                </a:lnTo>
                <a:cubicBezTo>
                  <a:pt x="156100" y="158646"/>
                  <a:pt x="153673" y="162021"/>
                  <a:pt x="150091" y="162969"/>
                </a:cubicBezTo>
                <a:lnTo>
                  <a:pt x="142335" y="165041"/>
                </a:lnTo>
                <a:cubicBezTo>
                  <a:pt x="138723" y="166018"/>
                  <a:pt x="134963" y="164301"/>
                  <a:pt x="133306" y="160955"/>
                </a:cubicBezTo>
                <a:lnTo>
                  <a:pt x="127799" y="149824"/>
                </a:lnTo>
                <a:cubicBezTo>
                  <a:pt x="124750" y="149410"/>
                  <a:pt x="121760" y="148581"/>
                  <a:pt x="118948" y="147427"/>
                </a:cubicBezTo>
                <a:lnTo>
                  <a:pt x="108586" y="154324"/>
                </a:lnTo>
                <a:cubicBezTo>
                  <a:pt x="105478" y="156397"/>
                  <a:pt x="101363" y="155982"/>
                  <a:pt x="98728" y="153347"/>
                </a:cubicBezTo>
                <a:lnTo>
                  <a:pt x="93045" y="147663"/>
                </a:lnTo>
                <a:cubicBezTo>
                  <a:pt x="90410" y="145029"/>
                  <a:pt x="89995" y="140914"/>
                  <a:pt x="92068" y="137805"/>
                </a:cubicBezTo>
                <a:lnTo>
                  <a:pt x="98965" y="127444"/>
                </a:lnTo>
                <a:cubicBezTo>
                  <a:pt x="98403" y="126053"/>
                  <a:pt x="97900" y="124602"/>
                  <a:pt x="97485" y="123092"/>
                </a:cubicBezTo>
                <a:cubicBezTo>
                  <a:pt x="97071" y="121583"/>
                  <a:pt x="96804" y="120073"/>
                  <a:pt x="96597" y="118593"/>
                </a:cubicBezTo>
                <a:lnTo>
                  <a:pt x="85436" y="113086"/>
                </a:lnTo>
                <a:cubicBezTo>
                  <a:pt x="82091" y="111428"/>
                  <a:pt x="80404" y="107639"/>
                  <a:pt x="81351" y="104057"/>
                </a:cubicBezTo>
                <a:lnTo>
                  <a:pt x="83423" y="96301"/>
                </a:lnTo>
                <a:cubicBezTo>
                  <a:pt x="84400" y="92719"/>
                  <a:pt x="87745" y="90291"/>
                  <a:pt x="91476" y="90528"/>
                </a:cubicBezTo>
                <a:lnTo>
                  <a:pt x="103879" y="91328"/>
                </a:lnTo>
                <a:cubicBezTo>
                  <a:pt x="105745" y="88930"/>
                  <a:pt x="107906" y="86709"/>
                  <a:pt x="110363" y="84815"/>
                </a:cubicBezTo>
                <a:lnTo>
                  <a:pt x="109563" y="72440"/>
                </a:lnTo>
                <a:cubicBezTo>
                  <a:pt x="109327" y="68710"/>
                  <a:pt x="111754" y="65335"/>
                  <a:pt x="115336" y="64388"/>
                </a:cubicBezTo>
                <a:lnTo>
                  <a:pt x="123092" y="62316"/>
                </a:lnTo>
                <a:close/>
                <a:moveTo>
                  <a:pt x="132743" y="100653"/>
                </a:moveTo>
                <a:cubicBezTo>
                  <a:pt x="125554" y="100661"/>
                  <a:pt x="119724" y="106504"/>
                  <a:pt x="119732" y="113693"/>
                </a:cubicBezTo>
                <a:cubicBezTo>
                  <a:pt x="119740" y="120882"/>
                  <a:pt x="125584" y="126712"/>
                  <a:pt x="132773" y="126704"/>
                </a:cubicBezTo>
                <a:cubicBezTo>
                  <a:pt x="139962" y="126696"/>
                  <a:pt x="145792" y="120853"/>
                  <a:pt x="145784" y="113664"/>
                </a:cubicBezTo>
                <a:cubicBezTo>
                  <a:pt x="145775" y="106474"/>
                  <a:pt x="139932" y="100645"/>
                  <a:pt x="132743" y="100653"/>
                </a:cubicBezTo>
                <a:close/>
                <a:moveTo>
                  <a:pt x="66579" y="-13470"/>
                </a:moveTo>
                <a:lnTo>
                  <a:pt x="74335" y="-11397"/>
                </a:lnTo>
                <a:cubicBezTo>
                  <a:pt x="77917" y="-10421"/>
                  <a:pt x="80345" y="-7046"/>
                  <a:pt x="80108" y="-3345"/>
                </a:cubicBezTo>
                <a:lnTo>
                  <a:pt x="79308" y="9029"/>
                </a:lnTo>
                <a:cubicBezTo>
                  <a:pt x="81766" y="10924"/>
                  <a:pt x="83927" y="13114"/>
                  <a:pt x="85792" y="15542"/>
                </a:cubicBezTo>
                <a:lnTo>
                  <a:pt x="98225" y="14743"/>
                </a:lnTo>
                <a:cubicBezTo>
                  <a:pt x="101926" y="14506"/>
                  <a:pt x="105300" y="16933"/>
                  <a:pt x="106277" y="20515"/>
                </a:cubicBezTo>
                <a:lnTo>
                  <a:pt x="108350" y="28272"/>
                </a:lnTo>
                <a:cubicBezTo>
                  <a:pt x="109297" y="31854"/>
                  <a:pt x="107610" y="35643"/>
                  <a:pt x="104264" y="37301"/>
                </a:cubicBezTo>
                <a:lnTo>
                  <a:pt x="93104" y="42807"/>
                </a:lnTo>
                <a:cubicBezTo>
                  <a:pt x="92897" y="44317"/>
                  <a:pt x="92600" y="45827"/>
                  <a:pt x="92216" y="47307"/>
                </a:cubicBezTo>
                <a:cubicBezTo>
                  <a:pt x="91831" y="48787"/>
                  <a:pt x="91298" y="50267"/>
                  <a:pt x="90735" y="51659"/>
                </a:cubicBezTo>
                <a:lnTo>
                  <a:pt x="97633" y="62020"/>
                </a:lnTo>
                <a:cubicBezTo>
                  <a:pt x="99705" y="65128"/>
                  <a:pt x="99291" y="69243"/>
                  <a:pt x="96656" y="71878"/>
                </a:cubicBezTo>
                <a:lnTo>
                  <a:pt x="90972" y="77562"/>
                </a:lnTo>
                <a:cubicBezTo>
                  <a:pt x="88338" y="80197"/>
                  <a:pt x="84223" y="80611"/>
                  <a:pt x="81114" y="78539"/>
                </a:cubicBezTo>
                <a:lnTo>
                  <a:pt x="70753" y="71641"/>
                </a:lnTo>
                <a:cubicBezTo>
                  <a:pt x="67941" y="72796"/>
                  <a:pt x="64951" y="73624"/>
                  <a:pt x="61901" y="74039"/>
                </a:cubicBezTo>
                <a:lnTo>
                  <a:pt x="56395" y="85170"/>
                </a:lnTo>
                <a:cubicBezTo>
                  <a:pt x="54737" y="88515"/>
                  <a:pt x="50948" y="90203"/>
                  <a:pt x="47366" y="89255"/>
                </a:cubicBezTo>
                <a:lnTo>
                  <a:pt x="39610" y="87183"/>
                </a:lnTo>
                <a:cubicBezTo>
                  <a:pt x="35998" y="86206"/>
                  <a:pt x="33600" y="82831"/>
                  <a:pt x="33837" y="79131"/>
                </a:cubicBezTo>
                <a:lnTo>
                  <a:pt x="34636" y="66727"/>
                </a:lnTo>
                <a:cubicBezTo>
                  <a:pt x="32179" y="64832"/>
                  <a:pt x="30018" y="62641"/>
                  <a:pt x="28153" y="60214"/>
                </a:cubicBezTo>
                <a:lnTo>
                  <a:pt x="15720" y="61013"/>
                </a:lnTo>
                <a:cubicBezTo>
                  <a:pt x="12019" y="61250"/>
                  <a:pt x="8644" y="58823"/>
                  <a:pt x="7667" y="55241"/>
                </a:cubicBezTo>
                <a:lnTo>
                  <a:pt x="5595" y="47484"/>
                </a:lnTo>
                <a:cubicBezTo>
                  <a:pt x="4648" y="43902"/>
                  <a:pt x="6335" y="40113"/>
                  <a:pt x="9680" y="38455"/>
                </a:cubicBezTo>
                <a:lnTo>
                  <a:pt x="20841" y="32949"/>
                </a:lnTo>
                <a:cubicBezTo>
                  <a:pt x="21048" y="31439"/>
                  <a:pt x="21344" y="29959"/>
                  <a:pt x="21729" y="28449"/>
                </a:cubicBezTo>
                <a:cubicBezTo>
                  <a:pt x="22144" y="26939"/>
                  <a:pt x="22617" y="25489"/>
                  <a:pt x="23209" y="24097"/>
                </a:cubicBezTo>
                <a:lnTo>
                  <a:pt x="16312" y="13766"/>
                </a:lnTo>
                <a:cubicBezTo>
                  <a:pt x="14239" y="10657"/>
                  <a:pt x="14654" y="6542"/>
                  <a:pt x="17289" y="3908"/>
                </a:cubicBezTo>
                <a:lnTo>
                  <a:pt x="22972" y="-1776"/>
                </a:lnTo>
                <a:cubicBezTo>
                  <a:pt x="25607" y="-4411"/>
                  <a:pt x="29722" y="-4825"/>
                  <a:pt x="32831" y="-2753"/>
                </a:cubicBezTo>
                <a:lnTo>
                  <a:pt x="43192" y="4145"/>
                </a:lnTo>
                <a:cubicBezTo>
                  <a:pt x="46004" y="2990"/>
                  <a:pt x="48994" y="2161"/>
                  <a:pt x="52043" y="1747"/>
                </a:cubicBezTo>
                <a:lnTo>
                  <a:pt x="57550" y="-9384"/>
                </a:lnTo>
                <a:cubicBezTo>
                  <a:pt x="59207" y="-12730"/>
                  <a:pt x="62967" y="-14417"/>
                  <a:pt x="66579" y="-13470"/>
                </a:cubicBezTo>
                <a:close/>
                <a:moveTo>
                  <a:pt x="56958" y="24867"/>
                </a:moveTo>
                <a:cubicBezTo>
                  <a:pt x="49769" y="24867"/>
                  <a:pt x="43932" y="30704"/>
                  <a:pt x="43932" y="37893"/>
                </a:cubicBezTo>
                <a:cubicBezTo>
                  <a:pt x="43932" y="45082"/>
                  <a:pt x="49769" y="50918"/>
                  <a:pt x="56958" y="50918"/>
                </a:cubicBezTo>
                <a:cubicBezTo>
                  <a:pt x="64147" y="50918"/>
                  <a:pt x="69983" y="45082"/>
                  <a:pt x="69983" y="37893"/>
                </a:cubicBezTo>
                <a:cubicBezTo>
                  <a:pt x="69983" y="30704"/>
                  <a:pt x="64147" y="24867"/>
                  <a:pt x="56958" y="2486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6801279" y="2599328"/>
            <a:ext cx="4518713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Prétraitement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01279" y="2864577"/>
            <a:ext cx="4509240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Réduire avant d'appliquer d'autres algorithmes ML pour accélérer.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54145" y="3175298"/>
            <a:ext cx="365665" cy="365665"/>
          </a:xfrm>
          <a:custGeom>
            <a:avLst/>
            <a:gdLst/>
            <a:ahLst/>
            <a:cxnLst/>
            <a:rect l="l" t="t" r="r" b="b"/>
            <a:pathLst>
              <a:path w="365665" h="365665">
                <a:moveTo>
                  <a:pt x="0" y="0"/>
                </a:moveTo>
                <a:lnTo>
                  <a:pt x="365665" y="0"/>
                </a:lnTo>
                <a:lnTo>
                  <a:pt x="365665" y="365665"/>
                </a:lnTo>
                <a:lnTo>
                  <a:pt x="0" y="365665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50771" y="3281398"/>
            <a:ext cx="170517" cy="151571"/>
          </a:xfrm>
          <a:custGeom>
            <a:avLst/>
            <a:gdLst/>
            <a:ahLst/>
            <a:cxnLst/>
            <a:rect l="l" t="t" r="r" b="b"/>
            <a:pathLst>
              <a:path w="170517" h="151571">
                <a:moveTo>
                  <a:pt x="14210" y="104205"/>
                </a:moveTo>
                <a:lnTo>
                  <a:pt x="28420" y="104205"/>
                </a:lnTo>
                <a:lnTo>
                  <a:pt x="68118" y="139493"/>
                </a:lnTo>
                <a:cubicBezTo>
                  <a:pt x="70013" y="141180"/>
                  <a:pt x="72440" y="142098"/>
                  <a:pt x="74957" y="142098"/>
                </a:cubicBezTo>
                <a:cubicBezTo>
                  <a:pt x="80641" y="142098"/>
                  <a:pt x="85259" y="137480"/>
                  <a:pt x="85259" y="131796"/>
                </a:cubicBezTo>
                <a:lnTo>
                  <a:pt x="85259" y="19775"/>
                </a:lnTo>
                <a:cubicBezTo>
                  <a:pt x="85259" y="14091"/>
                  <a:pt x="80641" y="9473"/>
                  <a:pt x="74957" y="9473"/>
                </a:cubicBezTo>
                <a:cubicBezTo>
                  <a:pt x="72440" y="9473"/>
                  <a:pt x="70013" y="10391"/>
                  <a:pt x="68118" y="12078"/>
                </a:cubicBezTo>
                <a:lnTo>
                  <a:pt x="28420" y="47366"/>
                </a:lnTo>
                <a:lnTo>
                  <a:pt x="14210" y="47366"/>
                </a:lnTo>
                <a:cubicBezTo>
                  <a:pt x="6365" y="47366"/>
                  <a:pt x="0" y="53731"/>
                  <a:pt x="0" y="61576"/>
                </a:cubicBezTo>
                <a:lnTo>
                  <a:pt x="0" y="89995"/>
                </a:lnTo>
                <a:cubicBezTo>
                  <a:pt x="0" y="97840"/>
                  <a:pt x="6365" y="104205"/>
                  <a:pt x="14210" y="104205"/>
                </a:cubicBezTo>
                <a:close/>
                <a:moveTo>
                  <a:pt x="108646" y="51807"/>
                </a:moveTo>
                <a:cubicBezTo>
                  <a:pt x="105863" y="54589"/>
                  <a:pt x="105863" y="59089"/>
                  <a:pt x="108646" y="61842"/>
                </a:cubicBezTo>
                <a:lnTo>
                  <a:pt x="122559" y="75756"/>
                </a:lnTo>
                <a:lnTo>
                  <a:pt x="108646" y="89670"/>
                </a:lnTo>
                <a:cubicBezTo>
                  <a:pt x="105863" y="92452"/>
                  <a:pt x="105863" y="96952"/>
                  <a:pt x="108646" y="99705"/>
                </a:cubicBezTo>
                <a:cubicBezTo>
                  <a:pt x="111428" y="102459"/>
                  <a:pt x="115928" y="102488"/>
                  <a:pt x="118681" y="99705"/>
                </a:cubicBezTo>
                <a:lnTo>
                  <a:pt x="132595" y="85792"/>
                </a:lnTo>
                <a:lnTo>
                  <a:pt x="146509" y="99705"/>
                </a:lnTo>
                <a:cubicBezTo>
                  <a:pt x="149292" y="102488"/>
                  <a:pt x="153791" y="102488"/>
                  <a:pt x="156545" y="99705"/>
                </a:cubicBezTo>
                <a:cubicBezTo>
                  <a:pt x="159298" y="96923"/>
                  <a:pt x="159327" y="92423"/>
                  <a:pt x="156545" y="89670"/>
                </a:cubicBezTo>
                <a:lnTo>
                  <a:pt x="142631" y="75756"/>
                </a:lnTo>
                <a:lnTo>
                  <a:pt x="156545" y="61842"/>
                </a:lnTo>
                <a:cubicBezTo>
                  <a:pt x="159327" y="59059"/>
                  <a:pt x="159327" y="54560"/>
                  <a:pt x="156545" y="51807"/>
                </a:cubicBezTo>
                <a:cubicBezTo>
                  <a:pt x="153762" y="49053"/>
                  <a:pt x="149262" y="49024"/>
                  <a:pt x="146509" y="51807"/>
                </a:cubicBezTo>
                <a:lnTo>
                  <a:pt x="132595" y="65720"/>
                </a:lnTo>
                <a:lnTo>
                  <a:pt x="118681" y="51807"/>
                </a:lnTo>
                <a:cubicBezTo>
                  <a:pt x="115899" y="49024"/>
                  <a:pt x="111399" y="49024"/>
                  <a:pt x="108646" y="51807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37" name="Text 35"/>
          <p:cNvSpPr/>
          <p:nvPr/>
        </p:nvSpPr>
        <p:spPr>
          <a:xfrm>
            <a:off x="6801279" y="3167719"/>
            <a:ext cx="4727124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Élimination du Bruit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801279" y="3432969"/>
            <a:ext cx="4717650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Filtrer le bruit en conservant seulement les composantes principales.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54145" y="3743689"/>
            <a:ext cx="365665" cy="365665"/>
          </a:xfrm>
          <a:custGeom>
            <a:avLst/>
            <a:gdLst/>
            <a:ahLst/>
            <a:cxnLst/>
            <a:rect l="l" t="t" r="r" b="b"/>
            <a:pathLst>
              <a:path w="365665" h="365665">
                <a:moveTo>
                  <a:pt x="0" y="0"/>
                </a:moveTo>
                <a:lnTo>
                  <a:pt x="365665" y="0"/>
                </a:lnTo>
                <a:lnTo>
                  <a:pt x="365665" y="365665"/>
                </a:lnTo>
                <a:lnTo>
                  <a:pt x="0" y="36566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60244" y="3849789"/>
            <a:ext cx="151571" cy="151571"/>
          </a:xfrm>
          <a:custGeom>
            <a:avLst/>
            <a:gdLst/>
            <a:ahLst/>
            <a:cxnLst/>
            <a:rect l="l" t="t" r="r" b="b"/>
            <a:pathLst>
              <a:path w="151571" h="151571">
                <a:moveTo>
                  <a:pt x="75786" y="0"/>
                </a:moveTo>
                <a:cubicBezTo>
                  <a:pt x="80137" y="0"/>
                  <a:pt x="84134" y="2398"/>
                  <a:pt x="86206" y="6217"/>
                </a:cubicBezTo>
                <a:lnTo>
                  <a:pt x="150150" y="124632"/>
                </a:lnTo>
                <a:cubicBezTo>
                  <a:pt x="152134" y="128303"/>
                  <a:pt x="152045" y="132743"/>
                  <a:pt x="149913" y="136325"/>
                </a:cubicBezTo>
                <a:cubicBezTo>
                  <a:pt x="147782" y="139907"/>
                  <a:pt x="143904" y="142098"/>
                  <a:pt x="139730" y="142098"/>
                </a:cubicBezTo>
                <a:lnTo>
                  <a:pt x="11841" y="142098"/>
                </a:lnTo>
                <a:cubicBezTo>
                  <a:pt x="7667" y="142098"/>
                  <a:pt x="3819" y="139907"/>
                  <a:pt x="1658" y="136325"/>
                </a:cubicBezTo>
                <a:cubicBezTo>
                  <a:pt x="-503" y="132743"/>
                  <a:pt x="-562" y="128303"/>
                  <a:pt x="1421" y="124632"/>
                </a:cubicBezTo>
                <a:lnTo>
                  <a:pt x="65365" y="6217"/>
                </a:lnTo>
                <a:cubicBezTo>
                  <a:pt x="67437" y="2398"/>
                  <a:pt x="71434" y="0"/>
                  <a:pt x="75786" y="0"/>
                </a:cubicBezTo>
                <a:close/>
                <a:moveTo>
                  <a:pt x="75786" y="49734"/>
                </a:moveTo>
                <a:cubicBezTo>
                  <a:pt x="71848" y="49734"/>
                  <a:pt x="68681" y="52902"/>
                  <a:pt x="68681" y="56839"/>
                </a:cubicBezTo>
                <a:lnTo>
                  <a:pt x="68681" y="89995"/>
                </a:lnTo>
                <a:cubicBezTo>
                  <a:pt x="68681" y="93933"/>
                  <a:pt x="71848" y="97100"/>
                  <a:pt x="75786" y="97100"/>
                </a:cubicBezTo>
                <a:cubicBezTo>
                  <a:pt x="79723" y="97100"/>
                  <a:pt x="82890" y="93933"/>
                  <a:pt x="82890" y="89995"/>
                </a:cubicBezTo>
                <a:lnTo>
                  <a:pt x="82890" y="56839"/>
                </a:lnTo>
                <a:cubicBezTo>
                  <a:pt x="82890" y="52902"/>
                  <a:pt x="79723" y="49734"/>
                  <a:pt x="75786" y="49734"/>
                </a:cubicBezTo>
                <a:close/>
                <a:moveTo>
                  <a:pt x="83690" y="113678"/>
                </a:moveTo>
                <a:cubicBezTo>
                  <a:pt x="83870" y="110744"/>
                  <a:pt x="82406" y="107953"/>
                  <a:pt x="79891" y="106432"/>
                </a:cubicBezTo>
                <a:cubicBezTo>
                  <a:pt x="77376" y="104910"/>
                  <a:pt x="74225" y="104910"/>
                  <a:pt x="71709" y="106432"/>
                </a:cubicBezTo>
                <a:cubicBezTo>
                  <a:pt x="69194" y="107953"/>
                  <a:pt x="67731" y="110744"/>
                  <a:pt x="67911" y="113678"/>
                </a:cubicBezTo>
                <a:cubicBezTo>
                  <a:pt x="67731" y="116612"/>
                  <a:pt x="69194" y="119404"/>
                  <a:pt x="71709" y="120925"/>
                </a:cubicBezTo>
                <a:cubicBezTo>
                  <a:pt x="74225" y="122446"/>
                  <a:pt x="77376" y="122446"/>
                  <a:pt x="79891" y="120925"/>
                </a:cubicBezTo>
                <a:cubicBezTo>
                  <a:pt x="82406" y="119404"/>
                  <a:pt x="83870" y="116612"/>
                  <a:pt x="83690" y="11367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6801279" y="3736111"/>
            <a:ext cx="3694545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Curse of Dimensionality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801279" y="4001360"/>
            <a:ext cx="3685072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Combattre les problèmes liés aux hautes dimensions.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183627" y="4565962"/>
            <a:ext cx="5621393" cy="2277356"/>
          </a:xfrm>
          <a:custGeom>
            <a:avLst/>
            <a:gdLst/>
            <a:ahLst/>
            <a:cxnLst/>
            <a:rect l="l" t="t" r="r" b="b"/>
            <a:pathLst>
              <a:path w="5621393" h="2277356">
                <a:moveTo>
                  <a:pt x="0" y="0"/>
                </a:moveTo>
                <a:lnTo>
                  <a:pt x="5621393" y="0"/>
                </a:lnTo>
                <a:lnTo>
                  <a:pt x="5621393" y="2277356"/>
                </a:lnTo>
                <a:lnTo>
                  <a:pt x="0" y="227735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346566" y="4728900"/>
            <a:ext cx="5409193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Préservation: Locale vs Globale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54145" y="5153183"/>
            <a:ext cx="2572919" cy="1521395"/>
          </a:xfrm>
          <a:custGeom>
            <a:avLst/>
            <a:gdLst/>
            <a:ahLst/>
            <a:cxnLst/>
            <a:rect l="l" t="t" r="r" b="b"/>
            <a:pathLst>
              <a:path w="2572919" h="1521395">
                <a:moveTo>
                  <a:pt x="0" y="0"/>
                </a:moveTo>
                <a:lnTo>
                  <a:pt x="2572919" y="0"/>
                </a:lnTo>
                <a:lnTo>
                  <a:pt x="2572919" y="1521395"/>
                </a:lnTo>
                <a:lnTo>
                  <a:pt x="0" y="152139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FF6B6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75401" y="5274436"/>
            <a:ext cx="2415664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Locale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475401" y="5615471"/>
            <a:ext cx="2406191" cy="454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Préserve les voisins immédiats de chaque point.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482980" y="6153549"/>
            <a:ext cx="2317143" cy="394085"/>
          </a:xfrm>
          <a:custGeom>
            <a:avLst/>
            <a:gdLst/>
            <a:ahLst/>
            <a:cxnLst/>
            <a:rect l="l" t="t" r="r" b="b"/>
            <a:pathLst>
              <a:path w="2317143" h="394085">
                <a:moveTo>
                  <a:pt x="0" y="0"/>
                </a:moveTo>
                <a:lnTo>
                  <a:pt x="2317143" y="0"/>
                </a:lnTo>
                <a:lnTo>
                  <a:pt x="2317143" y="394085"/>
                </a:lnTo>
                <a:lnTo>
                  <a:pt x="0" y="39408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66344" y="6236914"/>
            <a:ext cx="2226200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t-SNE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9057557" y="5153183"/>
            <a:ext cx="2572919" cy="1521395"/>
          </a:xfrm>
          <a:custGeom>
            <a:avLst/>
            <a:gdLst/>
            <a:ahLst/>
            <a:cxnLst/>
            <a:rect l="l" t="t" r="r" b="b"/>
            <a:pathLst>
              <a:path w="2572919" h="1521395">
                <a:moveTo>
                  <a:pt x="0" y="0"/>
                </a:moveTo>
                <a:lnTo>
                  <a:pt x="2572919" y="0"/>
                </a:lnTo>
                <a:lnTo>
                  <a:pt x="2572919" y="1521395"/>
                </a:lnTo>
                <a:lnTo>
                  <a:pt x="0" y="152139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4ECDC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178814" y="5274436"/>
            <a:ext cx="2415664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Globale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178814" y="5615471"/>
            <a:ext cx="2406191" cy="454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Préserve la structure globale et distances entre clusters.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9186392" y="6153549"/>
            <a:ext cx="2317143" cy="394085"/>
          </a:xfrm>
          <a:custGeom>
            <a:avLst/>
            <a:gdLst/>
            <a:ahLst/>
            <a:cxnLst/>
            <a:rect l="l" t="t" r="r" b="b"/>
            <a:pathLst>
              <a:path w="2317143" h="394085">
                <a:moveTo>
                  <a:pt x="0" y="0"/>
                </a:moveTo>
                <a:lnTo>
                  <a:pt x="2317143" y="0"/>
                </a:lnTo>
                <a:lnTo>
                  <a:pt x="2317143" y="394085"/>
                </a:lnTo>
                <a:lnTo>
                  <a:pt x="0" y="39408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269757" y="6236914"/>
            <a:ext cx="2226200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PCA, UMAP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65230" y="240030"/>
            <a:ext cx="584835" cy="584835"/>
          </a:xfrm>
          <a:custGeom>
            <a:avLst/>
            <a:gdLst/>
            <a:ahLst/>
            <a:cxnLst/>
            <a:rect l="l" t="t" r="r" b="b"/>
            <a:pathLst>
              <a:path w="584835" h="584835">
                <a:moveTo>
                  <a:pt x="292418" y="0"/>
                </a:moveTo>
                <a:lnTo>
                  <a:pt x="292418" y="0"/>
                </a:lnTo>
                <a:cubicBezTo>
                  <a:pt x="453915" y="0"/>
                  <a:pt x="584835" y="130920"/>
                  <a:pt x="584835" y="292418"/>
                </a:cubicBezTo>
                <a:lnTo>
                  <a:pt x="584835" y="292418"/>
                </a:lnTo>
                <a:cubicBezTo>
                  <a:pt x="584835" y="453915"/>
                  <a:pt x="453915" y="584835"/>
                  <a:pt x="292418" y="584835"/>
                </a:cubicBezTo>
                <a:lnTo>
                  <a:pt x="292418" y="584835"/>
                </a:lnTo>
                <a:cubicBezTo>
                  <a:pt x="130920" y="584835"/>
                  <a:pt x="0" y="453915"/>
                  <a:pt x="0" y="292418"/>
                </a:cubicBezTo>
                <a:lnTo>
                  <a:pt x="0" y="292418"/>
                </a:lnTo>
                <a:cubicBezTo>
                  <a:pt x="0" y="130920"/>
                  <a:pt x="130920" y="0"/>
                  <a:pt x="292417" y="0"/>
                </a:cubicBezTo>
                <a:close/>
              </a:path>
            </a:pathLst>
          </a:custGeom>
          <a:solidFill>
            <a:srgbClr val="4ECDC4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 rot="720000">
            <a:off x="10789297" y="730898"/>
            <a:ext cx="432435" cy="432435"/>
          </a:xfrm>
          <a:custGeom>
            <a:avLst/>
            <a:gdLst/>
            <a:ahLst/>
            <a:cxnLst/>
            <a:rect l="l" t="t" r="r" b="b"/>
            <a:pathLst>
              <a:path w="432435" h="432435">
                <a:moveTo>
                  <a:pt x="0" y="0"/>
                </a:moveTo>
                <a:lnTo>
                  <a:pt x="432435" y="0"/>
                </a:lnTo>
                <a:lnTo>
                  <a:pt x="432435" y="432435"/>
                </a:lnTo>
                <a:lnTo>
                  <a:pt x="0" y="432435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68630" y="6107430"/>
            <a:ext cx="737235" cy="280035"/>
          </a:xfrm>
          <a:custGeom>
            <a:avLst/>
            <a:gdLst/>
            <a:ahLst/>
            <a:cxnLst/>
            <a:rect l="l" t="t" r="r" b="b"/>
            <a:pathLst>
              <a:path w="737235" h="280035">
                <a:moveTo>
                  <a:pt x="0" y="0"/>
                </a:moveTo>
                <a:lnTo>
                  <a:pt x="737235" y="0"/>
                </a:lnTo>
                <a:lnTo>
                  <a:pt x="737235" y="280035"/>
                </a:lnTo>
                <a:lnTo>
                  <a:pt x="0" y="28003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365230" y="5193030"/>
            <a:ext cx="203835" cy="737235"/>
          </a:xfrm>
          <a:custGeom>
            <a:avLst/>
            <a:gdLst/>
            <a:ahLst/>
            <a:cxnLst/>
            <a:rect l="l" t="t" r="r" b="b"/>
            <a:pathLst>
              <a:path w="203835" h="737235">
                <a:moveTo>
                  <a:pt x="0" y="0"/>
                </a:moveTo>
                <a:lnTo>
                  <a:pt x="203835" y="0"/>
                </a:lnTo>
                <a:lnTo>
                  <a:pt x="203835" y="737235"/>
                </a:lnTo>
                <a:lnTo>
                  <a:pt x="0" y="73723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Réduction de Dimension: Avantages et Inconvénients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8620" y="845820"/>
            <a:ext cx="901065" cy="62865"/>
          </a:xfrm>
          <a:custGeom>
            <a:avLst/>
            <a:gdLst/>
            <a:ahLst/>
            <a:cxnLst/>
            <a:rect l="l" t="t" r="r" b="b"/>
            <a:pathLst>
              <a:path w="901065" h="62865">
                <a:moveTo>
                  <a:pt x="0" y="0"/>
                </a:moveTo>
                <a:lnTo>
                  <a:pt x="901065" y="0"/>
                </a:lnTo>
                <a:lnTo>
                  <a:pt x="901065" y="62865"/>
                </a:lnTo>
                <a:lnTo>
                  <a:pt x="0" y="6286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2430" y="1078230"/>
            <a:ext cx="5614035" cy="5442585"/>
          </a:xfrm>
          <a:custGeom>
            <a:avLst/>
            <a:gdLst/>
            <a:ahLst/>
            <a:cxnLst/>
            <a:rect l="l" t="t" r="r" b="b"/>
            <a:pathLst>
              <a:path w="5614035" h="5442585">
                <a:moveTo>
                  <a:pt x="0" y="0"/>
                </a:moveTo>
                <a:lnTo>
                  <a:pt x="5614035" y="0"/>
                </a:lnTo>
                <a:lnTo>
                  <a:pt x="5614035" y="5442585"/>
                </a:lnTo>
                <a:lnTo>
                  <a:pt x="0" y="544258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7690" y="1253489"/>
            <a:ext cx="508635" cy="508635"/>
          </a:xfrm>
          <a:custGeom>
            <a:avLst/>
            <a:gdLst/>
            <a:ahLst/>
            <a:cxnLst/>
            <a:rect l="l" t="t" r="r" b="b"/>
            <a:pathLst>
              <a:path w="508635" h="508635">
                <a:moveTo>
                  <a:pt x="0" y="0"/>
                </a:moveTo>
                <a:lnTo>
                  <a:pt x="508635" y="0"/>
                </a:lnTo>
                <a:lnTo>
                  <a:pt x="508635" y="508635"/>
                </a:lnTo>
                <a:lnTo>
                  <a:pt x="0" y="50863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0480">
            <a:solidFill>
              <a:srgbClr val="2D34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8660" y="139445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5719" y="71438"/>
                </a:moveTo>
                <a:cubicBezTo>
                  <a:pt x="43622" y="71438"/>
                  <a:pt x="50006" y="77822"/>
                  <a:pt x="50006" y="85725"/>
                </a:cubicBezTo>
                <a:lnTo>
                  <a:pt x="50006" y="200025"/>
                </a:lnTo>
                <a:cubicBezTo>
                  <a:pt x="50006" y="207928"/>
                  <a:pt x="43622" y="214313"/>
                  <a:pt x="35719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85725"/>
                </a:lnTo>
                <a:cubicBezTo>
                  <a:pt x="0" y="77822"/>
                  <a:pt x="6385" y="71438"/>
                  <a:pt x="14288" y="71438"/>
                </a:cubicBezTo>
                <a:lnTo>
                  <a:pt x="35719" y="71438"/>
                </a:lnTo>
                <a:close/>
                <a:moveTo>
                  <a:pt x="120819" y="7144"/>
                </a:moveTo>
                <a:cubicBezTo>
                  <a:pt x="133008" y="7144"/>
                  <a:pt x="142875" y="17011"/>
                  <a:pt x="142875" y="29200"/>
                </a:cubicBezTo>
                <a:lnTo>
                  <a:pt x="142875" y="31075"/>
                </a:lnTo>
                <a:cubicBezTo>
                  <a:pt x="142875" y="34111"/>
                  <a:pt x="142295" y="37148"/>
                  <a:pt x="141178" y="39960"/>
                </a:cubicBezTo>
                <a:lnTo>
                  <a:pt x="128588" y="71438"/>
                </a:lnTo>
                <a:lnTo>
                  <a:pt x="200025" y="71438"/>
                </a:lnTo>
                <a:cubicBezTo>
                  <a:pt x="211857" y="71438"/>
                  <a:pt x="221456" y="81037"/>
                  <a:pt x="221456" y="92869"/>
                </a:cubicBezTo>
                <a:cubicBezTo>
                  <a:pt x="221456" y="101664"/>
                  <a:pt x="216143" y="109210"/>
                  <a:pt x="208553" y="112514"/>
                </a:cubicBezTo>
                <a:cubicBezTo>
                  <a:pt x="216143" y="115818"/>
                  <a:pt x="221456" y="123364"/>
                  <a:pt x="221456" y="132159"/>
                </a:cubicBezTo>
                <a:cubicBezTo>
                  <a:pt x="221456" y="142607"/>
                  <a:pt x="213955" y="151314"/>
                  <a:pt x="204043" y="153189"/>
                </a:cubicBezTo>
                <a:cubicBezTo>
                  <a:pt x="206008" y="156448"/>
                  <a:pt x="207169" y="160243"/>
                  <a:pt x="207169" y="164306"/>
                </a:cubicBezTo>
                <a:cubicBezTo>
                  <a:pt x="207169" y="174218"/>
                  <a:pt x="200471" y="182523"/>
                  <a:pt x="191363" y="184978"/>
                </a:cubicBezTo>
                <a:cubicBezTo>
                  <a:pt x="192345" y="187434"/>
                  <a:pt x="192881" y="190113"/>
                  <a:pt x="192881" y="192881"/>
                </a:cubicBezTo>
                <a:cubicBezTo>
                  <a:pt x="192881" y="204713"/>
                  <a:pt x="183282" y="214313"/>
                  <a:pt x="171450" y="214313"/>
                </a:cubicBezTo>
                <a:lnTo>
                  <a:pt x="132204" y="214313"/>
                </a:lnTo>
                <a:cubicBezTo>
                  <a:pt x="115997" y="214313"/>
                  <a:pt x="100236" y="208776"/>
                  <a:pt x="87600" y="198641"/>
                </a:cubicBezTo>
                <a:lnTo>
                  <a:pt x="82153" y="194310"/>
                </a:lnTo>
                <a:cubicBezTo>
                  <a:pt x="75367" y="188908"/>
                  <a:pt x="71438" y="180692"/>
                  <a:pt x="71438" y="171986"/>
                </a:cubicBezTo>
                <a:lnTo>
                  <a:pt x="71438" y="88672"/>
                </a:lnTo>
                <a:cubicBezTo>
                  <a:pt x="71438" y="82019"/>
                  <a:pt x="73000" y="75456"/>
                  <a:pt x="75947" y="69518"/>
                </a:cubicBezTo>
                <a:lnTo>
                  <a:pt x="101039" y="19333"/>
                </a:lnTo>
                <a:cubicBezTo>
                  <a:pt x="104790" y="11876"/>
                  <a:pt x="112425" y="7144"/>
                  <a:pt x="120819" y="714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203960" y="1337309"/>
            <a:ext cx="14954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Avantages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3880" y="1935479"/>
            <a:ext cx="5273040" cy="1005840"/>
          </a:xfrm>
          <a:custGeom>
            <a:avLst/>
            <a:gdLst/>
            <a:ahLst/>
            <a:cxnLst/>
            <a:rect l="l" t="t" r="r" b="b"/>
            <a:pathLst>
              <a:path w="5273040" h="1005840">
                <a:moveTo>
                  <a:pt x="0" y="0"/>
                </a:moveTo>
                <a:lnTo>
                  <a:pt x="5273040" y="0"/>
                </a:lnTo>
                <a:lnTo>
                  <a:pt x="5273040" y="1005840"/>
                </a:lnTo>
                <a:lnTo>
                  <a:pt x="0" y="100584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4ECD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9613" y="210312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4" name="Text 12"/>
          <p:cNvSpPr/>
          <p:nvPr/>
        </p:nvSpPr>
        <p:spPr>
          <a:xfrm>
            <a:off x="962025" y="2057400"/>
            <a:ext cx="483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Visualisation Possible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2362200"/>
            <a:ext cx="510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Permet de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visualiser des données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avec des centaines/milliers de dimensions en 2D/3D.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3880" y="3070861"/>
            <a:ext cx="5273040" cy="1005840"/>
          </a:xfrm>
          <a:custGeom>
            <a:avLst/>
            <a:gdLst/>
            <a:ahLst/>
            <a:cxnLst/>
            <a:rect l="l" t="t" r="r" b="b"/>
            <a:pathLst>
              <a:path w="5273040" h="1005840">
                <a:moveTo>
                  <a:pt x="0" y="0"/>
                </a:moveTo>
                <a:lnTo>
                  <a:pt x="5273040" y="0"/>
                </a:lnTo>
                <a:lnTo>
                  <a:pt x="5273040" y="1005840"/>
                </a:lnTo>
                <a:lnTo>
                  <a:pt x="0" y="100584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4ECD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9613" y="32385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8" name="Text 16"/>
          <p:cNvSpPr/>
          <p:nvPr/>
        </p:nvSpPr>
        <p:spPr>
          <a:xfrm>
            <a:off x="962025" y="3192782"/>
            <a:ext cx="483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Réduction du Bruit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" y="3497582"/>
            <a:ext cx="510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En conservant seulement les composantes principales, on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élimine le bruit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et les variations mineures.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63880" y="4206243"/>
            <a:ext cx="5273040" cy="1005840"/>
          </a:xfrm>
          <a:custGeom>
            <a:avLst/>
            <a:gdLst/>
            <a:ahLst/>
            <a:cxnLst/>
            <a:rect l="l" t="t" r="r" b="b"/>
            <a:pathLst>
              <a:path w="5273040" h="1005840">
                <a:moveTo>
                  <a:pt x="0" y="0"/>
                </a:moveTo>
                <a:lnTo>
                  <a:pt x="5273040" y="0"/>
                </a:lnTo>
                <a:lnTo>
                  <a:pt x="5273040" y="1005840"/>
                </a:lnTo>
                <a:lnTo>
                  <a:pt x="0" y="100584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4ECD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9613" y="4373882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2" name="Text 20"/>
          <p:cNvSpPr/>
          <p:nvPr/>
        </p:nvSpPr>
        <p:spPr>
          <a:xfrm>
            <a:off x="962025" y="4328159"/>
            <a:ext cx="483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Accélération des Modèles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5800" y="4632959"/>
            <a:ext cx="510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Moins de features =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entraînement plus rapide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et moins de mémoire requise.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63880" y="5341620"/>
            <a:ext cx="5273040" cy="777240"/>
          </a:xfrm>
          <a:custGeom>
            <a:avLst/>
            <a:gdLst/>
            <a:ahLst/>
            <a:cxnLst/>
            <a:rect l="l" t="t" r="r" b="b"/>
            <a:pathLst>
              <a:path w="5273040" h="777240">
                <a:moveTo>
                  <a:pt x="0" y="0"/>
                </a:moveTo>
                <a:lnTo>
                  <a:pt x="5273040" y="0"/>
                </a:lnTo>
                <a:lnTo>
                  <a:pt x="5273040" y="777240"/>
                </a:lnTo>
                <a:lnTo>
                  <a:pt x="0" y="77724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4ECD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9613" y="5509259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6" name="Text 24"/>
          <p:cNvSpPr/>
          <p:nvPr/>
        </p:nvSpPr>
        <p:spPr>
          <a:xfrm>
            <a:off x="962025" y="5463541"/>
            <a:ext cx="483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Résolution Multicolinéarité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5800" y="5768341"/>
            <a:ext cx="510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Élimine la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redondance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entre features corrélées.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83630" y="1078230"/>
            <a:ext cx="5614035" cy="5442585"/>
          </a:xfrm>
          <a:custGeom>
            <a:avLst/>
            <a:gdLst/>
            <a:ahLst/>
            <a:cxnLst/>
            <a:rect l="l" t="t" r="r" b="b"/>
            <a:pathLst>
              <a:path w="5614035" h="5442585">
                <a:moveTo>
                  <a:pt x="0" y="0"/>
                </a:moveTo>
                <a:lnTo>
                  <a:pt x="5614035" y="0"/>
                </a:lnTo>
                <a:lnTo>
                  <a:pt x="5614035" y="5442585"/>
                </a:lnTo>
                <a:lnTo>
                  <a:pt x="0" y="544258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58890" y="1253489"/>
            <a:ext cx="508635" cy="508635"/>
          </a:xfrm>
          <a:custGeom>
            <a:avLst/>
            <a:gdLst/>
            <a:ahLst/>
            <a:cxnLst/>
            <a:rect l="l" t="t" r="r" b="b"/>
            <a:pathLst>
              <a:path w="508635" h="508635">
                <a:moveTo>
                  <a:pt x="0" y="0"/>
                </a:moveTo>
                <a:lnTo>
                  <a:pt x="508635" y="0"/>
                </a:lnTo>
                <a:lnTo>
                  <a:pt x="508635" y="508635"/>
                </a:lnTo>
                <a:lnTo>
                  <a:pt x="0" y="50863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0480">
            <a:solidFill>
              <a:srgbClr val="2D343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9860" y="139445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71450" y="14288"/>
                </a:moveTo>
                <a:cubicBezTo>
                  <a:pt x="183282" y="14288"/>
                  <a:pt x="192881" y="23887"/>
                  <a:pt x="192881" y="35719"/>
                </a:cubicBezTo>
                <a:cubicBezTo>
                  <a:pt x="192881" y="38532"/>
                  <a:pt x="192301" y="41166"/>
                  <a:pt x="191363" y="43622"/>
                </a:cubicBezTo>
                <a:cubicBezTo>
                  <a:pt x="200471" y="46077"/>
                  <a:pt x="207169" y="54382"/>
                  <a:pt x="207169" y="64294"/>
                </a:cubicBezTo>
                <a:cubicBezTo>
                  <a:pt x="207169" y="68357"/>
                  <a:pt x="206008" y="72152"/>
                  <a:pt x="204043" y="75411"/>
                </a:cubicBezTo>
                <a:cubicBezTo>
                  <a:pt x="213955" y="77286"/>
                  <a:pt x="221456" y="85993"/>
                  <a:pt x="221456" y="96441"/>
                </a:cubicBezTo>
                <a:cubicBezTo>
                  <a:pt x="221456" y="105236"/>
                  <a:pt x="216143" y="112782"/>
                  <a:pt x="208553" y="116086"/>
                </a:cubicBezTo>
                <a:cubicBezTo>
                  <a:pt x="216143" y="119390"/>
                  <a:pt x="221456" y="126936"/>
                  <a:pt x="221456" y="135731"/>
                </a:cubicBezTo>
                <a:cubicBezTo>
                  <a:pt x="221456" y="147563"/>
                  <a:pt x="211857" y="157163"/>
                  <a:pt x="200025" y="157163"/>
                </a:cubicBezTo>
                <a:lnTo>
                  <a:pt x="128588" y="157163"/>
                </a:lnTo>
                <a:lnTo>
                  <a:pt x="141178" y="188595"/>
                </a:lnTo>
                <a:cubicBezTo>
                  <a:pt x="142295" y="191408"/>
                  <a:pt x="142875" y="194444"/>
                  <a:pt x="142875" y="197480"/>
                </a:cubicBezTo>
                <a:lnTo>
                  <a:pt x="142875" y="199355"/>
                </a:lnTo>
                <a:cubicBezTo>
                  <a:pt x="142875" y="211544"/>
                  <a:pt x="133008" y="221412"/>
                  <a:pt x="120819" y="221412"/>
                </a:cubicBezTo>
                <a:cubicBezTo>
                  <a:pt x="112469" y="221412"/>
                  <a:pt x="104835" y="216679"/>
                  <a:pt x="101084" y="209223"/>
                </a:cubicBezTo>
                <a:lnTo>
                  <a:pt x="75947" y="159082"/>
                </a:lnTo>
                <a:cubicBezTo>
                  <a:pt x="72956" y="153144"/>
                  <a:pt x="71438" y="146581"/>
                  <a:pt x="71438" y="139928"/>
                </a:cubicBezTo>
                <a:lnTo>
                  <a:pt x="71438" y="56614"/>
                </a:lnTo>
                <a:cubicBezTo>
                  <a:pt x="71438" y="47952"/>
                  <a:pt x="75411" y="39737"/>
                  <a:pt x="82153" y="34290"/>
                </a:cubicBezTo>
                <a:lnTo>
                  <a:pt x="87600" y="29959"/>
                </a:lnTo>
                <a:cubicBezTo>
                  <a:pt x="100280" y="19824"/>
                  <a:pt x="115997" y="14288"/>
                  <a:pt x="132204" y="14288"/>
                </a:cubicBezTo>
                <a:lnTo>
                  <a:pt x="171450" y="14288"/>
                </a:lnTo>
                <a:close/>
                <a:moveTo>
                  <a:pt x="35719" y="42863"/>
                </a:moveTo>
                <a:cubicBezTo>
                  <a:pt x="43622" y="42863"/>
                  <a:pt x="50006" y="49247"/>
                  <a:pt x="50006" y="57150"/>
                </a:cubicBezTo>
                <a:lnTo>
                  <a:pt x="50006" y="171450"/>
                </a:lnTo>
                <a:cubicBezTo>
                  <a:pt x="50006" y="179353"/>
                  <a:pt x="43622" y="185738"/>
                  <a:pt x="35719" y="185738"/>
                </a:cubicBezTo>
                <a:lnTo>
                  <a:pt x="14288" y="185738"/>
                </a:lnTo>
                <a:cubicBezTo>
                  <a:pt x="6385" y="185738"/>
                  <a:pt x="0" y="179353"/>
                  <a:pt x="0" y="171450"/>
                </a:cubicBezTo>
                <a:lnTo>
                  <a:pt x="0" y="57150"/>
                </a:lnTo>
                <a:cubicBezTo>
                  <a:pt x="0" y="49247"/>
                  <a:pt x="6385" y="42863"/>
                  <a:pt x="14288" y="42863"/>
                </a:cubicBezTo>
                <a:lnTo>
                  <a:pt x="35719" y="4286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6995160" y="1337309"/>
            <a:ext cx="1962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Inconvénients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55080" y="1935479"/>
            <a:ext cx="5273040" cy="1005840"/>
          </a:xfrm>
          <a:custGeom>
            <a:avLst/>
            <a:gdLst/>
            <a:ahLst/>
            <a:cxnLst/>
            <a:rect l="l" t="t" r="r" b="b"/>
            <a:pathLst>
              <a:path w="5273040" h="1005840">
                <a:moveTo>
                  <a:pt x="0" y="0"/>
                </a:moveTo>
                <a:lnTo>
                  <a:pt x="5273040" y="0"/>
                </a:lnTo>
                <a:lnTo>
                  <a:pt x="5273040" y="1005840"/>
                </a:lnTo>
                <a:lnTo>
                  <a:pt x="0" y="100584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FF6B6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00813" y="210312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55922" y="55922"/>
                </a:moveTo>
                <a:cubicBezTo>
                  <a:pt x="59070" y="52774"/>
                  <a:pt x="64160" y="52774"/>
                  <a:pt x="67274" y="55922"/>
                </a:cubicBezTo>
                <a:lnTo>
                  <a:pt x="85692" y="74340"/>
                </a:lnTo>
                <a:lnTo>
                  <a:pt x="104109" y="55922"/>
                </a:lnTo>
                <a:cubicBezTo>
                  <a:pt x="107257" y="52774"/>
                  <a:pt x="112347" y="52774"/>
                  <a:pt x="115461" y="55922"/>
                </a:cubicBezTo>
                <a:cubicBezTo>
                  <a:pt x="118575" y="59070"/>
                  <a:pt x="118609" y="64160"/>
                  <a:pt x="115461" y="67274"/>
                </a:cubicBezTo>
                <a:lnTo>
                  <a:pt x="97043" y="85692"/>
                </a:lnTo>
                <a:lnTo>
                  <a:pt x="115461" y="104109"/>
                </a:lnTo>
                <a:cubicBezTo>
                  <a:pt x="118609" y="107257"/>
                  <a:pt x="118609" y="112347"/>
                  <a:pt x="115461" y="115461"/>
                </a:cubicBezTo>
                <a:cubicBezTo>
                  <a:pt x="112313" y="118575"/>
                  <a:pt x="107223" y="118609"/>
                  <a:pt x="104109" y="115461"/>
                </a:cubicBezTo>
                <a:lnTo>
                  <a:pt x="85692" y="97043"/>
                </a:lnTo>
                <a:lnTo>
                  <a:pt x="67274" y="115461"/>
                </a:lnTo>
                <a:cubicBezTo>
                  <a:pt x="64126" y="118609"/>
                  <a:pt x="59036" y="118609"/>
                  <a:pt x="55922" y="115461"/>
                </a:cubicBezTo>
                <a:cubicBezTo>
                  <a:pt x="52808" y="112313"/>
                  <a:pt x="52774" y="107223"/>
                  <a:pt x="55922" y="104109"/>
                </a:cubicBezTo>
                <a:lnTo>
                  <a:pt x="74340" y="85692"/>
                </a:lnTo>
                <a:lnTo>
                  <a:pt x="55922" y="67274"/>
                </a:lnTo>
                <a:cubicBezTo>
                  <a:pt x="52774" y="64126"/>
                  <a:pt x="52774" y="59036"/>
                  <a:pt x="55922" y="55922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34" name="Text 32"/>
          <p:cNvSpPr/>
          <p:nvPr/>
        </p:nvSpPr>
        <p:spPr>
          <a:xfrm>
            <a:off x="6753225" y="2057400"/>
            <a:ext cx="483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Perte d'Information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77000" y="2362200"/>
            <a:ext cx="510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Réduire =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inévitablement perdre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une partie de l'information, même si minimale.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55080" y="3070861"/>
            <a:ext cx="5273040" cy="1005840"/>
          </a:xfrm>
          <a:custGeom>
            <a:avLst/>
            <a:gdLst/>
            <a:ahLst/>
            <a:cxnLst/>
            <a:rect l="l" t="t" r="r" b="b"/>
            <a:pathLst>
              <a:path w="5273040" h="1005840">
                <a:moveTo>
                  <a:pt x="0" y="0"/>
                </a:moveTo>
                <a:lnTo>
                  <a:pt x="5273040" y="0"/>
                </a:lnTo>
                <a:lnTo>
                  <a:pt x="5273040" y="1005840"/>
                </a:lnTo>
                <a:lnTo>
                  <a:pt x="0" y="100584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FF6B6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00813" y="32385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55922" y="55922"/>
                </a:moveTo>
                <a:cubicBezTo>
                  <a:pt x="59070" y="52774"/>
                  <a:pt x="64160" y="52774"/>
                  <a:pt x="67274" y="55922"/>
                </a:cubicBezTo>
                <a:lnTo>
                  <a:pt x="85692" y="74340"/>
                </a:lnTo>
                <a:lnTo>
                  <a:pt x="104109" y="55922"/>
                </a:lnTo>
                <a:cubicBezTo>
                  <a:pt x="107257" y="52774"/>
                  <a:pt x="112347" y="52774"/>
                  <a:pt x="115461" y="55922"/>
                </a:cubicBezTo>
                <a:cubicBezTo>
                  <a:pt x="118575" y="59070"/>
                  <a:pt x="118609" y="64160"/>
                  <a:pt x="115461" y="67274"/>
                </a:cubicBezTo>
                <a:lnTo>
                  <a:pt x="97043" y="85692"/>
                </a:lnTo>
                <a:lnTo>
                  <a:pt x="115461" y="104109"/>
                </a:lnTo>
                <a:cubicBezTo>
                  <a:pt x="118609" y="107257"/>
                  <a:pt x="118609" y="112347"/>
                  <a:pt x="115461" y="115461"/>
                </a:cubicBezTo>
                <a:cubicBezTo>
                  <a:pt x="112313" y="118575"/>
                  <a:pt x="107223" y="118609"/>
                  <a:pt x="104109" y="115461"/>
                </a:cubicBezTo>
                <a:lnTo>
                  <a:pt x="85692" y="97043"/>
                </a:lnTo>
                <a:lnTo>
                  <a:pt x="67274" y="115461"/>
                </a:lnTo>
                <a:cubicBezTo>
                  <a:pt x="64126" y="118609"/>
                  <a:pt x="59036" y="118609"/>
                  <a:pt x="55922" y="115461"/>
                </a:cubicBezTo>
                <a:cubicBezTo>
                  <a:pt x="52808" y="112313"/>
                  <a:pt x="52774" y="107223"/>
                  <a:pt x="55922" y="104109"/>
                </a:cubicBezTo>
                <a:lnTo>
                  <a:pt x="74340" y="85692"/>
                </a:lnTo>
                <a:lnTo>
                  <a:pt x="55922" y="67274"/>
                </a:lnTo>
                <a:cubicBezTo>
                  <a:pt x="52774" y="64126"/>
                  <a:pt x="52774" y="59036"/>
                  <a:pt x="55922" y="55922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38" name="Text 36"/>
          <p:cNvSpPr/>
          <p:nvPr/>
        </p:nvSpPr>
        <p:spPr>
          <a:xfrm>
            <a:off x="6753225" y="3192782"/>
            <a:ext cx="483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Perte d'Interprétabilité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77000" y="3497582"/>
            <a:ext cx="510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Les nouvelles dimensions sont des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combinaisons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— difficile d'expliquer leur signification.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55080" y="4206243"/>
            <a:ext cx="5273040" cy="1005840"/>
          </a:xfrm>
          <a:custGeom>
            <a:avLst/>
            <a:gdLst/>
            <a:ahLst/>
            <a:cxnLst/>
            <a:rect l="l" t="t" r="r" b="b"/>
            <a:pathLst>
              <a:path w="5273040" h="1005840">
                <a:moveTo>
                  <a:pt x="0" y="0"/>
                </a:moveTo>
                <a:lnTo>
                  <a:pt x="5273040" y="0"/>
                </a:lnTo>
                <a:lnTo>
                  <a:pt x="5273040" y="1005840"/>
                </a:lnTo>
                <a:lnTo>
                  <a:pt x="0" y="100584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FF6B6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00813" y="4373882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55922" y="55922"/>
                </a:moveTo>
                <a:cubicBezTo>
                  <a:pt x="59070" y="52774"/>
                  <a:pt x="64160" y="52774"/>
                  <a:pt x="67274" y="55922"/>
                </a:cubicBezTo>
                <a:lnTo>
                  <a:pt x="85692" y="74340"/>
                </a:lnTo>
                <a:lnTo>
                  <a:pt x="104109" y="55922"/>
                </a:lnTo>
                <a:cubicBezTo>
                  <a:pt x="107257" y="52774"/>
                  <a:pt x="112347" y="52774"/>
                  <a:pt x="115461" y="55922"/>
                </a:cubicBezTo>
                <a:cubicBezTo>
                  <a:pt x="118575" y="59070"/>
                  <a:pt x="118609" y="64160"/>
                  <a:pt x="115461" y="67274"/>
                </a:cubicBezTo>
                <a:lnTo>
                  <a:pt x="97043" y="85692"/>
                </a:lnTo>
                <a:lnTo>
                  <a:pt x="115461" y="104109"/>
                </a:lnTo>
                <a:cubicBezTo>
                  <a:pt x="118609" y="107257"/>
                  <a:pt x="118609" y="112347"/>
                  <a:pt x="115461" y="115461"/>
                </a:cubicBezTo>
                <a:cubicBezTo>
                  <a:pt x="112313" y="118575"/>
                  <a:pt x="107223" y="118609"/>
                  <a:pt x="104109" y="115461"/>
                </a:cubicBezTo>
                <a:lnTo>
                  <a:pt x="85692" y="97043"/>
                </a:lnTo>
                <a:lnTo>
                  <a:pt x="67274" y="115461"/>
                </a:lnTo>
                <a:cubicBezTo>
                  <a:pt x="64126" y="118609"/>
                  <a:pt x="59036" y="118609"/>
                  <a:pt x="55922" y="115461"/>
                </a:cubicBezTo>
                <a:cubicBezTo>
                  <a:pt x="52808" y="112313"/>
                  <a:pt x="52774" y="107223"/>
                  <a:pt x="55922" y="104109"/>
                </a:cubicBezTo>
                <a:lnTo>
                  <a:pt x="74340" y="85692"/>
                </a:lnTo>
                <a:lnTo>
                  <a:pt x="55922" y="67274"/>
                </a:lnTo>
                <a:cubicBezTo>
                  <a:pt x="52774" y="64126"/>
                  <a:pt x="52774" y="59036"/>
                  <a:pt x="55922" y="55922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42" name="Text 40"/>
          <p:cNvSpPr/>
          <p:nvPr/>
        </p:nvSpPr>
        <p:spPr>
          <a:xfrm>
            <a:off x="6753225" y="4328159"/>
            <a:ext cx="483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Choix du Nombre de Composantes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77000" y="4632959"/>
            <a:ext cx="510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Décider combien de composantes garder est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arbitraire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— compromis information/complexité.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55080" y="5341620"/>
            <a:ext cx="5273040" cy="1005840"/>
          </a:xfrm>
          <a:custGeom>
            <a:avLst/>
            <a:gdLst/>
            <a:ahLst/>
            <a:cxnLst/>
            <a:rect l="l" t="t" r="r" b="b"/>
            <a:pathLst>
              <a:path w="5273040" h="1005840">
                <a:moveTo>
                  <a:pt x="0" y="0"/>
                </a:moveTo>
                <a:lnTo>
                  <a:pt x="5273040" y="0"/>
                </a:lnTo>
                <a:lnTo>
                  <a:pt x="5273040" y="1005840"/>
                </a:lnTo>
                <a:lnTo>
                  <a:pt x="0" y="100584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FF6B6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00813" y="5509259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55922" y="55922"/>
                </a:moveTo>
                <a:cubicBezTo>
                  <a:pt x="59070" y="52774"/>
                  <a:pt x="64160" y="52774"/>
                  <a:pt x="67274" y="55922"/>
                </a:cubicBezTo>
                <a:lnTo>
                  <a:pt x="85692" y="74340"/>
                </a:lnTo>
                <a:lnTo>
                  <a:pt x="104109" y="55922"/>
                </a:lnTo>
                <a:cubicBezTo>
                  <a:pt x="107257" y="52774"/>
                  <a:pt x="112347" y="52774"/>
                  <a:pt x="115461" y="55922"/>
                </a:cubicBezTo>
                <a:cubicBezTo>
                  <a:pt x="118575" y="59070"/>
                  <a:pt x="118609" y="64160"/>
                  <a:pt x="115461" y="67274"/>
                </a:cubicBezTo>
                <a:lnTo>
                  <a:pt x="97043" y="85692"/>
                </a:lnTo>
                <a:lnTo>
                  <a:pt x="115461" y="104109"/>
                </a:lnTo>
                <a:cubicBezTo>
                  <a:pt x="118609" y="107257"/>
                  <a:pt x="118609" y="112347"/>
                  <a:pt x="115461" y="115461"/>
                </a:cubicBezTo>
                <a:cubicBezTo>
                  <a:pt x="112313" y="118575"/>
                  <a:pt x="107223" y="118609"/>
                  <a:pt x="104109" y="115461"/>
                </a:cubicBezTo>
                <a:lnTo>
                  <a:pt x="85692" y="97043"/>
                </a:lnTo>
                <a:lnTo>
                  <a:pt x="67274" y="115461"/>
                </a:lnTo>
                <a:cubicBezTo>
                  <a:pt x="64126" y="118609"/>
                  <a:pt x="59036" y="118609"/>
                  <a:pt x="55922" y="115461"/>
                </a:cubicBezTo>
                <a:cubicBezTo>
                  <a:pt x="52808" y="112313"/>
                  <a:pt x="52774" y="107223"/>
                  <a:pt x="55922" y="104109"/>
                </a:cubicBezTo>
                <a:lnTo>
                  <a:pt x="74340" y="85692"/>
                </a:lnTo>
                <a:lnTo>
                  <a:pt x="55922" y="67274"/>
                </a:lnTo>
                <a:cubicBezTo>
                  <a:pt x="52774" y="64126"/>
                  <a:pt x="52774" y="59036"/>
                  <a:pt x="55922" y="55922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46" name="Text 44"/>
          <p:cNvSpPr/>
          <p:nvPr/>
        </p:nvSpPr>
        <p:spPr>
          <a:xfrm>
            <a:off x="6753225" y="5463541"/>
            <a:ext cx="483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PCA Linéaire Limité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477000" y="5768341"/>
            <a:ext cx="510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PCA ne capture que les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relations linéaires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— échoue sur structures complexes non linéaires.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213631" y="213635"/>
            <a:ext cx="641946" cy="641946"/>
          </a:xfrm>
          <a:custGeom>
            <a:avLst/>
            <a:gdLst/>
            <a:ahLst/>
            <a:cxnLst/>
            <a:rect l="l" t="t" r="r" b="b"/>
            <a:pathLst>
              <a:path w="641946" h="641946">
                <a:moveTo>
                  <a:pt x="0" y="0"/>
                </a:moveTo>
                <a:lnTo>
                  <a:pt x="641946" y="0"/>
                </a:lnTo>
                <a:lnTo>
                  <a:pt x="641946" y="641946"/>
                </a:lnTo>
                <a:lnTo>
                  <a:pt x="0" y="641946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3176" dir="2700000">
              <a:srgbClr val="2d3436">
                <a:alpha val="1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1208450" y="540761"/>
            <a:ext cx="442893" cy="442893"/>
          </a:xfrm>
          <a:custGeom>
            <a:avLst/>
            <a:gdLst/>
            <a:ahLst/>
            <a:cxnLst/>
            <a:rect l="l" t="t" r="r" b="b"/>
            <a:pathLst>
              <a:path w="442893" h="442893">
                <a:moveTo>
                  <a:pt x="221447" y="0"/>
                </a:moveTo>
                <a:lnTo>
                  <a:pt x="221447" y="0"/>
                </a:lnTo>
                <a:cubicBezTo>
                  <a:pt x="343748" y="0"/>
                  <a:pt x="442893" y="99145"/>
                  <a:pt x="442893" y="221447"/>
                </a:cubicBezTo>
                <a:lnTo>
                  <a:pt x="442893" y="221447"/>
                </a:lnTo>
                <a:cubicBezTo>
                  <a:pt x="442893" y="343748"/>
                  <a:pt x="343748" y="442893"/>
                  <a:pt x="221447" y="442893"/>
                </a:cubicBezTo>
                <a:lnTo>
                  <a:pt x="221447" y="442893"/>
                </a:lnTo>
                <a:cubicBezTo>
                  <a:pt x="99145" y="442893"/>
                  <a:pt x="0" y="343748"/>
                  <a:pt x="0" y="221447"/>
                </a:cubicBezTo>
                <a:lnTo>
                  <a:pt x="0" y="221447"/>
                </a:lnTo>
                <a:cubicBezTo>
                  <a:pt x="0" y="99145"/>
                  <a:pt x="99145" y="0"/>
                  <a:pt x="221447" y="0"/>
                </a:cubicBezTo>
                <a:close/>
              </a:path>
            </a:pathLst>
          </a:custGeom>
          <a:solidFill>
            <a:srgbClr val="FF6B6B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3176" dir="2700000">
              <a:srgbClr val="2d3436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341152" y="5541969"/>
            <a:ext cx="310191" cy="774648"/>
          </a:xfrm>
          <a:custGeom>
            <a:avLst/>
            <a:gdLst/>
            <a:ahLst/>
            <a:cxnLst/>
            <a:rect l="l" t="t" r="r" b="b"/>
            <a:pathLst>
              <a:path w="310191" h="774648">
                <a:moveTo>
                  <a:pt x="0" y="0"/>
                </a:moveTo>
                <a:lnTo>
                  <a:pt x="310191" y="0"/>
                </a:lnTo>
                <a:lnTo>
                  <a:pt x="310191" y="774648"/>
                </a:lnTo>
                <a:lnTo>
                  <a:pt x="0" y="774648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3176" dir="2700000">
              <a:srgbClr val="2d3436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6165" y="5807373"/>
            <a:ext cx="509244" cy="243840"/>
          </a:xfrm>
          <a:custGeom>
            <a:avLst/>
            <a:gdLst/>
            <a:ahLst/>
            <a:cxnLst/>
            <a:rect l="l" t="t" r="r" b="b"/>
            <a:pathLst>
              <a:path w="509244" h="243840">
                <a:moveTo>
                  <a:pt x="0" y="0"/>
                </a:moveTo>
                <a:lnTo>
                  <a:pt x="509244" y="0"/>
                </a:lnTo>
                <a:lnTo>
                  <a:pt x="509244" y="243840"/>
                </a:lnTo>
                <a:lnTo>
                  <a:pt x="0" y="243840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3176" dir="2700000">
              <a:srgbClr val="2d3436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1708" y="341708"/>
            <a:ext cx="442893" cy="442893"/>
          </a:xfrm>
          <a:custGeom>
            <a:avLst/>
            <a:gdLst/>
            <a:ahLst/>
            <a:cxnLst/>
            <a:rect l="l" t="t" r="r" b="b"/>
            <a:pathLst>
              <a:path w="442893" h="442893">
                <a:moveTo>
                  <a:pt x="0" y="0"/>
                </a:moveTo>
                <a:lnTo>
                  <a:pt x="442893" y="0"/>
                </a:lnTo>
                <a:lnTo>
                  <a:pt x="442893" y="442893"/>
                </a:lnTo>
                <a:lnTo>
                  <a:pt x="0" y="442893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30480">
            <a:solidFill>
              <a:srgbClr val="2D34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5663" y="414694"/>
            <a:ext cx="257110" cy="298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59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28914" y="398106"/>
            <a:ext cx="4039118" cy="331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51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Famille: Règles d'Association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35549" y="869198"/>
            <a:ext cx="784601" cy="54740"/>
          </a:xfrm>
          <a:custGeom>
            <a:avLst/>
            <a:gdLst/>
            <a:ahLst/>
            <a:cxnLst/>
            <a:rect l="l" t="t" r="r" b="b"/>
            <a:pathLst>
              <a:path w="784601" h="54740">
                <a:moveTo>
                  <a:pt x="0" y="0"/>
                </a:moveTo>
                <a:lnTo>
                  <a:pt x="784601" y="0"/>
                </a:lnTo>
                <a:lnTo>
                  <a:pt x="784601" y="54740"/>
                </a:lnTo>
                <a:lnTo>
                  <a:pt x="0" y="54740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1708" y="1071569"/>
            <a:ext cx="5676330" cy="1803089"/>
          </a:xfrm>
          <a:custGeom>
            <a:avLst/>
            <a:gdLst/>
            <a:ahLst/>
            <a:cxnLst/>
            <a:rect l="l" t="t" r="r" b="b"/>
            <a:pathLst>
              <a:path w="5676330" h="1803089">
                <a:moveTo>
                  <a:pt x="0" y="0"/>
                </a:moveTo>
                <a:lnTo>
                  <a:pt x="5676330" y="0"/>
                </a:lnTo>
                <a:lnTo>
                  <a:pt x="5676330" y="1803089"/>
                </a:lnTo>
                <a:lnTo>
                  <a:pt x="0" y="180308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362" y="1214223"/>
            <a:ext cx="5490547" cy="2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7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Objectif Principal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362" y="1579052"/>
            <a:ext cx="5457371" cy="431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45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Les </a:t>
            </a:r>
            <a:pPr>
              <a:lnSpc>
                <a:spcPct val="140000"/>
              </a:lnSpc>
            </a:pPr>
            <a:r>
              <a:rPr lang="en-US" sz="1045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règles d'association</a:t>
            </a:r>
            <a:pPr>
              <a:lnSpc>
                <a:spcPct val="140000"/>
              </a:lnSpc>
            </a:pPr>
            <a:r>
              <a:rPr lang="en-US" sz="1045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visent à </a:t>
            </a:r>
            <a:pPr>
              <a:lnSpc>
                <a:spcPct val="140000"/>
              </a:lnSpc>
            </a:pPr>
            <a:r>
              <a:rPr lang="en-US" sz="1045" dirty="0">
                <a:solidFill>
                  <a:srgbClr val="2D3436"/>
                </a:solidFill>
                <a:highlight>
                  <a:srgbClr val="FFE66D">
                    <a:alpha val="100000"/>
                  </a:srgbClr>
                </a:highlight>
                <a:latin typeface="Coda" pitchFamily="34" charset="0"/>
                <a:ea typeface="Coda" pitchFamily="34" charset="-122"/>
                <a:cs typeface="Coda" pitchFamily="34" charset="-120"/>
              </a:rPr>
              <a:t>découvrir des relations fréquentes </a:t>
            </a:r>
            <a:pPr>
              <a:lnSpc>
                <a:spcPct val="140000"/>
              </a:lnSpc>
            </a:pPr>
            <a:r>
              <a:rPr lang="en-US" sz="1045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entre variables dans de grandes bases de données transactionnelles.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0998" y="2116495"/>
            <a:ext cx="5379409" cy="610429"/>
          </a:xfrm>
          <a:custGeom>
            <a:avLst/>
            <a:gdLst/>
            <a:ahLst/>
            <a:cxnLst/>
            <a:rect l="l" t="t" r="r" b="b"/>
            <a:pathLst>
              <a:path w="5379409" h="610429">
                <a:moveTo>
                  <a:pt x="0" y="0"/>
                </a:moveTo>
                <a:lnTo>
                  <a:pt x="5379409" y="0"/>
                </a:lnTo>
                <a:lnTo>
                  <a:pt x="5379409" y="610429"/>
                </a:lnTo>
                <a:lnTo>
                  <a:pt x="0" y="610429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4ECD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7159" y="2222658"/>
            <a:ext cx="5233437" cy="398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Exemple concret:</a:t>
            </a:r>
            <a:pPr>
              <a:lnSpc>
                <a:spcPct val="130000"/>
              </a:lnSpc>
            </a:pPr>
            <a:r>
              <a:rPr lang="en-US" sz="1045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"Si un client achète du pain et du beurre, il achète probablement aussi de la confiture."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41708" y="3028823"/>
            <a:ext cx="5676330" cy="3619448"/>
          </a:xfrm>
          <a:custGeom>
            <a:avLst/>
            <a:gdLst/>
            <a:ahLst/>
            <a:cxnLst/>
            <a:rect l="l" t="t" r="r" b="b"/>
            <a:pathLst>
              <a:path w="5676330" h="3619448">
                <a:moveTo>
                  <a:pt x="0" y="0"/>
                </a:moveTo>
                <a:lnTo>
                  <a:pt x="5676330" y="0"/>
                </a:lnTo>
                <a:lnTo>
                  <a:pt x="5676330" y="3619448"/>
                </a:lnTo>
                <a:lnTo>
                  <a:pt x="0" y="36194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362" y="3171477"/>
            <a:ext cx="5490547" cy="2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7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Concepts Clés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90998" y="3542937"/>
            <a:ext cx="5379409" cy="676780"/>
          </a:xfrm>
          <a:custGeom>
            <a:avLst/>
            <a:gdLst/>
            <a:ahLst/>
            <a:cxnLst/>
            <a:rect l="l" t="t" r="r" b="b"/>
            <a:pathLst>
              <a:path w="5379409" h="676780">
                <a:moveTo>
                  <a:pt x="0" y="0"/>
                </a:moveTo>
                <a:lnTo>
                  <a:pt x="5379409" y="0"/>
                </a:lnTo>
                <a:lnTo>
                  <a:pt x="5379409" y="676780"/>
                </a:lnTo>
                <a:lnTo>
                  <a:pt x="0" y="67678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FF6B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7159" y="3649100"/>
            <a:ext cx="5241731" cy="23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6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Support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7159" y="3914504"/>
            <a:ext cx="5233437" cy="199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Fréquence</a:t>
            </a:r>
            <a:pPr>
              <a:lnSpc>
                <a:spcPct val="130000"/>
              </a:lnSpc>
            </a:pPr>
            <a:r>
              <a:rPr lang="en-US" sz="1045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d'apparition d'un itemset dans la base de données.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90998" y="4332516"/>
            <a:ext cx="5379409" cy="676780"/>
          </a:xfrm>
          <a:custGeom>
            <a:avLst/>
            <a:gdLst/>
            <a:ahLst/>
            <a:cxnLst/>
            <a:rect l="l" t="t" r="r" b="b"/>
            <a:pathLst>
              <a:path w="5379409" h="676780">
                <a:moveTo>
                  <a:pt x="0" y="0"/>
                </a:moveTo>
                <a:lnTo>
                  <a:pt x="5379409" y="0"/>
                </a:lnTo>
                <a:lnTo>
                  <a:pt x="5379409" y="676780"/>
                </a:lnTo>
                <a:lnTo>
                  <a:pt x="0" y="67678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4ECD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7159" y="4438678"/>
            <a:ext cx="5241731" cy="23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6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Confiance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7159" y="4704082"/>
            <a:ext cx="5233437" cy="199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Probabilité conditionnelle</a:t>
            </a:r>
            <a:pPr>
              <a:lnSpc>
                <a:spcPct val="130000"/>
              </a:lnSpc>
            </a:pPr>
            <a:r>
              <a:rPr lang="en-US" sz="1045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qu'une règle soit vraie.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90998" y="5122091"/>
            <a:ext cx="5379409" cy="676780"/>
          </a:xfrm>
          <a:custGeom>
            <a:avLst/>
            <a:gdLst/>
            <a:ahLst/>
            <a:cxnLst/>
            <a:rect l="l" t="t" r="r" b="b"/>
            <a:pathLst>
              <a:path w="5379409" h="676780">
                <a:moveTo>
                  <a:pt x="0" y="0"/>
                </a:moveTo>
                <a:lnTo>
                  <a:pt x="5379409" y="0"/>
                </a:lnTo>
                <a:lnTo>
                  <a:pt x="5379409" y="676780"/>
                </a:lnTo>
                <a:lnTo>
                  <a:pt x="0" y="676780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20320">
            <a:solidFill>
              <a:srgbClr val="FFE66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7159" y="5228253"/>
            <a:ext cx="5241731" cy="23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6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Lift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97159" y="5493657"/>
            <a:ext cx="5233437" cy="199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Force de la relation</a:t>
            </a:r>
            <a:pPr>
              <a:lnSpc>
                <a:spcPct val="130000"/>
              </a:lnSpc>
            </a:pPr>
            <a:r>
              <a:rPr lang="en-US" sz="1045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— mesure à quel point la règle est intéressante.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73133" y="1071569"/>
            <a:ext cx="5676330" cy="2574420"/>
          </a:xfrm>
          <a:custGeom>
            <a:avLst/>
            <a:gdLst/>
            <a:ahLst/>
            <a:cxnLst/>
            <a:rect l="l" t="t" r="r" b="b"/>
            <a:pathLst>
              <a:path w="5676330" h="2574420">
                <a:moveTo>
                  <a:pt x="0" y="0"/>
                </a:moveTo>
                <a:lnTo>
                  <a:pt x="5676330" y="0"/>
                </a:lnTo>
                <a:lnTo>
                  <a:pt x="5676330" y="2574420"/>
                </a:lnTo>
                <a:lnTo>
                  <a:pt x="0" y="25744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315788" y="1214223"/>
            <a:ext cx="5490547" cy="2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7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Quand Utiliser?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22423" y="1585687"/>
            <a:ext cx="320144" cy="320144"/>
          </a:xfrm>
          <a:custGeom>
            <a:avLst/>
            <a:gdLst/>
            <a:ahLst/>
            <a:cxnLst/>
            <a:rect l="l" t="t" r="r" b="b"/>
            <a:pathLst>
              <a:path w="320144" h="320144">
                <a:moveTo>
                  <a:pt x="0" y="0"/>
                </a:moveTo>
                <a:lnTo>
                  <a:pt x="320144" y="0"/>
                </a:lnTo>
                <a:lnTo>
                  <a:pt x="320144" y="320144"/>
                </a:lnTo>
                <a:lnTo>
                  <a:pt x="0" y="320144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7020" y="1678579"/>
            <a:ext cx="149290" cy="132702"/>
          </a:xfrm>
          <a:custGeom>
            <a:avLst/>
            <a:gdLst/>
            <a:ahLst/>
            <a:cxnLst/>
            <a:rect l="l" t="t" r="r" b="b"/>
            <a:pathLst>
              <a:path w="149290" h="132702">
                <a:moveTo>
                  <a:pt x="74645" y="0"/>
                </a:moveTo>
                <a:cubicBezTo>
                  <a:pt x="76356" y="0"/>
                  <a:pt x="77988" y="700"/>
                  <a:pt x="79155" y="1944"/>
                </a:cubicBezTo>
                <a:lnTo>
                  <a:pt x="116477" y="41340"/>
                </a:lnTo>
                <a:lnTo>
                  <a:pt x="116607" y="41469"/>
                </a:lnTo>
                <a:lnTo>
                  <a:pt x="136849" y="41469"/>
                </a:lnTo>
                <a:cubicBezTo>
                  <a:pt x="141437" y="41469"/>
                  <a:pt x="145143" y="45176"/>
                  <a:pt x="145143" y="49763"/>
                </a:cubicBezTo>
                <a:cubicBezTo>
                  <a:pt x="145143" y="53521"/>
                  <a:pt x="142655" y="56683"/>
                  <a:pt x="139233" y="57720"/>
                </a:cubicBezTo>
                <a:lnTo>
                  <a:pt x="127285" y="111423"/>
                </a:lnTo>
                <a:cubicBezTo>
                  <a:pt x="125600" y="119017"/>
                  <a:pt x="118862" y="124408"/>
                  <a:pt x="111086" y="124408"/>
                </a:cubicBezTo>
                <a:lnTo>
                  <a:pt x="38178" y="124408"/>
                </a:lnTo>
                <a:cubicBezTo>
                  <a:pt x="30402" y="124408"/>
                  <a:pt x="23663" y="119017"/>
                  <a:pt x="21979" y="111423"/>
                </a:cubicBezTo>
                <a:lnTo>
                  <a:pt x="10056" y="57720"/>
                </a:lnTo>
                <a:cubicBezTo>
                  <a:pt x="6635" y="56709"/>
                  <a:pt x="4147" y="53521"/>
                  <a:pt x="4147" y="49763"/>
                </a:cubicBezTo>
                <a:cubicBezTo>
                  <a:pt x="4147" y="45176"/>
                  <a:pt x="7853" y="41469"/>
                  <a:pt x="12441" y="41469"/>
                </a:cubicBezTo>
                <a:lnTo>
                  <a:pt x="32683" y="41469"/>
                </a:lnTo>
                <a:lnTo>
                  <a:pt x="32813" y="41340"/>
                </a:lnTo>
                <a:lnTo>
                  <a:pt x="70135" y="1944"/>
                </a:lnTo>
                <a:cubicBezTo>
                  <a:pt x="71301" y="700"/>
                  <a:pt x="72934" y="0"/>
                  <a:pt x="74645" y="0"/>
                </a:cubicBezTo>
                <a:close/>
                <a:moveTo>
                  <a:pt x="74645" y="15266"/>
                </a:moveTo>
                <a:lnTo>
                  <a:pt x="49815" y="41469"/>
                </a:lnTo>
                <a:lnTo>
                  <a:pt x="99475" y="41469"/>
                </a:lnTo>
                <a:lnTo>
                  <a:pt x="74645" y="15266"/>
                </a:lnTo>
                <a:close/>
                <a:moveTo>
                  <a:pt x="53910" y="68424"/>
                </a:moveTo>
                <a:cubicBezTo>
                  <a:pt x="53910" y="64977"/>
                  <a:pt x="51137" y="62204"/>
                  <a:pt x="47690" y="62204"/>
                </a:cubicBezTo>
                <a:cubicBezTo>
                  <a:pt x="44243" y="62204"/>
                  <a:pt x="41469" y="64977"/>
                  <a:pt x="41469" y="68424"/>
                </a:cubicBezTo>
                <a:lnTo>
                  <a:pt x="41469" y="97453"/>
                </a:lnTo>
                <a:cubicBezTo>
                  <a:pt x="41469" y="100900"/>
                  <a:pt x="44243" y="103673"/>
                  <a:pt x="47690" y="103673"/>
                </a:cubicBezTo>
                <a:cubicBezTo>
                  <a:pt x="51137" y="103673"/>
                  <a:pt x="53910" y="100900"/>
                  <a:pt x="53910" y="97453"/>
                </a:cubicBezTo>
                <a:lnTo>
                  <a:pt x="53910" y="68424"/>
                </a:lnTo>
                <a:close/>
                <a:moveTo>
                  <a:pt x="74645" y="62204"/>
                </a:moveTo>
                <a:cubicBezTo>
                  <a:pt x="71198" y="62204"/>
                  <a:pt x="68424" y="64977"/>
                  <a:pt x="68424" y="68424"/>
                </a:cubicBezTo>
                <a:lnTo>
                  <a:pt x="68424" y="97453"/>
                </a:lnTo>
                <a:cubicBezTo>
                  <a:pt x="68424" y="100900"/>
                  <a:pt x="71198" y="103673"/>
                  <a:pt x="74645" y="103673"/>
                </a:cubicBezTo>
                <a:cubicBezTo>
                  <a:pt x="78092" y="103673"/>
                  <a:pt x="80865" y="100900"/>
                  <a:pt x="80865" y="97453"/>
                </a:cubicBezTo>
                <a:lnTo>
                  <a:pt x="80865" y="68424"/>
                </a:lnTo>
                <a:cubicBezTo>
                  <a:pt x="80865" y="64977"/>
                  <a:pt x="78092" y="62204"/>
                  <a:pt x="74645" y="62204"/>
                </a:cubicBezTo>
                <a:close/>
                <a:moveTo>
                  <a:pt x="107820" y="68424"/>
                </a:moveTo>
                <a:cubicBezTo>
                  <a:pt x="107820" y="64977"/>
                  <a:pt x="105047" y="62204"/>
                  <a:pt x="101600" y="62204"/>
                </a:cubicBezTo>
                <a:cubicBezTo>
                  <a:pt x="98153" y="62204"/>
                  <a:pt x="95380" y="64977"/>
                  <a:pt x="95380" y="68424"/>
                </a:cubicBezTo>
                <a:lnTo>
                  <a:pt x="95380" y="97453"/>
                </a:lnTo>
                <a:cubicBezTo>
                  <a:pt x="95380" y="100900"/>
                  <a:pt x="98153" y="103673"/>
                  <a:pt x="101600" y="103673"/>
                </a:cubicBezTo>
                <a:cubicBezTo>
                  <a:pt x="105047" y="103673"/>
                  <a:pt x="107820" y="100900"/>
                  <a:pt x="107820" y="97453"/>
                </a:cubicBezTo>
                <a:lnTo>
                  <a:pt x="107820" y="68424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30" name="Text 28"/>
          <p:cNvSpPr/>
          <p:nvPr/>
        </p:nvSpPr>
        <p:spPr>
          <a:xfrm>
            <a:off x="6713894" y="1579052"/>
            <a:ext cx="3475135" cy="23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6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Analyse de Panier de Marché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713894" y="1811281"/>
            <a:ext cx="3466841" cy="199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Découvrir quels produits sont souvent achetés ensemble.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22423" y="2083320"/>
            <a:ext cx="320144" cy="320144"/>
          </a:xfrm>
          <a:custGeom>
            <a:avLst/>
            <a:gdLst/>
            <a:ahLst/>
            <a:cxnLst/>
            <a:rect l="l" t="t" r="r" b="b"/>
            <a:pathLst>
              <a:path w="320144" h="320144">
                <a:moveTo>
                  <a:pt x="0" y="0"/>
                </a:moveTo>
                <a:lnTo>
                  <a:pt x="320144" y="0"/>
                </a:lnTo>
                <a:lnTo>
                  <a:pt x="320144" y="320144"/>
                </a:lnTo>
                <a:lnTo>
                  <a:pt x="0" y="320144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15314" y="2176211"/>
            <a:ext cx="132702" cy="132702"/>
          </a:xfrm>
          <a:custGeom>
            <a:avLst/>
            <a:gdLst/>
            <a:ahLst/>
            <a:cxnLst/>
            <a:rect l="l" t="t" r="r" b="b"/>
            <a:pathLst>
              <a:path w="132702" h="132702">
                <a:moveTo>
                  <a:pt x="17080" y="59223"/>
                </a:moveTo>
                <a:cubicBezTo>
                  <a:pt x="20527" y="35119"/>
                  <a:pt x="41288" y="16588"/>
                  <a:pt x="66351" y="16588"/>
                </a:cubicBezTo>
                <a:cubicBezTo>
                  <a:pt x="80088" y="16588"/>
                  <a:pt x="92529" y="22160"/>
                  <a:pt x="101548" y="31154"/>
                </a:cubicBezTo>
                <a:cubicBezTo>
                  <a:pt x="101600" y="31206"/>
                  <a:pt x="101652" y="31258"/>
                  <a:pt x="101704" y="31309"/>
                </a:cubicBezTo>
                <a:lnTo>
                  <a:pt x="103673" y="33176"/>
                </a:lnTo>
                <a:lnTo>
                  <a:pt x="91259" y="33176"/>
                </a:lnTo>
                <a:cubicBezTo>
                  <a:pt x="86671" y="33176"/>
                  <a:pt x="82965" y="36882"/>
                  <a:pt x="82965" y="41469"/>
                </a:cubicBezTo>
                <a:cubicBezTo>
                  <a:pt x="82965" y="46057"/>
                  <a:pt x="86671" y="49763"/>
                  <a:pt x="91259" y="49763"/>
                </a:cubicBezTo>
                <a:lnTo>
                  <a:pt x="124434" y="49763"/>
                </a:lnTo>
                <a:cubicBezTo>
                  <a:pt x="129022" y="49763"/>
                  <a:pt x="132728" y="46057"/>
                  <a:pt x="132728" y="41469"/>
                </a:cubicBezTo>
                <a:lnTo>
                  <a:pt x="132728" y="8294"/>
                </a:lnTo>
                <a:cubicBezTo>
                  <a:pt x="132728" y="3706"/>
                  <a:pt x="129022" y="0"/>
                  <a:pt x="124434" y="0"/>
                </a:cubicBezTo>
                <a:cubicBezTo>
                  <a:pt x="119847" y="0"/>
                  <a:pt x="116140" y="3706"/>
                  <a:pt x="116140" y="8294"/>
                </a:cubicBezTo>
                <a:lnTo>
                  <a:pt x="116140" y="22134"/>
                </a:lnTo>
                <a:lnTo>
                  <a:pt x="113211" y="19361"/>
                </a:lnTo>
                <a:cubicBezTo>
                  <a:pt x="101211" y="7413"/>
                  <a:pt x="84623" y="0"/>
                  <a:pt x="66351" y="0"/>
                </a:cubicBezTo>
                <a:cubicBezTo>
                  <a:pt x="32916" y="0"/>
                  <a:pt x="5261" y="24726"/>
                  <a:pt x="674" y="56891"/>
                </a:cubicBezTo>
                <a:cubicBezTo>
                  <a:pt x="26" y="61427"/>
                  <a:pt x="3162" y="65625"/>
                  <a:pt x="7698" y="66273"/>
                </a:cubicBezTo>
                <a:cubicBezTo>
                  <a:pt x="12233" y="66921"/>
                  <a:pt x="16432" y="63759"/>
                  <a:pt x="17080" y="59249"/>
                </a:cubicBezTo>
                <a:close/>
                <a:moveTo>
                  <a:pt x="132028" y="75811"/>
                </a:moveTo>
                <a:cubicBezTo>
                  <a:pt x="132676" y="71276"/>
                  <a:pt x="129514" y="67077"/>
                  <a:pt x="125004" y="66429"/>
                </a:cubicBezTo>
                <a:cubicBezTo>
                  <a:pt x="120494" y="65781"/>
                  <a:pt x="116270" y="68943"/>
                  <a:pt x="115622" y="73453"/>
                </a:cubicBezTo>
                <a:cubicBezTo>
                  <a:pt x="112175" y="97557"/>
                  <a:pt x="91414" y="116088"/>
                  <a:pt x="66351" y="116088"/>
                </a:cubicBezTo>
                <a:cubicBezTo>
                  <a:pt x="52614" y="116088"/>
                  <a:pt x="40173" y="110516"/>
                  <a:pt x="31154" y="101522"/>
                </a:cubicBezTo>
                <a:cubicBezTo>
                  <a:pt x="31102" y="101470"/>
                  <a:pt x="31050" y="101419"/>
                  <a:pt x="30998" y="101367"/>
                </a:cubicBezTo>
                <a:lnTo>
                  <a:pt x="29029" y="99501"/>
                </a:lnTo>
                <a:lnTo>
                  <a:pt x="41443" y="99501"/>
                </a:lnTo>
                <a:cubicBezTo>
                  <a:pt x="46031" y="99501"/>
                  <a:pt x="49737" y="95794"/>
                  <a:pt x="49737" y="91207"/>
                </a:cubicBezTo>
                <a:cubicBezTo>
                  <a:pt x="49737" y="86619"/>
                  <a:pt x="46031" y="82913"/>
                  <a:pt x="41443" y="82913"/>
                </a:cubicBezTo>
                <a:lnTo>
                  <a:pt x="8294" y="82939"/>
                </a:lnTo>
                <a:cubicBezTo>
                  <a:pt x="6091" y="82939"/>
                  <a:pt x="3966" y="83820"/>
                  <a:pt x="2410" y="85401"/>
                </a:cubicBezTo>
                <a:cubicBezTo>
                  <a:pt x="855" y="86982"/>
                  <a:pt x="-26" y="89081"/>
                  <a:pt x="0" y="91310"/>
                </a:cubicBezTo>
                <a:lnTo>
                  <a:pt x="259" y="124227"/>
                </a:lnTo>
                <a:cubicBezTo>
                  <a:pt x="285" y="128814"/>
                  <a:pt x="4043" y="132495"/>
                  <a:pt x="8631" y="132443"/>
                </a:cubicBezTo>
                <a:cubicBezTo>
                  <a:pt x="13218" y="132391"/>
                  <a:pt x="16899" y="128659"/>
                  <a:pt x="16847" y="124071"/>
                </a:cubicBezTo>
                <a:lnTo>
                  <a:pt x="16743" y="110723"/>
                </a:lnTo>
                <a:lnTo>
                  <a:pt x="19517" y="113341"/>
                </a:lnTo>
                <a:cubicBezTo>
                  <a:pt x="31517" y="125289"/>
                  <a:pt x="48079" y="132702"/>
                  <a:pt x="66351" y="132702"/>
                </a:cubicBezTo>
                <a:cubicBezTo>
                  <a:pt x="99786" y="132702"/>
                  <a:pt x="127441" y="107976"/>
                  <a:pt x="132028" y="7581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6713894" y="2076685"/>
            <a:ext cx="3682482" cy="23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6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Systèmes de Recommandation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713894" y="2308913"/>
            <a:ext cx="3674188" cy="199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Recommander des produits basés sur les achats précédents.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22423" y="2580953"/>
            <a:ext cx="320144" cy="320144"/>
          </a:xfrm>
          <a:custGeom>
            <a:avLst/>
            <a:gdLst/>
            <a:ahLst/>
            <a:cxnLst/>
            <a:rect l="l" t="t" r="r" b="b"/>
            <a:pathLst>
              <a:path w="320144" h="320144">
                <a:moveTo>
                  <a:pt x="0" y="0"/>
                </a:moveTo>
                <a:lnTo>
                  <a:pt x="320144" y="0"/>
                </a:lnTo>
                <a:lnTo>
                  <a:pt x="320144" y="320144"/>
                </a:lnTo>
                <a:lnTo>
                  <a:pt x="0" y="320144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15314" y="2673844"/>
            <a:ext cx="132702" cy="132702"/>
          </a:xfrm>
          <a:custGeom>
            <a:avLst/>
            <a:gdLst/>
            <a:ahLst/>
            <a:cxnLst/>
            <a:rect l="l" t="t" r="r" b="b"/>
            <a:pathLst>
              <a:path w="132702" h="132702">
                <a:moveTo>
                  <a:pt x="10367" y="12441"/>
                </a:moveTo>
                <a:cubicBezTo>
                  <a:pt x="6920" y="12441"/>
                  <a:pt x="4147" y="15214"/>
                  <a:pt x="4147" y="18661"/>
                </a:cubicBezTo>
                <a:lnTo>
                  <a:pt x="4147" y="31102"/>
                </a:lnTo>
                <a:cubicBezTo>
                  <a:pt x="4147" y="34549"/>
                  <a:pt x="6920" y="37322"/>
                  <a:pt x="10367" y="37322"/>
                </a:cubicBezTo>
                <a:lnTo>
                  <a:pt x="22808" y="37322"/>
                </a:lnTo>
                <a:cubicBezTo>
                  <a:pt x="26255" y="37322"/>
                  <a:pt x="29029" y="34549"/>
                  <a:pt x="29029" y="31102"/>
                </a:cubicBezTo>
                <a:lnTo>
                  <a:pt x="29029" y="18661"/>
                </a:lnTo>
                <a:cubicBezTo>
                  <a:pt x="29029" y="15214"/>
                  <a:pt x="26255" y="12441"/>
                  <a:pt x="22808" y="12441"/>
                </a:cubicBezTo>
                <a:lnTo>
                  <a:pt x="10367" y="12441"/>
                </a:lnTo>
                <a:close/>
                <a:moveTo>
                  <a:pt x="49763" y="16588"/>
                </a:moveTo>
                <a:cubicBezTo>
                  <a:pt x="45176" y="16588"/>
                  <a:pt x="41469" y="20294"/>
                  <a:pt x="41469" y="24882"/>
                </a:cubicBezTo>
                <a:cubicBezTo>
                  <a:pt x="41469" y="29469"/>
                  <a:pt x="45176" y="33176"/>
                  <a:pt x="49763" y="33176"/>
                </a:cubicBezTo>
                <a:lnTo>
                  <a:pt x="124408" y="33176"/>
                </a:lnTo>
                <a:cubicBezTo>
                  <a:pt x="128996" y="33176"/>
                  <a:pt x="132702" y="29469"/>
                  <a:pt x="132702" y="24882"/>
                </a:cubicBezTo>
                <a:cubicBezTo>
                  <a:pt x="132702" y="20294"/>
                  <a:pt x="128996" y="16588"/>
                  <a:pt x="124408" y="16588"/>
                </a:cubicBezTo>
                <a:lnTo>
                  <a:pt x="49763" y="16588"/>
                </a:lnTo>
                <a:close/>
                <a:moveTo>
                  <a:pt x="49763" y="58057"/>
                </a:moveTo>
                <a:cubicBezTo>
                  <a:pt x="45176" y="58057"/>
                  <a:pt x="41469" y="61763"/>
                  <a:pt x="41469" y="66351"/>
                </a:cubicBezTo>
                <a:cubicBezTo>
                  <a:pt x="41469" y="70939"/>
                  <a:pt x="45176" y="74645"/>
                  <a:pt x="49763" y="74645"/>
                </a:cubicBezTo>
                <a:lnTo>
                  <a:pt x="124408" y="74645"/>
                </a:lnTo>
                <a:cubicBezTo>
                  <a:pt x="128996" y="74645"/>
                  <a:pt x="132702" y="70939"/>
                  <a:pt x="132702" y="66351"/>
                </a:cubicBezTo>
                <a:cubicBezTo>
                  <a:pt x="132702" y="61763"/>
                  <a:pt x="128996" y="58057"/>
                  <a:pt x="124408" y="58057"/>
                </a:cubicBezTo>
                <a:lnTo>
                  <a:pt x="49763" y="58057"/>
                </a:lnTo>
                <a:close/>
                <a:moveTo>
                  <a:pt x="49763" y="99527"/>
                </a:moveTo>
                <a:cubicBezTo>
                  <a:pt x="45176" y="99527"/>
                  <a:pt x="41469" y="103233"/>
                  <a:pt x="41469" y="107820"/>
                </a:cubicBezTo>
                <a:cubicBezTo>
                  <a:pt x="41469" y="112408"/>
                  <a:pt x="45176" y="116114"/>
                  <a:pt x="49763" y="116114"/>
                </a:cubicBezTo>
                <a:lnTo>
                  <a:pt x="124408" y="116114"/>
                </a:lnTo>
                <a:cubicBezTo>
                  <a:pt x="128996" y="116114"/>
                  <a:pt x="132702" y="112408"/>
                  <a:pt x="132702" y="107820"/>
                </a:cubicBezTo>
                <a:cubicBezTo>
                  <a:pt x="132702" y="103233"/>
                  <a:pt x="128996" y="99527"/>
                  <a:pt x="124408" y="99527"/>
                </a:cubicBezTo>
                <a:lnTo>
                  <a:pt x="49763" y="99527"/>
                </a:lnTo>
                <a:close/>
                <a:moveTo>
                  <a:pt x="4147" y="60131"/>
                </a:moveTo>
                <a:lnTo>
                  <a:pt x="4147" y="72571"/>
                </a:lnTo>
                <a:cubicBezTo>
                  <a:pt x="4147" y="76019"/>
                  <a:pt x="6920" y="78792"/>
                  <a:pt x="10367" y="78792"/>
                </a:cubicBezTo>
                <a:lnTo>
                  <a:pt x="22808" y="78792"/>
                </a:lnTo>
                <a:cubicBezTo>
                  <a:pt x="26255" y="78792"/>
                  <a:pt x="29029" y="76019"/>
                  <a:pt x="29029" y="72571"/>
                </a:cubicBezTo>
                <a:lnTo>
                  <a:pt x="29029" y="60131"/>
                </a:lnTo>
                <a:cubicBezTo>
                  <a:pt x="29029" y="56683"/>
                  <a:pt x="26255" y="53910"/>
                  <a:pt x="22808" y="53910"/>
                </a:cubicBezTo>
                <a:lnTo>
                  <a:pt x="10367" y="53910"/>
                </a:lnTo>
                <a:cubicBezTo>
                  <a:pt x="6920" y="53910"/>
                  <a:pt x="4147" y="56683"/>
                  <a:pt x="4147" y="60131"/>
                </a:cubicBezTo>
                <a:close/>
                <a:moveTo>
                  <a:pt x="10367" y="95380"/>
                </a:moveTo>
                <a:cubicBezTo>
                  <a:pt x="6920" y="95380"/>
                  <a:pt x="4147" y="98153"/>
                  <a:pt x="4147" y="101600"/>
                </a:cubicBezTo>
                <a:lnTo>
                  <a:pt x="4147" y="114041"/>
                </a:lnTo>
                <a:cubicBezTo>
                  <a:pt x="4147" y="117488"/>
                  <a:pt x="6920" y="120261"/>
                  <a:pt x="10367" y="120261"/>
                </a:cubicBezTo>
                <a:lnTo>
                  <a:pt x="22808" y="120261"/>
                </a:lnTo>
                <a:cubicBezTo>
                  <a:pt x="26255" y="120261"/>
                  <a:pt x="29029" y="117488"/>
                  <a:pt x="29029" y="114041"/>
                </a:cubicBezTo>
                <a:lnTo>
                  <a:pt x="29029" y="101600"/>
                </a:lnTo>
                <a:cubicBezTo>
                  <a:pt x="29029" y="98153"/>
                  <a:pt x="26255" y="95380"/>
                  <a:pt x="22808" y="95380"/>
                </a:cubicBezTo>
                <a:lnTo>
                  <a:pt x="10367" y="9538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6713894" y="2574318"/>
            <a:ext cx="3524898" cy="23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6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Analyse de Séquences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713894" y="2806546"/>
            <a:ext cx="3516604" cy="199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Identifier des patterns dans des séquences d'événements.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22423" y="3078585"/>
            <a:ext cx="320144" cy="320144"/>
          </a:xfrm>
          <a:custGeom>
            <a:avLst/>
            <a:gdLst/>
            <a:ahLst/>
            <a:cxnLst/>
            <a:rect l="l" t="t" r="r" b="b"/>
            <a:pathLst>
              <a:path w="320144" h="320144">
                <a:moveTo>
                  <a:pt x="0" y="0"/>
                </a:moveTo>
                <a:lnTo>
                  <a:pt x="320144" y="0"/>
                </a:lnTo>
                <a:lnTo>
                  <a:pt x="320144" y="320144"/>
                </a:lnTo>
                <a:lnTo>
                  <a:pt x="0" y="320144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23608" y="3171477"/>
            <a:ext cx="116114" cy="132702"/>
          </a:xfrm>
          <a:custGeom>
            <a:avLst/>
            <a:gdLst/>
            <a:ahLst/>
            <a:cxnLst/>
            <a:rect l="l" t="t" r="r" b="b"/>
            <a:pathLst>
              <a:path w="116114" h="132702">
                <a:moveTo>
                  <a:pt x="74645" y="0"/>
                </a:moveTo>
                <a:lnTo>
                  <a:pt x="33176" y="0"/>
                </a:lnTo>
                <a:cubicBezTo>
                  <a:pt x="28588" y="0"/>
                  <a:pt x="24882" y="3706"/>
                  <a:pt x="24882" y="8294"/>
                </a:cubicBezTo>
                <a:cubicBezTo>
                  <a:pt x="24882" y="12881"/>
                  <a:pt x="28588" y="16588"/>
                  <a:pt x="33176" y="16588"/>
                </a:cubicBezTo>
                <a:lnTo>
                  <a:pt x="33176" y="55854"/>
                </a:lnTo>
                <a:lnTo>
                  <a:pt x="1944" y="110490"/>
                </a:lnTo>
                <a:cubicBezTo>
                  <a:pt x="674" y="112745"/>
                  <a:pt x="0" y="115259"/>
                  <a:pt x="0" y="117851"/>
                </a:cubicBezTo>
                <a:cubicBezTo>
                  <a:pt x="0" y="126067"/>
                  <a:pt x="6635" y="132702"/>
                  <a:pt x="14851" y="132702"/>
                </a:cubicBezTo>
                <a:lnTo>
                  <a:pt x="101263" y="132702"/>
                </a:lnTo>
                <a:cubicBezTo>
                  <a:pt x="109453" y="132702"/>
                  <a:pt x="116114" y="126067"/>
                  <a:pt x="116114" y="117851"/>
                </a:cubicBezTo>
                <a:cubicBezTo>
                  <a:pt x="116114" y="115259"/>
                  <a:pt x="115440" y="112719"/>
                  <a:pt x="114170" y="110490"/>
                </a:cubicBezTo>
                <a:lnTo>
                  <a:pt x="82939" y="55854"/>
                </a:lnTo>
                <a:lnTo>
                  <a:pt x="82939" y="16588"/>
                </a:lnTo>
                <a:cubicBezTo>
                  <a:pt x="87526" y="16588"/>
                  <a:pt x="91233" y="12881"/>
                  <a:pt x="91233" y="8294"/>
                </a:cubicBezTo>
                <a:cubicBezTo>
                  <a:pt x="91233" y="3706"/>
                  <a:pt x="87526" y="0"/>
                  <a:pt x="82939" y="0"/>
                </a:cubicBezTo>
                <a:lnTo>
                  <a:pt x="74645" y="0"/>
                </a:lnTo>
                <a:close/>
                <a:moveTo>
                  <a:pt x="49763" y="55854"/>
                </a:moveTo>
                <a:lnTo>
                  <a:pt x="49763" y="16588"/>
                </a:lnTo>
                <a:lnTo>
                  <a:pt x="66351" y="16588"/>
                </a:lnTo>
                <a:lnTo>
                  <a:pt x="66351" y="55854"/>
                </a:lnTo>
                <a:cubicBezTo>
                  <a:pt x="66351" y="58731"/>
                  <a:pt x="67103" y="61582"/>
                  <a:pt x="68528" y="64096"/>
                </a:cubicBezTo>
                <a:lnTo>
                  <a:pt x="79310" y="82939"/>
                </a:lnTo>
                <a:lnTo>
                  <a:pt x="36804" y="82939"/>
                </a:lnTo>
                <a:lnTo>
                  <a:pt x="47586" y="64096"/>
                </a:lnTo>
                <a:cubicBezTo>
                  <a:pt x="49012" y="61582"/>
                  <a:pt x="49763" y="58757"/>
                  <a:pt x="49763" y="55854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42" name="Text 40"/>
          <p:cNvSpPr/>
          <p:nvPr/>
        </p:nvSpPr>
        <p:spPr>
          <a:xfrm>
            <a:off x="6713894" y="3071950"/>
            <a:ext cx="4420637" cy="23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6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Découverte Scientifique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713894" y="3304179"/>
            <a:ext cx="4412343" cy="199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Trouver des co-occurrences dans des données biologiques ou médicales.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173133" y="3798493"/>
            <a:ext cx="5676330" cy="2856411"/>
          </a:xfrm>
          <a:custGeom>
            <a:avLst/>
            <a:gdLst/>
            <a:ahLst/>
            <a:cxnLst/>
            <a:rect l="l" t="t" r="r" b="b"/>
            <a:pathLst>
              <a:path w="5676330" h="2856411">
                <a:moveTo>
                  <a:pt x="0" y="0"/>
                </a:moveTo>
                <a:lnTo>
                  <a:pt x="5676330" y="0"/>
                </a:lnTo>
                <a:lnTo>
                  <a:pt x="5676330" y="2856411"/>
                </a:lnTo>
                <a:lnTo>
                  <a:pt x="0" y="285641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315788" y="3941147"/>
            <a:ext cx="5490547" cy="2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7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Vue d'Ensemble des Algorithmes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22423" y="4312611"/>
            <a:ext cx="5379409" cy="676780"/>
          </a:xfrm>
          <a:custGeom>
            <a:avLst/>
            <a:gdLst/>
            <a:ahLst/>
            <a:cxnLst/>
            <a:rect l="l" t="t" r="r" b="b"/>
            <a:pathLst>
              <a:path w="5379409" h="676780">
                <a:moveTo>
                  <a:pt x="0" y="0"/>
                </a:moveTo>
                <a:lnTo>
                  <a:pt x="5379409" y="0"/>
                </a:lnTo>
                <a:lnTo>
                  <a:pt x="5379409" y="676780"/>
                </a:lnTo>
                <a:lnTo>
                  <a:pt x="0" y="67678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28585" y="4418770"/>
            <a:ext cx="5241731" cy="23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6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Apriori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428585" y="4684174"/>
            <a:ext cx="5233437" cy="199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Algorithme classique qui utilise une approche "bottom-up" avec élagage.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22423" y="5069011"/>
            <a:ext cx="5379409" cy="676780"/>
          </a:xfrm>
          <a:custGeom>
            <a:avLst/>
            <a:gdLst/>
            <a:ahLst/>
            <a:cxnLst/>
            <a:rect l="l" t="t" r="r" b="b"/>
            <a:pathLst>
              <a:path w="5379409" h="676780">
                <a:moveTo>
                  <a:pt x="0" y="0"/>
                </a:moveTo>
                <a:lnTo>
                  <a:pt x="5379409" y="0"/>
                </a:lnTo>
                <a:lnTo>
                  <a:pt x="5379409" y="676780"/>
                </a:lnTo>
                <a:lnTo>
                  <a:pt x="0" y="67678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28585" y="5175173"/>
            <a:ext cx="5241731" cy="23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6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FP-Growth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428585" y="5440577"/>
            <a:ext cx="5233437" cy="199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Plus rapide qu'Apriori — utilise une structure d'arbre compacte.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22423" y="5825414"/>
            <a:ext cx="5379409" cy="676780"/>
          </a:xfrm>
          <a:custGeom>
            <a:avLst/>
            <a:gdLst/>
            <a:ahLst/>
            <a:cxnLst/>
            <a:rect l="l" t="t" r="r" b="b"/>
            <a:pathLst>
              <a:path w="5379409" h="676780">
                <a:moveTo>
                  <a:pt x="0" y="0"/>
                </a:moveTo>
                <a:lnTo>
                  <a:pt x="5379409" y="0"/>
                </a:lnTo>
                <a:lnTo>
                  <a:pt x="5379409" y="676780"/>
                </a:lnTo>
                <a:lnTo>
                  <a:pt x="0" y="676780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28585" y="5931576"/>
            <a:ext cx="5241731" cy="232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6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ECLAT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428585" y="6196980"/>
            <a:ext cx="5233437" cy="199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5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Utilise une disposition verticale et intersections d'ensembles.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65230" y="240030"/>
            <a:ext cx="584835" cy="584835"/>
          </a:xfrm>
          <a:custGeom>
            <a:avLst/>
            <a:gdLst/>
            <a:ahLst/>
            <a:cxnLst/>
            <a:rect l="l" t="t" r="r" b="b"/>
            <a:pathLst>
              <a:path w="584835" h="584835">
                <a:moveTo>
                  <a:pt x="292418" y="0"/>
                </a:moveTo>
                <a:lnTo>
                  <a:pt x="292418" y="0"/>
                </a:lnTo>
                <a:cubicBezTo>
                  <a:pt x="453915" y="0"/>
                  <a:pt x="584835" y="130920"/>
                  <a:pt x="584835" y="292418"/>
                </a:cubicBezTo>
                <a:lnTo>
                  <a:pt x="584835" y="292418"/>
                </a:lnTo>
                <a:cubicBezTo>
                  <a:pt x="584835" y="453915"/>
                  <a:pt x="453915" y="584835"/>
                  <a:pt x="292418" y="584835"/>
                </a:cubicBezTo>
                <a:lnTo>
                  <a:pt x="292418" y="584835"/>
                </a:lnTo>
                <a:cubicBezTo>
                  <a:pt x="130920" y="584835"/>
                  <a:pt x="0" y="453915"/>
                  <a:pt x="0" y="292418"/>
                </a:cubicBezTo>
                <a:lnTo>
                  <a:pt x="0" y="292418"/>
                </a:lnTo>
                <a:cubicBezTo>
                  <a:pt x="0" y="130920"/>
                  <a:pt x="130920" y="0"/>
                  <a:pt x="292417" y="0"/>
                </a:cubicBezTo>
                <a:close/>
              </a:path>
            </a:pathLst>
          </a:custGeom>
          <a:solidFill>
            <a:srgbClr val="FFE66D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 rot="2700000">
            <a:off x="10737142" y="678738"/>
            <a:ext cx="432435" cy="432435"/>
          </a:xfrm>
          <a:custGeom>
            <a:avLst/>
            <a:gdLst/>
            <a:ahLst/>
            <a:cxnLst/>
            <a:rect l="l" t="t" r="r" b="b"/>
            <a:pathLst>
              <a:path w="432435" h="432435">
                <a:moveTo>
                  <a:pt x="0" y="0"/>
                </a:moveTo>
                <a:lnTo>
                  <a:pt x="432435" y="0"/>
                </a:lnTo>
                <a:lnTo>
                  <a:pt x="432435" y="432435"/>
                </a:lnTo>
                <a:lnTo>
                  <a:pt x="0" y="43243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68630" y="6031230"/>
            <a:ext cx="737235" cy="356235"/>
          </a:xfrm>
          <a:custGeom>
            <a:avLst/>
            <a:gdLst/>
            <a:ahLst/>
            <a:cxnLst/>
            <a:rect l="l" t="t" r="r" b="b"/>
            <a:pathLst>
              <a:path w="737235" h="356235">
                <a:moveTo>
                  <a:pt x="0" y="0"/>
                </a:moveTo>
                <a:lnTo>
                  <a:pt x="737235" y="0"/>
                </a:lnTo>
                <a:lnTo>
                  <a:pt x="737235" y="356235"/>
                </a:lnTo>
                <a:lnTo>
                  <a:pt x="0" y="35623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289030" y="5193030"/>
            <a:ext cx="280035" cy="737235"/>
          </a:xfrm>
          <a:custGeom>
            <a:avLst/>
            <a:gdLst/>
            <a:ahLst/>
            <a:cxnLst/>
            <a:rect l="l" t="t" r="r" b="b"/>
            <a:pathLst>
              <a:path w="280035" h="737235">
                <a:moveTo>
                  <a:pt x="0" y="0"/>
                </a:moveTo>
                <a:lnTo>
                  <a:pt x="280035" y="0"/>
                </a:lnTo>
                <a:lnTo>
                  <a:pt x="280035" y="737235"/>
                </a:lnTo>
                <a:lnTo>
                  <a:pt x="0" y="737235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Règles d'Association: Avantages et Inconvénients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8620" y="845820"/>
            <a:ext cx="901065" cy="62865"/>
          </a:xfrm>
          <a:custGeom>
            <a:avLst/>
            <a:gdLst/>
            <a:ahLst/>
            <a:cxnLst/>
            <a:rect l="l" t="t" r="r" b="b"/>
            <a:pathLst>
              <a:path w="901065" h="62865">
                <a:moveTo>
                  <a:pt x="0" y="0"/>
                </a:moveTo>
                <a:lnTo>
                  <a:pt x="901065" y="0"/>
                </a:lnTo>
                <a:lnTo>
                  <a:pt x="901065" y="62865"/>
                </a:lnTo>
                <a:lnTo>
                  <a:pt x="0" y="62865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2430" y="1078230"/>
            <a:ext cx="5614035" cy="5385435"/>
          </a:xfrm>
          <a:custGeom>
            <a:avLst/>
            <a:gdLst/>
            <a:ahLst/>
            <a:cxnLst/>
            <a:rect l="l" t="t" r="r" b="b"/>
            <a:pathLst>
              <a:path w="5614035" h="5385435">
                <a:moveTo>
                  <a:pt x="0" y="0"/>
                </a:moveTo>
                <a:lnTo>
                  <a:pt x="5614035" y="0"/>
                </a:lnTo>
                <a:lnTo>
                  <a:pt x="5614035" y="5385435"/>
                </a:lnTo>
                <a:lnTo>
                  <a:pt x="0" y="53854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7690" y="1253489"/>
            <a:ext cx="508635" cy="508635"/>
          </a:xfrm>
          <a:custGeom>
            <a:avLst/>
            <a:gdLst/>
            <a:ahLst/>
            <a:cxnLst/>
            <a:rect l="l" t="t" r="r" b="b"/>
            <a:pathLst>
              <a:path w="508635" h="508635">
                <a:moveTo>
                  <a:pt x="0" y="0"/>
                </a:moveTo>
                <a:lnTo>
                  <a:pt x="508635" y="0"/>
                </a:lnTo>
                <a:lnTo>
                  <a:pt x="508635" y="508635"/>
                </a:lnTo>
                <a:lnTo>
                  <a:pt x="0" y="50863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0480">
            <a:solidFill>
              <a:srgbClr val="2D34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8660" y="139445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5719" y="71438"/>
                </a:moveTo>
                <a:cubicBezTo>
                  <a:pt x="43622" y="71438"/>
                  <a:pt x="50006" y="77822"/>
                  <a:pt x="50006" y="85725"/>
                </a:cubicBezTo>
                <a:lnTo>
                  <a:pt x="50006" y="200025"/>
                </a:lnTo>
                <a:cubicBezTo>
                  <a:pt x="50006" y="207928"/>
                  <a:pt x="43622" y="214313"/>
                  <a:pt x="35719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85725"/>
                </a:lnTo>
                <a:cubicBezTo>
                  <a:pt x="0" y="77822"/>
                  <a:pt x="6385" y="71438"/>
                  <a:pt x="14288" y="71438"/>
                </a:cubicBezTo>
                <a:lnTo>
                  <a:pt x="35719" y="71438"/>
                </a:lnTo>
                <a:close/>
                <a:moveTo>
                  <a:pt x="120819" y="7144"/>
                </a:moveTo>
                <a:cubicBezTo>
                  <a:pt x="133008" y="7144"/>
                  <a:pt x="142875" y="17011"/>
                  <a:pt x="142875" y="29200"/>
                </a:cubicBezTo>
                <a:lnTo>
                  <a:pt x="142875" y="31075"/>
                </a:lnTo>
                <a:cubicBezTo>
                  <a:pt x="142875" y="34111"/>
                  <a:pt x="142295" y="37148"/>
                  <a:pt x="141178" y="39960"/>
                </a:cubicBezTo>
                <a:lnTo>
                  <a:pt x="128588" y="71438"/>
                </a:lnTo>
                <a:lnTo>
                  <a:pt x="200025" y="71438"/>
                </a:lnTo>
                <a:cubicBezTo>
                  <a:pt x="211857" y="71438"/>
                  <a:pt x="221456" y="81037"/>
                  <a:pt x="221456" y="92869"/>
                </a:cubicBezTo>
                <a:cubicBezTo>
                  <a:pt x="221456" y="101664"/>
                  <a:pt x="216143" y="109210"/>
                  <a:pt x="208553" y="112514"/>
                </a:cubicBezTo>
                <a:cubicBezTo>
                  <a:pt x="216143" y="115818"/>
                  <a:pt x="221456" y="123364"/>
                  <a:pt x="221456" y="132159"/>
                </a:cubicBezTo>
                <a:cubicBezTo>
                  <a:pt x="221456" y="142607"/>
                  <a:pt x="213955" y="151314"/>
                  <a:pt x="204043" y="153189"/>
                </a:cubicBezTo>
                <a:cubicBezTo>
                  <a:pt x="206008" y="156448"/>
                  <a:pt x="207169" y="160243"/>
                  <a:pt x="207169" y="164306"/>
                </a:cubicBezTo>
                <a:cubicBezTo>
                  <a:pt x="207169" y="174218"/>
                  <a:pt x="200471" y="182523"/>
                  <a:pt x="191363" y="184978"/>
                </a:cubicBezTo>
                <a:cubicBezTo>
                  <a:pt x="192345" y="187434"/>
                  <a:pt x="192881" y="190113"/>
                  <a:pt x="192881" y="192881"/>
                </a:cubicBezTo>
                <a:cubicBezTo>
                  <a:pt x="192881" y="204713"/>
                  <a:pt x="183282" y="214313"/>
                  <a:pt x="171450" y="214313"/>
                </a:cubicBezTo>
                <a:lnTo>
                  <a:pt x="132204" y="214313"/>
                </a:lnTo>
                <a:cubicBezTo>
                  <a:pt x="115997" y="214313"/>
                  <a:pt x="100236" y="208776"/>
                  <a:pt x="87600" y="198641"/>
                </a:cubicBezTo>
                <a:lnTo>
                  <a:pt x="82153" y="194310"/>
                </a:lnTo>
                <a:cubicBezTo>
                  <a:pt x="75367" y="188908"/>
                  <a:pt x="71438" y="180692"/>
                  <a:pt x="71438" y="171986"/>
                </a:cubicBezTo>
                <a:lnTo>
                  <a:pt x="71438" y="88672"/>
                </a:lnTo>
                <a:cubicBezTo>
                  <a:pt x="71438" y="82019"/>
                  <a:pt x="73000" y="75456"/>
                  <a:pt x="75947" y="69518"/>
                </a:cubicBezTo>
                <a:lnTo>
                  <a:pt x="101039" y="19333"/>
                </a:lnTo>
                <a:cubicBezTo>
                  <a:pt x="104790" y="11876"/>
                  <a:pt x="112425" y="7144"/>
                  <a:pt x="120819" y="714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203960" y="1337309"/>
            <a:ext cx="14954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Avantages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3880" y="1935479"/>
            <a:ext cx="5273040" cy="777240"/>
          </a:xfrm>
          <a:custGeom>
            <a:avLst/>
            <a:gdLst/>
            <a:ahLst/>
            <a:cxnLst/>
            <a:rect l="l" t="t" r="r" b="b"/>
            <a:pathLst>
              <a:path w="5273040" h="777240">
                <a:moveTo>
                  <a:pt x="0" y="0"/>
                </a:moveTo>
                <a:lnTo>
                  <a:pt x="5273040" y="0"/>
                </a:lnTo>
                <a:lnTo>
                  <a:pt x="5273040" y="777240"/>
                </a:lnTo>
                <a:lnTo>
                  <a:pt x="0" y="77724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4ECD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9613" y="210312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4" name="Text 12"/>
          <p:cNvSpPr/>
          <p:nvPr/>
        </p:nvSpPr>
        <p:spPr>
          <a:xfrm>
            <a:off x="962025" y="2057400"/>
            <a:ext cx="483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Résultats Actionnables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2362200"/>
            <a:ext cx="510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Produisent des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règles concrètes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directement applicables: "Si X alors Y".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3880" y="2842266"/>
            <a:ext cx="5273040" cy="1005840"/>
          </a:xfrm>
          <a:custGeom>
            <a:avLst/>
            <a:gdLst/>
            <a:ahLst/>
            <a:cxnLst/>
            <a:rect l="l" t="t" r="r" b="b"/>
            <a:pathLst>
              <a:path w="5273040" h="1005840">
                <a:moveTo>
                  <a:pt x="0" y="0"/>
                </a:moveTo>
                <a:lnTo>
                  <a:pt x="5273040" y="0"/>
                </a:lnTo>
                <a:lnTo>
                  <a:pt x="5273040" y="1005840"/>
                </a:lnTo>
                <a:lnTo>
                  <a:pt x="0" y="100584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4ECD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9613" y="30099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8" name="Text 16"/>
          <p:cNvSpPr/>
          <p:nvPr/>
        </p:nvSpPr>
        <p:spPr>
          <a:xfrm>
            <a:off x="962025" y="2964182"/>
            <a:ext cx="483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Facilement Interprétables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" y="3268982"/>
            <a:ext cx="510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Les règles sont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compréhensibles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par des non-techniciens — pas besoin d'expertise ML.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63880" y="3977638"/>
            <a:ext cx="5273040" cy="1005840"/>
          </a:xfrm>
          <a:custGeom>
            <a:avLst/>
            <a:gdLst/>
            <a:ahLst/>
            <a:cxnLst/>
            <a:rect l="l" t="t" r="r" b="b"/>
            <a:pathLst>
              <a:path w="5273040" h="1005840">
                <a:moveTo>
                  <a:pt x="0" y="0"/>
                </a:moveTo>
                <a:lnTo>
                  <a:pt x="5273040" y="0"/>
                </a:lnTo>
                <a:lnTo>
                  <a:pt x="5273040" y="1005840"/>
                </a:lnTo>
                <a:lnTo>
                  <a:pt x="0" y="100584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4ECD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9613" y="4145282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2" name="Text 20"/>
          <p:cNvSpPr/>
          <p:nvPr/>
        </p:nvSpPr>
        <p:spPr>
          <a:xfrm>
            <a:off x="962025" y="4099564"/>
            <a:ext cx="483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Utiles pour Recommandations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5800" y="4404364"/>
            <a:ext cx="510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Base de nombreux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systèmes de recommandation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en e-commerce et streaming.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63880" y="5113020"/>
            <a:ext cx="5273040" cy="777240"/>
          </a:xfrm>
          <a:custGeom>
            <a:avLst/>
            <a:gdLst/>
            <a:ahLst/>
            <a:cxnLst/>
            <a:rect l="l" t="t" r="r" b="b"/>
            <a:pathLst>
              <a:path w="5273040" h="777240">
                <a:moveTo>
                  <a:pt x="0" y="0"/>
                </a:moveTo>
                <a:lnTo>
                  <a:pt x="5273040" y="0"/>
                </a:lnTo>
                <a:lnTo>
                  <a:pt x="5273040" y="777240"/>
                </a:lnTo>
                <a:lnTo>
                  <a:pt x="0" y="77724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4ECD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9613" y="5280664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6" name="Text 24"/>
          <p:cNvSpPr/>
          <p:nvPr/>
        </p:nvSpPr>
        <p:spPr>
          <a:xfrm>
            <a:off x="962025" y="5234946"/>
            <a:ext cx="483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Pas de Labels Requis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5800" y="5539746"/>
            <a:ext cx="510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Fonctionne sur des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données transactionnelles brutes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sans supervision.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83630" y="1078230"/>
            <a:ext cx="5614035" cy="5385435"/>
          </a:xfrm>
          <a:custGeom>
            <a:avLst/>
            <a:gdLst/>
            <a:ahLst/>
            <a:cxnLst/>
            <a:rect l="l" t="t" r="r" b="b"/>
            <a:pathLst>
              <a:path w="5614035" h="5385435">
                <a:moveTo>
                  <a:pt x="0" y="0"/>
                </a:moveTo>
                <a:lnTo>
                  <a:pt x="5614035" y="0"/>
                </a:lnTo>
                <a:lnTo>
                  <a:pt x="5614035" y="5385435"/>
                </a:lnTo>
                <a:lnTo>
                  <a:pt x="0" y="53854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58890" y="1253489"/>
            <a:ext cx="508635" cy="508635"/>
          </a:xfrm>
          <a:custGeom>
            <a:avLst/>
            <a:gdLst/>
            <a:ahLst/>
            <a:cxnLst/>
            <a:rect l="l" t="t" r="r" b="b"/>
            <a:pathLst>
              <a:path w="508635" h="508635">
                <a:moveTo>
                  <a:pt x="0" y="0"/>
                </a:moveTo>
                <a:lnTo>
                  <a:pt x="508635" y="0"/>
                </a:lnTo>
                <a:lnTo>
                  <a:pt x="508635" y="508635"/>
                </a:lnTo>
                <a:lnTo>
                  <a:pt x="0" y="50863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0480">
            <a:solidFill>
              <a:srgbClr val="2D343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9860" y="139445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71450" y="14288"/>
                </a:moveTo>
                <a:cubicBezTo>
                  <a:pt x="183282" y="14288"/>
                  <a:pt x="192881" y="23887"/>
                  <a:pt x="192881" y="35719"/>
                </a:cubicBezTo>
                <a:cubicBezTo>
                  <a:pt x="192881" y="38532"/>
                  <a:pt x="192301" y="41166"/>
                  <a:pt x="191363" y="43622"/>
                </a:cubicBezTo>
                <a:cubicBezTo>
                  <a:pt x="200471" y="46077"/>
                  <a:pt x="207169" y="54382"/>
                  <a:pt x="207169" y="64294"/>
                </a:cubicBezTo>
                <a:cubicBezTo>
                  <a:pt x="207169" y="68357"/>
                  <a:pt x="206008" y="72152"/>
                  <a:pt x="204043" y="75411"/>
                </a:cubicBezTo>
                <a:cubicBezTo>
                  <a:pt x="213955" y="77286"/>
                  <a:pt x="221456" y="85993"/>
                  <a:pt x="221456" y="96441"/>
                </a:cubicBezTo>
                <a:cubicBezTo>
                  <a:pt x="221456" y="105236"/>
                  <a:pt x="216143" y="112782"/>
                  <a:pt x="208553" y="116086"/>
                </a:cubicBezTo>
                <a:cubicBezTo>
                  <a:pt x="216143" y="119390"/>
                  <a:pt x="221456" y="126936"/>
                  <a:pt x="221456" y="135731"/>
                </a:cubicBezTo>
                <a:cubicBezTo>
                  <a:pt x="221456" y="147563"/>
                  <a:pt x="211857" y="157163"/>
                  <a:pt x="200025" y="157163"/>
                </a:cubicBezTo>
                <a:lnTo>
                  <a:pt x="128588" y="157163"/>
                </a:lnTo>
                <a:lnTo>
                  <a:pt x="141178" y="188595"/>
                </a:lnTo>
                <a:cubicBezTo>
                  <a:pt x="142295" y="191408"/>
                  <a:pt x="142875" y="194444"/>
                  <a:pt x="142875" y="197480"/>
                </a:cubicBezTo>
                <a:lnTo>
                  <a:pt x="142875" y="199355"/>
                </a:lnTo>
                <a:cubicBezTo>
                  <a:pt x="142875" y="211544"/>
                  <a:pt x="133008" y="221412"/>
                  <a:pt x="120819" y="221412"/>
                </a:cubicBezTo>
                <a:cubicBezTo>
                  <a:pt x="112469" y="221412"/>
                  <a:pt x="104835" y="216679"/>
                  <a:pt x="101084" y="209223"/>
                </a:cubicBezTo>
                <a:lnTo>
                  <a:pt x="75947" y="159082"/>
                </a:lnTo>
                <a:cubicBezTo>
                  <a:pt x="72956" y="153144"/>
                  <a:pt x="71438" y="146581"/>
                  <a:pt x="71438" y="139928"/>
                </a:cubicBezTo>
                <a:lnTo>
                  <a:pt x="71438" y="56614"/>
                </a:lnTo>
                <a:cubicBezTo>
                  <a:pt x="71438" y="47952"/>
                  <a:pt x="75411" y="39737"/>
                  <a:pt x="82153" y="34290"/>
                </a:cubicBezTo>
                <a:lnTo>
                  <a:pt x="87600" y="29959"/>
                </a:lnTo>
                <a:cubicBezTo>
                  <a:pt x="100280" y="19824"/>
                  <a:pt x="115997" y="14288"/>
                  <a:pt x="132204" y="14288"/>
                </a:cubicBezTo>
                <a:lnTo>
                  <a:pt x="171450" y="14288"/>
                </a:lnTo>
                <a:close/>
                <a:moveTo>
                  <a:pt x="35719" y="42863"/>
                </a:moveTo>
                <a:cubicBezTo>
                  <a:pt x="43622" y="42863"/>
                  <a:pt x="50006" y="49247"/>
                  <a:pt x="50006" y="57150"/>
                </a:cubicBezTo>
                <a:lnTo>
                  <a:pt x="50006" y="171450"/>
                </a:lnTo>
                <a:cubicBezTo>
                  <a:pt x="50006" y="179353"/>
                  <a:pt x="43622" y="185738"/>
                  <a:pt x="35719" y="185738"/>
                </a:cubicBezTo>
                <a:lnTo>
                  <a:pt x="14288" y="185738"/>
                </a:lnTo>
                <a:cubicBezTo>
                  <a:pt x="6385" y="185738"/>
                  <a:pt x="0" y="179353"/>
                  <a:pt x="0" y="171450"/>
                </a:cubicBezTo>
                <a:lnTo>
                  <a:pt x="0" y="57150"/>
                </a:lnTo>
                <a:cubicBezTo>
                  <a:pt x="0" y="49247"/>
                  <a:pt x="6385" y="42863"/>
                  <a:pt x="14288" y="42863"/>
                </a:cubicBezTo>
                <a:lnTo>
                  <a:pt x="35719" y="4286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6995160" y="1337309"/>
            <a:ext cx="1962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Inconvénients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55080" y="1935479"/>
            <a:ext cx="5273040" cy="1005840"/>
          </a:xfrm>
          <a:custGeom>
            <a:avLst/>
            <a:gdLst/>
            <a:ahLst/>
            <a:cxnLst/>
            <a:rect l="l" t="t" r="r" b="b"/>
            <a:pathLst>
              <a:path w="5273040" h="1005840">
                <a:moveTo>
                  <a:pt x="0" y="0"/>
                </a:moveTo>
                <a:lnTo>
                  <a:pt x="5273040" y="0"/>
                </a:lnTo>
                <a:lnTo>
                  <a:pt x="5273040" y="1005840"/>
                </a:lnTo>
                <a:lnTo>
                  <a:pt x="0" y="100584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FF6B6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00813" y="210312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55922" y="55922"/>
                </a:moveTo>
                <a:cubicBezTo>
                  <a:pt x="59070" y="52774"/>
                  <a:pt x="64160" y="52774"/>
                  <a:pt x="67274" y="55922"/>
                </a:cubicBezTo>
                <a:lnTo>
                  <a:pt x="85692" y="74340"/>
                </a:lnTo>
                <a:lnTo>
                  <a:pt x="104109" y="55922"/>
                </a:lnTo>
                <a:cubicBezTo>
                  <a:pt x="107257" y="52774"/>
                  <a:pt x="112347" y="52774"/>
                  <a:pt x="115461" y="55922"/>
                </a:cubicBezTo>
                <a:cubicBezTo>
                  <a:pt x="118575" y="59070"/>
                  <a:pt x="118609" y="64160"/>
                  <a:pt x="115461" y="67274"/>
                </a:cubicBezTo>
                <a:lnTo>
                  <a:pt x="97043" y="85692"/>
                </a:lnTo>
                <a:lnTo>
                  <a:pt x="115461" y="104109"/>
                </a:lnTo>
                <a:cubicBezTo>
                  <a:pt x="118609" y="107257"/>
                  <a:pt x="118609" y="112347"/>
                  <a:pt x="115461" y="115461"/>
                </a:cubicBezTo>
                <a:cubicBezTo>
                  <a:pt x="112313" y="118575"/>
                  <a:pt x="107223" y="118609"/>
                  <a:pt x="104109" y="115461"/>
                </a:cubicBezTo>
                <a:lnTo>
                  <a:pt x="85692" y="97043"/>
                </a:lnTo>
                <a:lnTo>
                  <a:pt x="67274" y="115461"/>
                </a:lnTo>
                <a:cubicBezTo>
                  <a:pt x="64126" y="118609"/>
                  <a:pt x="59036" y="118609"/>
                  <a:pt x="55922" y="115461"/>
                </a:cubicBezTo>
                <a:cubicBezTo>
                  <a:pt x="52808" y="112313"/>
                  <a:pt x="52774" y="107223"/>
                  <a:pt x="55922" y="104109"/>
                </a:cubicBezTo>
                <a:lnTo>
                  <a:pt x="74340" y="85692"/>
                </a:lnTo>
                <a:lnTo>
                  <a:pt x="55922" y="67274"/>
                </a:lnTo>
                <a:cubicBezTo>
                  <a:pt x="52774" y="64126"/>
                  <a:pt x="52774" y="59036"/>
                  <a:pt x="55922" y="55922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34" name="Text 32"/>
          <p:cNvSpPr/>
          <p:nvPr/>
        </p:nvSpPr>
        <p:spPr>
          <a:xfrm>
            <a:off x="6753225" y="2057400"/>
            <a:ext cx="483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Explosion Combinatoire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77000" y="2362200"/>
            <a:ext cx="510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Avec beaucoup d'items, le nombre de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combinaisons possibles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explose — coût computationnel élevé.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55080" y="3070866"/>
            <a:ext cx="5273040" cy="777240"/>
          </a:xfrm>
          <a:custGeom>
            <a:avLst/>
            <a:gdLst/>
            <a:ahLst/>
            <a:cxnLst/>
            <a:rect l="l" t="t" r="r" b="b"/>
            <a:pathLst>
              <a:path w="5273040" h="777240">
                <a:moveTo>
                  <a:pt x="0" y="0"/>
                </a:moveTo>
                <a:lnTo>
                  <a:pt x="5273040" y="0"/>
                </a:lnTo>
                <a:lnTo>
                  <a:pt x="5273040" y="777240"/>
                </a:lnTo>
                <a:lnTo>
                  <a:pt x="0" y="77724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FF6B6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00813" y="32385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55922" y="55922"/>
                </a:moveTo>
                <a:cubicBezTo>
                  <a:pt x="59070" y="52774"/>
                  <a:pt x="64160" y="52774"/>
                  <a:pt x="67274" y="55922"/>
                </a:cubicBezTo>
                <a:lnTo>
                  <a:pt x="85692" y="74340"/>
                </a:lnTo>
                <a:lnTo>
                  <a:pt x="104109" y="55922"/>
                </a:lnTo>
                <a:cubicBezTo>
                  <a:pt x="107257" y="52774"/>
                  <a:pt x="112347" y="52774"/>
                  <a:pt x="115461" y="55922"/>
                </a:cubicBezTo>
                <a:cubicBezTo>
                  <a:pt x="118575" y="59070"/>
                  <a:pt x="118609" y="64160"/>
                  <a:pt x="115461" y="67274"/>
                </a:cubicBezTo>
                <a:lnTo>
                  <a:pt x="97043" y="85692"/>
                </a:lnTo>
                <a:lnTo>
                  <a:pt x="115461" y="104109"/>
                </a:lnTo>
                <a:cubicBezTo>
                  <a:pt x="118609" y="107257"/>
                  <a:pt x="118609" y="112347"/>
                  <a:pt x="115461" y="115461"/>
                </a:cubicBezTo>
                <a:cubicBezTo>
                  <a:pt x="112313" y="118575"/>
                  <a:pt x="107223" y="118609"/>
                  <a:pt x="104109" y="115461"/>
                </a:cubicBezTo>
                <a:lnTo>
                  <a:pt x="85692" y="97043"/>
                </a:lnTo>
                <a:lnTo>
                  <a:pt x="67274" y="115461"/>
                </a:lnTo>
                <a:cubicBezTo>
                  <a:pt x="64126" y="118609"/>
                  <a:pt x="59036" y="118609"/>
                  <a:pt x="55922" y="115461"/>
                </a:cubicBezTo>
                <a:cubicBezTo>
                  <a:pt x="52808" y="112313"/>
                  <a:pt x="52774" y="107223"/>
                  <a:pt x="55922" y="104109"/>
                </a:cubicBezTo>
                <a:lnTo>
                  <a:pt x="74340" y="85692"/>
                </a:lnTo>
                <a:lnTo>
                  <a:pt x="55922" y="67274"/>
                </a:lnTo>
                <a:cubicBezTo>
                  <a:pt x="52774" y="64126"/>
                  <a:pt x="52774" y="59036"/>
                  <a:pt x="55922" y="55922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38" name="Text 36"/>
          <p:cNvSpPr/>
          <p:nvPr/>
        </p:nvSpPr>
        <p:spPr>
          <a:xfrm>
            <a:off x="6753225" y="3192782"/>
            <a:ext cx="483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Règles Triviales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77000" y="3497582"/>
            <a:ext cx="510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Risque de générer des règles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évidentes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ou inutiles (ex: pain → beurre).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55080" y="3977638"/>
            <a:ext cx="5273040" cy="777240"/>
          </a:xfrm>
          <a:custGeom>
            <a:avLst/>
            <a:gdLst/>
            <a:ahLst/>
            <a:cxnLst/>
            <a:rect l="l" t="t" r="r" b="b"/>
            <a:pathLst>
              <a:path w="5273040" h="777240">
                <a:moveTo>
                  <a:pt x="0" y="0"/>
                </a:moveTo>
                <a:lnTo>
                  <a:pt x="5273040" y="0"/>
                </a:lnTo>
                <a:lnTo>
                  <a:pt x="5273040" y="777240"/>
                </a:lnTo>
                <a:lnTo>
                  <a:pt x="0" y="77724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FF6B6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00813" y="4145282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55922" y="55922"/>
                </a:moveTo>
                <a:cubicBezTo>
                  <a:pt x="59070" y="52774"/>
                  <a:pt x="64160" y="52774"/>
                  <a:pt x="67274" y="55922"/>
                </a:cubicBezTo>
                <a:lnTo>
                  <a:pt x="85692" y="74340"/>
                </a:lnTo>
                <a:lnTo>
                  <a:pt x="104109" y="55922"/>
                </a:lnTo>
                <a:cubicBezTo>
                  <a:pt x="107257" y="52774"/>
                  <a:pt x="112347" y="52774"/>
                  <a:pt x="115461" y="55922"/>
                </a:cubicBezTo>
                <a:cubicBezTo>
                  <a:pt x="118575" y="59070"/>
                  <a:pt x="118609" y="64160"/>
                  <a:pt x="115461" y="67274"/>
                </a:cubicBezTo>
                <a:lnTo>
                  <a:pt x="97043" y="85692"/>
                </a:lnTo>
                <a:lnTo>
                  <a:pt x="115461" y="104109"/>
                </a:lnTo>
                <a:cubicBezTo>
                  <a:pt x="118609" y="107257"/>
                  <a:pt x="118609" y="112347"/>
                  <a:pt x="115461" y="115461"/>
                </a:cubicBezTo>
                <a:cubicBezTo>
                  <a:pt x="112313" y="118575"/>
                  <a:pt x="107223" y="118609"/>
                  <a:pt x="104109" y="115461"/>
                </a:cubicBezTo>
                <a:lnTo>
                  <a:pt x="85692" y="97043"/>
                </a:lnTo>
                <a:lnTo>
                  <a:pt x="67274" y="115461"/>
                </a:lnTo>
                <a:cubicBezTo>
                  <a:pt x="64126" y="118609"/>
                  <a:pt x="59036" y="118609"/>
                  <a:pt x="55922" y="115461"/>
                </a:cubicBezTo>
                <a:cubicBezTo>
                  <a:pt x="52808" y="112313"/>
                  <a:pt x="52774" y="107223"/>
                  <a:pt x="55922" y="104109"/>
                </a:cubicBezTo>
                <a:lnTo>
                  <a:pt x="74340" y="85692"/>
                </a:lnTo>
                <a:lnTo>
                  <a:pt x="55922" y="67274"/>
                </a:lnTo>
                <a:cubicBezTo>
                  <a:pt x="52774" y="64126"/>
                  <a:pt x="52774" y="59036"/>
                  <a:pt x="55922" y="55922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42" name="Text 40"/>
          <p:cNvSpPr/>
          <p:nvPr/>
        </p:nvSpPr>
        <p:spPr>
          <a:xfrm>
            <a:off x="6753225" y="4099564"/>
            <a:ext cx="483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Paramétrage Sensible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77000" y="4404364"/>
            <a:ext cx="510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Les seuils de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support et confiance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affectent drastiquement les résultats.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55080" y="4884420"/>
            <a:ext cx="5273040" cy="777240"/>
          </a:xfrm>
          <a:custGeom>
            <a:avLst/>
            <a:gdLst/>
            <a:ahLst/>
            <a:cxnLst/>
            <a:rect l="l" t="t" r="r" b="b"/>
            <a:pathLst>
              <a:path w="5273040" h="777240">
                <a:moveTo>
                  <a:pt x="0" y="0"/>
                </a:moveTo>
                <a:lnTo>
                  <a:pt x="5273040" y="0"/>
                </a:lnTo>
                <a:lnTo>
                  <a:pt x="5273040" y="777240"/>
                </a:lnTo>
                <a:lnTo>
                  <a:pt x="0" y="77724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FF6B6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00813" y="5052064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55922" y="55922"/>
                </a:moveTo>
                <a:cubicBezTo>
                  <a:pt x="59070" y="52774"/>
                  <a:pt x="64160" y="52774"/>
                  <a:pt x="67274" y="55922"/>
                </a:cubicBezTo>
                <a:lnTo>
                  <a:pt x="85692" y="74340"/>
                </a:lnTo>
                <a:lnTo>
                  <a:pt x="104109" y="55922"/>
                </a:lnTo>
                <a:cubicBezTo>
                  <a:pt x="107257" y="52774"/>
                  <a:pt x="112347" y="52774"/>
                  <a:pt x="115461" y="55922"/>
                </a:cubicBezTo>
                <a:cubicBezTo>
                  <a:pt x="118575" y="59070"/>
                  <a:pt x="118609" y="64160"/>
                  <a:pt x="115461" y="67274"/>
                </a:cubicBezTo>
                <a:lnTo>
                  <a:pt x="97043" y="85692"/>
                </a:lnTo>
                <a:lnTo>
                  <a:pt x="115461" y="104109"/>
                </a:lnTo>
                <a:cubicBezTo>
                  <a:pt x="118609" y="107257"/>
                  <a:pt x="118609" y="112347"/>
                  <a:pt x="115461" y="115461"/>
                </a:cubicBezTo>
                <a:cubicBezTo>
                  <a:pt x="112313" y="118575"/>
                  <a:pt x="107223" y="118609"/>
                  <a:pt x="104109" y="115461"/>
                </a:cubicBezTo>
                <a:lnTo>
                  <a:pt x="85692" y="97043"/>
                </a:lnTo>
                <a:lnTo>
                  <a:pt x="67274" y="115461"/>
                </a:lnTo>
                <a:cubicBezTo>
                  <a:pt x="64126" y="118609"/>
                  <a:pt x="59036" y="118609"/>
                  <a:pt x="55922" y="115461"/>
                </a:cubicBezTo>
                <a:cubicBezTo>
                  <a:pt x="52808" y="112313"/>
                  <a:pt x="52774" y="107223"/>
                  <a:pt x="55922" y="104109"/>
                </a:cubicBezTo>
                <a:lnTo>
                  <a:pt x="74340" y="85692"/>
                </a:lnTo>
                <a:lnTo>
                  <a:pt x="55922" y="67274"/>
                </a:lnTo>
                <a:cubicBezTo>
                  <a:pt x="52774" y="64126"/>
                  <a:pt x="52774" y="59036"/>
                  <a:pt x="55922" y="55922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46" name="Text 44"/>
          <p:cNvSpPr/>
          <p:nvPr/>
        </p:nvSpPr>
        <p:spPr>
          <a:xfrm>
            <a:off x="6753225" y="5006346"/>
            <a:ext cx="483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Gestion des Données Massives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477000" y="5311146"/>
            <a:ext cx="510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Sur de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très grandes bases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, même FP-Growth peut être lent.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11179129" y="220222"/>
            <a:ext cx="661754" cy="661754"/>
          </a:xfrm>
          <a:custGeom>
            <a:avLst/>
            <a:gdLst/>
            <a:ahLst/>
            <a:cxnLst/>
            <a:rect l="l" t="t" r="r" b="b"/>
            <a:pathLst>
              <a:path w="661754" h="661754">
                <a:moveTo>
                  <a:pt x="0" y="0"/>
                </a:moveTo>
                <a:lnTo>
                  <a:pt x="661754" y="0"/>
                </a:lnTo>
                <a:lnTo>
                  <a:pt x="661754" y="661754"/>
                </a:lnTo>
                <a:lnTo>
                  <a:pt x="0" y="661754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4199" dir="2700000">
              <a:srgbClr val="2d3436">
                <a:alpha val="1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57446" y="557446"/>
            <a:ext cx="456559" cy="456559"/>
          </a:xfrm>
          <a:custGeom>
            <a:avLst/>
            <a:gdLst/>
            <a:ahLst/>
            <a:cxnLst/>
            <a:rect l="l" t="t" r="r" b="b"/>
            <a:pathLst>
              <a:path w="456559" h="456559">
                <a:moveTo>
                  <a:pt x="228279" y="0"/>
                </a:moveTo>
                <a:lnTo>
                  <a:pt x="228279" y="0"/>
                </a:lnTo>
                <a:cubicBezTo>
                  <a:pt x="354270" y="0"/>
                  <a:pt x="456559" y="102289"/>
                  <a:pt x="456559" y="228279"/>
                </a:cubicBezTo>
                <a:lnTo>
                  <a:pt x="456559" y="228279"/>
                </a:lnTo>
                <a:cubicBezTo>
                  <a:pt x="456559" y="354270"/>
                  <a:pt x="354270" y="456559"/>
                  <a:pt x="228279" y="456559"/>
                </a:cubicBezTo>
                <a:lnTo>
                  <a:pt x="228279" y="456559"/>
                </a:lnTo>
                <a:cubicBezTo>
                  <a:pt x="102289" y="456559"/>
                  <a:pt x="0" y="354270"/>
                  <a:pt x="0" y="228279"/>
                </a:cubicBezTo>
                <a:lnTo>
                  <a:pt x="0" y="228279"/>
                </a:lnTo>
                <a:cubicBezTo>
                  <a:pt x="0" y="102289"/>
                  <a:pt x="102289" y="0"/>
                  <a:pt x="228279" y="0"/>
                </a:cubicBezTo>
                <a:close/>
              </a:path>
            </a:pathLst>
          </a:custGeom>
          <a:solidFill>
            <a:srgbClr val="4ECDC4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4199" dir="2700000">
              <a:srgbClr val="2d3436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57446" y="5499225"/>
            <a:ext cx="319762" cy="798550"/>
          </a:xfrm>
          <a:custGeom>
            <a:avLst/>
            <a:gdLst/>
            <a:ahLst/>
            <a:cxnLst/>
            <a:rect l="l" t="t" r="r" b="b"/>
            <a:pathLst>
              <a:path w="319762" h="798550">
                <a:moveTo>
                  <a:pt x="0" y="0"/>
                </a:moveTo>
                <a:lnTo>
                  <a:pt x="319762" y="0"/>
                </a:lnTo>
                <a:lnTo>
                  <a:pt x="319762" y="798550"/>
                </a:lnTo>
                <a:lnTo>
                  <a:pt x="0" y="798550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4199" dir="2700000">
              <a:srgbClr val="2d3436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832370" y="5772818"/>
            <a:ext cx="524957" cy="251364"/>
          </a:xfrm>
          <a:custGeom>
            <a:avLst/>
            <a:gdLst/>
            <a:ahLst/>
            <a:cxnLst/>
            <a:rect l="l" t="t" r="r" b="b"/>
            <a:pathLst>
              <a:path w="524957" h="251364">
                <a:moveTo>
                  <a:pt x="0" y="0"/>
                </a:moveTo>
                <a:lnTo>
                  <a:pt x="524957" y="0"/>
                </a:lnTo>
                <a:lnTo>
                  <a:pt x="524957" y="251364"/>
                </a:lnTo>
                <a:lnTo>
                  <a:pt x="0" y="251364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4199" dir="2700000">
              <a:srgbClr val="2d3436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52251" y="352251"/>
            <a:ext cx="456559" cy="456559"/>
          </a:xfrm>
          <a:custGeom>
            <a:avLst/>
            <a:gdLst/>
            <a:ahLst/>
            <a:cxnLst/>
            <a:rect l="l" t="t" r="r" b="b"/>
            <a:pathLst>
              <a:path w="456559" h="456559">
                <a:moveTo>
                  <a:pt x="0" y="0"/>
                </a:moveTo>
                <a:lnTo>
                  <a:pt x="456559" y="0"/>
                </a:lnTo>
                <a:lnTo>
                  <a:pt x="456559" y="456559"/>
                </a:lnTo>
                <a:lnTo>
                  <a:pt x="0" y="456559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0480">
            <a:solidFill>
              <a:srgbClr val="2D34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4911" y="427489"/>
            <a:ext cx="265043" cy="30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2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4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57576" y="410390"/>
            <a:ext cx="4403142" cy="341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24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Famille: Détection d'Anomalies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64416" y="896018"/>
            <a:ext cx="808810" cy="56429"/>
          </a:xfrm>
          <a:custGeom>
            <a:avLst/>
            <a:gdLst/>
            <a:ahLst/>
            <a:cxnLst/>
            <a:rect l="l" t="t" r="r" b="b"/>
            <a:pathLst>
              <a:path w="808810" h="56429">
                <a:moveTo>
                  <a:pt x="0" y="0"/>
                </a:moveTo>
                <a:lnTo>
                  <a:pt x="808810" y="0"/>
                </a:lnTo>
                <a:lnTo>
                  <a:pt x="808810" y="56429"/>
                </a:lnTo>
                <a:lnTo>
                  <a:pt x="0" y="56429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251" y="1104633"/>
            <a:ext cx="5663381" cy="1858724"/>
          </a:xfrm>
          <a:custGeom>
            <a:avLst/>
            <a:gdLst/>
            <a:ahLst/>
            <a:cxnLst/>
            <a:rect l="l" t="t" r="r" b="b"/>
            <a:pathLst>
              <a:path w="5663381" h="1858724">
                <a:moveTo>
                  <a:pt x="0" y="0"/>
                </a:moveTo>
                <a:lnTo>
                  <a:pt x="5663381" y="0"/>
                </a:lnTo>
                <a:lnTo>
                  <a:pt x="5663381" y="1858724"/>
                </a:lnTo>
                <a:lnTo>
                  <a:pt x="0" y="18587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9308" y="1251693"/>
            <a:ext cx="5471865" cy="27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16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Objectif Principal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9308" y="1627775"/>
            <a:ext cx="5437666" cy="4445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7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La </a:t>
            </a:r>
            <a:pPr>
              <a:lnSpc>
                <a:spcPct val="140000"/>
              </a:lnSpc>
            </a:pPr>
            <a:r>
              <a:rPr lang="en-US" sz="1077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détection d'anomalies</a:t>
            </a:r>
            <a:pPr>
              <a:lnSpc>
                <a:spcPct val="140000"/>
              </a:lnSpc>
            </a:pPr>
            <a:r>
              <a:rPr lang="en-US" sz="1077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vise à </a:t>
            </a:r>
            <a:pPr>
              <a:lnSpc>
                <a:spcPct val="140000"/>
              </a:lnSpc>
            </a:pPr>
            <a:r>
              <a:rPr lang="en-US" sz="1077" dirty="0">
                <a:solidFill>
                  <a:srgbClr val="FFFFFF"/>
                </a:solidFill>
                <a:highlight>
                  <a:srgbClr val="FF6B6B">
                    <a:alpha val="100000"/>
                  </a:srgbClr>
                </a:highlight>
                <a:latin typeface="Coda" pitchFamily="34" charset="0"/>
                <a:ea typeface="Coda" pitchFamily="34" charset="-122"/>
                <a:cs typeface="Coda" pitchFamily="34" charset="-120"/>
              </a:rPr>
              <a:t>identifier les points atypiques </a:t>
            </a:r>
            <a:pPr>
              <a:lnSpc>
                <a:spcPct val="140000"/>
              </a:lnSpc>
            </a:pPr>
            <a:r>
              <a:rPr lang="en-US" sz="1077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(outliers) qui diffèrent significativement de la majorité des données.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6148" y="2181801"/>
            <a:ext cx="5357298" cy="629265"/>
          </a:xfrm>
          <a:custGeom>
            <a:avLst/>
            <a:gdLst/>
            <a:ahLst/>
            <a:cxnLst/>
            <a:rect l="l" t="t" r="r" b="b"/>
            <a:pathLst>
              <a:path w="5357298" h="629265">
                <a:moveTo>
                  <a:pt x="0" y="0"/>
                </a:moveTo>
                <a:lnTo>
                  <a:pt x="5357298" y="0"/>
                </a:lnTo>
                <a:lnTo>
                  <a:pt x="5357298" y="629265"/>
                </a:lnTo>
                <a:lnTo>
                  <a:pt x="0" y="62926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4ECD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5585" y="2291235"/>
            <a:ext cx="5206822" cy="410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Principe:</a:t>
            </a:r>
            <a:pPr>
              <a:lnSpc>
                <a:spcPct val="130000"/>
              </a:lnSpc>
            </a:pPr>
            <a:r>
              <a:rPr lang="en-US" sz="1077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Les anomalies sont rares, différentes et souvent intéressantes — elles peuvent signaler des problèmes ou opportunités.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52251" y="3122275"/>
            <a:ext cx="5663381" cy="3722578"/>
          </a:xfrm>
          <a:custGeom>
            <a:avLst/>
            <a:gdLst/>
            <a:ahLst/>
            <a:cxnLst/>
            <a:rect l="l" t="t" r="r" b="b"/>
            <a:pathLst>
              <a:path w="5663381" h="3722578">
                <a:moveTo>
                  <a:pt x="0" y="0"/>
                </a:moveTo>
                <a:lnTo>
                  <a:pt x="5663381" y="0"/>
                </a:lnTo>
                <a:lnTo>
                  <a:pt x="5663381" y="3722578"/>
                </a:lnTo>
                <a:lnTo>
                  <a:pt x="0" y="372257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9308" y="3269334"/>
            <a:ext cx="5471865" cy="27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16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Approches Principales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6148" y="3652256"/>
            <a:ext cx="5357298" cy="697663"/>
          </a:xfrm>
          <a:custGeom>
            <a:avLst/>
            <a:gdLst/>
            <a:ahLst/>
            <a:cxnLst/>
            <a:rect l="l" t="t" r="r" b="b"/>
            <a:pathLst>
              <a:path w="5357298" h="697663">
                <a:moveTo>
                  <a:pt x="0" y="0"/>
                </a:moveTo>
                <a:lnTo>
                  <a:pt x="5357298" y="0"/>
                </a:lnTo>
                <a:lnTo>
                  <a:pt x="5357298" y="697663"/>
                </a:lnTo>
                <a:lnTo>
                  <a:pt x="0" y="697663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FF6B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6959" y="3802736"/>
            <a:ext cx="153896" cy="153896"/>
          </a:xfrm>
          <a:custGeom>
            <a:avLst/>
            <a:gdLst/>
            <a:ahLst/>
            <a:cxnLst/>
            <a:rect l="l" t="t" r="r" b="b"/>
            <a:pathLst>
              <a:path w="153896" h="153896">
                <a:moveTo>
                  <a:pt x="9619" y="9619"/>
                </a:moveTo>
                <a:cubicBezTo>
                  <a:pt x="14939" y="9619"/>
                  <a:pt x="19237" y="13917"/>
                  <a:pt x="19237" y="19237"/>
                </a:cubicBezTo>
                <a:lnTo>
                  <a:pt x="19237" y="120231"/>
                </a:lnTo>
                <a:cubicBezTo>
                  <a:pt x="19237" y="122877"/>
                  <a:pt x="21401" y="125041"/>
                  <a:pt x="24046" y="125041"/>
                </a:cubicBezTo>
                <a:lnTo>
                  <a:pt x="144278" y="125041"/>
                </a:lnTo>
                <a:cubicBezTo>
                  <a:pt x="149598" y="125041"/>
                  <a:pt x="153896" y="129339"/>
                  <a:pt x="153896" y="134659"/>
                </a:cubicBezTo>
                <a:cubicBezTo>
                  <a:pt x="153896" y="139979"/>
                  <a:pt x="149598" y="144278"/>
                  <a:pt x="144278" y="144278"/>
                </a:cubicBezTo>
                <a:lnTo>
                  <a:pt x="24046" y="144278"/>
                </a:lnTo>
                <a:cubicBezTo>
                  <a:pt x="10761" y="144278"/>
                  <a:pt x="0" y="133517"/>
                  <a:pt x="0" y="120231"/>
                </a:cubicBezTo>
                <a:lnTo>
                  <a:pt x="0" y="19237"/>
                </a:lnTo>
                <a:cubicBezTo>
                  <a:pt x="0" y="13917"/>
                  <a:pt x="4298" y="9619"/>
                  <a:pt x="9619" y="9619"/>
                </a:cubicBezTo>
                <a:close/>
                <a:moveTo>
                  <a:pt x="38474" y="28856"/>
                </a:moveTo>
                <a:cubicBezTo>
                  <a:pt x="38474" y="23535"/>
                  <a:pt x="42772" y="19237"/>
                  <a:pt x="48093" y="19237"/>
                </a:cubicBezTo>
                <a:lnTo>
                  <a:pt x="105804" y="19237"/>
                </a:lnTo>
                <a:cubicBezTo>
                  <a:pt x="111124" y="19237"/>
                  <a:pt x="115422" y="23535"/>
                  <a:pt x="115422" y="28856"/>
                </a:cubicBezTo>
                <a:cubicBezTo>
                  <a:pt x="115422" y="34176"/>
                  <a:pt x="111124" y="38474"/>
                  <a:pt x="105804" y="38474"/>
                </a:cubicBezTo>
                <a:lnTo>
                  <a:pt x="48093" y="38474"/>
                </a:lnTo>
                <a:cubicBezTo>
                  <a:pt x="42772" y="38474"/>
                  <a:pt x="38474" y="34176"/>
                  <a:pt x="38474" y="28856"/>
                </a:cubicBezTo>
                <a:close/>
                <a:moveTo>
                  <a:pt x="48093" y="52902"/>
                </a:moveTo>
                <a:lnTo>
                  <a:pt x="86567" y="52902"/>
                </a:lnTo>
                <a:cubicBezTo>
                  <a:pt x="91887" y="52902"/>
                  <a:pt x="96185" y="57200"/>
                  <a:pt x="96185" y="62520"/>
                </a:cubicBezTo>
                <a:cubicBezTo>
                  <a:pt x="96185" y="67841"/>
                  <a:pt x="91887" y="72139"/>
                  <a:pt x="86567" y="72139"/>
                </a:cubicBezTo>
                <a:lnTo>
                  <a:pt x="48093" y="72139"/>
                </a:lnTo>
                <a:cubicBezTo>
                  <a:pt x="42772" y="72139"/>
                  <a:pt x="38474" y="67841"/>
                  <a:pt x="38474" y="62520"/>
                </a:cubicBezTo>
                <a:cubicBezTo>
                  <a:pt x="38474" y="57200"/>
                  <a:pt x="42772" y="52902"/>
                  <a:pt x="48093" y="52902"/>
                </a:cubicBezTo>
                <a:close/>
                <a:moveTo>
                  <a:pt x="48093" y="86567"/>
                </a:moveTo>
                <a:lnTo>
                  <a:pt x="125041" y="86567"/>
                </a:lnTo>
                <a:cubicBezTo>
                  <a:pt x="130361" y="86567"/>
                  <a:pt x="134659" y="90865"/>
                  <a:pt x="134659" y="96185"/>
                </a:cubicBezTo>
                <a:cubicBezTo>
                  <a:pt x="134659" y="101505"/>
                  <a:pt x="130361" y="105804"/>
                  <a:pt x="125041" y="105804"/>
                </a:cubicBezTo>
                <a:lnTo>
                  <a:pt x="48093" y="105804"/>
                </a:lnTo>
                <a:cubicBezTo>
                  <a:pt x="42772" y="105804"/>
                  <a:pt x="38474" y="101505"/>
                  <a:pt x="38474" y="96185"/>
                </a:cubicBezTo>
                <a:cubicBezTo>
                  <a:pt x="38474" y="90865"/>
                  <a:pt x="42772" y="86567"/>
                  <a:pt x="48093" y="86567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9" name="Text 17"/>
          <p:cNvSpPr/>
          <p:nvPr/>
        </p:nvSpPr>
        <p:spPr>
          <a:xfrm>
            <a:off x="858277" y="3761699"/>
            <a:ext cx="4972680" cy="23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2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Statistiques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5585" y="4035292"/>
            <a:ext cx="5206822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Basées sur la </a:t>
            </a:r>
            <a:pPr>
              <a:lnSpc>
                <a:spcPct val="130000"/>
              </a:lnSpc>
            </a:pPr>
            <a:r>
              <a:rPr lang="en-US" sz="1077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distribution</a:t>
            </a:r>
            <a:pPr>
              <a:lnSpc>
                <a:spcPct val="130000"/>
              </a:lnSpc>
            </a:pPr>
            <a:r>
              <a:rPr lang="en-US" sz="1077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— Z-score, IQR, méthodes paramétriques.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6148" y="4431999"/>
            <a:ext cx="5357298" cy="697663"/>
          </a:xfrm>
          <a:custGeom>
            <a:avLst/>
            <a:gdLst/>
            <a:ahLst/>
            <a:cxnLst/>
            <a:rect l="l" t="t" r="r" b="b"/>
            <a:pathLst>
              <a:path w="5357298" h="697663">
                <a:moveTo>
                  <a:pt x="0" y="0"/>
                </a:moveTo>
                <a:lnTo>
                  <a:pt x="5357298" y="0"/>
                </a:lnTo>
                <a:lnTo>
                  <a:pt x="5357298" y="697663"/>
                </a:lnTo>
                <a:lnTo>
                  <a:pt x="0" y="697663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4ECD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6578" y="4582479"/>
            <a:ext cx="134659" cy="153896"/>
          </a:xfrm>
          <a:custGeom>
            <a:avLst/>
            <a:gdLst/>
            <a:ahLst/>
            <a:cxnLst/>
            <a:rect l="l" t="t" r="r" b="b"/>
            <a:pathLst>
              <a:path w="134659" h="153896">
                <a:moveTo>
                  <a:pt x="48093" y="19237"/>
                </a:moveTo>
                <a:cubicBezTo>
                  <a:pt x="48093" y="13917"/>
                  <a:pt x="43794" y="9619"/>
                  <a:pt x="38474" y="9619"/>
                </a:cubicBezTo>
                <a:cubicBezTo>
                  <a:pt x="33154" y="9619"/>
                  <a:pt x="28856" y="13917"/>
                  <a:pt x="28856" y="19237"/>
                </a:cubicBezTo>
                <a:lnTo>
                  <a:pt x="28856" y="38474"/>
                </a:lnTo>
                <a:lnTo>
                  <a:pt x="9619" y="38474"/>
                </a:lnTo>
                <a:cubicBezTo>
                  <a:pt x="4298" y="38474"/>
                  <a:pt x="0" y="42772"/>
                  <a:pt x="0" y="48093"/>
                </a:cubicBezTo>
                <a:cubicBezTo>
                  <a:pt x="0" y="53413"/>
                  <a:pt x="4298" y="57711"/>
                  <a:pt x="9619" y="57711"/>
                </a:cubicBezTo>
                <a:lnTo>
                  <a:pt x="38474" y="57711"/>
                </a:lnTo>
                <a:cubicBezTo>
                  <a:pt x="43794" y="57711"/>
                  <a:pt x="48093" y="53413"/>
                  <a:pt x="48093" y="48093"/>
                </a:cubicBezTo>
                <a:lnTo>
                  <a:pt x="48093" y="19237"/>
                </a:lnTo>
                <a:close/>
                <a:moveTo>
                  <a:pt x="9619" y="96185"/>
                </a:moveTo>
                <a:cubicBezTo>
                  <a:pt x="4298" y="96185"/>
                  <a:pt x="0" y="100483"/>
                  <a:pt x="0" y="105804"/>
                </a:cubicBezTo>
                <a:cubicBezTo>
                  <a:pt x="0" y="111124"/>
                  <a:pt x="4298" y="115422"/>
                  <a:pt x="9619" y="115422"/>
                </a:cubicBezTo>
                <a:lnTo>
                  <a:pt x="28856" y="115422"/>
                </a:lnTo>
                <a:lnTo>
                  <a:pt x="28856" y="134659"/>
                </a:lnTo>
                <a:cubicBezTo>
                  <a:pt x="28856" y="139979"/>
                  <a:pt x="33154" y="144278"/>
                  <a:pt x="38474" y="144278"/>
                </a:cubicBezTo>
                <a:cubicBezTo>
                  <a:pt x="43794" y="144278"/>
                  <a:pt x="48093" y="139979"/>
                  <a:pt x="48093" y="134659"/>
                </a:cubicBezTo>
                <a:lnTo>
                  <a:pt x="48093" y="105804"/>
                </a:lnTo>
                <a:cubicBezTo>
                  <a:pt x="48093" y="100483"/>
                  <a:pt x="43794" y="96185"/>
                  <a:pt x="38474" y="96185"/>
                </a:cubicBezTo>
                <a:lnTo>
                  <a:pt x="9619" y="96185"/>
                </a:lnTo>
                <a:close/>
                <a:moveTo>
                  <a:pt x="105804" y="19237"/>
                </a:moveTo>
                <a:cubicBezTo>
                  <a:pt x="105804" y="13917"/>
                  <a:pt x="101505" y="9619"/>
                  <a:pt x="96185" y="9619"/>
                </a:cubicBezTo>
                <a:cubicBezTo>
                  <a:pt x="90865" y="9619"/>
                  <a:pt x="86567" y="13917"/>
                  <a:pt x="86567" y="19237"/>
                </a:cubicBezTo>
                <a:lnTo>
                  <a:pt x="86567" y="48093"/>
                </a:lnTo>
                <a:cubicBezTo>
                  <a:pt x="86567" y="53413"/>
                  <a:pt x="90865" y="57711"/>
                  <a:pt x="96185" y="57711"/>
                </a:cubicBezTo>
                <a:lnTo>
                  <a:pt x="125041" y="57711"/>
                </a:lnTo>
                <a:cubicBezTo>
                  <a:pt x="130361" y="57711"/>
                  <a:pt x="134659" y="53413"/>
                  <a:pt x="134659" y="48093"/>
                </a:cubicBezTo>
                <a:cubicBezTo>
                  <a:pt x="134659" y="42772"/>
                  <a:pt x="130361" y="38474"/>
                  <a:pt x="125041" y="38474"/>
                </a:cubicBezTo>
                <a:lnTo>
                  <a:pt x="105804" y="38474"/>
                </a:lnTo>
                <a:lnTo>
                  <a:pt x="105804" y="19237"/>
                </a:lnTo>
                <a:close/>
                <a:moveTo>
                  <a:pt x="96185" y="96185"/>
                </a:moveTo>
                <a:cubicBezTo>
                  <a:pt x="90865" y="96185"/>
                  <a:pt x="86567" y="100483"/>
                  <a:pt x="86567" y="105804"/>
                </a:cubicBezTo>
                <a:lnTo>
                  <a:pt x="86567" y="134659"/>
                </a:lnTo>
                <a:cubicBezTo>
                  <a:pt x="86567" y="139979"/>
                  <a:pt x="90865" y="144278"/>
                  <a:pt x="96185" y="144278"/>
                </a:cubicBezTo>
                <a:cubicBezTo>
                  <a:pt x="101505" y="144278"/>
                  <a:pt x="105804" y="139979"/>
                  <a:pt x="105804" y="134659"/>
                </a:cubicBezTo>
                <a:lnTo>
                  <a:pt x="105804" y="115422"/>
                </a:lnTo>
                <a:lnTo>
                  <a:pt x="125041" y="115422"/>
                </a:lnTo>
                <a:cubicBezTo>
                  <a:pt x="130361" y="115422"/>
                  <a:pt x="134659" y="111124"/>
                  <a:pt x="134659" y="105804"/>
                </a:cubicBezTo>
                <a:cubicBezTo>
                  <a:pt x="134659" y="100483"/>
                  <a:pt x="130361" y="96185"/>
                  <a:pt x="125041" y="96185"/>
                </a:cubicBezTo>
                <a:lnTo>
                  <a:pt x="96185" y="96185"/>
                </a:ln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3" name="Text 21"/>
          <p:cNvSpPr/>
          <p:nvPr/>
        </p:nvSpPr>
        <p:spPr>
          <a:xfrm>
            <a:off x="858277" y="4541433"/>
            <a:ext cx="4972680" cy="23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2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Basées sur la Densité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15585" y="4815026"/>
            <a:ext cx="5206822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Points dans des régions </a:t>
            </a:r>
            <a:pPr>
              <a:lnSpc>
                <a:spcPct val="130000"/>
              </a:lnSpc>
            </a:pPr>
            <a:r>
              <a:rPr lang="en-US" sz="1077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peu denses</a:t>
            </a:r>
            <a:pPr>
              <a:lnSpc>
                <a:spcPct val="130000"/>
              </a:lnSpc>
            </a:pPr>
            <a:r>
              <a:rPr lang="en-US" sz="1077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— LOF, DBSCAN.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06148" y="5211741"/>
            <a:ext cx="5357298" cy="697663"/>
          </a:xfrm>
          <a:custGeom>
            <a:avLst/>
            <a:gdLst/>
            <a:ahLst/>
            <a:cxnLst/>
            <a:rect l="l" t="t" r="r" b="b"/>
            <a:pathLst>
              <a:path w="5357298" h="697663">
                <a:moveTo>
                  <a:pt x="0" y="0"/>
                </a:moveTo>
                <a:lnTo>
                  <a:pt x="5357298" y="0"/>
                </a:lnTo>
                <a:lnTo>
                  <a:pt x="5357298" y="697663"/>
                </a:lnTo>
                <a:lnTo>
                  <a:pt x="0" y="697663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20320">
            <a:solidFill>
              <a:srgbClr val="FFE66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6578" y="5362213"/>
            <a:ext cx="134659" cy="153896"/>
          </a:xfrm>
          <a:custGeom>
            <a:avLst/>
            <a:gdLst/>
            <a:ahLst/>
            <a:cxnLst/>
            <a:rect l="l" t="t" r="r" b="b"/>
            <a:pathLst>
              <a:path w="134659" h="153896">
                <a:moveTo>
                  <a:pt x="67330" y="-9619"/>
                </a:moveTo>
                <a:cubicBezTo>
                  <a:pt x="69434" y="-9619"/>
                  <a:pt x="71448" y="-8687"/>
                  <a:pt x="72830" y="-7064"/>
                </a:cubicBezTo>
                <a:lnTo>
                  <a:pt x="113709" y="41029"/>
                </a:lnTo>
                <a:cubicBezTo>
                  <a:pt x="115542" y="43163"/>
                  <a:pt x="115933" y="46169"/>
                  <a:pt x="114761" y="48724"/>
                </a:cubicBezTo>
                <a:cubicBezTo>
                  <a:pt x="113589" y="51279"/>
                  <a:pt x="111034" y="52902"/>
                  <a:pt x="108208" y="52902"/>
                </a:cubicBezTo>
                <a:lnTo>
                  <a:pt x="100724" y="52902"/>
                </a:lnTo>
                <a:lnTo>
                  <a:pt x="123327" y="79503"/>
                </a:lnTo>
                <a:cubicBezTo>
                  <a:pt x="125161" y="81637"/>
                  <a:pt x="125552" y="84643"/>
                  <a:pt x="124379" y="87198"/>
                </a:cubicBezTo>
                <a:cubicBezTo>
                  <a:pt x="123207" y="89753"/>
                  <a:pt x="120652" y="91376"/>
                  <a:pt x="117827" y="91376"/>
                </a:cubicBezTo>
                <a:lnTo>
                  <a:pt x="106255" y="91376"/>
                </a:lnTo>
                <a:lnTo>
                  <a:pt x="132946" y="122786"/>
                </a:lnTo>
                <a:cubicBezTo>
                  <a:pt x="134779" y="124920"/>
                  <a:pt x="135170" y="127926"/>
                  <a:pt x="133998" y="130481"/>
                </a:cubicBezTo>
                <a:cubicBezTo>
                  <a:pt x="132826" y="133036"/>
                  <a:pt x="130271" y="134659"/>
                  <a:pt x="127445" y="134659"/>
                </a:cubicBezTo>
                <a:lnTo>
                  <a:pt x="76948" y="134659"/>
                </a:lnTo>
                <a:lnTo>
                  <a:pt x="76948" y="153896"/>
                </a:lnTo>
                <a:cubicBezTo>
                  <a:pt x="76948" y="159216"/>
                  <a:pt x="72650" y="163515"/>
                  <a:pt x="67330" y="163515"/>
                </a:cubicBezTo>
                <a:cubicBezTo>
                  <a:pt x="62009" y="163515"/>
                  <a:pt x="57711" y="159216"/>
                  <a:pt x="57711" y="153896"/>
                </a:cubicBezTo>
                <a:lnTo>
                  <a:pt x="57711" y="134659"/>
                </a:lnTo>
                <a:lnTo>
                  <a:pt x="7214" y="134659"/>
                </a:lnTo>
                <a:cubicBezTo>
                  <a:pt x="4388" y="134659"/>
                  <a:pt x="1834" y="133036"/>
                  <a:pt x="661" y="130481"/>
                </a:cubicBezTo>
                <a:cubicBezTo>
                  <a:pt x="-511" y="127926"/>
                  <a:pt x="-120" y="124920"/>
                  <a:pt x="1713" y="122786"/>
                </a:cubicBezTo>
                <a:lnTo>
                  <a:pt x="28405" y="91376"/>
                </a:lnTo>
                <a:lnTo>
                  <a:pt x="16832" y="91376"/>
                </a:lnTo>
                <a:cubicBezTo>
                  <a:pt x="14007" y="91376"/>
                  <a:pt x="11452" y="89753"/>
                  <a:pt x="10280" y="87198"/>
                </a:cubicBezTo>
                <a:cubicBezTo>
                  <a:pt x="9108" y="84643"/>
                  <a:pt x="9498" y="81637"/>
                  <a:pt x="11332" y="79503"/>
                </a:cubicBezTo>
                <a:lnTo>
                  <a:pt x="33935" y="52902"/>
                </a:lnTo>
                <a:lnTo>
                  <a:pt x="26451" y="52902"/>
                </a:lnTo>
                <a:cubicBezTo>
                  <a:pt x="23625" y="52902"/>
                  <a:pt x="21071" y="51279"/>
                  <a:pt x="19898" y="48724"/>
                </a:cubicBezTo>
                <a:cubicBezTo>
                  <a:pt x="18726" y="46169"/>
                  <a:pt x="19117" y="43163"/>
                  <a:pt x="20950" y="41029"/>
                </a:cubicBezTo>
                <a:lnTo>
                  <a:pt x="61829" y="-7064"/>
                </a:lnTo>
                <a:cubicBezTo>
                  <a:pt x="63212" y="-8687"/>
                  <a:pt x="65226" y="-9619"/>
                  <a:pt x="67330" y="-9619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27" name="Text 25"/>
          <p:cNvSpPr/>
          <p:nvPr/>
        </p:nvSpPr>
        <p:spPr>
          <a:xfrm>
            <a:off x="858277" y="5321175"/>
            <a:ext cx="4972680" cy="23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2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Isolation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15585" y="5594769"/>
            <a:ext cx="5206822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Isoler les anomalies via </a:t>
            </a:r>
            <a:pPr>
              <a:lnSpc>
                <a:spcPct val="130000"/>
              </a:lnSpc>
            </a:pPr>
            <a:r>
              <a:rPr lang="en-US" sz="1077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partitions aléatoires</a:t>
            </a:r>
            <a:pPr>
              <a:lnSpc>
                <a:spcPct val="130000"/>
              </a:lnSpc>
            </a:pPr>
            <a:r>
              <a:rPr lang="en-US" sz="1077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— Isolation Forest.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06148" y="5991484"/>
            <a:ext cx="5357298" cy="697663"/>
          </a:xfrm>
          <a:custGeom>
            <a:avLst/>
            <a:gdLst/>
            <a:ahLst/>
            <a:cxnLst/>
            <a:rect l="l" t="t" r="r" b="b"/>
            <a:pathLst>
              <a:path w="5357298" h="697663">
                <a:moveTo>
                  <a:pt x="0" y="0"/>
                </a:moveTo>
                <a:lnTo>
                  <a:pt x="5357298" y="0"/>
                </a:lnTo>
                <a:lnTo>
                  <a:pt x="5357298" y="697663"/>
                </a:lnTo>
                <a:lnTo>
                  <a:pt x="0" y="697663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FF6B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6959" y="6141955"/>
            <a:ext cx="153896" cy="153896"/>
          </a:xfrm>
          <a:custGeom>
            <a:avLst/>
            <a:gdLst/>
            <a:ahLst/>
            <a:cxnLst/>
            <a:rect l="l" t="t" r="r" b="b"/>
            <a:pathLst>
              <a:path w="153896" h="153896">
                <a:moveTo>
                  <a:pt x="131263" y="22453"/>
                </a:moveTo>
                <a:lnTo>
                  <a:pt x="134659" y="25669"/>
                </a:lnTo>
                <a:lnTo>
                  <a:pt x="134659" y="9619"/>
                </a:lnTo>
                <a:cubicBezTo>
                  <a:pt x="134659" y="4298"/>
                  <a:pt x="138957" y="0"/>
                  <a:pt x="144278" y="0"/>
                </a:cubicBezTo>
                <a:cubicBezTo>
                  <a:pt x="149598" y="0"/>
                  <a:pt x="153896" y="4298"/>
                  <a:pt x="153896" y="9619"/>
                </a:cubicBezTo>
                <a:lnTo>
                  <a:pt x="153896" y="48093"/>
                </a:lnTo>
                <a:cubicBezTo>
                  <a:pt x="153896" y="53413"/>
                  <a:pt x="149598" y="57711"/>
                  <a:pt x="144278" y="57711"/>
                </a:cubicBezTo>
                <a:lnTo>
                  <a:pt x="105804" y="57711"/>
                </a:lnTo>
                <a:cubicBezTo>
                  <a:pt x="100483" y="57711"/>
                  <a:pt x="96185" y="53413"/>
                  <a:pt x="96185" y="48093"/>
                </a:cubicBezTo>
                <a:cubicBezTo>
                  <a:pt x="96185" y="42772"/>
                  <a:pt x="100483" y="38474"/>
                  <a:pt x="105804" y="38474"/>
                </a:cubicBezTo>
                <a:lnTo>
                  <a:pt x="120201" y="38474"/>
                </a:lnTo>
                <a:lnTo>
                  <a:pt x="117917" y="36310"/>
                </a:lnTo>
                <a:cubicBezTo>
                  <a:pt x="117857" y="36250"/>
                  <a:pt x="117797" y="36190"/>
                  <a:pt x="117737" y="36130"/>
                </a:cubicBezTo>
                <a:cubicBezTo>
                  <a:pt x="95193" y="13586"/>
                  <a:pt x="58673" y="13586"/>
                  <a:pt x="36130" y="36130"/>
                </a:cubicBezTo>
                <a:cubicBezTo>
                  <a:pt x="13586" y="58673"/>
                  <a:pt x="13586" y="95193"/>
                  <a:pt x="36130" y="117737"/>
                </a:cubicBezTo>
                <a:cubicBezTo>
                  <a:pt x="58673" y="140280"/>
                  <a:pt x="95193" y="140280"/>
                  <a:pt x="117737" y="117737"/>
                </a:cubicBezTo>
                <a:cubicBezTo>
                  <a:pt x="120201" y="115272"/>
                  <a:pt x="122396" y="112657"/>
                  <a:pt x="124319" y="109892"/>
                </a:cubicBezTo>
                <a:cubicBezTo>
                  <a:pt x="127355" y="105533"/>
                  <a:pt x="133367" y="104481"/>
                  <a:pt x="137725" y="107517"/>
                </a:cubicBezTo>
                <a:cubicBezTo>
                  <a:pt x="142083" y="110553"/>
                  <a:pt x="143136" y="116564"/>
                  <a:pt x="140100" y="120923"/>
                </a:cubicBezTo>
                <a:cubicBezTo>
                  <a:pt x="137545" y="124590"/>
                  <a:pt x="134629" y="128077"/>
                  <a:pt x="131353" y="131353"/>
                </a:cubicBezTo>
                <a:cubicBezTo>
                  <a:pt x="101295" y="161411"/>
                  <a:pt x="52571" y="161411"/>
                  <a:pt x="22543" y="131353"/>
                </a:cubicBezTo>
                <a:cubicBezTo>
                  <a:pt x="-7484" y="101295"/>
                  <a:pt x="-7514" y="52601"/>
                  <a:pt x="22543" y="22543"/>
                </a:cubicBezTo>
                <a:cubicBezTo>
                  <a:pt x="52571" y="-7484"/>
                  <a:pt x="101205" y="-7514"/>
                  <a:pt x="131263" y="22453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31" name="Text 29"/>
          <p:cNvSpPr/>
          <p:nvPr/>
        </p:nvSpPr>
        <p:spPr>
          <a:xfrm>
            <a:off x="858277" y="6100918"/>
            <a:ext cx="4972680" cy="23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2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Reconstruction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15585" y="6374511"/>
            <a:ext cx="5206822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Forte </a:t>
            </a:r>
            <a:pPr>
              <a:lnSpc>
                <a:spcPct val="130000"/>
              </a:lnSpc>
            </a:pPr>
            <a:r>
              <a:rPr lang="en-US" sz="1077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erreur de reconstruction</a:t>
            </a:r>
            <a:pPr>
              <a:lnSpc>
                <a:spcPct val="130000"/>
              </a:lnSpc>
            </a:pPr>
            <a:r>
              <a:rPr lang="en-US" sz="1077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— Autoencodeurs.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73696" y="1104633"/>
            <a:ext cx="5663381" cy="2653855"/>
          </a:xfrm>
          <a:custGeom>
            <a:avLst/>
            <a:gdLst/>
            <a:ahLst/>
            <a:cxnLst/>
            <a:rect l="l" t="t" r="r" b="b"/>
            <a:pathLst>
              <a:path w="5663381" h="2653855">
                <a:moveTo>
                  <a:pt x="0" y="0"/>
                </a:moveTo>
                <a:lnTo>
                  <a:pt x="5663381" y="0"/>
                </a:lnTo>
                <a:lnTo>
                  <a:pt x="5663381" y="2653855"/>
                </a:lnTo>
                <a:lnTo>
                  <a:pt x="0" y="265385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320753" y="1251693"/>
            <a:ext cx="5471865" cy="27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16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Quand Utiliser?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27593" y="1634615"/>
            <a:ext cx="330022" cy="330022"/>
          </a:xfrm>
          <a:custGeom>
            <a:avLst/>
            <a:gdLst/>
            <a:ahLst/>
            <a:cxnLst/>
            <a:rect l="l" t="t" r="r" b="b"/>
            <a:pathLst>
              <a:path w="330022" h="330022">
                <a:moveTo>
                  <a:pt x="0" y="0"/>
                </a:moveTo>
                <a:lnTo>
                  <a:pt x="330022" y="0"/>
                </a:lnTo>
                <a:lnTo>
                  <a:pt x="330022" y="330022"/>
                </a:lnTo>
                <a:lnTo>
                  <a:pt x="0" y="330022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23350" y="1730372"/>
            <a:ext cx="136797" cy="136797"/>
          </a:xfrm>
          <a:custGeom>
            <a:avLst/>
            <a:gdLst/>
            <a:ahLst/>
            <a:cxnLst/>
            <a:rect l="l" t="t" r="r" b="b"/>
            <a:pathLst>
              <a:path w="136797" h="136797">
                <a:moveTo>
                  <a:pt x="0" y="34199"/>
                </a:moveTo>
                <a:lnTo>
                  <a:pt x="0" y="42749"/>
                </a:lnTo>
                <a:lnTo>
                  <a:pt x="136797" y="42749"/>
                </a:lnTo>
                <a:lnTo>
                  <a:pt x="136797" y="34199"/>
                </a:lnTo>
                <a:cubicBezTo>
                  <a:pt x="136797" y="24768"/>
                  <a:pt x="129129" y="17100"/>
                  <a:pt x="119697" y="17100"/>
                </a:cubicBezTo>
                <a:lnTo>
                  <a:pt x="17100" y="17100"/>
                </a:lnTo>
                <a:cubicBezTo>
                  <a:pt x="7668" y="17100"/>
                  <a:pt x="0" y="24768"/>
                  <a:pt x="0" y="34199"/>
                </a:cubicBezTo>
                <a:close/>
                <a:moveTo>
                  <a:pt x="0" y="55574"/>
                </a:moveTo>
                <a:lnTo>
                  <a:pt x="0" y="102597"/>
                </a:lnTo>
                <a:cubicBezTo>
                  <a:pt x="0" y="112029"/>
                  <a:pt x="7668" y="119697"/>
                  <a:pt x="17100" y="119697"/>
                </a:cubicBezTo>
                <a:lnTo>
                  <a:pt x="119697" y="119697"/>
                </a:lnTo>
                <a:cubicBezTo>
                  <a:pt x="129129" y="119697"/>
                  <a:pt x="136797" y="112029"/>
                  <a:pt x="136797" y="102597"/>
                </a:cubicBezTo>
                <a:lnTo>
                  <a:pt x="136797" y="55574"/>
                </a:lnTo>
                <a:lnTo>
                  <a:pt x="0" y="55574"/>
                </a:lnTo>
                <a:close/>
                <a:moveTo>
                  <a:pt x="17100" y="96185"/>
                </a:moveTo>
                <a:cubicBezTo>
                  <a:pt x="17100" y="92632"/>
                  <a:pt x="19958" y="89773"/>
                  <a:pt x="23512" y="89773"/>
                </a:cubicBezTo>
                <a:lnTo>
                  <a:pt x="36337" y="89773"/>
                </a:lnTo>
                <a:cubicBezTo>
                  <a:pt x="39890" y="89773"/>
                  <a:pt x="42749" y="92632"/>
                  <a:pt x="42749" y="96185"/>
                </a:cubicBezTo>
                <a:cubicBezTo>
                  <a:pt x="42749" y="99739"/>
                  <a:pt x="39890" y="102597"/>
                  <a:pt x="36337" y="102597"/>
                </a:cubicBezTo>
                <a:lnTo>
                  <a:pt x="23512" y="102597"/>
                </a:lnTo>
                <a:cubicBezTo>
                  <a:pt x="19958" y="102597"/>
                  <a:pt x="17100" y="99739"/>
                  <a:pt x="17100" y="96185"/>
                </a:cubicBezTo>
                <a:close/>
                <a:moveTo>
                  <a:pt x="55574" y="96185"/>
                </a:moveTo>
                <a:cubicBezTo>
                  <a:pt x="55574" y="92632"/>
                  <a:pt x="58432" y="89773"/>
                  <a:pt x="61986" y="89773"/>
                </a:cubicBezTo>
                <a:lnTo>
                  <a:pt x="79086" y="89773"/>
                </a:lnTo>
                <a:cubicBezTo>
                  <a:pt x="82639" y="89773"/>
                  <a:pt x="85498" y="92632"/>
                  <a:pt x="85498" y="96185"/>
                </a:cubicBezTo>
                <a:cubicBezTo>
                  <a:pt x="85498" y="99739"/>
                  <a:pt x="82639" y="102597"/>
                  <a:pt x="79086" y="102597"/>
                </a:cubicBezTo>
                <a:lnTo>
                  <a:pt x="61986" y="102597"/>
                </a:lnTo>
                <a:cubicBezTo>
                  <a:pt x="58432" y="102597"/>
                  <a:pt x="55574" y="99739"/>
                  <a:pt x="55574" y="9618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6731143" y="1627775"/>
            <a:ext cx="3334418" cy="23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2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Détection de Fraude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731143" y="1867169"/>
            <a:ext cx="3325868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Identifier transactions suspectes dans les paiements.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27593" y="2147602"/>
            <a:ext cx="330022" cy="330022"/>
          </a:xfrm>
          <a:custGeom>
            <a:avLst/>
            <a:gdLst/>
            <a:ahLst/>
            <a:cxnLst/>
            <a:rect l="l" t="t" r="r" b="b"/>
            <a:pathLst>
              <a:path w="330022" h="330022">
                <a:moveTo>
                  <a:pt x="0" y="0"/>
                </a:moveTo>
                <a:lnTo>
                  <a:pt x="330022" y="0"/>
                </a:lnTo>
                <a:lnTo>
                  <a:pt x="330022" y="330022"/>
                </a:lnTo>
                <a:lnTo>
                  <a:pt x="0" y="330022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14801" y="2243360"/>
            <a:ext cx="153896" cy="136797"/>
          </a:xfrm>
          <a:custGeom>
            <a:avLst/>
            <a:gdLst/>
            <a:ahLst/>
            <a:cxnLst/>
            <a:rect l="l" t="t" r="r" b="b"/>
            <a:pathLst>
              <a:path w="153896" h="136797">
                <a:moveTo>
                  <a:pt x="136102" y="26344"/>
                </a:moveTo>
                <a:cubicBezTo>
                  <a:pt x="138133" y="24313"/>
                  <a:pt x="141526" y="24821"/>
                  <a:pt x="142541" y="27493"/>
                </a:cubicBezTo>
                <a:cubicBezTo>
                  <a:pt x="144358" y="32222"/>
                  <a:pt x="145346" y="37379"/>
                  <a:pt x="145346" y="42749"/>
                </a:cubicBezTo>
                <a:cubicBezTo>
                  <a:pt x="145346" y="66368"/>
                  <a:pt x="126216" y="85498"/>
                  <a:pt x="102597" y="85498"/>
                </a:cubicBezTo>
                <a:cubicBezTo>
                  <a:pt x="97922" y="85498"/>
                  <a:pt x="93406" y="84750"/>
                  <a:pt x="89185" y="83360"/>
                </a:cubicBezTo>
                <a:lnTo>
                  <a:pt x="39249" y="133297"/>
                </a:lnTo>
                <a:cubicBezTo>
                  <a:pt x="31741" y="140804"/>
                  <a:pt x="19558" y="140804"/>
                  <a:pt x="12050" y="133297"/>
                </a:cubicBezTo>
                <a:cubicBezTo>
                  <a:pt x="4542" y="125789"/>
                  <a:pt x="4542" y="113605"/>
                  <a:pt x="12050" y="106098"/>
                </a:cubicBezTo>
                <a:lnTo>
                  <a:pt x="61986" y="56161"/>
                </a:lnTo>
                <a:cubicBezTo>
                  <a:pt x="60597" y="51940"/>
                  <a:pt x="59849" y="47451"/>
                  <a:pt x="59849" y="42749"/>
                </a:cubicBezTo>
                <a:cubicBezTo>
                  <a:pt x="59849" y="19130"/>
                  <a:pt x="78979" y="0"/>
                  <a:pt x="102597" y="0"/>
                </a:cubicBezTo>
                <a:cubicBezTo>
                  <a:pt x="107968" y="0"/>
                  <a:pt x="113124" y="989"/>
                  <a:pt x="117854" y="2805"/>
                </a:cubicBezTo>
                <a:cubicBezTo>
                  <a:pt x="120525" y="3821"/>
                  <a:pt x="121006" y="7214"/>
                  <a:pt x="119002" y="9244"/>
                </a:cubicBezTo>
                <a:lnTo>
                  <a:pt x="95303" y="32943"/>
                </a:lnTo>
                <a:cubicBezTo>
                  <a:pt x="94502" y="33745"/>
                  <a:pt x="94048" y="34840"/>
                  <a:pt x="94048" y="35963"/>
                </a:cubicBezTo>
                <a:lnTo>
                  <a:pt x="94048" y="47024"/>
                </a:lnTo>
                <a:cubicBezTo>
                  <a:pt x="94048" y="49375"/>
                  <a:pt x="95971" y="51299"/>
                  <a:pt x="98323" y="51299"/>
                </a:cubicBezTo>
                <a:lnTo>
                  <a:pt x="109384" y="51299"/>
                </a:lnTo>
                <a:cubicBezTo>
                  <a:pt x="110506" y="51299"/>
                  <a:pt x="111601" y="50845"/>
                  <a:pt x="112403" y="50043"/>
                </a:cubicBezTo>
                <a:lnTo>
                  <a:pt x="136102" y="2634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6731143" y="2140762"/>
            <a:ext cx="3548163" cy="23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2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Maintenance Prédictive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731143" y="2380156"/>
            <a:ext cx="3539613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Détecter signes avant-coureurs de pannes équipements.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27593" y="2660589"/>
            <a:ext cx="330022" cy="330022"/>
          </a:xfrm>
          <a:custGeom>
            <a:avLst/>
            <a:gdLst/>
            <a:ahLst/>
            <a:cxnLst/>
            <a:rect l="l" t="t" r="r" b="b"/>
            <a:pathLst>
              <a:path w="330022" h="330022">
                <a:moveTo>
                  <a:pt x="0" y="0"/>
                </a:moveTo>
                <a:lnTo>
                  <a:pt x="330022" y="0"/>
                </a:lnTo>
                <a:lnTo>
                  <a:pt x="330022" y="330022"/>
                </a:lnTo>
                <a:lnTo>
                  <a:pt x="0" y="330022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23350" y="2756347"/>
            <a:ext cx="136797" cy="136797"/>
          </a:xfrm>
          <a:custGeom>
            <a:avLst/>
            <a:gdLst/>
            <a:ahLst/>
            <a:cxnLst/>
            <a:rect l="l" t="t" r="r" b="b"/>
            <a:pathLst>
              <a:path w="136797" h="136797">
                <a:moveTo>
                  <a:pt x="68398" y="0"/>
                </a:moveTo>
                <a:cubicBezTo>
                  <a:pt x="69627" y="0"/>
                  <a:pt x="70856" y="267"/>
                  <a:pt x="71979" y="775"/>
                </a:cubicBezTo>
                <a:lnTo>
                  <a:pt x="122315" y="22123"/>
                </a:lnTo>
                <a:cubicBezTo>
                  <a:pt x="128193" y="24607"/>
                  <a:pt x="132575" y="30405"/>
                  <a:pt x="132548" y="37405"/>
                </a:cubicBezTo>
                <a:cubicBezTo>
                  <a:pt x="132415" y="63910"/>
                  <a:pt x="121514" y="112403"/>
                  <a:pt x="75479" y="134445"/>
                </a:cubicBezTo>
                <a:cubicBezTo>
                  <a:pt x="71017" y="136583"/>
                  <a:pt x="65833" y="136583"/>
                  <a:pt x="61371" y="134445"/>
                </a:cubicBezTo>
                <a:cubicBezTo>
                  <a:pt x="15309" y="112403"/>
                  <a:pt x="4435" y="63910"/>
                  <a:pt x="4302" y="37405"/>
                </a:cubicBezTo>
                <a:cubicBezTo>
                  <a:pt x="4275" y="30405"/>
                  <a:pt x="8657" y="24607"/>
                  <a:pt x="14535" y="22123"/>
                </a:cubicBezTo>
                <a:lnTo>
                  <a:pt x="64845" y="775"/>
                </a:lnTo>
                <a:cubicBezTo>
                  <a:pt x="65967" y="267"/>
                  <a:pt x="67169" y="0"/>
                  <a:pt x="68398" y="0"/>
                </a:cubicBezTo>
                <a:close/>
                <a:moveTo>
                  <a:pt x="68398" y="17848"/>
                </a:moveTo>
                <a:lnTo>
                  <a:pt x="68398" y="118869"/>
                </a:lnTo>
                <a:cubicBezTo>
                  <a:pt x="105269" y="101021"/>
                  <a:pt x="115182" y="61478"/>
                  <a:pt x="115422" y="37806"/>
                </a:cubicBezTo>
                <a:lnTo>
                  <a:pt x="68398" y="17874"/>
                </a:lnTo>
                <a:lnTo>
                  <a:pt x="68398" y="17874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45" name="Text 43"/>
          <p:cNvSpPr/>
          <p:nvPr/>
        </p:nvSpPr>
        <p:spPr>
          <a:xfrm>
            <a:off x="6731143" y="2653749"/>
            <a:ext cx="3590912" cy="23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2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Cybersécurité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731143" y="2893144"/>
            <a:ext cx="3582362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Identifier intrusions, malwares, comportements suspects.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27593" y="3173577"/>
            <a:ext cx="330022" cy="330022"/>
          </a:xfrm>
          <a:custGeom>
            <a:avLst/>
            <a:gdLst/>
            <a:ahLst/>
            <a:cxnLst/>
            <a:rect l="l" t="t" r="r" b="b"/>
            <a:pathLst>
              <a:path w="330022" h="330022">
                <a:moveTo>
                  <a:pt x="0" y="0"/>
                </a:moveTo>
                <a:lnTo>
                  <a:pt x="330022" y="0"/>
                </a:lnTo>
                <a:lnTo>
                  <a:pt x="330022" y="330022"/>
                </a:lnTo>
                <a:lnTo>
                  <a:pt x="0" y="330022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431900" y="3269334"/>
            <a:ext cx="119697" cy="136797"/>
          </a:xfrm>
          <a:custGeom>
            <a:avLst/>
            <a:gdLst/>
            <a:ahLst/>
            <a:cxnLst/>
            <a:rect l="l" t="t" r="r" b="b"/>
            <a:pathLst>
              <a:path w="119697" h="136797">
                <a:moveTo>
                  <a:pt x="119697" y="54986"/>
                </a:moveTo>
                <a:cubicBezTo>
                  <a:pt x="115743" y="57604"/>
                  <a:pt x="111201" y="59715"/>
                  <a:pt x="106472" y="61398"/>
                </a:cubicBezTo>
                <a:cubicBezTo>
                  <a:pt x="93914" y="65887"/>
                  <a:pt x="77429" y="68398"/>
                  <a:pt x="59849" y="68398"/>
                </a:cubicBezTo>
                <a:cubicBezTo>
                  <a:pt x="42268" y="68398"/>
                  <a:pt x="25756" y="65860"/>
                  <a:pt x="13225" y="61398"/>
                </a:cubicBezTo>
                <a:cubicBezTo>
                  <a:pt x="8523" y="59715"/>
                  <a:pt x="3954" y="57604"/>
                  <a:pt x="0" y="54986"/>
                </a:cubicBezTo>
                <a:lnTo>
                  <a:pt x="0" y="76948"/>
                </a:lnTo>
                <a:cubicBezTo>
                  <a:pt x="0" y="88758"/>
                  <a:pt x="26798" y="98323"/>
                  <a:pt x="59849" y="98323"/>
                </a:cubicBezTo>
                <a:cubicBezTo>
                  <a:pt x="92899" y="98323"/>
                  <a:pt x="119697" y="88758"/>
                  <a:pt x="119697" y="76948"/>
                </a:cubicBezTo>
                <a:lnTo>
                  <a:pt x="119697" y="54986"/>
                </a:lnTo>
                <a:close/>
                <a:moveTo>
                  <a:pt x="119697" y="34199"/>
                </a:moveTo>
                <a:lnTo>
                  <a:pt x="119697" y="21374"/>
                </a:lnTo>
                <a:cubicBezTo>
                  <a:pt x="119697" y="9565"/>
                  <a:pt x="92899" y="0"/>
                  <a:pt x="59849" y="0"/>
                </a:cubicBezTo>
                <a:cubicBezTo>
                  <a:pt x="26798" y="0"/>
                  <a:pt x="0" y="9565"/>
                  <a:pt x="0" y="21374"/>
                </a:cubicBezTo>
                <a:lnTo>
                  <a:pt x="0" y="34199"/>
                </a:lnTo>
                <a:cubicBezTo>
                  <a:pt x="0" y="46009"/>
                  <a:pt x="26798" y="55574"/>
                  <a:pt x="59849" y="55574"/>
                </a:cubicBezTo>
                <a:cubicBezTo>
                  <a:pt x="92899" y="55574"/>
                  <a:pt x="119697" y="46009"/>
                  <a:pt x="119697" y="34199"/>
                </a:cubicBezTo>
                <a:close/>
                <a:moveTo>
                  <a:pt x="106472" y="104147"/>
                </a:moveTo>
                <a:cubicBezTo>
                  <a:pt x="93941" y="108609"/>
                  <a:pt x="77456" y="111147"/>
                  <a:pt x="59849" y="111147"/>
                </a:cubicBezTo>
                <a:cubicBezTo>
                  <a:pt x="42241" y="111147"/>
                  <a:pt x="25756" y="108609"/>
                  <a:pt x="13225" y="104147"/>
                </a:cubicBezTo>
                <a:cubicBezTo>
                  <a:pt x="8523" y="102464"/>
                  <a:pt x="3954" y="100353"/>
                  <a:pt x="0" y="97735"/>
                </a:cubicBezTo>
                <a:lnTo>
                  <a:pt x="0" y="115422"/>
                </a:lnTo>
                <a:cubicBezTo>
                  <a:pt x="0" y="127232"/>
                  <a:pt x="26798" y="136797"/>
                  <a:pt x="59849" y="136797"/>
                </a:cubicBezTo>
                <a:cubicBezTo>
                  <a:pt x="92899" y="136797"/>
                  <a:pt x="119697" y="127232"/>
                  <a:pt x="119697" y="115422"/>
                </a:cubicBezTo>
                <a:lnTo>
                  <a:pt x="119697" y="97735"/>
                </a:lnTo>
                <a:cubicBezTo>
                  <a:pt x="115743" y="100353"/>
                  <a:pt x="111201" y="102464"/>
                  <a:pt x="106472" y="10414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6731143" y="3166737"/>
            <a:ext cx="2898379" cy="2393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2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Qualité de Données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731143" y="3406131"/>
            <a:ext cx="2889829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7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Identifier erreurs de saisie, valeurs aberrantes.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173696" y="3915702"/>
            <a:ext cx="5663381" cy="2927448"/>
          </a:xfrm>
          <a:custGeom>
            <a:avLst/>
            <a:gdLst/>
            <a:ahLst/>
            <a:cxnLst/>
            <a:rect l="l" t="t" r="r" b="b"/>
            <a:pathLst>
              <a:path w="5663381" h="2927448">
                <a:moveTo>
                  <a:pt x="0" y="0"/>
                </a:moveTo>
                <a:lnTo>
                  <a:pt x="5663381" y="0"/>
                </a:lnTo>
                <a:lnTo>
                  <a:pt x="5663381" y="2927448"/>
                </a:lnTo>
                <a:lnTo>
                  <a:pt x="0" y="29274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6320753" y="4062753"/>
            <a:ext cx="5471865" cy="2735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16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Vue d'Ensemble des Algorithmes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27593" y="4445675"/>
            <a:ext cx="2638465" cy="526667"/>
          </a:xfrm>
          <a:custGeom>
            <a:avLst/>
            <a:gdLst/>
            <a:ahLst/>
            <a:cxnLst/>
            <a:rect l="l" t="t" r="r" b="b"/>
            <a:pathLst>
              <a:path w="2638465" h="526667">
                <a:moveTo>
                  <a:pt x="0" y="0"/>
                </a:moveTo>
                <a:lnTo>
                  <a:pt x="2638465" y="0"/>
                </a:lnTo>
                <a:lnTo>
                  <a:pt x="2638465" y="526667"/>
                </a:lnTo>
                <a:lnTo>
                  <a:pt x="0" y="526667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68632" y="4520918"/>
            <a:ext cx="2556387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7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Isolation Forest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372906" y="4726113"/>
            <a:ext cx="2547837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2" dirty="0">
                <a:solidFill>
                  <a:srgbClr val="FFFFFF">
                    <a:alpha val="9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Rapide, scalable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9046747" y="4445675"/>
            <a:ext cx="2638465" cy="526667"/>
          </a:xfrm>
          <a:custGeom>
            <a:avLst/>
            <a:gdLst/>
            <a:ahLst/>
            <a:cxnLst/>
            <a:rect l="l" t="t" r="r" b="b"/>
            <a:pathLst>
              <a:path w="2638465" h="526667">
                <a:moveTo>
                  <a:pt x="0" y="0"/>
                </a:moveTo>
                <a:lnTo>
                  <a:pt x="2638465" y="0"/>
                </a:lnTo>
                <a:lnTo>
                  <a:pt x="2638465" y="526667"/>
                </a:lnTo>
                <a:lnTo>
                  <a:pt x="0" y="526667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087786" y="4520918"/>
            <a:ext cx="2556387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7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One-Class SVM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092060" y="4726113"/>
            <a:ext cx="2547837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2" dirty="0">
                <a:solidFill>
                  <a:srgbClr val="FFFFFF">
                    <a:alpha val="9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Frontière flexible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327593" y="5054422"/>
            <a:ext cx="2638465" cy="526667"/>
          </a:xfrm>
          <a:custGeom>
            <a:avLst/>
            <a:gdLst/>
            <a:ahLst/>
            <a:cxnLst/>
            <a:rect l="l" t="t" r="r" b="b"/>
            <a:pathLst>
              <a:path w="2638465" h="526667">
                <a:moveTo>
                  <a:pt x="0" y="0"/>
                </a:moveTo>
                <a:lnTo>
                  <a:pt x="2638465" y="0"/>
                </a:lnTo>
                <a:lnTo>
                  <a:pt x="2638465" y="526667"/>
                </a:lnTo>
                <a:lnTo>
                  <a:pt x="0" y="526667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68632" y="5129665"/>
            <a:ext cx="2556387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7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LOF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372906" y="5334860"/>
            <a:ext cx="2547837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2" dirty="0">
                <a:solidFill>
                  <a:srgbClr val="2D3436">
                    <a:alpha val="9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Densité locale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9046747" y="5054422"/>
            <a:ext cx="2638465" cy="526667"/>
          </a:xfrm>
          <a:custGeom>
            <a:avLst/>
            <a:gdLst/>
            <a:ahLst/>
            <a:cxnLst/>
            <a:rect l="l" t="t" r="r" b="b"/>
            <a:pathLst>
              <a:path w="2638465" h="526667">
                <a:moveTo>
                  <a:pt x="0" y="0"/>
                </a:moveTo>
                <a:lnTo>
                  <a:pt x="2638465" y="0"/>
                </a:lnTo>
                <a:lnTo>
                  <a:pt x="2638465" y="526667"/>
                </a:lnTo>
                <a:lnTo>
                  <a:pt x="0" y="526667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087786" y="5129665"/>
            <a:ext cx="2556387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7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Autoencodeurs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9092060" y="5334860"/>
            <a:ext cx="2547837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2" dirty="0">
                <a:solidFill>
                  <a:srgbClr val="FFFFFF">
                    <a:alpha val="9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Deep learning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327593" y="5663169"/>
            <a:ext cx="2638465" cy="526667"/>
          </a:xfrm>
          <a:custGeom>
            <a:avLst/>
            <a:gdLst/>
            <a:ahLst/>
            <a:cxnLst/>
            <a:rect l="l" t="t" r="r" b="b"/>
            <a:pathLst>
              <a:path w="2638465" h="526667">
                <a:moveTo>
                  <a:pt x="0" y="0"/>
                </a:moveTo>
                <a:lnTo>
                  <a:pt x="2638465" y="0"/>
                </a:lnTo>
                <a:lnTo>
                  <a:pt x="2638465" y="526667"/>
                </a:lnTo>
                <a:lnTo>
                  <a:pt x="0" y="526667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368632" y="5738403"/>
            <a:ext cx="2556387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7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Z-Score / IQR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372906" y="5943598"/>
            <a:ext cx="2547837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2" dirty="0">
                <a:solidFill>
                  <a:srgbClr val="FFFFFF">
                    <a:alpha val="9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Statistiques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9046747" y="5663169"/>
            <a:ext cx="2638465" cy="526667"/>
          </a:xfrm>
          <a:custGeom>
            <a:avLst/>
            <a:gdLst/>
            <a:ahLst/>
            <a:cxnLst/>
            <a:rect l="l" t="t" r="r" b="b"/>
            <a:pathLst>
              <a:path w="2638465" h="526667">
                <a:moveTo>
                  <a:pt x="0" y="0"/>
                </a:moveTo>
                <a:lnTo>
                  <a:pt x="2638465" y="0"/>
                </a:lnTo>
                <a:lnTo>
                  <a:pt x="2638465" y="526667"/>
                </a:lnTo>
                <a:lnTo>
                  <a:pt x="0" y="526667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087786" y="5738403"/>
            <a:ext cx="2556387" cy="205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7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Mahalanobis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9092060" y="5943598"/>
            <a:ext cx="2547837" cy="17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42" dirty="0">
                <a:solidFill>
                  <a:srgbClr val="2D3436">
                    <a:alpha val="9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Multivarié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0030" y="240030"/>
            <a:ext cx="584835" cy="584835"/>
          </a:xfrm>
          <a:custGeom>
            <a:avLst/>
            <a:gdLst/>
            <a:ahLst/>
            <a:cxnLst/>
            <a:rect l="l" t="t" r="r" b="b"/>
            <a:pathLst>
              <a:path w="584835" h="584835">
                <a:moveTo>
                  <a:pt x="292418" y="0"/>
                </a:moveTo>
                <a:lnTo>
                  <a:pt x="292418" y="0"/>
                </a:lnTo>
                <a:cubicBezTo>
                  <a:pt x="453915" y="0"/>
                  <a:pt x="584835" y="130920"/>
                  <a:pt x="584835" y="292418"/>
                </a:cubicBezTo>
                <a:lnTo>
                  <a:pt x="584835" y="292418"/>
                </a:lnTo>
                <a:cubicBezTo>
                  <a:pt x="584835" y="453915"/>
                  <a:pt x="453915" y="584835"/>
                  <a:pt x="292418" y="584835"/>
                </a:cubicBezTo>
                <a:lnTo>
                  <a:pt x="292418" y="584835"/>
                </a:lnTo>
                <a:cubicBezTo>
                  <a:pt x="130920" y="584835"/>
                  <a:pt x="0" y="453915"/>
                  <a:pt x="0" y="292418"/>
                </a:cubicBezTo>
                <a:lnTo>
                  <a:pt x="0" y="292418"/>
                </a:lnTo>
                <a:cubicBezTo>
                  <a:pt x="0" y="130920"/>
                  <a:pt x="130920" y="0"/>
                  <a:pt x="292417" y="0"/>
                </a:cubicBezTo>
                <a:close/>
              </a:path>
            </a:pathLst>
          </a:custGeom>
          <a:solidFill>
            <a:srgbClr val="FF6B6B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 rot="-720000">
            <a:off x="11094097" y="578493"/>
            <a:ext cx="432435" cy="432435"/>
          </a:xfrm>
          <a:custGeom>
            <a:avLst/>
            <a:gdLst/>
            <a:ahLst/>
            <a:cxnLst/>
            <a:rect l="l" t="t" r="r" b="b"/>
            <a:pathLst>
              <a:path w="432435" h="432435">
                <a:moveTo>
                  <a:pt x="0" y="0"/>
                </a:moveTo>
                <a:lnTo>
                  <a:pt x="432435" y="0"/>
                </a:lnTo>
                <a:lnTo>
                  <a:pt x="432435" y="432435"/>
                </a:lnTo>
                <a:lnTo>
                  <a:pt x="0" y="43243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984230" y="6107430"/>
            <a:ext cx="737235" cy="280035"/>
          </a:xfrm>
          <a:custGeom>
            <a:avLst/>
            <a:gdLst/>
            <a:ahLst/>
            <a:cxnLst/>
            <a:rect l="l" t="t" r="r" b="b"/>
            <a:pathLst>
              <a:path w="737235" h="280035">
                <a:moveTo>
                  <a:pt x="0" y="0"/>
                </a:moveTo>
                <a:lnTo>
                  <a:pt x="737235" y="0"/>
                </a:lnTo>
                <a:lnTo>
                  <a:pt x="737235" y="280035"/>
                </a:lnTo>
                <a:lnTo>
                  <a:pt x="0" y="280035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25830" y="5193030"/>
            <a:ext cx="203835" cy="737235"/>
          </a:xfrm>
          <a:custGeom>
            <a:avLst/>
            <a:gdLst/>
            <a:ahLst/>
            <a:cxnLst/>
            <a:rect l="l" t="t" r="r" b="b"/>
            <a:pathLst>
              <a:path w="203835" h="737235">
                <a:moveTo>
                  <a:pt x="0" y="0"/>
                </a:moveTo>
                <a:lnTo>
                  <a:pt x="203835" y="0"/>
                </a:lnTo>
                <a:lnTo>
                  <a:pt x="203835" y="737235"/>
                </a:lnTo>
                <a:lnTo>
                  <a:pt x="0" y="73723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Détection d'Anomalies: Avantages et Inconvénients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8620" y="845820"/>
            <a:ext cx="901065" cy="62865"/>
          </a:xfrm>
          <a:custGeom>
            <a:avLst/>
            <a:gdLst/>
            <a:ahLst/>
            <a:cxnLst/>
            <a:rect l="l" t="t" r="r" b="b"/>
            <a:pathLst>
              <a:path w="901065" h="62865">
                <a:moveTo>
                  <a:pt x="0" y="0"/>
                </a:moveTo>
                <a:lnTo>
                  <a:pt x="901065" y="0"/>
                </a:lnTo>
                <a:lnTo>
                  <a:pt x="901065" y="62865"/>
                </a:lnTo>
                <a:lnTo>
                  <a:pt x="0" y="6286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2430" y="1078230"/>
            <a:ext cx="5614035" cy="5442585"/>
          </a:xfrm>
          <a:custGeom>
            <a:avLst/>
            <a:gdLst/>
            <a:ahLst/>
            <a:cxnLst/>
            <a:rect l="l" t="t" r="r" b="b"/>
            <a:pathLst>
              <a:path w="5614035" h="5442585">
                <a:moveTo>
                  <a:pt x="0" y="0"/>
                </a:moveTo>
                <a:lnTo>
                  <a:pt x="5614035" y="0"/>
                </a:lnTo>
                <a:lnTo>
                  <a:pt x="5614035" y="5442585"/>
                </a:lnTo>
                <a:lnTo>
                  <a:pt x="0" y="544258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7690" y="1253494"/>
            <a:ext cx="508635" cy="508635"/>
          </a:xfrm>
          <a:custGeom>
            <a:avLst/>
            <a:gdLst/>
            <a:ahLst/>
            <a:cxnLst/>
            <a:rect l="l" t="t" r="r" b="b"/>
            <a:pathLst>
              <a:path w="508635" h="508635">
                <a:moveTo>
                  <a:pt x="0" y="0"/>
                </a:moveTo>
                <a:lnTo>
                  <a:pt x="508635" y="0"/>
                </a:lnTo>
                <a:lnTo>
                  <a:pt x="508635" y="508635"/>
                </a:lnTo>
                <a:lnTo>
                  <a:pt x="0" y="50863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0480">
            <a:solidFill>
              <a:srgbClr val="2D34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8660" y="139446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35719" y="71438"/>
                </a:moveTo>
                <a:cubicBezTo>
                  <a:pt x="43622" y="71438"/>
                  <a:pt x="50006" y="77822"/>
                  <a:pt x="50006" y="85725"/>
                </a:cubicBezTo>
                <a:lnTo>
                  <a:pt x="50006" y="200025"/>
                </a:lnTo>
                <a:cubicBezTo>
                  <a:pt x="50006" y="207928"/>
                  <a:pt x="43622" y="214313"/>
                  <a:pt x="35719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85725"/>
                </a:lnTo>
                <a:cubicBezTo>
                  <a:pt x="0" y="77822"/>
                  <a:pt x="6385" y="71438"/>
                  <a:pt x="14288" y="71438"/>
                </a:cubicBezTo>
                <a:lnTo>
                  <a:pt x="35719" y="71438"/>
                </a:lnTo>
                <a:close/>
                <a:moveTo>
                  <a:pt x="120819" y="7144"/>
                </a:moveTo>
                <a:cubicBezTo>
                  <a:pt x="133008" y="7144"/>
                  <a:pt x="142875" y="17011"/>
                  <a:pt x="142875" y="29200"/>
                </a:cubicBezTo>
                <a:lnTo>
                  <a:pt x="142875" y="31075"/>
                </a:lnTo>
                <a:cubicBezTo>
                  <a:pt x="142875" y="34111"/>
                  <a:pt x="142295" y="37148"/>
                  <a:pt x="141178" y="39960"/>
                </a:cubicBezTo>
                <a:lnTo>
                  <a:pt x="128588" y="71438"/>
                </a:lnTo>
                <a:lnTo>
                  <a:pt x="200025" y="71438"/>
                </a:lnTo>
                <a:cubicBezTo>
                  <a:pt x="211857" y="71438"/>
                  <a:pt x="221456" y="81037"/>
                  <a:pt x="221456" y="92869"/>
                </a:cubicBezTo>
                <a:cubicBezTo>
                  <a:pt x="221456" y="101664"/>
                  <a:pt x="216143" y="109210"/>
                  <a:pt x="208553" y="112514"/>
                </a:cubicBezTo>
                <a:cubicBezTo>
                  <a:pt x="216143" y="115818"/>
                  <a:pt x="221456" y="123364"/>
                  <a:pt x="221456" y="132159"/>
                </a:cubicBezTo>
                <a:cubicBezTo>
                  <a:pt x="221456" y="142607"/>
                  <a:pt x="213955" y="151314"/>
                  <a:pt x="204043" y="153189"/>
                </a:cubicBezTo>
                <a:cubicBezTo>
                  <a:pt x="206008" y="156448"/>
                  <a:pt x="207169" y="160243"/>
                  <a:pt x="207169" y="164306"/>
                </a:cubicBezTo>
                <a:cubicBezTo>
                  <a:pt x="207169" y="174218"/>
                  <a:pt x="200471" y="182523"/>
                  <a:pt x="191363" y="184978"/>
                </a:cubicBezTo>
                <a:cubicBezTo>
                  <a:pt x="192345" y="187434"/>
                  <a:pt x="192881" y="190113"/>
                  <a:pt x="192881" y="192881"/>
                </a:cubicBezTo>
                <a:cubicBezTo>
                  <a:pt x="192881" y="204713"/>
                  <a:pt x="183282" y="214313"/>
                  <a:pt x="171450" y="214313"/>
                </a:cubicBezTo>
                <a:lnTo>
                  <a:pt x="132204" y="214313"/>
                </a:lnTo>
                <a:cubicBezTo>
                  <a:pt x="115997" y="214313"/>
                  <a:pt x="100236" y="208776"/>
                  <a:pt x="87600" y="198641"/>
                </a:cubicBezTo>
                <a:lnTo>
                  <a:pt x="82153" y="194310"/>
                </a:lnTo>
                <a:cubicBezTo>
                  <a:pt x="75367" y="188908"/>
                  <a:pt x="71438" y="180692"/>
                  <a:pt x="71438" y="171986"/>
                </a:cubicBezTo>
                <a:lnTo>
                  <a:pt x="71438" y="88672"/>
                </a:lnTo>
                <a:cubicBezTo>
                  <a:pt x="71438" y="82019"/>
                  <a:pt x="73000" y="75456"/>
                  <a:pt x="75947" y="69518"/>
                </a:cubicBezTo>
                <a:lnTo>
                  <a:pt x="101039" y="19333"/>
                </a:lnTo>
                <a:cubicBezTo>
                  <a:pt x="104790" y="11876"/>
                  <a:pt x="112425" y="7144"/>
                  <a:pt x="120819" y="714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203960" y="1337314"/>
            <a:ext cx="14954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Avantages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3880" y="1935484"/>
            <a:ext cx="5273040" cy="1005840"/>
          </a:xfrm>
          <a:custGeom>
            <a:avLst/>
            <a:gdLst/>
            <a:ahLst/>
            <a:cxnLst/>
            <a:rect l="l" t="t" r="r" b="b"/>
            <a:pathLst>
              <a:path w="5273040" h="1005840">
                <a:moveTo>
                  <a:pt x="0" y="0"/>
                </a:moveTo>
                <a:lnTo>
                  <a:pt x="5273040" y="0"/>
                </a:lnTo>
                <a:lnTo>
                  <a:pt x="5273040" y="1005840"/>
                </a:lnTo>
                <a:lnTo>
                  <a:pt x="0" y="100584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4ECD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9613" y="210311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4" name="Text 12"/>
          <p:cNvSpPr/>
          <p:nvPr/>
        </p:nvSpPr>
        <p:spPr>
          <a:xfrm>
            <a:off x="962025" y="2057400"/>
            <a:ext cx="483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Identification Proactive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2362200"/>
            <a:ext cx="510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Permet de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détecter les problèmes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avant qu'ils ne deviennent critiques — approche préventive.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3880" y="3070866"/>
            <a:ext cx="5273040" cy="1005840"/>
          </a:xfrm>
          <a:custGeom>
            <a:avLst/>
            <a:gdLst/>
            <a:ahLst/>
            <a:cxnLst/>
            <a:rect l="l" t="t" r="r" b="b"/>
            <a:pathLst>
              <a:path w="5273040" h="1005840">
                <a:moveTo>
                  <a:pt x="0" y="0"/>
                </a:moveTo>
                <a:lnTo>
                  <a:pt x="5273040" y="0"/>
                </a:lnTo>
                <a:lnTo>
                  <a:pt x="5273040" y="1005840"/>
                </a:lnTo>
                <a:lnTo>
                  <a:pt x="0" y="100584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4ECD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9613" y="32385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18" name="Text 16"/>
          <p:cNvSpPr/>
          <p:nvPr/>
        </p:nvSpPr>
        <p:spPr>
          <a:xfrm>
            <a:off x="962025" y="3192782"/>
            <a:ext cx="483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Pas Besoin d'Exemples d'Anomalies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" y="3497582"/>
            <a:ext cx="510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Contrairement au supervisé, pas besoin de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collecter des cas d'anomalies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— souvent rares et difficiles à obtenir.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63880" y="4206238"/>
            <a:ext cx="5273040" cy="1005840"/>
          </a:xfrm>
          <a:custGeom>
            <a:avLst/>
            <a:gdLst/>
            <a:ahLst/>
            <a:cxnLst/>
            <a:rect l="l" t="t" r="r" b="b"/>
            <a:pathLst>
              <a:path w="5273040" h="1005840">
                <a:moveTo>
                  <a:pt x="0" y="0"/>
                </a:moveTo>
                <a:lnTo>
                  <a:pt x="5273040" y="0"/>
                </a:lnTo>
                <a:lnTo>
                  <a:pt x="5273040" y="1005840"/>
                </a:lnTo>
                <a:lnTo>
                  <a:pt x="0" y="100584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4ECDC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9613" y="4373882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2" name="Text 20"/>
          <p:cNvSpPr/>
          <p:nvPr/>
        </p:nvSpPr>
        <p:spPr>
          <a:xfrm>
            <a:off x="962025" y="4328164"/>
            <a:ext cx="483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Adaptable à Différents Domaines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5800" y="4632964"/>
            <a:ext cx="510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Applicable à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de nombreux secteurs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: finance, santé, industrie, cybersécurité.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63880" y="5341620"/>
            <a:ext cx="5273040" cy="1005840"/>
          </a:xfrm>
          <a:custGeom>
            <a:avLst/>
            <a:gdLst/>
            <a:ahLst/>
            <a:cxnLst/>
            <a:rect l="l" t="t" r="r" b="b"/>
            <a:pathLst>
              <a:path w="5273040" h="1005840">
                <a:moveTo>
                  <a:pt x="0" y="0"/>
                </a:moveTo>
                <a:lnTo>
                  <a:pt x="5273040" y="0"/>
                </a:lnTo>
                <a:lnTo>
                  <a:pt x="5273040" y="1005840"/>
                </a:lnTo>
                <a:lnTo>
                  <a:pt x="0" y="100584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4ECD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9613" y="5509264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26" name="Text 24"/>
          <p:cNvSpPr/>
          <p:nvPr/>
        </p:nvSpPr>
        <p:spPr>
          <a:xfrm>
            <a:off x="962025" y="5463546"/>
            <a:ext cx="483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Fonctionne en Temps Réel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5800" y="5768346"/>
            <a:ext cx="510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Beaucoup d'algorithmes peuvent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détecter en temps réel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pour des applications critiques.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83630" y="1078230"/>
            <a:ext cx="5614035" cy="5442585"/>
          </a:xfrm>
          <a:custGeom>
            <a:avLst/>
            <a:gdLst/>
            <a:ahLst/>
            <a:cxnLst/>
            <a:rect l="l" t="t" r="r" b="b"/>
            <a:pathLst>
              <a:path w="5614035" h="5442585">
                <a:moveTo>
                  <a:pt x="0" y="0"/>
                </a:moveTo>
                <a:lnTo>
                  <a:pt x="5614035" y="0"/>
                </a:lnTo>
                <a:lnTo>
                  <a:pt x="5614035" y="5442585"/>
                </a:lnTo>
                <a:lnTo>
                  <a:pt x="0" y="544258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58890" y="1253494"/>
            <a:ext cx="508635" cy="508635"/>
          </a:xfrm>
          <a:custGeom>
            <a:avLst/>
            <a:gdLst/>
            <a:ahLst/>
            <a:cxnLst/>
            <a:rect l="l" t="t" r="r" b="b"/>
            <a:pathLst>
              <a:path w="508635" h="508635">
                <a:moveTo>
                  <a:pt x="0" y="0"/>
                </a:moveTo>
                <a:lnTo>
                  <a:pt x="508635" y="0"/>
                </a:lnTo>
                <a:lnTo>
                  <a:pt x="508635" y="508635"/>
                </a:lnTo>
                <a:lnTo>
                  <a:pt x="0" y="50863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0480">
            <a:solidFill>
              <a:srgbClr val="2D343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9860" y="139446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71450" y="14288"/>
                </a:moveTo>
                <a:cubicBezTo>
                  <a:pt x="183282" y="14288"/>
                  <a:pt x="192881" y="23887"/>
                  <a:pt x="192881" y="35719"/>
                </a:cubicBezTo>
                <a:cubicBezTo>
                  <a:pt x="192881" y="38532"/>
                  <a:pt x="192301" y="41166"/>
                  <a:pt x="191363" y="43622"/>
                </a:cubicBezTo>
                <a:cubicBezTo>
                  <a:pt x="200471" y="46077"/>
                  <a:pt x="207169" y="54382"/>
                  <a:pt x="207169" y="64294"/>
                </a:cubicBezTo>
                <a:cubicBezTo>
                  <a:pt x="207169" y="68357"/>
                  <a:pt x="206008" y="72152"/>
                  <a:pt x="204043" y="75411"/>
                </a:cubicBezTo>
                <a:cubicBezTo>
                  <a:pt x="213955" y="77286"/>
                  <a:pt x="221456" y="85993"/>
                  <a:pt x="221456" y="96441"/>
                </a:cubicBezTo>
                <a:cubicBezTo>
                  <a:pt x="221456" y="105236"/>
                  <a:pt x="216143" y="112782"/>
                  <a:pt x="208553" y="116086"/>
                </a:cubicBezTo>
                <a:cubicBezTo>
                  <a:pt x="216143" y="119390"/>
                  <a:pt x="221456" y="126936"/>
                  <a:pt x="221456" y="135731"/>
                </a:cubicBezTo>
                <a:cubicBezTo>
                  <a:pt x="221456" y="147563"/>
                  <a:pt x="211857" y="157163"/>
                  <a:pt x="200025" y="157163"/>
                </a:cubicBezTo>
                <a:lnTo>
                  <a:pt x="128588" y="157163"/>
                </a:lnTo>
                <a:lnTo>
                  <a:pt x="141178" y="188595"/>
                </a:lnTo>
                <a:cubicBezTo>
                  <a:pt x="142295" y="191408"/>
                  <a:pt x="142875" y="194444"/>
                  <a:pt x="142875" y="197480"/>
                </a:cubicBezTo>
                <a:lnTo>
                  <a:pt x="142875" y="199355"/>
                </a:lnTo>
                <a:cubicBezTo>
                  <a:pt x="142875" y="211544"/>
                  <a:pt x="133008" y="221412"/>
                  <a:pt x="120819" y="221412"/>
                </a:cubicBezTo>
                <a:cubicBezTo>
                  <a:pt x="112469" y="221412"/>
                  <a:pt x="104835" y="216679"/>
                  <a:pt x="101084" y="209223"/>
                </a:cubicBezTo>
                <a:lnTo>
                  <a:pt x="75947" y="159082"/>
                </a:lnTo>
                <a:cubicBezTo>
                  <a:pt x="72956" y="153144"/>
                  <a:pt x="71438" y="146581"/>
                  <a:pt x="71438" y="139928"/>
                </a:cubicBezTo>
                <a:lnTo>
                  <a:pt x="71438" y="56614"/>
                </a:lnTo>
                <a:cubicBezTo>
                  <a:pt x="71438" y="47952"/>
                  <a:pt x="75411" y="39737"/>
                  <a:pt x="82153" y="34290"/>
                </a:cubicBezTo>
                <a:lnTo>
                  <a:pt x="87600" y="29959"/>
                </a:lnTo>
                <a:cubicBezTo>
                  <a:pt x="100280" y="19824"/>
                  <a:pt x="115997" y="14288"/>
                  <a:pt x="132204" y="14288"/>
                </a:cubicBezTo>
                <a:lnTo>
                  <a:pt x="171450" y="14288"/>
                </a:lnTo>
                <a:close/>
                <a:moveTo>
                  <a:pt x="35719" y="42863"/>
                </a:moveTo>
                <a:cubicBezTo>
                  <a:pt x="43622" y="42863"/>
                  <a:pt x="50006" y="49247"/>
                  <a:pt x="50006" y="57150"/>
                </a:cubicBezTo>
                <a:lnTo>
                  <a:pt x="50006" y="171450"/>
                </a:lnTo>
                <a:cubicBezTo>
                  <a:pt x="50006" y="179353"/>
                  <a:pt x="43622" y="185738"/>
                  <a:pt x="35719" y="185738"/>
                </a:cubicBezTo>
                <a:lnTo>
                  <a:pt x="14288" y="185738"/>
                </a:lnTo>
                <a:cubicBezTo>
                  <a:pt x="6385" y="185738"/>
                  <a:pt x="0" y="179353"/>
                  <a:pt x="0" y="171450"/>
                </a:cubicBezTo>
                <a:lnTo>
                  <a:pt x="0" y="57150"/>
                </a:lnTo>
                <a:cubicBezTo>
                  <a:pt x="0" y="49247"/>
                  <a:pt x="6385" y="42863"/>
                  <a:pt x="14288" y="42863"/>
                </a:cubicBezTo>
                <a:lnTo>
                  <a:pt x="35719" y="4286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6995160" y="1337314"/>
            <a:ext cx="1962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Inconvénients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55080" y="1935484"/>
            <a:ext cx="5273040" cy="1005840"/>
          </a:xfrm>
          <a:custGeom>
            <a:avLst/>
            <a:gdLst/>
            <a:ahLst/>
            <a:cxnLst/>
            <a:rect l="l" t="t" r="r" b="b"/>
            <a:pathLst>
              <a:path w="5273040" h="1005840">
                <a:moveTo>
                  <a:pt x="0" y="0"/>
                </a:moveTo>
                <a:lnTo>
                  <a:pt x="5273040" y="0"/>
                </a:lnTo>
                <a:lnTo>
                  <a:pt x="5273040" y="1005840"/>
                </a:lnTo>
                <a:lnTo>
                  <a:pt x="0" y="100584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FF6B6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00813" y="2103118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55922" y="55922"/>
                </a:moveTo>
                <a:cubicBezTo>
                  <a:pt x="59070" y="52774"/>
                  <a:pt x="64160" y="52774"/>
                  <a:pt x="67274" y="55922"/>
                </a:cubicBezTo>
                <a:lnTo>
                  <a:pt x="85692" y="74340"/>
                </a:lnTo>
                <a:lnTo>
                  <a:pt x="104109" y="55922"/>
                </a:lnTo>
                <a:cubicBezTo>
                  <a:pt x="107257" y="52774"/>
                  <a:pt x="112347" y="52774"/>
                  <a:pt x="115461" y="55922"/>
                </a:cubicBezTo>
                <a:cubicBezTo>
                  <a:pt x="118575" y="59070"/>
                  <a:pt x="118609" y="64160"/>
                  <a:pt x="115461" y="67274"/>
                </a:cubicBezTo>
                <a:lnTo>
                  <a:pt x="97043" y="85692"/>
                </a:lnTo>
                <a:lnTo>
                  <a:pt x="115461" y="104109"/>
                </a:lnTo>
                <a:cubicBezTo>
                  <a:pt x="118609" y="107257"/>
                  <a:pt x="118609" y="112347"/>
                  <a:pt x="115461" y="115461"/>
                </a:cubicBezTo>
                <a:cubicBezTo>
                  <a:pt x="112313" y="118575"/>
                  <a:pt x="107223" y="118609"/>
                  <a:pt x="104109" y="115461"/>
                </a:cubicBezTo>
                <a:lnTo>
                  <a:pt x="85692" y="97043"/>
                </a:lnTo>
                <a:lnTo>
                  <a:pt x="67274" y="115461"/>
                </a:lnTo>
                <a:cubicBezTo>
                  <a:pt x="64126" y="118609"/>
                  <a:pt x="59036" y="118609"/>
                  <a:pt x="55922" y="115461"/>
                </a:cubicBezTo>
                <a:cubicBezTo>
                  <a:pt x="52808" y="112313"/>
                  <a:pt x="52774" y="107223"/>
                  <a:pt x="55922" y="104109"/>
                </a:cubicBezTo>
                <a:lnTo>
                  <a:pt x="74340" y="85692"/>
                </a:lnTo>
                <a:lnTo>
                  <a:pt x="55922" y="67274"/>
                </a:lnTo>
                <a:cubicBezTo>
                  <a:pt x="52774" y="64126"/>
                  <a:pt x="52774" y="59036"/>
                  <a:pt x="55922" y="55922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34" name="Text 32"/>
          <p:cNvSpPr/>
          <p:nvPr/>
        </p:nvSpPr>
        <p:spPr>
          <a:xfrm>
            <a:off x="6753225" y="2057400"/>
            <a:ext cx="483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Taux de Faux Positifs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77000" y="2362200"/>
            <a:ext cx="510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Risque élevé de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fausses alertes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— points normaux classés comme anomalies.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55080" y="3070866"/>
            <a:ext cx="5273040" cy="1005840"/>
          </a:xfrm>
          <a:custGeom>
            <a:avLst/>
            <a:gdLst/>
            <a:ahLst/>
            <a:cxnLst/>
            <a:rect l="l" t="t" r="r" b="b"/>
            <a:pathLst>
              <a:path w="5273040" h="1005840">
                <a:moveTo>
                  <a:pt x="0" y="0"/>
                </a:moveTo>
                <a:lnTo>
                  <a:pt x="5273040" y="0"/>
                </a:lnTo>
                <a:lnTo>
                  <a:pt x="5273040" y="1005840"/>
                </a:lnTo>
                <a:lnTo>
                  <a:pt x="0" y="100584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FF6B6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00813" y="32385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55922" y="55922"/>
                </a:moveTo>
                <a:cubicBezTo>
                  <a:pt x="59070" y="52774"/>
                  <a:pt x="64160" y="52774"/>
                  <a:pt x="67274" y="55922"/>
                </a:cubicBezTo>
                <a:lnTo>
                  <a:pt x="85692" y="74340"/>
                </a:lnTo>
                <a:lnTo>
                  <a:pt x="104109" y="55922"/>
                </a:lnTo>
                <a:cubicBezTo>
                  <a:pt x="107257" y="52774"/>
                  <a:pt x="112347" y="52774"/>
                  <a:pt x="115461" y="55922"/>
                </a:cubicBezTo>
                <a:cubicBezTo>
                  <a:pt x="118575" y="59070"/>
                  <a:pt x="118609" y="64160"/>
                  <a:pt x="115461" y="67274"/>
                </a:cubicBezTo>
                <a:lnTo>
                  <a:pt x="97043" y="85692"/>
                </a:lnTo>
                <a:lnTo>
                  <a:pt x="115461" y="104109"/>
                </a:lnTo>
                <a:cubicBezTo>
                  <a:pt x="118609" y="107257"/>
                  <a:pt x="118609" y="112347"/>
                  <a:pt x="115461" y="115461"/>
                </a:cubicBezTo>
                <a:cubicBezTo>
                  <a:pt x="112313" y="118575"/>
                  <a:pt x="107223" y="118609"/>
                  <a:pt x="104109" y="115461"/>
                </a:cubicBezTo>
                <a:lnTo>
                  <a:pt x="85692" y="97043"/>
                </a:lnTo>
                <a:lnTo>
                  <a:pt x="67274" y="115461"/>
                </a:lnTo>
                <a:cubicBezTo>
                  <a:pt x="64126" y="118609"/>
                  <a:pt x="59036" y="118609"/>
                  <a:pt x="55922" y="115461"/>
                </a:cubicBezTo>
                <a:cubicBezTo>
                  <a:pt x="52808" y="112313"/>
                  <a:pt x="52774" y="107223"/>
                  <a:pt x="55922" y="104109"/>
                </a:cubicBezTo>
                <a:lnTo>
                  <a:pt x="74340" y="85692"/>
                </a:lnTo>
                <a:lnTo>
                  <a:pt x="55922" y="67274"/>
                </a:lnTo>
                <a:cubicBezTo>
                  <a:pt x="52774" y="64126"/>
                  <a:pt x="52774" y="59036"/>
                  <a:pt x="55922" y="55922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38" name="Text 36"/>
          <p:cNvSpPr/>
          <p:nvPr/>
        </p:nvSpPr>
        <p:spPr>
          <a:xfrm>
            <a:off x="6753225" y="3192782"/>
            <a:ext cx="483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Définition Subjective de "Anormal"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77000" y="3497582"/>
            <a:ext cx="510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Ce qui est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anormal dépend du contexte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— difficile à définir universellement.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55080" y="4206238"/>
            <a:ext cx="5273040" cy="1005840"/>
          </a:xfrm>
          <a:custGeom>
            <a:avLst/>
            <a:gdLst/>
            <a:ahLst/>
            <a:cxnLst/>
            <a:rect l="l" t="t" r="r" b="b"/>
            <a:pathLst>
              <a:path w="5273040" h="1005840">
                <a:moveTo>
                  <a:pt x="0" y="0"/>
                </a:moveTo>
                <a:lnTo>
                  <a:pt x="5273040" y="0"/>
                </a:lnTo>
                <a:lnTo>
                  <a:pt x="5273040" y="1005840"/>
                </a:lnTo>
                <a:lnTo>
                  <a:pt x="0" y="100584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FF6B6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00813" y="4373882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55922" y="55922"/>
                </a:moveTo>
                <a:cubicBezTo>
                  <a:pt x="59070" y="52774"/>
                  <a:pt x="64160" y="52774"/>
                  <a:pt x="67274" y="55922"/>
                </a:cubicBezTo>
                <a:lnTo>
                  <a:pt x="85692" y="74340"/>
                </a:lnTo>
                <a:lnTo>
                  <a:pt x="104109" y="55922"/>
                </a:lnTo>
                <a:cubicBezTo>
                  <a:pt x="107257" y="52774"/>
                  <a:pt x="112347" y="52774"/>
                  <a:pt x="115461" y="55922"/>
                </a:cubicBezTo>
                <a:cubicBezTo>
                  <a:pt x="118575" y="59070"/>
                  <a:pt x="118609" y="64160"/>
                  <a:pt x="115461" y="67274"/>
                </a:cubicBezTo>
                <a:lnTo>
                  <a:pt x="97043" y="85692"/>
                </a:lnTo>
                <a:lnTo>
                  <a:pt x="115461" y="104109"/>
                </a:lnTo>
                <a:cubicBezTo>
                  <a:pt x="118609" y="107257"/>
                  <a:pt x="118609" y="112347"/>
                  <a:pt x="115461" y="115461"/>
                </a:cubicBezTo>
                <a:cubicBezTo>
                  <a:pt x="112313" y="118575"/>
                  <a:pt x="107223" y="118609"/>
                  <a:pt x="104109" y="115461"/>
                </a:cubicBezTo>
                <a:lnTo>
                  <a:pt x="85692" y="97043"/>
                </a:lnTo>
                <a:lnTo>
                  <a:pt x="67274" y="115461"/>
                </a:lnTo>
                <a:cubicBezTo>
                  <a:pt x="64126" y="118609"/>
                  <a:pt x="59036" y="118609"/>
                  <a:pt x="55922" y="115461"/>
                </a:cubicBezTo>
                <a:cubicBezTo>
                  <a:pt x="52808" y="112313"/>
                  <a:pt x="52774" y="107223"/>
                  <a:pt x="55922" y="104109"/>
                </a:cubicBezTo>
                <a:lnTo>
                  <a:pt x="74340" y="85692"/>
                </a:lnTo>
                <a:lnTo>
                  <a:pt x="55922" y="67274"/>
                </a:lnTo>
                <a:cubicBezTo>
                  <a:pt x="52774" y="64126"/>
                  <a:pt x="52774" y="59036"/>
                  <a:pt x="55922" y="55922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42" name="Text 40"/>
          <p:cNvSpPr/>
          <p:nvPr/>
        </p:nvSpPr>
        <p:spPr>
          <a:xfrm>
            <a:off x="6753225" y="4328164"/>
            <a:ext cx="483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Équilibrage Sensibilité/Spécificité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77000" y="4632964"/>
            <a:ext cx="510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Difficile de trouver le bon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compromis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entre détecter assez et ne pas alerter trop.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55080" y="5341620"/>
            <a:ext cx="5273040" cy="777240"/>
          </a:xfrm>
          <a:custGeom>
            <a:avLst/>
            <a:gdLst/>
            <a:ahLst/>
            <a:cxnLst/>
            <a:rect l="l" t="t" r="r" b="b"/>
            <a:pathLst>
              <a:path w="5273040" h="777240">
                <a:moveTo>
                  <a:pt x="0" y="0"/>
                </a:moveTo>
                <a:lnTo>
                  <a:pt x="5273040" y="0"/>
                </a:lnTo>
                <a:lnTo>
                  <a:pt x="5273040" y="777240"/>
                </a:lnTo>
                <a:lnTo>
                  <a:pt x="0" y="77724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FF6B6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00813" y="5509264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55922" y="55922"/>
                </a:moveTo>
                <a:cubicBezTo>
                  <a:pt x="59070" y="52774"/>
                  <a:pt x="64160" y="52774"/>
                  <a:pt x="67274" y="55922"/>
                </a:cubicBezTo>
                <a:lnTo>
                  <a:pt x="85692" y="74340"/>
                </a:lnTo>
                <a:lnTo>
                  <a:pt x="104109" y="55922"/>
                </a:lnTo>
                <a:cubicBezTo>
                  <a:pt x="107257" y="52774"/>
                  <a:pt x="112347" y="52774"/>
                  <a:pt x="115461" y="55922"/>
                </a:cubicBezTo>
                <a:cubicBezTo>
                  <a:pt x="118575" y="59070"/>
                  <a:pt x="118609" y="64160"/>
                  <a:pt x="115461" y="67274"/>
                </a:cubicBezTo>
                <a:lnTo>
                  <a:pt x="97043" y="85692"/>
                </a:lnTo>
                <a:lnTo>
                  <a:pt x="115461" y="104109"/>
                </a:lnTo>
                <a:cubicBezTo>
                  <a:pt x="118609" y="107257"/>
                  <a:pt x="118609" y="112347"/>
                  <a:pt x="115461" y="115461"/>
                </a:cubicBezTo>
                <a:cubicBezTo>
                  <a:pt x="112313" y="118575"/>
                  <a:pt x="107223" y="118609"/>
                  <a:pt x="104109" y="115461"/>
                </a:cubicBezTo>
                <a:lnTo>
                  <a:pt x="85692" y="97043"/>
                </a:lnTo>
                <a:lnTo>
                  <a:pt x="67274" y="115461"/>
                </a:lnTo>
                <a:cubicBezTo>
                  <a:pt x="64126" y="118609"/>
                  <a:pt x="59036" y="118609"/>
                  <a:pt x="55922" y="115461"/>
                </a:cubicBezTo>
                <a:cubicBezTo>
                  <a:pt x="52808" y="112313"/>
                  <a:pt x="52774" y="107223"/>
                  <a:pt x="55922" y="104109"/>
                </a:cubicBezTo>
                <a:lnTo>
                  <a:pt x="74340" y="85692"/>
                </a:lnTo>
                <a:lnTo>
                  <a:pt x="55922" y="67274"/>
                </a:lnTo>
                <a:cubicBezTo>
                  <a:pt x="52774" y="64126"/>
                  <a:pt x="52774" y="59036"/>
                  <a:pt x="55922" y="55922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46" name="Text 44"/>
          <p:cNvSpPr/>
          <p:nvPr/>
        </p:nvSpPr>
        <p:spPr>
          <a:xfrm>
            <a:off x="6753225" y="5463546"/>
            <a:ext cx="4838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Évolution des Patterns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477000" y="5768346"/>
            <a:ext cx="510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Le concept de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"normal" évolue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— nécessite réentraînement régulier.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4213" y="264213"/>
            <a:ext cx="615967" cy="615967"/>
          </a:xfrm>
          <a:custGeom>
            <a:avLst/>
            <a:gdLst/>
            <a:ahLst/>
            <a:cxnLst/>
            <a:rect l="l" t="t" r="r" b="b"/>
            <a:pathLst>
              <a:path w="615967" h="615967">
                <a:moveTo>
                  <a:pt x="307983" y="0"/>
                </a:moveTo>
                <a:lnTo>
                  <a:pt x="307983" y="0"/>
                </a:lnTo>
                <a:cubicBezTo>
                  <a:pt x="478078" y="0"/>
                  <a:pt x="615967" y="137889"/>
                  <a:pt x="615967" y="307983"/>
                </a:cubicBezTo>
                <a:lnTo>
                  <a:pt x="615967" y="307983"/>
                </a:lnTo>
                <a:cubicBezTo>
                  <a:pt x="615967" y="478078"/>
                  <a:pt x="478078" y="615967"/>
                  <a:pt x="307983" y="615967"/>
                </a:cubicBezTo>
                <a:lnTo>
                  <a:pt x="307983" y="615967"/>
                </a:lnTo>
                <a:cubicBezTo>
                  <a:pt x="137889" y="615967"/>
                  <a:pt x="0" y="478078"/>
                  <a:pt x="0" y="307983"/>
                </a:cubicBezTo>
                <a:lnTo>
                  <a:pt x="0" y="307983"/>
                </a:lnTo>
                <a:cubicBezTo>
                  <a:pt x="0" y="137889"/>
                  <a:pt x="137889" y="0"/>
                  <a:pt x="307983" y="0"/>
                </a:cubicBezTo>
                <a:close/>
              </a:path>
            </a:pathLst>
          </a:custGeom>
          <a:solidFill>
            <a:srgbClr val="4ECDC4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1833" dir="2700000">
              <a:srgbClr val="2d3436">
                <a:alpha val="1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 rot="2700000">
            <a:off x="11157746" y="426579"/>
            <a:ext cx="424969" cy="424969"/>
          </a:xfrm>
          <a:custGeom>
            <a:avLst/>
            <a:gdLst/>
            <a:ahLst/>
            <a:cxnLst/>
            <a:rect l="l" t="t" r="r" b="b"/>
            <a:pathLst>
              <a:path w="424969" h="424969">
                <a:moveTo>
                  <a:pt x="0" y="0"/>
                </a:moveTo>
                <a:lnTo>
                  <a:pt x="424969" y="0"/>
                </a:lnTo>
                <a:lnTo>
                  <a:pt x="424969" y="424969"/>
                </a:lnTo>
                <a:lnTo>
                  <a:pt x="0" y="424969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1833" dir="2700000">
              <a:srgbClr val="2d3436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377376" y="5596223"/>
            <a:ext cx="297638" cy="743298"/>
          </a:xfrm>
          <a:custGeom>
            <a:avLst/>
            <a:gdLst/>
            <a:ahLst/>
            <a:cxnLst/>
            <a:rect l="l" t="t" r="r" b="b"/>
            <a:pathLst>
              <a:path w="297638" h="743298">
                <a:moveTo>
                  <a:pt x="0" y="0"/>
                </a:moveTo>
                <a:lnTo>
                  <a:pt x="297638" y="0"/>
                </a:lnTo>
                <a:lnTo>
                  <a:pt x="297638" y="743298"/>
                </a:lnTo>
                <a:lnTo>
                  <a:pt x="0" y="743298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1833" dir="2700000">
              <a:srgbClr val="2d3436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3539" y="5850887"/>
            <a:ext cx="488635" cy="233972"/>
          </a:xfrm>
          <a:custGeom>
            <a:avLst/>
            <a:gdLst/>
            <a:ahLst/>
            <a:cxnLst/>
            <a:rect l="l" t="t" r="r" b="b"/>
            <a:pathLst>
              <a:path w="488635" h="233972">
                <a:moveTo>
                  <a:pt x="0" y="0"/>
                </a:moveTo>
                <a:lnTo>
                  <a:pt x="488635" y="0"/>
                </a:lnTo>
                <a:lnTo>
                  <a:pt x="488635" y="233972"/>
                </a:lnTo>
                <a:lnTo>
                  <a:pt x="0" y="233972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1833" dir="2700000">
              <a:srgbClr val="2d3436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18329" y="318329"/>
            <a:ext cx="11698590" cy="318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6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Métriques d'Évaluation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4696" y="706690"/>
            <a:ext cx="752848" cy="52524"/>
          </a:xfrm>
          <a:custGeom>
            <a:avLst/>
            <a:gdLst/>
            <a:ahLst/>
            <a:cxnLst/>
            <a:rect l="l" t="t" r="r" b="b"/>
            <a:pathLst>
              <a:path w="752848" h="52524">
                <a:moveTo>
                  <a:pt x="0" y="0"/>
                </a:moveTo>
                <a:lnTo>
                  <a:pt x="752848" y="0"/>
                </a:lnTo>
                <a:lnTo>
                  <a:pt x="752848" y="52524"/>
                </a:lnTo>
                <a:lnTo>
                  <a:pt x="0" y="52524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7879" y="900871"/>
            <a:ext cx="11542609" cy="512510"/>
          </a:xfrm>
          <a:custGeom>
            <a:avLst/>
            <a:gdLst/>
            <a:ahLst/>
            <a:cxnLst/>
            <a:rect l="l" t="t" r="r" b="b"/>
            <a:pathLst>
              <a:path w="11542609" h="512510">
                <a:moveTo>
                  <a:pt x="0" y="0"/>
                </a:moveTo>
                <a:lnTo>
                  <a:pt x="11542609" y="0"/>
                </a:lnTo>
                <a:lnTo>
                  <a:pt x="11542609" y="512510"/>
                </a:lnTo>
                <a:lnTo>
                  <a:pt x="0" y="51251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048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6593" y="1037756"/>
            <a:ext cx="238747" cy="238747"/>
          </a:xfrm>
          <a:custGeom>
            <a:avLst/>
            <a:gdLst/>
            <a:ahLst/>
            <a:cxnLst/>
            <a:rect l="l" t="t" r="r" b="b"/>
            <a:pathLst>
              <a:path w="238747" h="238747">
                <a:moveTo>
                  <a:pt x="119373" y="0"/>
                </a:moveTo>
                <a:cubicBezTo>
                  <a:pt x="126228" y="0"/>
                  <a:pt x="132523" y="3777"/>
                  <a:pt x="135787" y="9792"/>
                </a:cubicBezTo>
                <a:lnTo>
                  <a:pt x="236508" y="196313"/>
                </a:lnTo>
                <a:cubicBezTo>
                  <a:pt x="239633" y="202095"/>
                  <a:pt x="239493" y="209090"/>
                  <a:pt x="236135" y="214732"/>
                </a:cubicBezTo>
                <a:cubicBezTo>
                  <a:pt x="232778" y="220374"/>
                  <a:pt x="226670" y="223825"/>
                  <a:pt x="220095" y="223825"/>
                </a:cubicBezTo>
                <a:lnTo>
                  <a:pt x="18652" y="223825"/>
                </a:lnTo>
                <a:cubicBezTo>
                  <a:pt x="12077" y="223825"/>
                  <a:pt x="6015" y="220374"/>
                  <a:pt x="2611" y="214732"/>
                </a:cubicBezTo>
                <a:cubicBezTo>
                  <a:pt x="-793" y="209090"/>
                  <a:pt x="-886" y="202095"/>
                  <a:pt x="2238" y="196313"/>
                </a:cubicBezTo>
                <a:lnTo>
                  <a:pt x="102960" y="9792"/>
                </a:lnTo>
                <a:cubicBezTo>
                  <a:pt x="106224" y="3777"/>
                  <a:pt x="112519" y="0"/>
                  <a:pt x="119373" y="0"/>
                </a:cubicBezTo>
                <a:close/>
                <a:moveTo>
                  <a:pt x="119373" y="78339"/>
                </a:moveTo>
                <a:cubicBezTo>
                  <a:pt x="113172" y="78339"/>
                  <a:pt x="108182" y="83328"/>
                  <a:pt x="108182" y="89530"/>
                </a:cubicBezTo>
                <a:lnTo>
                  <a:pt x="108182" y="141756"/>
                </a:lnTo>
                <a:cubicBezTo>
                  <a:pt x="108182" y="147958"/>
                  <a:pt x="113172" y="152947"/>
                  <a:pt x="119373" y="152947"/>
                </a:cubicBezTo>
                <a:cubicBezTo>
                  <a:pt x="125575" y="152947"/>
                  <a:pt x="130565" y="147958"/>
                  <a:pt x="130565" y="141756"/>
                </a:cubicBezTo>
                <a:lnTo>
                  <a:pt x="130565" y="89530"/>
                </a:lnTo>
                <a:cubicBezTo>
                  <a:pt x="130565" y="83328"/>
                  <a:pt x="125575" y="78339"/>
                  <a:pt x="119373" y="78339"/>
                </a:cubicBezTo>
                <a:close/>
                <a:moveTo>
                  <a:pt x="131824" y="179060"/>
                </a:moveTo>
                <a:cubicBezTo>
                  <a:pt x="132107" y="174439"/>
                  <a:pt x="129802" y="170042"/>
                  <a:pt x="125840" y="167645"/>
                </a:cubicBezTo>
                <a:cubicBezTo>
                  <a:pt x="121879" y="165249"/>
                  <a:pt x="116915" y="165249"/>
                  <a:pt x="112953" y="167645"/>
                </a:cubicBezTo>
                <a:cubicBezTo>
                  <a:pt x="108991" y="170042"/>
                  <a:pt x="106687" y="174439"/>
                  <a:pt x="106970" y="179060"/>
                </a:cubicBezTo>
                <a:cubicBezTo>
                  <a:pt x="106687" y="183681"/>
                  <a:pt x="108991" y="188078"/>
                  <a:pt x="112953" y="190475"/>
                </a:cubicBezTo>
                <a:cubicBezTo>
                  <a:pt x="116915" y="192871"/>
                  <a:pt x="121879" y="192871"/>
                  <a:pt x="125840" y="190475"/>
                </a:cubicBezTo>
                <a:cubicBezTo>
                  <a:pt x="129802" y="188078"/>
                  <a:pt x="132107" y="183681"/>
                  <a:pt x="131824" y="17906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0" name="Text 8"/>
          <p:cNvSpPr/>
          <p:nvPr/>
        </p:nvSpPr>
        <p:spPr>
          <a:xfrm>
            <a:off x="858692" y="1045714"/>
            <a:ext cx="2562548" cy="22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Défi Majeur: </a:t>
            </a:r>
            <a:pPr>
              <a:lnSpc>
                <a:spcPct val="120000"/>
              </a:lnSpc>
            </a:pPr>
            <a:r>
              <a:rPr lang="en-US" sz="1253" b="1" dirty="0">
                <a:solidFill>
                  <a:srgbClr val="FFFFFF"/>
                </a:solidFill>
                <a:highlight>
                  <a:srgbClr val="FF6B6B">
                    <a:alpha val="100000"/>
                  </a:srgbClr>
                </a:highlight>
                <a:latin typeface="Coda" pitchFamily="34" charset="0"/>
                <a:ea typeface="Coda" pitchFamily="34" charset="-122"/>
                <a:cs typeface="Coda" pitchFamily="34" charset="-120"/>
              </a:rPr>
              <a:t>Pas de Ground Truth!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7879" y="1559810"/>
            <a:ext cx="5693314" cy="3616217"/>
          </a:xfrm>
          <a:custGeom>
            <a:avLst/>
            <a:gdLst/>
            <a:ahLst/>
            <a:cxnLst/>
            <a:rect l="l" t="t" r="r" b="b"/>
            <a:pathLst>
              <a:path w="5693314" h="3616217">
                <a:moveTo>
                  <a:pt x="0" y="0"/>
                </a:moveTo>
                <a:lnTo>
                  <a:pt x="5693314" y="0"/>
                </a:lnTo>
                <a:lnTo>
                  <a:pt x="5693314" y="3616217"/>
                </a:lnTo>
                <a:lnTo>
                  <a:pt x="0" y="361621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4760" y="1696695"/>
            <a:ext cx="5515050" cy="254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4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Métriques Internes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1127" y="2053122"/>
            <a:ext cx="5408409" cy="1055261"/>
          </a:xfrm>
          <a:custGeom>
            <a:avLst/>
            <a:gdLst/>
            <a:ahLst/>
            <a:cxnLst/>
            <a:rect l="l" t="t" r="r" b="b"/>
            <a:pathLst>
              <a:path w="5408409" h="1055261">
                <a:moveTo>
                  <a:pt x="0" y="0"/>
                </a:moveTo>
                <a:lnTo>
                  <a:pt x="5408409" y="0"/>
                </a:lnTo>
                <a:lnTo>
                  <a:pt x="5408409" y="1055261"/>
                </a:lnTo>
                <a:lnTo>
                  <a:pt x="0" y="1055261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4ECD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2992" y="2154992"/>
            <a:ext cx="5276303" cy="22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Silhouette Score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2992" y="2409656"/>
            <a:ext cx="5268345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Mesure la </a:t>
            </a:r>
            <a:pPr>
              <a:lnSpc>
                <a:spcPct val="130000"/>
              </a:lnSpc>
            </a:pPr>
            <a:r>
              <a:rPr lang="en-US" sz="100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cohésion intra-cluster</a:t>
            </a:r>
            <a:pPr>
              <a:lnSpc>
                <a:spcPct val="130000"/>
              </a:lnSpc>
            </a:pPr>
            <a:r>
              <a:rPr lang="en-US" sz="1003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et la </a:t>
            </a:r>
            <a:pPr>
              <a:lnSpc>
                <a:spcPct val="130000"/>
              </a:lnSpc>
            </a:pPr>
            <a:r>
              <a:rPr lang="en-US" sz="100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séparation inter-clusters</a:t>
            </a:r>
            <a:pPr>
              <a:lnSpc>
                <a:spcPct val="130000"/>
              </a:lnSpc>
            </a:pPr>
            <a:r>
              <a:rPr lang="en-US" sz="1003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79359" y="2670685"/>
            <a:ext cx="5193537" cy="331062"/>
          </a:xfrm>
          <a:custGeom>
            <a:avLst/>
            <a:gdLst/>
            <a:ahLst/>
            <a:cxnLst/>
            <a:rect l="l" t="t" r="r" b="b"/>
            <a:pathLst>
              <a:path w="5193537" h="331062">
                <a:moveTo>
                  <a:pt x="0" y="0"/>
                </a:moveTo>
                <a:lnTo>
                  <a:pt x="5193537" y="0"/>
                </a:lnTo>
                <a:lnTo>
                  <a:pt x="5193537" y="331062"/>
                </a:lnTo>
                <a:lnTo>
                  <a:pt x="0" y="33106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391" y="2740715"/>
            <a:ext cx="5117138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Échelle:</a:t>
            </a:r>
            <a:pPr>
              <a:lnSpc>
                <a:spcPct val="130000"/>
              </a:lnSpc>
            </a:pPr>
            <a:r>
              <a:rPr lang="en-US" sz="1003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-1 (mauvais) à +1 (excellent)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1127" y="3218210"/>
            <a:ext cx="5408409" cy="1055261"/>
          </a:xfrm>
          <a:custGeom>
            <a:avLst/>
            <a:gdLst/>
            <a:ahLst/>
            <a:cxnLst/>
            <a:rect l="l" t="t" r="r" b="b"/>
            <a:pathLst>
              <a:path w="5408409" h="1055261">
                <a:moveTo>
                  <a:pt x="0" y="0"/>
                </a:moveTo>
                <a:lnTo>
                  <a:pt x="5408409" y="0"/>
                </a:lnTo>
                <a:lnTo>
                  <a:pt x="5408409" y="1055261"/>
                </a:lnTo>
                <a:lnTo>
                  <a:pt x="0" y="1055261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20320">
            <a:solidFill>
              <a:srgbClr val="FFE66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2992" y="3320072"/>
            <a:ext cx="5276303" cy="22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Inertie / WCSS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2992" y="3574735"/>
            <a:ext cx="5268345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Within-Cluster Sum of Squares</a:t>
            </a:r>
            <a:pPr>
              <a:lnSpc>
                <a:spcPct val="130000"/>
              </a:lnSpc>
            </a:pPr>
            <a:r>
              <a:rPr lang="en-US" sz="1003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— somme des distances au centroïde.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9359" y="3835765"/>
            <a:ext cx="5193537" cy="331062"/>
          </a:xfrm>
          <a:custGeom>
            <a:avLst/>
            <a:gdLst/>
            <a:ahLst/>
            <a:cxnLst/>
            <a:rect l="l" t="t" r="r" b="b"/>
            <a:pathLst>
              <a:path w="5193537" h="331062">
                <a:moveTo>
                  <a:pt x="0" y="0"/>
                </a:moveTo>
                <a:lnTo>
                  <a:pt x="5193537" y="0"/>
                </a:lnTo>
                <a:lnTo>
                  <a:pt x="5193537" y="331062"/>
                </a:lnTo>
                <a:lnTo>
                  <a:pt x="0" y="33106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391" y="3905802"/>
            <a:ext cx="5117138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Méthode du coude:</a:t>
            </a:r>
            <a:pPr>
              <a:lnSpc>
                <a:spcPct val="130000"/>
              </a:lnSpc>
            </a:pPr>
            <a:r>
              <a:rPr lang="en-US" sz="1003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trouver le "coude" dans la courbe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71127" y="4383289"/>
            <a:ext cx="5408409" cy="649391"/>
          </a:xfrm>
          <a:custGeom>
            <a:avLst/>
            <a:gdLst/>
            <a:ahLst/>
            <a:cxnLst/>
            <a:rect l="l" t="t" r="r" b="b"/>
            <a:pathLst>
              <a:path w="5408409" h="649391">
                <a:moveTo>
                  <a:pt x="0" y="0"/>
                </a:moveTo>
                <a:lnTo>
                  <a:pt x="5408409" y="0"/>
                </a:lnTo>
                <a:lnTo>
                  <a:pt x="5408409" y="649391"/>
                </a:lnTo>
                <a:lnTo>
                  <a:pt x="0" y="649391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FF6B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2992" y="4485159"/>
            <a:ext cx="5276303" cy="22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Davies-Bouldin Index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72992" y="4739822"/>
            <a:ext cx="5268345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Ratio entre </a:t>
            </a:r>
            <a:pPr>
              <a:lnSpc>
                <a:spcPct val="130000"/>
              </a:lnSpc>
            </a:pPr>
            <a:r>
              <a:rPr lang="en-US" sz="100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dispersion intra-cluster</a:t>
            </a:r>
            <a:pPr>
              <a:lnSpc>
                <a:spcPct val="130000"/>
              </a:lnSpc>
            </a:pPr>
            <a:r>
              <a:rPr lang="en-US" sz="1003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et </a:t>
            </a:r>
            <a:pPr>
              <a:lnSpc>
                <a:spcPct val="130000"/>
              </a:lnSpc>
            </a:pPr>
            <a:r>
              <a:rPr lang="en-US" sz="100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distance inter-clusters</a:t>
            </a:r>
            <a:pPr>
              <a:lnSpc>
                <a:spcPct val="130000"/>
              </a:lnSpc>
            </a:pPr>
            <a:r>
              <a:rPr lang="en-US" sz="1003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— plus bas = mieux.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70907" y="1559810"/>
            <a:ext cx="5693314" cy="2804478"/>
          </a:xfrm>
          <a:custGeom>
            <a:avLst/>
            <a:gdLst/>
            <a:ahLst/>
            <a:cxnLst/>
            <a:rect l="l" t="t" r="r" b="b"/>
            <a:pathLst>
              <a:path w="5693314" h="2804478">
                <a:moveTo>
                  <a:pt x="0" y="0"/>
                </a:moveTo>
                <a:lnTo>
                  <a:pt x="5693314" y="0"/>
                </a:lnTo>
                <a:lnTo>
                  <a:pt x="5693314" y="2804478"/>
                </a:lnTo>
                <a:lnTo>
                  <a:pt x="0" y="280447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307788" y="1696695"/>
            <a:ext cx="5515050" cy="254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4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Autres Approches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14155" y="2053122"/>
            <a:ext cx="5408409" cy="649391"/>
          </a:xfrm>
          <a:custGeom>
            <a:avLst/>
            <a:gdLst/>
            <a:ahLst/>
            <a:cxnLst/>
            <a:rect l="l" t="t" r="r" b="b"/>
            <a:pathLst>
              <a:path w="5408409" h="649391">
                <a:moveTo>
                  <a:pt x="0" y="0"/>
                </a:moveTo>
                <a:lnTo>
                  <a:pt x="5408409" y="0"/>
                </a:lnTo>
                <a:lnTo>
                  <a:pt x="5408409" y="649391"/>
                </a:lnTo>
                <a:lnTo>
                  <a:pt x="0" y="649391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4ECDC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35916" y="2193190"/>
            <a:ext cx="143248" cy="143248"/>
          </a:xfrm>
          <a:custGeom>
            <a:avLst/>
            <a:gdLst/>
            <a:ahLst/>
            <a:cxnLst/>
            <a:rect l="l" t="t" r="r" b="b"/>
            <a:pathLst>
              <a:path w="143248" h="143248">
                <a:moveTo>
                  <a:pt x="18438" y="63930"/>
                </a:moveTo>
                <a:cubicBezTo>
                  <a:pt x="22159" y="37910"/>
                  <a:pt x="44569" y="17906"/>
                  <a:pt x="71624" y="17906"/>
                </a:cubicBezTo>
                <a:cubicBezTo>
                  <a:pt x="86452" y="17906"/>
                  <a:pt x="99882" y="23921"/>
                  <a:pt x="109618" y="33630"/>
                </a:cubicBezTo>
                <a:cubicBezTo>
                  <a:pt x="109674" y="33686"/>
                  <a:pt x="109730" y="33742"/>
                  <a:pt x="109786" y="33798"/>
                </a:cubicBezTo>
                <a:lnTo>
                  <a:pt x="111913" y="35812"/>
                </a:lnTo>
                <a:lnTo>
                  <a:pt x="98511" y="35812"/>
                </a:lnTo>
                <a:cubicBezTo>
                  <a:pt x="93559" y="35812"/>
                  <a:pt x="89558" y="39813"/>
                  <a:pt x="89558" y="44765"/>
                </a:cubicBezTo>
                <a:cubicBezTo>
                  <a:pt x="89558" y="49717"/>
                  <a:pt x="93559" y="53718"/>
                  <a:pt x="98511" y="53718"/>
                </a:cubicBezTo>
                <a:lnTo>
                  <a:pt x="134323" y="53718"/>
                </a:lnTo>
                <a:cubicBezTo>
                  <a:pt x="139275" y="53718"/>
                  <a:pt x="143276" y="49717"/>
                  <a:pt x="143276" y="44765"/>
                </a:cubicBezTo>
                <a:lnTo>
                  <a:pt x="143276" y="8953"/>
                </a:lnTo>
                <a:cubicBezTo>
                  <a:pt x="143276" y="4001"/>
                  <a:pt x="139275" y="0"/>
                  <a:pt x="134323" y="0"/>
                </a:cubicBezTo>
                <a:cubicBezTo>
                  <a:pt x="129371" y="0"/>
                  <a:pt x="125370" y="4001"/>
                  <a:pt x="125370" y="8953"/>
                </a:cubicBezTo>
                <a:lnTo>
                  <a:pt x="125370" y="23893"/>
                </a:lnTo>
                <a:lnTo>
                  <a:pt x="122208" y="20900"/>
                </a:lnTo>
                <a:cubicBezTo>
                  <a:pt x="109255" y="8002"/>
                  <a:pt x="91349" y="0"/>
                  <a:pt x="71624" y="0"/>
                </a:cubicBezTo>
                <a:cubicBezTo>
                  <a:pt x="35532" y="0"/>
                  <a:pt x="5680" y="26691"/>
                  <a:pt x="727" y="61412"/>
                </a:cubicBezTo>
                <a:cubicBezTo>
                  <a:pt x="28" y="66308"/>
                  <a:pt x="3413" y="70841"/>
                  <a:pt x="8310" y="71540"/>
                </a:cubicBezTo>
                <a:cubicBezTo>
                  <a:pt x="13206" y="72240"/>
                  <a:pt x="17738" y="68826"/>
                  <a:pt x="18438" y="63958"/>
                </a:cubicBezTo>
                <a:close/>
                <a:moveTo>
                  <a:pt x="142521" y="81836"/>
                </a:moveTo>
                <a:cubicBezTo>
                  <a:pt x="143220" y="76940"/>
                  <a:pt x="139807" y="72407"/>
                  <a:pt x="134939" y="71708"/>
                </a:cubicBezTo>
                <a:cubicBezTo>
                  <a:pt x="130070" y="71009"/>
                  <a:pt x="125510" y="74422"/>
                  <a:pt x="124810" y="79290"/>
                </a:cubicBezTo>
                <a:cubicBezTo>
                  <a:pt x="121089" y="105310"/>
                  <a:pt x="98679" y="125314"/>
                  <a:pt x="71624" y="125314"/>
                </a:cubicBezTo>
                <a:cubicBezTo>
                  <a:pt x="56796" y="125314"/>
                  <a:pt x="43366" y="119299"/>
                  <a:pt x="33630" y="109590"/>
                </a:cubicBezTo>
                <a:cubicBezTo>
                  <a:pt x="33574" y="109534"/>
                  <a:pt x="33518" y="109478"/>
                  <a:pt x="33462" y="109422"/>
                </a:cubicBezTo>
                <a:lnTo>
                  <a:pt x="31336" y="107408"/>
                </a:lnTo>
                <a:lnTo>
                  <a:pt x="44737" y="107408"/>
                </a:lnTo>
                <a:cubicBezTo>
                  <a:pt x="49689" y="107408"/>
                  <a:pt x="53690" y="103407"/>
                  <a:pt x="53690" y="98455"/>
                </a:cubicBezTo>
                <a:cubicBezTo>
                  <a:pt x="53690" y="93503"/>
                  <a:pt x="49689" y="89502"/>
                  <a:pt x="44737" y="89502"/>
                </a:cubicBezTo>
                <a:lnTo>
                  <a:pt x="8953" y="89530"/>
                </a:lnTo>
                <a:cubicBezTo>
                  <a:pt x="6575" y="89530"/>
                  <a:pt x="4281" y="90481"/>
                  <a:pt x="2602" y="92188"/>
                </a:cubicBezTo>
                <a:cubicBezTo>
                  <a:pt x="923" y="93895"/>
                  <a:pt x="-28" y="96161"/>
                  <a:pt x="0" y="98567"/>
                </a:cubicBezTo>
                <a:lnTo>
                  <a:pt x="280" y="134099"/>
                </a:lnTo>
                <a:cubicBezTo>
                  <a:pt x="308" y="139051"/>
                  <a:pt x="4365" y="143024"/>
                  <a:pt x="9317" y="142968"/>
                </a:cubicBezTo>
                <a:cubicBezTo>
                  <a:pt x="14269" y="142912"/>
                  <a:pt x="18242" y="138883"/>
                  <a:pt x="18186" y="133931"/>
                </a:cubicBezTo>
                <a:lnTo>
                  <a:pt x="18074" y="119523"/>
                </a:lnTo>
                <a:lnTo>
                  <a:pt x="21068" y="122348"/>
                </a:lnTo>
                <a:cubicBezTo>
                  <a:pt x="34021" y="135246"/>
                  <a:pt x="51899" y="143248"/>
                  <a:pt x="71624" y="143248"/>
                </a:cubicBezTo>
                <a:cubicBezTo>
                  <a:pt x="107716" y="143248"/>
                  <a:pt x="137568" y="116557"/>
                  <a:pt x="142521" y="81836"/>
                </a:cubicBezTo>
                <a:close/>
              </a:path>
            </a:pathLst>
          </a:custGeom>
          <a:solidFill>
            <a:srgbClr val="4ECDC4"/>
          </a:solidFill>
          <a:ln/>
        </p:spPr>
      </p:sp>
      <p:sp>
        <p:nvSpPr>
          <p:cNvPr id="30" name="Text 28"/>
          <p:cNvSpPr/>
          <p:nvPr/>
        </p:nvSpPr>
        <p:spPr>
          <a:xfrm>
            <a:off x="6638954" y="2154992"/>
            <a:ext cx="5053369" cy="22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Stabilité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16020" y="2409656"/>
            <a:ext cx="5268345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Évaluer la </a:t>
            </a:r>
            <a:pPr>
              <a:lnSpc>
                <a:spcPct val="130000"/>
              </a:lnSpc>
            </a:pPr>
            <a:r>
              <a:rPr lang="en-US" sz="100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stabilité des clusters</a:t>
            </a:r>
            <a:pPr>
              <a:lnSpc>
                <a:spcPct val="130000"/>
              </a:lnSpc>
            </a:pPr>
            <a:r>
              <a:rPr lang="en-US" sz="1003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sur différents échantillons ou initialisations.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14155" y="2810747"/>
            <a:ext cx="5408409" cy="649391"/>
          </a:xfrm>
          <a:custGeom>
            <a:avLst/>
            <a:gdLst/>
            <a:ahLst/>
            <a:cxnLst/>
            <a:rect l="l" t="t" r="r" b="b"/>
            <a:pathLst>
              <a:path w="5408409" h="649391">
                <a:moveTo>
                  <a:pt x="0" y="0"/>
                </a:moveTo>
                <a:lnTo>
                  <a:pt x="5408409" y="0"/>
                </a:lnTo>
                <a:lnTo>
                  <a:pt x="5408409" y="649391"/>
                </a:lnTo>
                <a:lnTo>
                  <a:pt x="0" y="649391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20320">
            <a:solidFill>
              <a:srgbClr val="FFE66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26963" y="2950815"/>
            <a:ext cx="161154" cy="143248"/>
          </a:xfrm>
          <a:custGeom>
            <a:avLst/>
            <a:gdLst/>
            <a:ahLst/>
            <a:cxnLst/>
            <a:rect l="l" t="t" r="r" b="b"/>
            <a:pathLst>
              <a:path w="161154" h="143248">
                <a:moveTo>
                  <a:pt x="80577" y="8953"/>
                </a:moveTo>
                <a:cubicBezTo>
                  <a:pt x="57971" y="8953"/>
                  <a:pt x="39869" y="19249"/>
                  <a:pt x="26691" y="31503"/>
                </a:cubicBezTo>
                <a:cubicBezTo>
                  <a:pt x="13597" y="43674"/>
                  <a:pt x="4840" y="58195"/>
                  <a:pt x="671" y="68183"/>
                </a:cubicBezTo>
                <a:cubicBezTo>
                  <a:pt x="-252" y="70393"/>
                  <a:pt x="-252" y="72855"/>
                  <a:pt x="671" y="75065"/>
                </a:cubicBezTo>
                <a:cubicBezTo>
                  <a:pt x="4840" y="85054"/>
                  <a:pt x="13597" y="99602"/>
                  <a:pt x="26691" y="111745"/>
                </a:cubicBezTo>
                <a:cubicBezTo>
                  <a:pt x="39869" y="123971"/>
                  <a:pt x="57971" y="134295"/>
                  <a:pt x="80577" y="134295"/>
                </a:cubicBezTo>
                <a:cubicBezTo>
                  <a:pt x="103183" y="134295"/>
                  <a:pt x="121285" y="123999"/>
                  <a:pt x="134463" y="111745"/>
                </a:cubicBezTo>
                <a:cubicBezTo>
                  <a:pt x="147557" y="99574"/>
                  <a:pt x="156314" y="85054"/>
                  <a:pt x="160483" y="75065"/>
                </a:cubicBezTo>
                <a:cubicBezTo>
                  <a:pt x="161406" y="72855"/>
                  <a:pt x="161406" y="70393"/>
                  <a:pt x="160483" y="68183"/>
                </a:cubicBezTo>
                <a:cubicBezTo>
                  <a:pt x="156314" y="58195"/>
                  <a:pt x="147557" y="43646"/>
                  <a:pt x="134463" y="31503"/>
                </a:cubicBezTo>
                <a:cubicBezTo>
                  <a:pt x="121285" y="19277"/>
                  <a:pt x="103183" y="8953"/>
                  <a:pt x="80577" y="8953"/>
                </a:cubicBezTo>
                <a:close/>
                <a:moveTo>
                  <a:pt x="40289" y="71624"/>
                </a:moveTo>
                <a:cubicBezTo>
                  <a:pt x="40289" y="49388"/>
                  <a:pt x="58341" y="31336"/>
                  <a:pt x="80577" y="31336"/>
                </a:cubicBezTo>
                <a:cubicBezTo>
                  <a:pt x="102813" y="31336"/>
                  <a:pt x="120866" y="49388"/>
                  <a:pt x="120866" y="71624"/>
                </a:cubicBezTo>
                <a:cubicBezTo>
                  <a:pt x="120866" y="93860"/>
                  <a:pt x="102813" y="111913"/>
                  <a:pt x="80577" y="111913"/>
                </a:cubicBezTo>
                <a:cubicBezTo>
                  <a:pt x="58341" y="111913"/>
                  <a:pt x="40289" y="93860"/>
                  <a:pt x="40289" y="71624"/>
                </a:cubicBezTo>
                <a:close/>
                <a:moveTo>
                  <a:pt x="80577" y="53718"/>
                </a:moveTo>
                <a:cubicBezTo>
                  <a:pt x="80577" y="63594"/>
                  <a:pt x="72547" y="71624"/>
                  <a:pt x="62671" y="71624"/>
                </a:cubicBezTo>
                <a:cubicBezTo>
                  <a:pt x="59454" y="71624"/>
                  <a:pt x="56432" y="70785"/>
                  <a:pt x="53802" y="69274"/>
                </a:cubicBezTo>
                <a:cubicBezTo>
                  <a:pt x="53522" y="72323"/>
                  <a:pt x="53774" y="75457"/>
                  <a:pt x="54613" y="78563"/>
                </a:cubicBezTo>
                <a:cubicBezTo>
                  <a:pt x="58446" y="92887"/>
                  <a:pt x="73191" y="101393"/>
                  <a:pt x="87516" y="97560"/>
                </a:cubicBezTo>
                <a:cubicBezTo>
                  <a:pt x="101840" y="93727"/>
                  <a:pt x="110346" y="78982"/>
                  <a:pt x="106513" y="64657"/>
                </a:cubicBezTo>
                <a:cubicBezTo>
                  <a:pt x="103099" y="51871"/>
                  <a:pt x="90985" y="43730"/>
                  <a:pt x="78227" y="44849"/>
                </a:cubicBezTo>
                <a:cubicBezTo>
                  <a:pt x="79710" y="47451"/>
                  <a:pt x="80577" y="50473"/>
                  <a:pt x="80577" y="53718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34" name="Text 32"/>
          <p:cNvSpPr/>
          <p:nvPr/>
        </p:nvSpPr>
        <p:spPr>
          <a:xfrm>
            <a:off x="6638954" y="2912609"/>
            <a:ext cx="5053369" cy="22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Méthodes Visuelles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16020" y="3167272"/>
            <a:ext cx="5268345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Visualiser les résultats en </a:t>
            </a:r>
            <a:pPr>
              <a:lnSpc>
                <a:spcPct val="130000"/>
              </a:lnSpc>
            </a:pPr>
            <a:r>
              <a:rPr lang="en-US" sz="100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2D/3D</a:t>
            </a:r>
            <a:pPr>
              <a:lnSpc>
                <a:spcPct val="130000"/>
              </a:lnSpc>
            </a:pPr>
            <a:r>
              <a:rPr lang="en-US" sz="1003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pour évaluation subjective — t-SNE, UMAP.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14155" y="3568372"/>
            <a:ext cx="5408409" cy="649391"/>
          </a:xfrm>
          <a:custGeom>
            <a:avLst/>
            <a:gdLst/>
            <a:ahLst/>
            <a:cxnLst/>
            <a:rect l="l" t="t" r="r" b="b"/>
            <a:pathLst>
              <a:path w="5408409" h="649391">
                <a:moveTo>
                  <a:pt x="0" y="0"/>
                </a:moveTo>
                <a:lnTo>
                  <a:pt x="5408409" y="0"/>
                </a:lnTo>
                <a:lnTo>
                  <a:pt x="5408409" y="649391"/>
                </a:lnTo>
                <a:lnTo>
                  <a:pt x="0" y="649391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FF6B6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44869" y="3708432"/>
            <a:ext cx="125342" cy="143248"/>
          </a:xfrm>
          <a:custGeom>
            <a:avLst/>
            <a:gdLst/>
            <a:ahLst/>
            <a:cxnLst/>
            <a:rect l="l" t="t" r="r" b="b"/>
            <a:pathLst>
              <a:path w="125342" h="143248">
                <a:moveTo>
                  <a:pt x="62671" y="69386"/>
                </a:moveTo>
                <a:cubicBezTo>
                  <a:pt x="44141" y="69386"/>
                  <a:pt x="29097" y="54342"/>
                  <a:pt x="29097" y="35812"/>
                </a:cubicBezTo>
                <a:cubicBezTo>
                  <a:pt x="29097" y="17282"/>
                  <a:pt x="44141" y="2238"/>
                  <a:pt x="62671" y="2238"/>
                </a:cubicBezTo>
                <a:cubicBezTo>
                  <a:pt x="81201" y="2238"/>
                  <a:pt x="96245" y="17282"/>
                  <a:pt x="96245" y="35812"/>
                </a:cubicBezTo>
                <a:cubicBezTo>
                  <a:pt x="96245" y="54342"/>
                  <a:pt x="81201" y="69386"/>
                  <a:pt x="62671" y="69386"/>
                </a:cubicBezTo>
                <a:close/>
                <a:moveTo>
                  <a:pt x="54138" y="85054"/>
                </a:moveTo>
                <a:lnTo>
                  <a:pt x="71204" y="85054"/>
                </a:lnTo>
                <a:cubicBezTo>
                  <a:pt x="73918" y="85054"/>
                  <a:pt x="76101" y="87236"/>
                  <a:pt x="76101" y="89950"/>
                </a:cubicBezTo>
                <a:cubicBezTo>
                  <a:pt x="76101" y="91125"/>
                  <a:pt x="75681" y="92244"/>
                  <a:pt x="74925" y="93139"/>
                </a:cubicBezTo>
                <a:lnTo>
                  <a:pt x="67259" y="102092"/>
                </a:lnTo>
                <a:lnTo>
                  <a:pt x="75933" y="134295"/>
                </a:lnTo>
                <a:lnTo>
                  <a:pt x="76101" y="134295"/>
                </a:lnTo>
                <a:lnTo>
                  <a:pt x="85781" y="95545"/>
                </a:lnTo>
                <a:cubicBezTo>
                  <a:pt x="86396" y="93111"/>
                  <a:pt x="88887" y="91628"/>
                  <a:pt x="91237" y="92524"/>
                </a:cubicBezTo>
                <a:cubicBezTo>
                  <a:pt x="108555" y="99127"/>
                  <a:pt x="120866" y="115913"/>
                  <a:pt x="120866" y="135554"/>
                </a:cubicBezTo>
                <a:cubicBezTo>
                  <a:pt x="120866" y="139779"/>
                  <a:pt x="117424" y="143220"/>
                  <a:pt x="113200" y="143220"/>
                </a:cubicBezTo>
                <a:lnTo>
                  <a:pt x="12143" y="143248"/>
                </a:lnTo>
                <a:cubicBezTo>
                  <a:pt x="7918" y="143248"/>
                  <a:pt x="4477" y="139807"/>
                  <a:pt x="4477" y="135582"/>
                </a:cubicBezTo>
                <a:cubicBezTo>
                  <a:pt x="4477" y="115941"/>
                  <a:pt x="16787" y="99155"/>
                  <a:pt x="34105" y="92552"/>
                </a:cubicBezTo>
                <a:cubicBezTo>
                  <a:pt x="36456" y="91656"/>
                  <a:pt x="38946" y="93139"/>
                  <a:pt x="39561" y="95573"/>
                </a:cubicBezTo>
                <a:lnTo>
                  <a:pt x="49242" y="134323"/>
                </a:lnTo>
                <a:lnTo>
                  <a:pt x="49409" y="134323"/>
                </a:lnTo>
                <a:lnTo>
                  <a:pt x="58083" y="102120"/>
                </a:lnTo>
                <a:lnTo>
                  <a:pt x="50417" y="93167"/>
                </a:lnTo>
                <a:cubicBezTo>
                  <a:pt x="49661" y="92272"/>
                  <a:pt x="49242" y="91153"/>
                  <a:pt x="49242" y="89978"/>
                </a:cubicBezTo>
                <a:cubicBezTo>
                  <a:pt x="49242" y="87264"/>
                  <a:pt x="51424" y="85082"/>
                  <a:pt x="54138" y="85082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38" name="Text 36"/>
          <p:cNvSpPr/>
          <p:nvPr/>
        </p:nvSpPr>
        <p:spPr>
          <a:xfrm>
            <a:off x="6638954" y="3670234"/>
            <a:ext cx="5053369" cy="222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8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Validation par Expertise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16020" y="3924897"/>
            <a:ext cx="5268345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Faire valider par des </a:t>
            </a:r>
            <a:pPr>
              <a:lnSpc>
                <a:spcPct val="130000"/>
              </a:lnSpc>
            </a:pPr>
            <a:r>
              <a:rPr lang="en-US" sz="100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experts métier</a:t>
            </a:r>
            <a:pPr>
              <a:lnSpc>
                <a:spcPct val="130000"/>
              </a:lnSpc>
            </a:pPr>
            <a:r>
              <a:rPr lang="en-US" sz="1003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— les résultats ont-ils du sens?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70907" y="4507439"/>
            <a:ext cx="5693314" cy="2024572"/>
          </a:xfrm>
          <a:custGeom>
            <a:avLst/>
            <a:gdLst/>
            <a:ahLst/>
            <a:cxnLst/>
            <a:rect l="l" t="t" r="r" b="b"/>
            <a:pathLst>
              <a:path w="5693314" h="2024572">
                <a:moveTo>
                  <a:pt x="0" y="0"/>
                </a:moveTo>
                <a:lnTo>
                  <a:pt x="5693314" y="0"/>
                </a:lnTo>
                <a:lnTo>
                  <a:pt x="5693314" y="2024572"/>
                </a:lnTo>
                <a:lnTo>
                  <a:pt x="0" y="202457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307788" y="4644323"/>
            <a:ext cx="5515050" cy="254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4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Bonnes Pratiques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14155" y="5032584"/>
            <a:ext cx="243522" cy="243522"/>
          </a:xfrm>
          <a:custGeom>
            <a:avLst/>
            <a:gdLst/>
            <a:ahLst/>
            <a:cxnLst/>
            <a:rect l="l" t="t" r="r" b="b"/>
            <a:pathLst>
              <a:path w="243522" h="243522">
                <a:moveTo>
                  <a:pt x="0" y="0"/>
                </a:moveTo>
                <a:lnTo>
                  <a:pt x="243522" y="0"/>
                </a:lnTo>
                <a:lnTo>
                  <a:pt x="243522" y="243522"/>
                </a:lnTo>
                <a:lnTo>
                  <a:pt x="0" y="243522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16916" y="5058050"/>
            <a:ext cx="103457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1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626117" y="4994384"/>
            <a:ext cx="2570507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Utiliser plusieurs métriques</a:t>
            </a:r>
            <a:pPr>
              <a:lnSpc>
                <a:spcPct val="130000"/>
              </a:lnSpc>
            </a:pPr>
            <a:r>
              <a:rPr lang="en-US" sz="1003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— pas une seule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14155" y="5382746"/>
            <a:ext cx="243522" cy="243522"/>
          </a:xfrm>
          <a:custGeom>
            <a:avLst/>
            <a:gdLst/>
            <a:ahLst/>
            <a:cxnLst/>
            <a:rect l="l" t="t" r="r" b="b"/>
            <a:pathLst>
              <a:path w="243522" h="243522">
                <a:moveTo>
                  <a:pt x="0" y="0"/>
                </a:moveTo>
                <a:lnTo>
                  <a:pt x="243522" y="0"/>
                </a:lnTo>
                <a:lnTo>
                  <a:pt x="243522" y="243522"/>
                </a:lnTo>
                <a:lnTo>
                  <a:pt x="0" y="243522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999" y="5408212"/>
            <a:ext cx="135290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2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626117" y="5344546"/>
            <a:ext cx="2092018" cy="184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Combiner quantitative et qualitative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14155" y="5732908"/>
            <a:ext cx="243522" cy="243522"/>
          </a:xfrm>
          <a:custGeom>
            <a:avLst/>
            <a:gdLst/>
            <a:ahLst/>
            <a:cxnLst/>
            <a:rect l="l" t="t" r="r" b="b"/>
            <a:pathLst>
              <a:path w="243522" h="243522">
                <a:moveTo>
                  <a:pt x="0" y="0"/>
                </a:moveTo>
                <a:lnTo>
                  <a:pt x="243522" y="0"/>
                </a:lnTo>
                <a:lnTo>
                  <a:pt x="243522" y="243522"/>
                </a:lnTo>
                <a:lnTo>
                  <a:pt x="0" y="243522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104" y="5758374"/>
            <a:ext cx="135290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3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626117" y="5694708"/>
            <a:ext cx="2419300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Tester différents algorithmes</a:t>
            </a:r>
            <a:pPr>
              <a:lnSpc>
                <a:spcPct val="130000"/>
              </a:lnSpc>
            </a:pPr>
            <a:r>
              <a:rPr lang="en-US" sz="1003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et comparer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14155" y="6083069"/>
            <a:ext cx="243522" cy="243522"/>
          </a:xfrm>
          <a:custGeom>
            <a:avLst/>
            <a:gdLst/>
            <a:ahLst/>
            <a:cxnLst/>
            <a:rect l="l" t="t" r="r" b="b"/>
            <a:pathLst>
              <a:path w="243522" h="243522">
                <a:moveTo>
                  <a:pt x="0" y="0"/>
                </a:moveTo>
                <a:lnTo>
                  <a:pt x="243522" y="0"/>
                </a:lnTo>
                <a:lnTo>
                  <a:pt x="243522" y="243522"/>
                </a:lnTo>
                <a:lnTo>
                  <a:pt x="0" y="243522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2093" y="6108536"/>
            <a:ext cx="127332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4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626117" y="6044870"/>
            <a:ext cx="2204428" cy="190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Documenter les choix</a:t>
            </a:r>
            <a:pPr>
              <a:lnSpc>
                <a:spcPct val="130000"/>
              </a:lnSpc>
            </a:pPr>
            <a:r>
              <a:rPr lang="en-US" sz="1003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et justifications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11093511" y="239723"/>
            <a:ext cx="720352" cy="720352"/>
          </a:xfrm>
          <a:custGeom>
            <a:avLst/>
            <a:gdLst/>
            <a:ahLst/>
            <a:cxnLst/>
            <a:rect l="l" t="t" r="r" b="b"/>
            <a:pathLst>
              <a:path w="720352" h="720352">
                <a:moveTo>
                  <a:pt x="0" y="0"/>
                </a:moveTo>
                <a:lnTo>
                  <a:pt x="720352" y="0"/>
                </a:lnTo>
                <a:lnTo>
                  <a:pt x="720352" y="720352"/>
                </a:lnTo>
                <a:lnTo>
                  <a:pt x="0" y="720352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7227" dir="2700000">
              <a:srgbClr val="2d3436">
                <a:alpha val="1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06808" y="606808"/>
            <a:ext cx="496987" cy="496987"/>
          </a:xfrm>
          <a:custGeom>
            <a:avLst/>
            <a:gdLst/>
            <a:ahLst/>
            <a:cxnLst/>
            <a:rect l="l" t="t" r="r" b="b"/>
            <a:pathLst>
              <a:path w="496987" h="496987">
                <a:moveTo>
                  <a:pt x="248493" y="0"/>
                </a:moveTo>
                <a:lnTo>
                  <a:pt x="248493" y="0"/>
                </a:lnTo>
                <a:cubicBezTo>
                  <a:pt x="385641" y="0"/>
                  <a:pt x="496987" y="111346"/>
                  <a:pt x="496987" y="248493"/>
                </a:cubicBezTo>
                <a:lnTo>
                  <a:pt x="496987" y="248493"/>
                </a:lnTo>
                <a:cubicBezTo>
                  <a:pt x="496987" y="385641"/>
                  <a:pt x="385641" y="496987"/>
                  <a:pt x="248493" y="496987"/>
                </a:cubicBezTo>
                <a:lnTo>
                  <a:pt x="248493" y="496987"/>
                </a:lnTo>
                <a:cubicBezTo>
                  <a:pt x="111346" y="496987"/>
                  <a:pt x="0" y="385641"/>
                  <a:pt x="0" y="248493"/>
                </a:cubicBezTo>
                <a:lnTo>
                  <a:pt x="0" y="248493"/>
                </a:lnTo>
                <a:cubicBezTo>
                  <a:pt x="0" y="111346"/>
                  <a:pt x="111346" y="0"/>
                  <a:pt x="248493" y="0"/>
                </a:cubicBezTo>
                <a:close/>
              </a:path>
            </a:pathLst>
          </a:custGeom>
          <a:solidFill>
            <a:srgbClr val="FF6B6B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7227" dir="2700000">
              <a:srgbClr val="2d3436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06808" y="5381232"/>
            <a:ext cx="348077" cy="869262"/>
          </a:xfrm>
          <a:custGeom>
            <a:avLst/>
            <a:gdLst/>
            <a:ahLst/>
            <a:cxnLst/>
            <a:rect l="l" t="t" r="r" b="b"/>
            <a:pathLst>
              <a:path w="348077" h="869262">
                <a:moveTo>
                  <a:pt x="0" y="0"/>
                </a:moveTo>
                <a:lnTo>
                  <a:pt x="348077" y="0"/>
                </a:lnTo>
                <a:lnTo>
                  <a:pt x="348077" y="869262"/>
                </a:lnTo>
                <a:lnTo>
                  <a:pt x="0" y="869262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7227" dir="2700000">
              <a:srgbClr val="2d3436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16047" y="5679052"/>
            <a:ext cx="571442" cy="273622"/>
          </a:xfrm>
          <a:custGeom>
            <a:avLst/>
            <a:gdLst/>
            <a:ahLst/>
            <a:cxnLst/>
            <a:rect l="l" t="t" r="r" b="b"/>
            <a:pathLst>
              <a:path w="571442" h="273622">
                <a:moveTo>
                  <a:pt x="0" y="0"/>
                </a:moveTo>
                <a:lnTo>
                  <a:pt x="571442" y="0"/>
                </a:lnTo>
                <a:lnTo>
                  <a:pt x="571442" y="273622"/>
                </a:lnTo>
                <a:lnTo>
                  <a:pt x="0" y="273622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7227" dir="2700000">
              <a:srgbClr val="2d3436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72275" y="372275"/>
            <a:ext cx="11614974" cy="372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38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Bonnes Pratiques et Astuces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79720" y="826450"/>
            <a:ext cx="880430" cy="61425"/>
          </a:xfrm>
          <a:custGeom>
            <a:avLst/>
            <a:gdLst/>
            <a:ahLst/>
            <a:cxnLst/>
            <a:rect l="l" t="t" r="r" b="b"/>
            <a:pathLst>
              <a:path w="880430" h="61425">
                <a:moveTo>
                  <a:pt x="0" y="0"/>
                </a:moveTo>
                <a:lnTo>
                  <a:pt x="880430" y="0"/>
                </a:lnTo>
                <a:lnTo>
                  <a:pt x="880430" y="61425"/>
                </a:lnTo>
                <a:lnTo>
                  <a:pt x="0" y="6142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3443" y="1053538"/>
            <a:ext cx="3698550" cy="4024291"/>
          </a:xfrm>
          <a:custGeom>
            <a:avLst/>
            <a:gdLst/>
            <a:ahLst/>
            <a:cxnLst/>
            <a:rect l="l" t="t" r="r" b="b"/>
            <a:pathLst>
              <a:path w="3698550" h="4024291">
                <a:moveTo>
                  <a:pt x="0" y="0"/>
                </a:moveTo>
                <a:lnTo>
                  <a:pt x="3698550" y="0"/>
                </a:lnTo>
                <a:lnTo>
                  <a:pt x="3698550" y="4024291"/>
                </a:lnTo>
                <a:lnTo>
                  <a:pt x="0" y="40242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0967" y="1221065"/>
            <a:ext cx="433700" cy="433700"/>
          </a:xfrm>
          <a:custGeom>
            <a:avLst/>
            <a:gdLst/>
            <a:ahLst/>
            <a:cxnLst/>
            <a:rect l="l" t="t" r="r" b="b"/>
            <a:pathLst>
              <a:path w="433700" h="433700">
                <a:moveTo>
                  <a:pt x="0" y="0"/>
                </a:moveTo>
                <a:lnTo>
                  <a:pt x="433700" y="0"/>
                </a:lnTo>
                <a:lnTo>
                  <a:pt x="433700" y="433700"/>
                </a:lnTo>
                <a:lnTo>
                  <a:pt x="0" y="43370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184" y="1343916"/>
            <a:ext cx="209405" cy="186137"/>
          </a:xfrm>
          <a:custGeom>
            <a:avLst/>
            <a:gdLst/>
            <a:ahLst/>
            <a:cxnLst/>
            <a:rect l="l" t="t" r="r" b="b"/>
            <a:pathLst>
              <a:path w="209405" h="186137">
                <a:moveTo>
                  <a:pt x="205987" y="19850"/>
                </a:moveTo>
                <a:cubicBezTo>
                  <a:pt x="210532" y="15305"/>
                  <a:pt x="210532" y="7925"/>
                  <a:pt x="205987" y="3381"/>
                </a:cubicBezTo>
                <a:cubicBezTo>
                  <a:pt x="201443" y="-1163"/>
                  <a:pt x="194063" y="-1163"/>
                  <a:pt x="189518" y="3381"/>
                </a:cubicBezTo>
                <a:lnTo>
                  <a:pt x="119717" y="73183"/>
                </a:lnTo>
                <a:lnTo>
                  <a:pt x="107102" y="60567"/>
                </a:lnTo>
                <a:cubicBezTo>
                  <a:pt x="105575" y="59040"/>
                  <a:pt x="103466" y="58168"/>
                  <a:pt x="101285" y="58168"/>
                </a:cubicBezTo>
                <a:cubicBezTo>
                  <a:pt x="96741" y="58168"/>
                  <a:pt x="93069" y="61840"/>
                  <a:pt x="93069" y="66384"/>
                </a:cubicBezTo>
                <a:lnTo>
                  <a:pt x="93069" y="76963"/>
                </a:lnTo>
                <a:lnTo>
                  <a:pt x="132441" y="116336"/>
                </a:lnTo>
                <a:lnTo>
                  <a:pt x="143020" y="116336"/>
                </a:lnTo>
                <a:cubicBezTo>
                  <a:pt x="147565" y="116336"/>
                  <a:pt x="151237" y="112664"/>
                  <a:pt x="151237" y="108120"/>
                </a:cubicBezTo>
                <a:cubicBezTo>
                  <a:pt x="151237" y="105938"/>
                  <a:pt x="150364" y="103830"/>
                  <a:pt x="148837" y="102303"/>
                </a:cubicBezTo>
                <a:lnTo>
                  <a:pt x="136222" y="89688"/>
                </a:lnTo>
                <a:lnTo>
                  <a:pt x="206024" y="19886"/>
                </a:lnTo>
                <a:close/>
                <a:moveTo>
                  <a:pt x="124007" y="128478"/>
                </a:moveTo>
                <a:lnTo>
                  <a:pt x="80926" y="85398"/>
                </a:lnTo>
                <a:cubicBezTo>
                  <a:pt x="65403" y="84053"/>
                  <a:pt x="49952" y="89651"/>
                  <a:pt x="38827" y="100776"/>
                </a:cubicBezTo>
                <a:lnTo>
                  <a:pt x="35919" y="103684"/>
                </a:lnTo>
                <a:cubicBezTo>
                  <a:pt x="27812" y="111792"/>
                  <a:pt x="23267" y="122771"/>
                  <a:pt x="23267" y="134223"/>
                </a:cubicBezTo>
                <a:cubicBezTo>
                  <a:pt x="23267" y="136695"/>
                  <a:pt x="25848" y="138294"/>
                  <a:pt x="28066" y="137204"/>
                </a:cubicBezTo>
                <a:lnTo>
                  <a:pt x="46643" y="127933"/>
                </a:lnTo>
                <a:cubicBezTo>
                  <a:pt x="48461" y="127024"/>
                  <a:pt x="50097" y="129424"/>
                  <a:pt x="48607" y="130805"/>
                </a:cubicBezTo>
                <a:lnTo>
                  <a:pt x="2654" y="172104"/>
                </a:lnTo>
                <a:cubicBezTo>
                  <a:pt x="982" y="173631"/>
                  <a:pt x="0" y="175813"/>
                  <a:pt x="0" y="178103"/>
                </a:cubicBezTo>
                <a:cubicBezTo>
                  <a:pt x="0" y="182538"/>
                  <a:pt x="3599" y="186137"/>
                  <a:pt x="8034" y="186137"/>
                </a:cubicBezTo>
                <a:lnTo>
                  <a:pt x="71038" y="186137"/>
                </a:lnTo>
                <a:cubicBezTo>
                  <a:pt x="85143" y="186137"/>
                  <a:pt x="98631" y="180539"/>
                  <a:pt x="108629" y="170577"/>
                </a:cubicBezTo>
                <a:cubicBezTo>
                  <a:pt x="119753" y="159453"/>
                  <a:pt x="125316" y="144002"/>
                  <a:pt x="124007" y="12847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101933" y="1306688"/>
            <a:ext cx="1870681" cy="26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6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Prétraitement Crucial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50967" y="1779477"/>
            <a:ext cx="3356057" cy="982805"/>
          </a:xfrm>
          <a:custGeom>
            <a:avLst/>
            <a:gdLst/>
            <a:ahLst/>
            <a:cxnLst/>
            <a:rect l="l" t="t" r="r" b="b"/>
            <a:pathLst>
              <a:path w="3356057" h="982805">
                <a:moveTo>
                  <a:pt x="0" y="0"/>
                </a:moveTo>
                <a:lnTo>
                  <a:pt x="3356057" y="0"/>
                </a:lnTo>
                <a:lnTo>
                  <a:pt x="3356057" y="982805"/>
                </a:lnTo>
                <a:lnTo>
                  <a:pt x="0" y="98280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FF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0095" y="1898602"/>
            <a:ext cx="3201563" cy="26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9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Normalisation / Standardisation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0095" y="2196421"/>
            <a:ext cx="3192256" cy="44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OBLIGATOIRE!</a:t>
            </a:r>
            <a:pPr>
              <a:lnSpc>
                <a:spcPct val="130000"/>
              </a:lnSpc>
            </a:pPr>
            <a:r>
              <a:rPr lang="en-US" sz="1173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Les algorithmes basés sur distance sont sensibles aux échelles.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50967" y="2851630"/>
            <a:ext cx="3356057" cy="982805"/>
          </a:xfrm>
          <a:custGeom>
            <a:avLst/>
            <a:gdLst/>
            <a:ahLst/>
            <a:cxnLst/>
            <a:rect l="l" t="t" r="r" b="b"/>
            <a:pathLst>
              <a:path w="3356057" h="982805">
                <a:moveTo>
                  <a:pt x="0" y="0"/>
                </a:moveTo>
                <a:lnTo>
                  <a:pt x="3356057" y="0"/>
                </a:lnTo>
                <a:lnTo>
                  <a:pt x="3356057" y="982805"/>
                </a:lnTo>
                <a:lnTo>
                  <a:pt x="0" y="98280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4ECD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0095" y="2970755"/>
            <a:ext cx="3201563" cy="26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9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Gestion des Valeurs Manquantes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0095" y="3268575"/>
            <a:ext cx="3192256" cy="44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Imputation ou suppression — choisir selon le contexte.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50967" y="3923775"/>
            <a:ext cx="3356057" cy="982805"/>
          </a:xfrm>
          <a:custGeom>
            <a:avLst/>
            <a:gdLst/>
            <a:ahLst/>
            <a:cxnLst/>
            <a:rect l="l" t="t" r="r" b="b"/>
            <a:pathLst>
              <a:path w="3356057" h="982805">
                <a:moveTo>
                  <a:pt x="0" y="0"/>
                </a:moveTo>
                <a:lnTo>
                  <a:pt x="3356057" y="0"/>
                </a:lnTo>
                <a:lnTo>
                  <a:pt x="3356057" y="982805"/>
                </a:lnTo>
                <a:lnTo>
                  <a:pt x="0" y="982805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20320">
            <a:solidFill>
              <a:srgbClr val="FFE66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0095" y="4042908"/>
            <a:ext cx="3201563" cy="26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19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Traitement des Outliers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0095" y="4340728"/>
            <a:ext cx="3192256" cy="44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Sauf si c'est l'objectif! Les outliers peuvent fausser le clustering.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3443" y="5245356"/>
            <a:ext cx="3698550" cy="1604504"/>
          </a:xfrm>
          <a:custGeom>
            <a:avLst/>
            <a:gdLst/>
            <a:ahLst/>
            <a:cxnLst/>
            <a:rect l="l" t="t" r="r" b="b"/>
            <a:pathLst>
              <a:path w="3698550" h="1604504">
                <a:moveTo>
                  <a:pt x="0" y="0"/>
                </a:moveTo>
                <a:lnTo>
                  <a:pt x="3698550" y="0"/>
                </a:lnTo>
                <a:lnTo>
                  <a:pt x="3698550" y="1604504"/>
                </a:lnTo>
                <a:lnTo>
                  <a:pt x="0" y="16045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0967" y="5412874"/>
            <a:ext cx="433700" cy="433700"/>
          </a:xfrm>
          <a:custGeom>
            <a:avLst/>
            <a:gdLst/>
            <a:ahLst/>
            <a:cxnLst/>
            <a:rect l="l" t="t" r="r" b="b"/>
            <a:pathLst>
              <a:path w="433700" h="433700">
                <a:moveTo>
                  <a:pt x="0" y="0"/>
                </a:moveTo>
                <a:lnTo>
                  <a:pt x="433700" y="0"/>
                </a:lnTo>
                <a:lnTo>
                  <a:pt x="433700" y="433700"/>
                </a:lnTo>
                <a:lnTo>
                  <a:pt x="0" y="4337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451" y="5535725"/>
            <a:ext cx="162870" cy="186137"/>
          </a:xfrm>
          <a:custGeom>
            <a:avLst/>
            <a:gdLst/>
            <a:ahLst/>
            <a:cxnLst/>
            <a:rect l="l" t="t" r="r" b="b"/>
            <a:pathLst>
              <a:path w="162870" h="186137">
                <a:moveTo>
                  <a:pt x="104702" y="0"/>
                </a:moveTo>
                <a:lnTo>
                  <a:pt x="46534" y="0"/>
                </a:lnTo>
                <a:cubicBezTo>
                  <a:pt x="40100" y="0"/>
                  <a:pt x="34901" y="5199"/>
                  <a:pt x="34901" y="11634"/>
                </a:cubicBezTo>
                <a:cubicBezTo>
                  <a:pt x="34901" y="18068"/>
                  <a:pt x="40100" y="23267"/>
                  <a:pt x="46534" y="23267"/>
                </a:cubicBezTo>
                <a:lnTo>
                  <a:pt x="46534" y="78345"/>
                </a:lnTo>
                <a:lnTo>
                  <a:pt x="2727" y="154981"/>
                </a:lnTo>
                <a:cubicBezTo>
                  <a:pt x="945" y="158144"/>
                  <a:pt x="0" y="161671"/>
                  <a:pt x="0" y="165306"/>
                </a:cubicBezTo>
                <a:cubicBezTo>
                  <a:pt x="0" y="176831"/>
                  <a:pt x="9307" y="186137"/>
                  <a:pt x="20831" y="186137"/>
                </a:cubicBezTo>
                <a:lnTo>
                  <a:pt x="142039" y="186137"/>
                </a:lnTo>
                <a:cubicBezTo>
                  <a:pt x="153527" y="186137"/>
                  <a:pt x="162870" y="176831"/>
                  <a:pt x="162870" y="165306"/>
                </a:cubicBezTo>
                <a:cubicBezTo>
                  <a:pt x="162870" y="161671"/>
                  <a:pt x="161925" y="158108"/>
                  <a:pt x="160144" y="154981"/>
                </a:cubicBezTo>
                <a:lnTo>
                  <a:pt x="116336" y="78345"/>
                </a:lnTo>
                <a:lnTo>
                  <a:pt x="116336" y="23267"/>
                </a:lnTo>
                <a:cubicBezTo>
                  <a:pt x="122771" y="23267"/>
                  <a:pt x="127969" y="18068"/>
                  <a:pt x="127969" y="11634"/>
                </a:cubicBezTo>
                <a:cubicBezTo>
                  <a:pt x="127969" y="5199"/>
                  <a:pt x="122771" y="0"/>
                  <a:pt x="116336" y="0"/>
                </a:cubicBezTo>
                <a:lnTo>
                  <a:pt x="104702" y="0"/>
                </a:lnTo>
                <a:close/>
                <a:moveTo>
                  <a:pt x="69802" y="78345"/>
                </a:moveTo>
                <a:lnTo>
                  <a:pt x="69802" y="23267"/>
                </a:lnTo>
                <a:lnTo>
                  <a:pt x="93069" y="23267"/>
                </a:lnTo>
                <a:lnTo>
                  <a:pt x="93069" y="78345"/>
                </a:lnTo>
                <a:cubicBezTo>
                  <a:pt x="93069" y="82380"/>
                  <a:pt x="94123" y="86379"/>
                  <a:pt x="96123" y="89906"/>
                </a:cubicBezTo>
                <a:lnTo>
                  <a:pt x="111246" y="116336"/>
                </a:lnTo>
                <a:lnTo>
                  <a:pt x="51624" y="116336"/>
                </a:lnTo>
                <a:lnTo>
                  <a:pt x="66748" y="89906"/>
                </a:lnTo>
                <a:cubicBezTo>
                  <a:pt x="68747" y="86379"/>
                  <a:pt x="69802" y="82417"/>
                  <a:pt x="69802" y="7834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1101933" y="5498497"/>
            <a:ext cx="2643151" cy="26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6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Explorer Plusieurs Algorithmes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3521" y="5963841"/>
            <a:ext cx="3452849" cy="725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3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Ne vous fiez pas à un seul algorithme. </a:t>
            </a:r>
            <a:pPr>
              <a:lnSpc>
                <a:spcPct val="140000"/>
              </a:lnSpc>
            </a:pPr>
            <a:r>
              <a:rPr lang="en-US" sz="117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Testez plusieurs</a:t>
            </a:r>
            <a:pPr>
              <a:lnSpc>
                <a:spcPct val="140000"/>
              </a:lnSpc>
            </a:pPr>
            <a:r>
              <a:rPr lang="en-US" sz="1173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et comparez les résultats. Chaque algorithme a ses forces et faiblesses.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249517" y="1053538"/>
            <a:ext cx="3698550" cy="2814398"/>
          </a:xfrm>
          <a:custGeom>
            <a:avLst/>
            <a:gdLst/>
            <a:ahLst/>
            <a:cxnLst/>
            <a:rect l="l" t="t" r="r" b="b"/>
            <a:pathLst>
              <a:path w="3698550" h="2814398">
                <a:moveTo>
                  <a:pt x="0" y="0"/>
                </a:moveTo>
                <a:lnTo>
                  <a:pt x="3698550" y="0"/>
                </a:lnTo>
                <a:lnTo>
                  <a:pt x="3698550" y="2814398"/>
                </a:lnTo>
                <a:lnTo>
                  <a:pt x="0" y="28143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417041" y="1221065"/>
            <a:ext cx="433700" cy="433700"/>
          </a:xfrm>
          <a:custGeom>
            <a:avLst/>
            <a:gdLst/>
            <a:ahLst/>
            <a:cxnLst/>
            <a:rect l="l" t="t" r="r" b="b"/>
            <a:pathLst>
              <a:path w="433700" h="433700">
                <a:moveTo>
                  <a:pt x="0" y="0"/>
                </a:moveTo>
                <a:lnTo>
                  <a:pt x="433700" y="0"/>
                </a:lnTo>
                <a:lnTo>
                  <a:pt x="433700" y="433700"/>
                </a:lnTo>
                <a:lnTo>
                  <a:pt x="0" y="433700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39891" y="1343916"/>
            <a:ext cx="186137" cy="186137"/>
          </a:xfrm>
          <a:custGeom>
            <a:avLst/>
            <a:gdLst/>
            <a:ahLst/>
            <a:cxnLst/>
            <a:rect l="l" t="t" r="r" b="b"/>
            <a:pathLst>
              <a:path w="186137" h="186137">
                <a:moveTo>
                  <a:pt x="23267" y="23267"/>
                </a:moveTo>
                <a:cubicBezTo>
                  <a:pt x="23267" y="16832"/>
                  <a:pt x="18068" y="11634"/>
                  <a:pt x="11634" y="11634"/>
                </a:cubicBezTo>
                <a:cubicBezTo>
                  <a:pt x="5199" y="11634"/>
                  <a:pt x="0" y="16832"/>
                  <a:pt x="0" y="23267"/>
                </a:cubicBezTo>
                <a:lnTo>
                  <a:pt x="0" y="145420"/>
                </a:lnTo>
                <a:cubicBezTo>
                  <a:pt x="0" y="161489"/>
                  <a:pt x="13015" y="174504"/>
                  <a:pt x="29084" y="174504"/>
                </a:cubicBezTo>
                <a:lnTo>
                  <a:pt x="174504" y="174504"/>
                </a:lnTo>
                <a:cubicBezTo>
                  <a:pt x="180939" y="174504"/>
                  <a:pt x="186137" y="169305"/>
                  <a:pt x="186137" y="162870"/>
                </a:cubicBezTo>
                <a:cubicBezTo>
                  <a:pt x="186137" y="156435"/>
                  <a:pt x="180939" y="151237"/>
                  <a:pt x="174504" y="151237"/>
                </a:cubicBezTo>
                <a:lnTo>
                  <a:pt x="29084" y="151237"/>
                </a:lnTo>
                <a:cubicBezTo>
                  <a:pt x="25885" y="151237"/>
                  <a:pt x="23267" y="148619"/>
                  <a:pt x="23267" y="145420"/>
                </a:cubicBezTo>
                <a:lnTo>
                  <a:pt x="23267" y="23267"/>
                </a:lnTo>
                <a:close/>
                <a:moveTo>
                  <a:pt x="171086" y="54751"/>
                </a:moveTo>
                <a:cubicBezTo>
                  <a:pt x="175631" y="50206"/>
                  <a:pt x="175631" y="42826"/>
                  <a:pt x="171086" y="38282"/>
                </a:cubicBezTo>
                <a:cubicBezTo>
                  <a:pt x="166542" y="33737"/>
                  <a:pt x="159162" y="33737"/>
                  <a:pt x="154618" y="38282"/>
                </a:cubicBezTo>
                <a:lnTo>
                  <a:pt x="116336" y="76600"/>
                </a:lnTo>
                <a:lnTo>
                  <a:pt x="95468" y="55769"/>
                </a:lnTo>
                <a:cubicBezTo>
                  <a:pt x="90924" y="51224"/>
                  <a:pt x="83544" y="51224"/>
                  <a:pt x="78999" y="55769"/>
                </a:cubicBezTo>
                <a:lnTo>
                  <a:pt x="44099" y="90669"/>
                </a:lnTo>
                <a:cubicBezTo>
                  <a:pt x="39554" y="95214"/>
                  <a:pt x="39554" y="102594"/>
                  <a:pt x="44099" y="107138"/>
                </a:cubicBezTo>
                <a:cubicBezTo>
                  <a:pt x="48643" y="111682"/>
                  <a:pt x="56023" y="111682"/>
                  <a:pt x="60567" y="107138"/>
                </a:cubicBezTo>
                <a:lnTo>
                  <a:pt x="87252" y="80454"/>
                </a:lnTo>
                <a:lnTo>
                  <a:pt x="108120" y="101321"/>
                </a:lnTo>
                <a:cubicBezTo>
                  <a:pt x="112664" y="105866"/>
                  <a:pt x="120044" y="105866"/>
                  <a:pt x="124588" y="101321"/>
                </a:cubicBezTo>
                <a:lnTo>
                  <a:pt x="171123" y="54787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29" name="Text 27"/>
          <p:cNvSpPr/>
          <p:nvPr/>
        </p:nvSpPr>
        <p:spPr>
          <a:xfrm>
            <a:off x="4968007" y="1306688"/>
            <a:ext cx="2019591" cy="26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6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Visualiser les Résultats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409595" y="1772032"/>
            <a:ext cx="3452849" cy="483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3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La </a:t>
            </a:r>
            <a:pPr>
              <a:lnSpc>
                <a:spcPct val="140000"/>
              </a:lnSpc>
            </a:pPr>
            <a:r>
              <a:rPr lang="en-US" sz="117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visualisation</a:t>
            </a:r>
            <a:pPr>
              <a:lnSpc>
                <a:spcPct val="140000"/>
              </a:lnSpc>
            </a:pPr>
            <a:r>
              <a:rPr lang="en-US" sz="1173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est votre meilleure amie en non supervisé: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409595" y="2367671"/>
            <a:ext cx="3452849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• Utilisez t-SNE ou UMAP pour projeter en 2D/3D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409595" y="2628264"/>
            <a:ext cx="3452849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• Coloriez par cluster pour inspection visuelle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409595" y="2888856"/>
            <a:ext cx="3452849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• Identifiez patterns et anomalies visuellement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249517" y="4037326"/>
            <a:ext cx="3698550" cy="2814398"/>
          </a:xfrm>
          <a:custGeom>
            <a:avLst/>
            <a:gdLst/>
            <a:ahLst/>
            <a:cxnLst/>
            <a:rect l="l" t="t" r="r" b="b"/>
            <a:pathLst>
              <a:path w="3698550" h="2814398">
                <a:moveTo>
                  <a:pt x="0" y="0"/>
                </a:moveTo>
                <a:lnTo>
                  <a:pt x="3698550" y="0"/>
                </a:lnTo>
                <a:lnTo>
                  <a:pt x="3698550" y="2814398"/>
                </a:lnTo>
                <a:lnTo>
                  <a:pt x="0" y="28143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417041" y="4204844"/>
            <a:ext cx="433700" cy="433700"/>
          </a:xfrm>
          <a:custGeom>
            <a:avLst/>
            <a:gdLst/>
            <a:ahLst/>
            <a:cxnLst/>
            <a:rect l="l" t="t" r="r" b="b"/>
            <a:pathLst>
              <a:path w="433700" h="433700">
                <a:moveTo>
                  <a:pt x="0" y="0"/>
                </a:moveTo>
                <a:lnTo>
                  <a:pt x="433700" y="0"/>
                </a:lnTo>
                <a:lnTo>
                  <a:pt x="433700" y="433700"/>
                </a:lnTo>
                <a:lnTo>
                  <a:pt x="0" y="43370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51525" y="4327695"/>
            <a:ext cx="162870" cy="186137"/>
          </a:xfrm>
          <a:custGeom>
            <a:avLst/>
            <a:gdLst/>
            <a:ahLst/>
            <a:cxnLst/>
            <a:rect l="l" t="t" r="r" b="b"/>
            <a:pathLst>
              <a:path w="162870" h="186137">
                <a:moveTo>
                  <a:pt x="81435" y="90160"/>
                </a:moveTo>
                <a:cubicBezTo>
                  <a:pt x="57357" y="90160"/>
                  <a:pt x="37809" y="70612"/>
                  <a:pt x="37809" y="46534"/>
                </a:cubicBezTo>
                <a:cubicBezTo>
                  <a:pt x="37809" y="22457"/>
                  <a:pt x="57357" y="2908"/>
                  <a:pt x="81435" y="2908"/>
                </a:cubicBezTo>
                <a:cubicBezTo>
                  <a:pt x="105513" y="2908"/>
                  <a:pt x="125061" y="22457"/>
                  <a:pt x="125061" y="46534"/>
                </a:cubicBezTo>
                <a:cubicBezTo>
                  <a:pt x="125061" y="70612"/>
                  <a:pt x="105513" y="90160"/>
                  <a:pt x="81435" y="90160"/>
                </a:cubicBezTo>
                <a:close/>
                <a:moveTo>
                  <a:pt x="70347" y="110519"/>
                </a:moveTo>
                <a:lnTo>
                  <a:pt x="92523" y="110519"/>
                </a:lnTo>
                <a:cubicBezTo>
                  <a:pt x="96050" y="110519"/>
                  <a:pt x="98885" y="113355"/>
                  <a:pt x="98885" y="116881"/>
                </a:cubicBezTo>
                <a:cubicBezTo>
                  <a:pt x="98885" y="118408"/>
                  <a:pt x="98340" y="119862"/>
                  <a:pt x="97359" y="121026"/>
                </a:cubicBezTo>
                <a:lnTo>
                  <a:pt x="87397" y="132659"/>
                </a:lnTo>
                <a:lnTo>
                  <a:pt x="98667" y="174504"/>
                </a:lnTo>
                <a:lnTo>
                  <a:pt x="98885" y="174504"/>
                </a:lnTo>
                <a:lnTo>
                  <a:pt x="111464" y="124152"/>
                </a:lnTo>
                <a:cubicBezTo>
                  <a:pt x="112264" y="120989"/>
                  <a:pt x="115500" y="119062"/>
                  <a:pt x="118554" y="120226"/>
                </a:cubicBezTo>
                <a:cubicBezTo>
                  <a:pt x="141057" y="128806"/>
                  <a:pt x="157053" y="150619"/>
                  <a:pt x="157053" y="176140"/>
                </a:cubicBezTo>
                <a:cubicBezTo>
                  <a:pt x="157053" y="181629"/>
                  <a:pt x="152582" y="186101"/>
                  <a:pt x="147092" y="186101"/>
                </a:cubicBezTo>
                <a:lnTo>
                  <a:pt x="15778" y="186137"/>
                </a:lnTo>
                <a:cubicBezTo>
                  <a:pt x="10288" y="186137"/>
                  <a:pt x="5817" y="181666"/>
                  <a:pt x="5817" y="176176"/>
                </a:cubicBezTo>
                <a:cubicBezTo>
                  <a:pt x="5817" y="150655"/>
                  <a:pt x="21813" y="128842"/>
                  <a:pt x="44317" y="120262"/>
                </a:cubicBezTo>
                <a:cubicBezTo>
                  <a:pt x="47371" y="119099"/>
                  <a:pt x="50606" y="121026"/>
                  <a:pt x="51406" y="124189"/>
                </a:cubicBezTo>
                <a:lnTo>
                  <a:pt x="63985" y="174540"/>
                </a:lnTo>
                <a:lnTo>
                  <a:pt x="64203" y="174540"/>
                </a:lnTo>
                <a:lnTo>
                  <a:pt x="75473" y="132696"/>
                </a:lnTo>
                <a:lnTo>
                  <a:pt x="65512" y="121062"/>
                </a:lnTo>
                <a:cubicBezTo>
                  <a:pt x="64530" y="119899"/>
                  <a:pt x="63985" y="118444"/>
                  <a:pt x="63985" y="116918"/>
                </a:cubicBezTo>
                <a:cubicBezTo>
                  <a:pt x="63985" y="113391"/>
                  <a:pt x="66820" y="110555"/>
                  <a:pt x="70347" y="11055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4968007" y="4290467"/>
            <a:ext cx="2336024" cy="26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6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Valider avec Experts Métier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409595" y="4755811"/>
            <a:ext cx="3452849" cy="24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3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Les </a:t>
            </a:r>
            <a:pPr>
              <a:lnSpc>
                <a:spcPct val="140000"/>
              </a:lnSpc>
            </a:pPr>
            <a:r>
              <a:rPr lang="en-US" sz="117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experts du domaine</a:t>
            </a:r>
            <a:pPr>
              <a:lnSpc>
                <a:spcPct val="140000"/>
              </a:lnSpc>
            </a:pPr>
            <a:r>
              <a:rPr lang="en-US" sz="1173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sont essentiels: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409595" y="5109472"/>
            <a:ext cx="3452849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• Les clusters ont-ils du sens métier?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409595" y="5370064"/>
            <a:ext cx="3452849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• Les patterns découverts sont-ils actionnables?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409595" y="5630656"/>
            <a:ext cx="3452849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• Feedback pour affiner l'analyse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115591" y="1053538"/>
            <a:ext cx="3698550" cy="4024291"/>
          </a:xfrm>
          <a:custGeom>
            <a:avLst/>
            <a:gdLst/>
            <a:ahLst/>
            <a:cxnLst/>
            <a:rect l="l" t="t" r="r" b="b"/>
            <a:pathLst>
              <a:path w="3698550" h="4024291">
                <a:moveTo>
                  <a:pt x="0" y="0"/>
                </a:moveTo>
                <a:lnTo>
                  <a:pt x="3698550" y="0"/>
                </a:lnTo>
                <a:lnTo>
                  <a:pt x="3698550" y="4024291"/>
                </a:lnTo>
                <a:lnTo>
                  <a:pt x="0" y="40242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283115" y="1221065"/>
            <a:ext cx="433700" cy="433700"/>
          </a:xfrm>
          <a:custGeom>
            <a:avLst/>
            <a:gdLst/>
            <a:ahLst/>
            <a:cxnLst/>
            <a:rect l="l" t="t" r="r" b="b"/>
            <a:pathLst>
              <a:path w="433700" h="433700">
                <a:moveTo>
                  <a:pt x="0" y="0"/>
                </a:moveTo>
                <a:lnTo>
                  <a:pt x="433700" y="0"/>
                </a:lnTo>
                <a:lnTo>
                  <a:pt x="433700" y="433700"/>
                </a:lnTo>
                <a:lnTo>
                  <a:pt x="0" y="433700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405965" y="1343916"/>
            <a:ext cx="186137" cy="186137"/>
          </a:xfrm>
          <a:custGeom>
            <a:avLst/>
            <a:gdLst/>
            <a:ahLst/>
            <a:cxnLst/>
            <a:rect l="l" t="t" r="r" b="b"/>
            <a:pathLst>
              <a:path w="186137" h="186137">
                <a:moveTo>
                  <a:pt x="174540" y="69802"/>
                </a:moveTo>
                <a:lnTo>
                  <a:pt x="177412" y="69802"/>
                </a:lnTo>
                <a:cubicBezTo>
                  <a:pt x="182247" y="69802"/>
                  <a:pt x="186137" y="65912"/>
                  <a:pt x="186137" y="61076"/>
                </a:cubicBezTo>
                <a:lnTo>
                  <a:pt x="186137" y="8725"/>
                </a:lnTo>
                <a:cubicBezTo>
                  <a:pt x="186137" y="5199"/>
                  <a:pt x="184029" y="2000"/>
                  <a:pt x="180757" y="654"/>
                </a:cubicBezTo>
                <a:cubicBezTo>
                  <a:pt x="177485" y="-691"/>
                  <a:pt x="173740" y="73"/>
                  <a:pt x="171232" y="2545"/>
                </a:cubicBezTo>
                <a:lnTo>
                  <a:pt x="152436" y="21377"/>
                </a:lnTo>
                <a:cubicBezTo>
                  <a:pt x="136331" y="8034"/>
                  <a:pt x="115609" y="0"/>
                  <a:pt x="93069" y="0"/>
                </a:cubicBezTo>
                <a:cubicBezTo>
                  <a:pt x="46171" y="0"/>
                  <a:pt x="7380" y="34683"/>
                  <a:pt x="945" y="79799"/>
                </a:cubicBezTo>
                <a:cubicBezTo>
                  <a:pt x="36" y="86161"/>
                  <a:pt x="4435" y="92051"/>
                  <a:pt x="10797" y="92960"/>
                </a:cubicBezTo>
                <a:cubicBezTo>
                  <a:pt x="17160" y="93869"/>
                  <a:pt x="23049" y="89433"/>
                  <a:pt x="23958" y="83107"/>
                </a:cubicBezTo>
                <a:cubicBezTo>
                  <a:pt x="28793" y="49261"/>
                  <a:pt x="57913" y="23267"/>
                  <a:pt x="93069" y="23267"/>
                </a:cubicBezTo>
                <a:cubicBezTo>
                  <a:pt x="109210" y="23267"/>
                  <a:pt x="124043" y="28720"/>
                  <a:pt x="135858" y="37918"/>
                </a:cubicBezTo>
                <a:lnTo>
                  <a:pt x="118881" y="54896"/>
                </a:lnTo>
                <a:cubicBezTo>
                  <a:pt x="116372" y="57404"/>
                  <a:pt x="115645" y="61149"/>
                  <a:pt x="116990" y="64421"/>
                </a:cubicBezTo>
                <a:cubicBezTo>
                  <a:pt x="118335" y="67693"/>
                  <a:pt x="121535" y="69802"/>
                  <a:pt x="125061" y="69802"/>
                </a:cubicBezTo>
                <a:lnTo>
                  <a:pt x="174540" y="69802"/>
                </a:lnTo>
                <a:close/>
                <a:moveTo>
                  <a:pt x="185229" y="106338"/>
                </a:moveTo>
                <a:cubicBezTo>
                  <a:pt x="186137" y="99976"/>
                  <a:pt x="181702" y="94087"/>
                  <a:pt x="175376" y="93178"/>
                </a:cubicBezTo>
                <a:cubicBezTo>
                  <a:pt x="169051" y="92269"/>
                  <a:pt x="163125" y="96704"/>
                  <a:pt x="162216" y="103030"/>
                </a:cubicBezTo>
                <a:cubicBezTo>
                  <a:pt x="157381" y="136840"/>
                  <a:pt x="128260" y="162834"/>
                  <a:pt x="93105" y="162834"/>
                </a:cubicBezTo>
                <a:cubicBezTo>
                  <a:pt x="76963" y="162834"/>
                  <a:pt x="62131" y="157381"/>
                  <a:pt x="50315" y="148183"/>
                </a:cubicBezTo>
                <a:lnTo>
                  <a:pt x="67257" y="131241"/>
                </a:lnTo>
                <a:cubicBezTo>
                  <a:pt x="69765" y="128733"/>
                  <a:pt x="70492" y="124988"/>
                  <a:pt x="69147" y="121716"/>
                </a:cubicBezTo>
                <a:cubicBezTo>
                  <a:pt x="67802" y="118444"/>
                  <a:pt x="64603" y="116336"/>
                  <a:pt x="61076" y="116336"/>
                </a:cubicBezTo>
                <a:lnTo>
                  <a:pt x="8725" y="116336"/>
                </a:lnTo>
                <a:cubicBezTo>
                  <a:pt x="3890" y="116336"/>
                  <a:pt x="0" y="120226"/>
                  <a:pt x="0" y="125061"/>
                </a:cubicBezTo>
                <a:lnTo>
                  <a:pt x="0" y="177412"/>
                </a:lnTo>
                <a:cubicBezTo>
                  <a:pt x="0" y="180939"/>
                  <a:pt x="2109" y="184138"/>
                  <a:pt x="5381" y="185483"/>
                </a:cubicBezTo>
                <a:cubicBezTo>
                  <a:pt x="8652" y="186828"/>
                  <a:pt x="12397" y="186065"/>
                  <a:pt x="14906" y="183593"/>
                </a:cubicBezTo>
                <a:lnTo>
                  <a:pt x="33737" y="164761"/>
                </a:lnTo>
                <a:cubicBezTo>
                  <a:pt x="49806" y="178103"/>
                  <a:pt x="70529" y="186137"/>
                  <a:pt x="93069" y="186137"/>
                </a:cubicBezTo>
                <a:cubicBezTo>
                  <a:pt x="139967" y="186137"/>
                  <a:pt x="178757" y="151455"/>
                  <a:pt x="185192" y="1063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8834081" y="1306688"/>
            <a:ext cx="1340189" cy="26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6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Itérer et Affiner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275669" y="1772032"/>
            <a:ext cx="3452849" cy="241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3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L'apprentissage non supervisé est </a:t>
            </a:r>
            <a:pPr>
              <a:lnSpc>
                <a:spcPct val="140000"/>
              </a:lnSpc>
            </a:pPr>
            <a:r>
              <a:rPr lang="en-US" sz="117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itératif</a:t>
            </a:r>
            <a:pPr>
              <a:lnSpc>
                <a:spcPct val="140000"/>
              </a:lnSpc>
            </a:pPr>
            <a:r>
              <a:rPr lang="en-US" sz="1173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: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283115" y="2133138"/>
            <a:ext cx="3356057" cy="387166"/>
          </a:xfrm>
          <a:custGeom>
            <a:avLst/>
            <a:gdLst/>
            <a:ahLst/>
            <a:cxnLst/>
            <a:rect l="l" t="t" r="r" b="b"/>
            <a:pathLst>
              <a:path w="3356057" h="387166">
                <a:moveTo>
                  <a:pt x="0" y="0"/>
                </a:moveTo>
                <a:lnTo>
                  <a:pt x="3356057" y="0"/>
                </a:lnTo>
                <a:lnTo>
                  <a:pt x="3356057" y="387166"/>
                </a:lnTo>
                <a:lnTo>
                  <a:pt x="0" y="387166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4ECDC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365015" y="2215035"/>
            <a:ext cx="3266711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1. Commencez simple</a:t>
            </a:r>
            <a:pPr>
              <a:lnSpc>
                <a:spcPct val="130000"/>
              </a:lnSpc>
            </a:pPr>
            <a:r>
              <a:rPr lang="en-US" sz="1173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— K-Means, PCA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283115" y="2609652"/>
            <a:ext cx="3356057" cy="387166"/>
          </a:xfrm>
          <a:custGeom>
            <a:avLst/>
            <a:gdLst/>
            <a:ahLst/>
            <a:cxnLst/>
            <a:rect l="l" t="t" r="r" b="b"/>
            <a:pathLst>
              <a:path w="3356057" h="387166">
                <a:moveTo>
                  <a:pt x="0" y="0"/>
                </a:moveTo>
                <a:lnTo>
                  <a:pt x="3356057" y="0"/>
                </a:lnTo>
                <a:lnTo>
                  <a:pt x="3356057" y="387166"/>
                </a:lnTo>
                <a:lnTo>
                  <a:pt x="0" y="387166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20320">
            <a:solidFill>
              <a:srgbClr val="FFE66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365015" y="2691549"/>
            <a:ext cx="1654529" cy="215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2. Analysez les résultats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283115" y="3086156"/>
            <a:ext cx="3356057" cy="387166"/>
          </a:xfrm>
          <a:custGeom>
            <a:avLst/>
            <a:gdLst/>
            <a:ahLst/>
            <a:cxnLst/>
            <a:rect l="l" t="t" r="r" b="b"/>
            <a:pathLst>
              <a:path w="3356057" h="387166">
                <a:moveTo>
                  <a:pt x="0" y="0"/>
                </a:moveTo>
                <a:lnTo>
                  <a:pt x="3356057" y="0"/>
                </a:lnTo>
                <a:lnTo>
                  <a:pt x="3356057" y="387166"/>
                </a:lnTo>
                <a:lnTo>
                  <a:pt x="0" y="387166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FF6B6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65015" y="3168062"/>
            <a:ext cx="1727471" cy="215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3. Ajustez les paramètres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283115" y="3562670"/>
            <a:ext cx="3356057" cy="387166"/>
          </a:xfrm>
          <a:custGeom>
            <a:avLst/>
            <a:gdLst/>
            <a:ahLst/>
            <a:cxnLst/>
            <a:rect l="l" t="t" r="r" b="b"/>
            <a:pathLst>
              <a:path w="3356057" h="387166">
                <a:moveTo>
                  <a:pt x="0" y="0"/>
                </a:moveTo>
                <a:lnTo>
                  <a:pt x="3356057" y="0"/>
                </a:lnTo>
                <a:lnTo>
                  <a:pt x="3356057" y="387166"/>
                </a:lnTo>
                <a:lnTo>
                  <a:pt x="0" y="387166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4ECDC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365015" y="3644576"/>
            <a:ext cx="2166174" cy="215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4. Essayez algorithmes avancés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115591" y="5245356"/>
            <a:ext cx="3698550" cy="1604504"/>
          </a:xfrm>
          <a:custGeom>
            <a:avLst/>
            <a:gdLst/>
            <a:ahLst/>
            <a:cxnLst/>
            <a:rect l="l" t="t" r="r" b="b"/>
            <a:pathLst>
              <a:path w="3698550" h="1604504">
                <a:moveTo>
                  <a:pt x="0" y="0"/>
                </a:moveTo>
                <a:lnTo>
                  <a:pt x="3698550" y="0"/>
                </a:lnTo>
                <a:lnTo>
                  <a:pt x="3698550" y="1604504"/>
                </a:lnTo>
                <a:lnTo>
                  <a:pt x="0" y="16045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283115" y="5412874"/>
            <a:ext cx="433700" cy="433700"/>
          </a:xfrm>
          <a:custGeom>
            <a:avLst/>
            <a:gdLst/>
            <a:ahLst/>
            <a:cxnLst/>
            <a:rect l="l" t="t" r="r" b="b"/>
            <a:pathLst>
              <a:path w="433700" h="433700">
                <a:moveTo>
                  <a:pt x="0" y="0"/>
                </a:moveTo>
                <a:lnTo>
                  <a:pt x="433700" y="0"/>
                </a:lnTo>
                <a:lnTo>
                  <a:pt x="433700" y="433700"/>
                </a:lnTo>
                <a:lnTo>
                  <a:pt x="0" y="433700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429232" y="5535725"/>
            <a:ext cx="139603" cy="186137"/>
          </a:xfrm>
          <a:custGeom>
            <a:avLst/>
            <a:gdLst/>
            <a:ahLst/>
            <a:cxnLst/>
            <a:rect l="l" t="t" r="r" b="b"/>
            <a:pathLst>
              <a:path w="139603" h="186137">
                <a:moveTo>
                  <a:pt x="0" y="23267"/>
                </a:moveTo>
                <a:cubicBezTo>
                  <a:pt x="0" y="10434"/>
                  <a:pt x="10434" y="0"/>
                  <a:pt x="23267" y="0"/>
                </a:cubicBezTo>
                <a:lnTo>
                  <a:pt x="77618" y="0"/>
                </a:lnTo>
                <a:cubicBezTo>
                  <a:pt x="83798" y="0"/>
                  <a:pt x="89724" y="2436"/>
                  <a:pt x="94087" y="6798"/>
                </a:cubicBezTo>
                <a:lnTo>
                  <a:pt x="132805" y="45553"/>
                </a:lnTo>
                <a:cubicBezTo>
                  <a:pt x="137167" y="49915"/>
                  <a:pt x="139603" y="55841"/>
                  <a:pt x="139603" y="62022"/>
                </a:cubicBezTo>
                <a:lnTo>
                  <a:pt x="139603" y="162870"/>
                </a:lnTo>
                <a:cubicBezTo>
                  <a:pt x="139603" y="175704"/>
                  <a:pt x="129169" y="186137"/>
                  <a:pt x="116336" y="186137"/>
                </a:cubicBezTo>
                <a:lnTo>
                  <a:pt x="23267" y="186137"/>
                </a:lnTo>
                <a:cubicBezTo>
                  <a:pt x="10434" y="186137"/>
                  <a:pt x="0" y="175704"/>
                  <a:pt x="0" y="162870"/>
                </a:cubicBezTo>
                <a:lnTo>
                  <a:pt x="0" y="23267"/>
                </a:lnTo>
                <a:close/>
                <a:moveTo>
                  <a:pt x="75618" y="21268"/>
                </a:moveTo>
                <a:lnTo>
                  <a:pt x="75618" y="55260"/>
                </a:lnTo>
                <a:cubicBezTo>
                  <a:pt x="75618" y="60095"/>
                  <a:pt x="79508" y="63985"/>
                  <a:pt x="84344" y="63985"/>
                </a:cubicBezTo>
                <a:lnTo>
                  <a:pt x="118335" y="63985"/>
                </a:lnTo>
                <a:lnTo>
                  <a:pt x="75618" y="21268"/>
                </a:lnTo>
                <a:close/>
                <a:moveTo>
                  <a:pt x="43626" y="93069"/>
                </a:moveTo>
                <a:cubicBezTo>
                  <a:pt x="38791" y="93069"/>
                  <a:pt x="34901" y="96959"/>
                  <a:pt x="34901" y="101794"/>
                </a:cubicBezTo>
                <a:cubicBezTo>
                  <a:pt x="34901" y="106629"/>
                  <a:pt x="38791" y="110519"/>
                  <a:pt x="43626" y="110519"/>
                </a:cubicBezTo>
                <a:lnTo>
                  <a:pt x="95977" y="110519"/>
                </a:lnTo>
                <a:cubicBezTo>
                  <a:pt x="100812" y="110519"/>
                  <a:pt x="104702" y="106629"/>
                  <a:pt x="104702" y="101794"/>
                </a:cubicBezTo>
                <a:cubicBezTo>
                  <a:pt x="104702" y="96959"/>
                  <a:pt x="100812" y="93069"/>
                  <a:pt x="95977" y="93069"/>
                </a:cubicBezTo>
                <a:lnTo>
                  <a:pt x="43626" y="93069"/>
                </a:lnTo>
                <a:close/>
                <a:moveTo>
                  <a:pt x="43626" y="127969"/>
                </a:moveTo>
                <a:cubicBezTo>
                  <a:pt x="38791" y="127969"/>
                  <a:pt x="34901" y="131859"/>
                  <a:pt x="34901" y="136695"/>
                </a:cubicBezTo>
                <a:cubicBezTo>
                  <a:pt x="34901" y="141530"/>
                  <a:pt x="38791" y="145420"/>
                  <a:pt x="43626" y="145420"/>
                </a:cubicBezTo>
                <a:lnTo>
                  <a:pt x="95977" y="145420"/>
                </a:lnTo>
                <a:cubicBezTo>
                  <a:pt x="100812" y="145420"/>
                  <a:pt x="104702" y="141530"/>
                  <a:pt x="104702" y="136695"/>
                </a:cubicBezTo>
                <a:cubicBezTo>
                  <a:pt x="104702" y="131859"/>
                  <a:pt x="100812" y="127969"/>
                  <a:pt x="95977" y="127969"/>
                </a:cubicBezTo>
                <a:lnTo>
                  <a:pt x="43626" y="127969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58" name="Text 56"/>
          <p:cNvSpPr/>
          <p:nvPr/>
        </p:nvSpPr>
        <p:spPr>
          <a:xfrm>
            <a:off x="8834081" y="5498497"/>
            <a:ext cx="1926522" cy="26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6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Documenter les Choix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275669" y="5963841"/>
            <a:ext cx="3452849" cy="725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3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Documentez tout:</a:t>
            </a:r>
            <a:pPr>
              <a:lnSpc>
                <a:spcPct val="140000"/>
              </a:lnSpc>
            </a:pPr>
            <a:r>
              <a:rPr lang="en-US" sz="1173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prétraitement, paramètres, métriques, résultats. Cela aide à reproduire et expliquer vos analyses.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11308520" y="183317"/>
            <a:ext cx="584835" cy="584835"/>
          </a:xfrm>
          <a:custGeom>
            <a:avLst/>
            <a:gdLst/>
            <a:ahLst/>
            <a:cxnLst/>
            <a:rect l="l" t="t" r="r" b="b"/>
            <a:pathLst>
              <a:path w="584835" h="584835">
                <a:moveTo>
                  <a:pt x="0" y="0"/>
                </a:moveTo>
                <a:lnTo>
                  <a:pt x="584835" y="0"/>
                </a:lnTo>
                <a:lnTo>
                  <a:pt x="584835" y="584835"/>
                </a:lnTo>
                <a:lnTo>
                  <a:pt x="0" y="58483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0831830" y="773430"/>
            <a:ext cx="432435" cy="432435"/>
          </a:xfrm>
          <a:custGeom>
            <a:avLst/>
            <a:gdLst/>
            <a:ahLst/>
            <a:cxnLst/>
            <a:rect l="l" t="t" r="r" b="b"/>
            <a:pathLst>
              <a:path w="432435" h="432435">
                <a:moveTo>
                  <a:pt x="216218" y="0"/>
                </a:moveTo>
                <a:lnTo>
                  <a:pt x="216218" y="0"/>
                </a:lnTo>
                <a:cubicBezTo>
                  <a:pt x="335551" y="0"/>
                  <a:pt x="432435" y="96884"/>
                  <a:pt x="432435" y="216218"/>
                </a:cubicBezTo>
                <a:lnTo>
                  <a:pt x="432435" y="216218"/>
                </a:lnTo>
                <a:cubicBezTo>
                  <a:pt x="432435" y="335551"/>
                  <a:pt x="335551" y="432435"/>
                  <a:pt x="216218" y="432435"/>
                </a:cubicBezTo>
                <a:lnTo>
                  <a:pt x="216218" y="432435"/>
                </a:lnTo>
                <a:cubicBezTo>
                  <a:pt x="96884" y="432435"/>
                  <a:pt x="0" y="335551"/>
                  <a:pt x="0" y="216218"/>
                </a:cubicBezTo>
                <a:lnTo>
                  <a:pt x="0" y="216218"/>
                </a:lnTo>
                <a:cubicBezTo>
                  <a:pt x="0" y="96884"/>
                  <a:pt x="96884" y="0"/>
                  <a:pt x="216218" y="0"/>
                </a:cubicBezTo>
                <a:close/>
              </a:path>
            </a:pathLst>
          </a:custGeom>
          <a:solidFill>
            <a:srgbClr val="4ECDC4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68630" y="6031230"/>
            <a:ext cx="737235" cy="356235"/>
          </a:xfrm>
          <a:custGeom>
            <a:avLst/>
            <a:gdLst/>
            <a:ahLst/>
            <a:cxnLst/>
            <a:rect l="l" t="t" r="r" b="b"/>
            <a:pathLst>
              <a:path w="737235" h="356235">
                <a:moveTo>
                  <a:pt x="0" y="0"/>
                </a:moveTo>
                <a:lnTo>
                  <a:pt x="737235" y="0"/>
                </a:lnTo>
                <a:lnTo>
                  <a:pt x="737235" y="356235"/>
                </a:lnTo>
                <a:lnTo>
                  <a:pt x="0" y="356235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289030" y="5193030"/>
            <a:ext cx="280035" cy="737235"/>
          </a:xfrm>
          <a:custGeom>
            <a:avLst/>
            <a:gdLst/>
            <a:ahLst/>
            <a:cxnLst/>
            <a:rect l="l" t="t" r="r" b="b"/>
            <a:pathLst>
              <a:path w="280035" h="737235">
                <a:moveTo>
                  <a:pt x="0" y="0"/>
                </a:moveTo>
                <a:lnTo>
                  <a:pt x="280035" y="0"/>
                </a:lnTo>
                <a:lnTo>
                  <a:pt x="280035" y="737235"/>
                </a:lnTo>
                <a:lnTo>
                  <a:pt x="0" y="73723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304800" y="6172200"/>
            <a:ext cx="952500" cy="381000"/>
          </a:xfrm>
          <a:prstGeom prst="roundRect">
            <a:avLst>
              <a:gd name="adj" fmla="val 0"/>
            </a:avLst>
          </a:prstGeom>
        </p:spPr>
      </p:pic>
      <p:sp>
        <p:nvSpPr>
          <p:cNvPr id="7" name="Text 4"/>
          <p:cNvSpPr/>
          <p:nvPr/>
        </p:nvSpPr>
        <p:spPr>
          <a:xfrm>
            <a:off x="381000" y="3810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Défis et Points de Douleur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8620" y="845820"/>
            <a:ext cx="901065" cy="62865"/>
          </a:xfrm>
          <a:custGeom>
            <a:avLst/>
            <a:gdLst/>
            <a:ahLst/>
            <a:cxnLst/>
            <a:rect l="l" t="t" r="r" b="b"/>
            <a:pathLst>
              <a:path w="901065" h="62865">
                <a:moveTo>
                  <a:pt x="0" y="0"/>
                </a:moveTo>
                <a:lnTo>
                  <a:pt x="901065" y="0"/>
                </a:lnTo>
                <a:lnTo>
                  <a:pt x="901065" y="62865"/>
                </a:lnTo>
                <a:lnTo>
                  <a:pt x="0" y="6286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92430" y="1078230"/>
            <a:ext cx="5614035" cy="1394460"/>
          </a:xfrm>
          <a:custGeom>
            <a:avLst/>
            <a:gdLst/>
            <a:ahLst/>
            <a:cxnLst/>
            <a:rect l="l" t="t" r="r" b="b"/>
            <a:pathLst>
              <a:path w="5614035" h="1394460">
                <a:moveTo>
                  <a:pt x="0" y="0"/>
                </a:moveTo>
                <a:lnTo>
                  <a:pt x="5614035" y="0"/>
                </a:lnTo>
                <a:lnTo>
                  <a:pt x="5614035" y="1394460"/>
                </a:lnTo>
                <a:lnTo>
                  <a:pt x="0" y="13944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3880" y="1249684"/>
            <a:ext cx="443865" cy="443865"/>
          </a:xfrm>
          <a:custGeom>
            <a:avLst/>
            <a:gdLst/>
            <a:ahLst/>
            <a:cxnLst/>
            <a:rect l="l" t="t" r="r" b="b"/>
            <a:pathLst>
              <a:path w="443865" h="443865">
                <a:moveTo>
                  <a:pt x="0" y="0"/>
                </a:moveTo>
                <a:lnTo>
                  <a:pt x="443865" y="0"/>
                </a:lnTo>
                <a:lnTo>
                  <a:pt x="443865" y="443865"/>
                </a:lnTo>
                <a:lnTo>
                  <a:pt x="0" y="44386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9610" y="137541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95250" y="65484"/>
                </a:moveTo>
                <a:cubicBezTo>
                  <a:pt x="88664" y="65484"/>
                  <a:pt x="83344" y="70805"/>
                  <a:pt x="83344" y="77391"/>
                </a:cubicBezTo>
                <a:cubicBezTo>
                  <a:pt x="83344" y="82339"/>
                  <a:pt x="79363" y="86320"/>
                  <a:pt x="74414" y="86320"/>
                </a:cubicBezTo>
                <a:cubicBezTo>
                  <a:pt x="69466" y="86320"/>
                  <a:pt x="65484" y="82339"/>
                  <a:pt x="65484" y="77391"/>
                </a:cubicBezTo>
                <a:cubicBezTo>
                  <a:pt x="65484" y="60945"/>
                  <a:pt x="78804" y="47625"/>
                  <a:pt x="95250" y="47625"/>
                </a:cubicBezTo>
                <a:cubicBezTo>
                  <a:pt x="111696" y="47625"/>
                  <a:pt x="125016" y="60945"/>
                  <a:pt x="125016" y="77391"/>
                </a:cubicBezTo>
                <a:cubicBezTo>
                  <a:pt x="125016" y="94952"/>
                  <a:pt x="111621" y="102394"/>
                  <a:pt x="104180" y="105110"/>
                </a:cubicBezTo>
                <a:lnTo>
                  <a:pt x="104180" y="106524"/>
                </a:lnTo>
                <a:cubicBezTo>
                  <a:pt x="104180" y="111472"/>
                  <a:pt x="100199" y="115453"/>
                  <a:pt x="95250" y="115453"/>
                </a:cubicBezTo>
                <a:cubicBezTo>
                  <a:pt x="90301" y="115453"/>
                  <a:pt x="86320" y="111472"/>
                  <a:pt x="86320" y="106524"/>
                </a:cubicBezTo>
                <a:lnTo>
                  <a:pt x="86320" y="103510"/>
                </a:lnTo>
                <a:cubicBezTo>
                  <a:pt x="86320" y="95883"/>
                  <a:pt x="91827" y="90413"/>
                  <a:pt x="97520" y="88553"/>
                </a:cubicBezTo>
                <a:cubicBezTo>
                  <a:pt x="99901" y="87771"/>
                  <a:pt x="102431" y="86506"/>
                  <a:pt x="104291" y="84720"/>
                </a:cubicBezTo>
                <a:cubicBezTo>
                  <a:pt x="105891" y="83158"/>
                  <a:pt x="107156" y="81000"/>
                  <a:pt x="107156" y="77428"/>
                </a:cubicBezTo>
                <a:cubicBezTo>
                  <a:pt x="107156" y="70842"/>
                  <a:pt x="101836" y="65522"/>
                  <a:pt x="95250" y="65522"/>
                </a:cubicBezTo>
                <a:close/>
                <a:moveTo>
                  <a:pt x="83344" y="136922"/>
                </a:moveTo>
                <a:cubicBezTo>
                  <a:pt x="83344" y="130351"/>
                  <a:pt x="88679" y="125016"/>
                  <a:pt x="95250" y="125016"/>
                </a:cubicBezTo>
                <a:cubicBezTo>
                  <a:pt x="101821" y="125016"/>
                  <a:pt x="107156" y="130351"/>
                  <a:pt x="107156" y="136922"/>
                </a:cubicBezTo>
                <a:cubicBezTo>
                  <a:pt x="107156" y="143493"/>
                  <a:pt x="101821" y="148828"/>
                  <a:pt x="95250" y="148828"/>
                </a:cubicBezTo>
                <a:cubicBezTo>
                  <a:pt x="88679" y="148828"/>
                  <a:pt x="83344" y="143493"/>
                  <a:pt x="83344" y="13692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1127760" y="1337314"/>
            <a:ext cx="2238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Absence de Ground Truth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56260" y="1813564"/>
            <a:ext cx="53625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défi majeur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— impossible d'évaluer objectivement sans labels de référence. Les métriques internes sont des approximations.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92430" y="2647948"/>
            <a:ext cx="5614035" cy="1394460"/>
          </a:xfrm>
          <a:custGeom>
            <a:avLst/>
            <a:gdLst/>
            <a:ahLst/>
            <a:cxnLst/>
            <a:rect l="l" t="t" r="r" b="b"/>
            <a:pathLst>
              <a:path w="5614035" h="1394460">
                <a:moveTo>
                  <a:pt x="0" y="0"/>
                </a:moveTo>
                <a:lnTo>
                  <a:pt x="5614035" y="0"/>
                </a:lnTo>
                <a:lnTo>
                  <a:pt x="5614035" y="1394460"/>
                </a:lnTo>
                <a:lnTo>
                  <a:pt x="0" y="13944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63880" y="2819402"/>
            <a:ext cx="443865" cy="443865"/>
          </a:xfrm>
          <a:custGeom>
            <a:avLst/>
            <a:gdLst/>
            <a:ahLst/>
            <a:cxnLst/>
            <a:rect l="l" t="t" r="r" b="b"/>
            <a:pathLst>
              <a:path w="443865" h="443865">
                <a:moveTo>
                  <a:pt x="0" y="0"/>
                </a:moveTo>
                <a:lnTo>
                  <a:pt x="443865" y="0"/>
                </a:lnTo>
                <a:lnTo>
                  <a:pt x="443865" y="443865"/>
                </a:lnTo>
                <a:lnTo>
                  <a:pt x="0" y="44386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01516" y="2945132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62508" y="11906"/>
                </a:moveTo>
                <a:lnTo>
                  <a:pt x="8930" y="11906"/>
                </a:lnTo>
                <a:cubicBezTo>
                  <a:pt x="3981" y="11906"/>
                  <a:pt x="0" y="15887"/>
                  <a:pt x="0" y="20836"/>
                </a:cubicBezTo>
                <a:lnTo>
                  <a:pt x="0" y="74414"/>
                </a:lnTo>
                <a:cubicBezTo>
                  <a:pt x="0" y="78023"/>
                  <a:pt x="2158" y="81297"/>
                  <a:pt x="5507" y="82674"/>
                </a:cubicBezTo>
                <a:cubicBezTo>
                  <a:pt x="8855" y="84051"/>
                  <a:pt x="12688" y="83269"/>
                  <a:pt x="15255" y="80739"/>
                </a:cubicBezTo>
                <a:lnTo>
                  <a:pt x="30138" y="65856"/>
                </a:lnTo>
                <a:lnTo>
                  <a:pt x="59531" y="95250"/>
                </a:lnTo>
                <a:lnTo>
                  <a:pt x="30138" y="124644"/>
                </a:lnTo>
                <a:lnTo>
                  <a:pt x="15255" y="109761"/>
                </a:lnTo>
                <a:cubicBezTo>
                  <a:pt x="12688" y="107193"/>
                  <a:pt x="8855" y="106449"/>
                  <a:pt x="5507" y="107826"/>
                </a:cubicBezTo>
                <a:cubicBezTo>
                  <a:pt x="2158" y="109203"/>
                  <a:pt x="0" y="112477"/>
                  <a:pt x="0" y="116086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lnTo>
                  <a:pt x="62508" y="178594"/>
                </a:lnTo>
                <a:cubicBezTo>
                  <a:pt x="66117" y="178594"/>
                  <a:pt x="69391" y="176436"/>
                  <a:pt x="70768" y="173087"/>
                </a:cubicBezTo>
                <a:cubicBezTo>
                  <a:pt x="72144" y="169738"/>
                  <a:pt x="71400" y="165906"/>
                  <a:pt x="68833" y="163339"/>
                </a:cubicBezTo>
                <a:lnTo>
                  <a:pt x="53950" y="148456"/>
                </a:lnTo>
                <a:lnTo>
                  <a:pt x="83344" y="119063"/>
                </a:lnTo>
                <a:lnTo>
                  <a:pt x="112737" y="148456"/>
                </a:lnTo>
                <a:lnTo>
                  <a:pt x="97854" y="163339"/>
                </a:lnTo>
                <a:cubicBezTo>
                  <a:pt x="95287" y="165906"/>
                  <a:pt x="94543" y="169738"/>
                  <a:pt x="95920" y="173087"/>
                </a:cubicBezTo>
                <a:cubicBezTo>
                  <a:pt x="97296" y="176436"/>
                  <a:pt x="100571" y="178594"/>
                  <a:pt x="104180" y="178594"/>
                </a:cubicBezTo>
                <a:lnTo>
                  <a:pt x="157758" y="178594"/>
                </a:lnTo>
                <a:cubicBezTo>
                  <a:pt x="162706" y="178594"/>
                  <a:pt x="166688" y="174613"/>
                  <a:pt x="166688" y="169664"/>
                </a:cubicBezTo>
                <a:lnTo>
                  <a:pt x="166688" y="116086"/>
                </a:lnTo>
                <a:cubicBezTo>
                  <a:pt x="166688" y="112477"/>
                  <a:pt x="164529" y="109203"/>
                  <a:pt x="161181" y="107826"/>
                </a:cubicBezTo>
                <a:cubicBezTo>
                  <a:pt x="157832" y="106449"/>
                  <a:pt x="154000" y="107193"/>
                  <a:pt x="151433" y="109761"/>
                </a:cubicBezTo>
                <a:lnTo>
                  <a:pt x="136550" y="124644"/>
                </a:lnTo>
                <a:lnTo>
                  <a:pt x="107156" y="95250"/>
                </a:lnTo>
                <a:lnTo>
                  <a:pt x="136550" y="65856"/>
                </a:lnTo>
                <a:lnTo>
                  <a:pt x="151433" y="80739"/>
                </a:lnTo>
                <a:cubicBezTo>
                  <a:pt x="154000" y="83307"/>
                  <a:pt x="157832" y="84051"/>
                  <a:pt x="161181" y="82674"/>
                </a:cubicBezTo>
                <a:cubicBezTo>
                  <a:pt x="164529" y="81297"/>
                  <a:pt x="166688" y="78023"/>
                  <a:pt x="166688" y="74414"/>
                </a:cubicBezTo>
                <a:lnTo>
                  <a:pt x="166688" y="20836"/>
                </a:lnTo>
                <a:cubicBezTo>
                  <a:pt x="166688" y="15887"/>
                  <a:pt x="162706" y="11906"/>
                  <a:pt x="157758" y="11906"/>
                </a:cubicBezTo>
                <a:lnTo>
                  <a:pt x="104180" y="11906"/>
                </a:lnTo>
                <a:cubicBezTo>
                  <a:pt x="100571" y="11906"/>
                  <a:pt x="97296" y="14064"/>
                  <a:pt x="95920" y="17413"/>
                </a:cubicBezTo>
                <a:cubicBezTo>
                  <a:pt x="94543" y="20762"/>
                  <a:pt x="95324" y="24594"/>
                  <a:pt x="97854" y="27161"/>
                </a:cubicBezTo>
                <a:lnTo>
                  <a:pt x="112737" y="42044"/>
                </a:lnTo>
                <a:lnTo>
                  <a:pt x="83344" y="71438"/>
                </a:lnTo>
                <a:lnTo>
                  <a:pt x="53950" y="42044"/>
                </a:lnTo>
                <a:lnTo>
                  <a:pt x="68833" y="27161"/>
                </a:lnTo>
                <a:cubicBezTo>
                  <a:pt x="71400" y="24594"/>
                  <a:pt x="72144" y="20762"/>
                  <a:pt x="70768" y="17413"/>
                </a:cubicBezTo>
                <a:cubicBezTo>
                  <a:pt x="69391" y="14064"/>
                  <a:pt x="66117" y="11906"/>
                  <a:pt x="62508" y="1190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1127760" y="2907032"/>
            <a:ext cx="2124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Curse of Dimensionality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56260" y="3383282"/>
            <a:ext cx="53625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En haute dimension, les données deviennent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éparses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et les distances perdent leur signification. Les algorithmes souffrent de la "malédiction".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92430" y="4217676"/>
            <a:ext cx="5614035" cy="1394460"/>
          </a:xfrm>
          <a:custGeom>
            <a:avLst/>
            <a:gdLst/>
            <a:ahLst/>
            <a:cxnLst/>
            <a:rect l="l" t="t" r="r" b="b"/>
            <a:pathLst>
              <a:path w="5614035" h="1394460">
                <a:moveTo>
                  <a:pt x="0" y="0"/>
                </a:moveTo>
                <a:lnTo>
                  <a:pt x="5614035" y="0"/>
                </a:lnTo>
                <a:lnTo>
                  <a:pt x="5614035" y="1394460"/>
                </a:lnTo>
                <a:lnTo>
                  <a:pt x="0" y="13944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63880" y="4389120"/>
            <a:ext cx="443865" cy="443865"/>
          </a:xfrm>
          <a:custGeom>
            <a:avLst/>
            <a:gdLst/>
            <a:ahLst/>
            <a:cxnLst/>
            <a:rect l="l" t="t" r="r" b="b"/>
            <a:pathLst>
              <a:path w="443865" h="443865">
                <a:moveTo>
                  <a:pt x="0" y="0"/>
                </a:moveTo>
                <a:lnTo>
                  <a:pt x="443865" y="0"/>
                </a:lnTo>
                <a:lnTo>
                  <a:pt x="443865" y="443865"/>
                </a:lnTo>
                <a:lnTo>
                  <a:pt x="0" y="443865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65798" y="45148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" y="44425"/>
                </a:moveTo>
                <a:cubicBezTo>
                  <a:pt x="4800" y="40332"/>
                  <a:pt x="0" y="32631"/>
                  <a:pt x="0" y="23812"/>
                </a:cubicBezTo>
                <a:cubicBezTo>
                  <a:pt x="0" y="10678"/>
                  <a:pt x="10678" y="0"/>
                  <a:pt x="23812" y="0"/>
                </a:cubicBezTo>
                <a:cubicBezTo>
                  <a:pt x="32631" y="0"/>
                  <a:pt x="40332" y="4800"/>
                  <a:pt x="44425" y="11906"/>
                </a:cubicBezTo>
                <a:lnTo>
                  <a:pt x="122225" y="11906"/>
                </a:lnTo>
                <a:cubicBezTo>
                  <a:pt x="126355" y="4800"/>
                  <a:pt x="134020" y="0"/>
                  <a:pt x="142838" y="0"/>
                </a:cubicBezTo>
                <a:cubicBezTo>
                  <a:pt x="155972" y="0"/>
                  <a:pt x="166650" y="10678"/>
                  <a:pt x="166650" y="23812"/>
                </a:cubicBezTo>
                <a:cubicBezTo>
                  <a:pt x="166650" y="32631"/>
                  <a:pt x="161851" y="40332"/>
                  <a:pt x="154744" y="44425"/>
                </a:cubicBezTo>
                <a:lnTo>
                  <a:pt x="154744" y="86506"/>
                </a:lnTo>
                <a:cubicBezTo>
                  <a:pt x="161851" y="90636"/>
                  <a:pt x="166650" y="98301"/>
                  <a:pt x="166650" y="107119"/>
                </a:cubicBezTo>
                <a:cubicBezTo>
                  <a:pt x="166650" y="120253"/>
                  <a:pt x="155972" y="130932"/>
                  <a:pt x="142838" y="130932"/>
                </a:cubicBezTo>
                <a:cubicBezTo>
                  <a:pt x="134020" y="130932"/>
                  <a:pt x="126318" y="126132"/>
                  <a:pt x="122225" y="119025"/>
                </a:cubicBezTo>
                <a:lnTo>
                  <a:pt x="44425" y="119025"/>
                </a:lnTo>
                <a:cubicBezTo>
                  <a:pt x="40295" y="126132"/>
                  <a:pt x="32631" y="130932"/>
                  <a:pt x="23812" y="130932"/>
                </a:cubicBezTo>
                <a:cubicBezTo>
                  <a:pt x="10678" y="130932"/>
                  <a:pt x="0" y="120253"/>
                  <a:pt x="0" y="107119"/>
                </a:cubicBezTo>
                <a:cubicBezTo>
                  <a:pt x="0" y="98301"/>
                  <a:pt x="4800" y="90599"/>
                  <a:pt x="11906" y="86506"/>
                </a:cubicBezTo>
                <a:lnTo>
                  <a:pt x="11906" y="44425"/>
                </a:lnTo>
                <a:close/>
                <a:moveTo>
                  <a:pt x="44425" y="35719"/>
                </a:moveTo>
                <a:cubicBezTo>
                  <a:pt x="42342" y="39328"/>
                  <a:pt x="39328" y="42342"/>
                  <a:pt x="35719" y="44425"/>
                </a:cubicBezTo>
                <a:lnTo>
                  <a:pt x="35719" y="86506"/>
                </a:lnTo>
                <a:cubicBezTo>
                  <a:pt x="39328" y="88590"/>
                  <a:pt x="42342" y="91604"/>
                  <a:pt x="44425" y="95213"/>
                </a:cubicBezTo>
                <a:lnTo>
                  <a:pt x="122225" y="95213"/>
                </a:lnTo>
                <a:cubicBezTo>
                  <a:pt x="124309" y="91604"/>
                  <a:pt x="127322" y="88590"/>
                  <a:pt x="130932" y="86506"/>
                </a:cubicBezTo>
                <a:lnTo>
                  <a:pt x="130932" y="44425"/>
                </a:lnTo>
                <a:cubicBezTo>
                  <a:pt x="127322" y="42342"/>
                  <a:pt x="124309" y="39328"/>
                  <a:pt x="122225" y="35719"/>
                </a:cubicBezTo>
                <a:lnTo>
                  <a:pt x="44425" y="35719"/>
                </a:lnTo>
                <a:close/>
                <a:moveTo>
                  <a:pt x="202406" y="103956"/>
                </a:moveTo>
                <a:cubicBezTo>
                  <a:pt x="198797" y="101873"/>
                  <a:pt x="195783" y="98859"/>
                  <a:pt x="193700" y="95250"/>
                </a:cubicBezTo>
                <a:lnTo>
                  <a:pt x="182835" y="95250"/>
                </a:lnTo>
                <a:cubicBezTo>
                  <a:pt x="180863" y="88664"/>
                  <a:pt x="177329" y="82786"/>
                  <a:pt x="172641" y="77986"/>
                </a:cubicBezTo>
                <a:lnTo>
                  <a:pt x="172641" y="71437"/>
                </a:lnTo>
                <a:lnTo>
                  <a:pt x="193700" y="71437"/>
                </a:lnTo>
                <a:cubicBezTo>
                  <a:pt x="197830" y="64331"/>
                  <a:pt x="205494" y="59531"/>
                  <a:pt x="214313" y="59531"/>
                </a:cubicBezTo>
                <a:cubicBezTo>
                  <a:pt x="227447" y="59531"/>
                  <a:pt x="238125" y="70210"/>
                  <a:pt x="238125" y="83344"/>
                </a:cubicBezTo>
                <a:cubicBezTo>
                  <a:pt x="238125" y="92162"/>
                  <a:pt x="233325" y="99864"/>
                  <a:pt x="226219" y="103956"/>
                </a:cubicBezTo>
                <a:lnTo>
                  <a:pt x="226219" y="146038"/>
                </a:lnTo>
                <a:cubicBezTo>
                  <a:pt x="233325" y="150168"/>
                  <a:pt x="238125" y="157832"/>
                  <a:pt x="238125" y="166650"/>
                </a:cubicBezTo>
                <a:cubicBezTo>
                  <a:pt x="238125" y="179784"/>
                  <a:pt x="227447" y="190463"/>
                  <a:pt x="214313" y="190463"/>
                </a:cubicBezTo>
                <a:cubicBezTo>
                  <a:pt x="205494" y="190463"/>
                  <a:pt x="197793" y="185663"/>
                  <a:pt x="193700" y="178557"/>
                </a:cubicBezTo>
                <a:lnTo>
                  <a:pt x="115900" y="178557"/>
                </a:lnTo>
                <a:cubicBezTo>
                  <a:pt x="111770" y="185663"/>
                  <a:pt x="104105" y="190463"/>
                  <a:pt x="95287" y="190463"/>
                </a:cubicBezTo>
                <a:cubicBezTo>
                  <a:pt x="82153" y="190463"/>
                  <a:pt x="71475" y="179784"/>
                  <a:pt x="71475" y="166650"/>
                </a:cubicBezTo>
                <a:cubicBezTo>
                  <a:pt x="71475" y="157832"/>
                  <a:pt x="76274" y="150130"/>
                  <a:pt x="83381" y="146038"/>
                </a:cubicBezTo>
                <a:lnTo>
                  <a:pt x="83381" y="136885"/>
                </a:lnTo>
                <a:lnTo>
                  <a:pt x="107193" y="136885"/>
                </a:lnTo>
                <a:lnTo>
                  <a:pt x="107193" y="146038"/>
                </a:lnTo>
                <a:cubicBezTo>
                  <a:pt x="110803" y="148121"/>
                  <a:pt x="113816" y="151135"/>
                  <a:pt x="115900" y="154744"/>
                </a:cubicBezTo>
                <a:lnTo>
                  <a:pt x="193700" y="154744"/>
                </a:lnTo>
                <a:cubicBezTo>
                  <a:pt x="195783" y="151135"/>
                  <a:pt x="198797" y="148121"/>
                  <a:pt x="202406" y="146038"/>
                </a:cubicBezTo>
                <a:lnTo>
                  <a:pt x="202406" y="103956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22" name="Text 19"/>
          <p:cNvSpPr/>
          <p:nvPr/>
        </p:nvSpPr>
        <p:spPr>
          <a:xfrm>
            <a:off x="1127760" y="4476750"/>
            <a:ext cx="2143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Ambiguïté du Clustering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56260" y="4953000"/>
            <a:ext cx="53625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Qu'est-ce qu'un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"bon" cluster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? Différents algorithmes donnent des résultats différents — pas de réponse unique.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183630" y="1078230"/>
            <a:ext cx="5614035" cy="1394460"/>
          </a:xfrm>
          <a:custGeom>
            <a:avLst/>
            <a:gdLst/>
            <a:ahLst/>
            <a:cxnLst/>
            <a:rect l="l" t="t" r="r" b="b"/>
            <a:pathLst>
              <a:path w="5614035" h="1394460">
                <a:moveTo>
                  <a:pt x="0" y="0"/>
                </a:moveTo>
                <a:lnTo>
                  <a:pt x="5614035" y="0"/>
                </a:lnTo>
                <a:lnTo>
                  <a:pt x="5614035" y="1394460"/>
                </a:lnTo>
                <a:lnTo>
                  <a:pt x="0" y="13944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355080" y="1249684"/>
            <a:ext cx="443865" cy="443865"/>
          </a:xfrm>
          <a:custGeom>
            <a:avLst/>
            <a:gdLst/>
            <a:ahLst/>
            <a:cxnLst/>
            <a:rect l="l" t="t" r="r" b="b"/>
            <a:pathLst>
              <a:path w="443865" h="443865">
                <a:moveTo>
                  <a:pt x="0" y="0"/>
                </a:moveTo>
                <a:lnTo>
                  <a:pt x="443865" y="0"/>
                </a:lnTo>
                <a:lnTo>
                  <a:pt x="443865" y="443865"/>
                </a:lnTo>
                <a:lnTo>
                  <a:pt x="0" y="44386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80810" y="137541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4"/>
          <p:cNvSpPr/>
          <p:nvPr/>
        </p:nvSpPr>
        <p:spPr>
          <a:xfrm>
            <a:off x="6918960" y="1337314"/>
            <a:ext cx="2057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Interprétabilité Difficile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347460" y="1813564"/>
            <a:ext cx="53625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Comprendre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ce que représentent les clusters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ou composantes demande expertise métier et analyse approfondie.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183630" y="2647948"/>
            <a:ext cx="5614035" cy="1394460"/>
          </a:xfrm>
          <a:custGeom>
            <a:avLst/>
            <a:gdLst/>
            <a:ahLst/>
            <a:cxnLst/>
            <a:rect l="l" t="t" r="r" b="b"/>
            <a:pathLst>
              <a:path w="5614035" h="1394460">
                <a:moveTo>
                  <a:pt x="0" y="0"/>
                </a:moveTo>
                <a:lnTo>
                  <a:pt x="5614035" y="0"/>
                </a:lnTo>
                <a:lnTo>
                  <a:pt x="5614035" y="1394460"/>
                </a:lnTo>
                <a:lnTo>
                  <a:pt x="0" y="13944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355080" y="2819402"/>
            <a:ext cx="443865" cy="443865"/>
          </a:xfrm>
          <a:custGeom>
            <a:avLst/>
            <a:gdLst/>
            <a:ahLst/>
            <a:cxnLst/>
            <a:rect l="l" t="t" r="r" b="b"/>
            <a:pathLst>
              <a:path w="443865" h="443865">
                <a:moveTo>
                  <a:pt x="0" y="0"/>
                </a:moveTo>
                <a:lnTo>
                  <a:pt x="443865" y="0"/>
                </a:lnTo>
                <a:lnTo>
                  <a:pt x="443865" y="443865"/>
                </a:lnTo>
                <a:lnTo>
                  <a:pt x="0" y="44386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492716" y="2945132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Text 29"/>
          <p:cNvSpPr/>
          <p:nvPr/>
        </p:nvSpPr>
        <p:spPr>
          <a:xfrm>
            <a:off x="6918960" y="2907032"/>
            <a:ext cx="990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Scalabilité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347460" y="3383282"/>
            <a:ext cx="53625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Beaucoup d'algorithmes ne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passent pas à l'échelle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sur de très grands datasets — temps de calcul et mémoire explosent.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183630" y="4217676"/>
            <a:ext cx="5614035" cy="1394460"/>
          </a:xfrm>
          <a:custGeom>
            <a:avLst/>
            <a:gdLst/>
            <a:ahLst/>
            <a:cxnLst/>
            <a:rect l="l" t="t" r="r" b="b"/>
            <a:pathLst>
              <a:path w="5614035" h="1394460">
                <a:moveTo>
                  <a:pt x="0" y="0"/>
                </a:moveTo>
                <a:lnTo>
                  <a:pt x="5614035" y="0"/>
                </a:lnTo>
                <a:lnTo>
                  <a:pt x="5614035" y="1394460"/>
                </a:lnTo>
                <a:lnTo>
                  <a:pt x="0" y="13944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6355080" y="4389120"/>
            <a:ext cx="443865" cy="443865"/>
          </a:xfrm>
          <a:custGeom>
            <a:avLst/>
            <a:gdLst/>
            <a:ahLst/>
            <a:cxnLst/>
            <a:rect l="l" t="t" r="r" b="b"/>
            <a:pathLst>
              <a:path w="443865" h="443865">
                <a:moveTo>
                  <a:pt x="0" y="0"/>
                </a:moveTo>
                <a:lnTo>
                  <a:pt x="443865" y="0"/>
                </a:lnTo>
                <a:lnTo>
                  <a:pt x="443865" y="443865"/>
                </a:lnTo>
                <a:lnTo>
                  <a:pt x="0" y="443865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20320">
            <a:solidFill>
              <a:srgbClr val="2D343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480810" y="45148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50242" y="12799"/>
                </a:moveTo>
                <a:cubicBezTo>
                  <a:pt x="154707" y="10939"/>
                  <a:pt x="159804" y="11981"/>
                  <a:pt x="163227" y="15367"/>
                </a:cubicBezTo>
                <a:lnTo>
                  <a:pt x="187040" y="39179"/>
                </a:lnTo>
                <a:cubicBezTo>
                  <a:pt x="189272" y="41411"/>
                  <a:pt x="190537" y="44425"/>
                  <a:pt x="190537" y="47588"/>
                </a:cubicBezTo>
                <a:cubicBezTo>
                  <a:pt x="190537" y="50750"/>
                  <a:pt x="189272" y="53764"/>
                  <a:pt x="187040" y="55997"/>
                </a:cubicBezTo>
                <a:lnTo>
                  <a:pt x="163227" y="79809"/>
                </a:lnTo>
                <a:cubicBezTo>
                  <a:pt x="159804" y="83232"/>
                  <a:pt x="154707" y="84237"/>
                  <a:pt x="150242" y="82376"/>
                </a:cubicBezTo>
                <a:cubicBezTo>
                  <a:pt x="145777" y="80516"/>
                  <a:pt x="142875" y="76237"/>
                  <a:pt x="142875" y="71438"/>
                </a:cubicBezTo>
                <a:lnTo>
                  <a:pt x="142875" y="59531"/>
                </a:lnTo>
                <a:lnTo>
                  <a:pt x="130969" y="59531"/>
                </a:lnTo>
                <a:cubicBezTo>
                  <a:pt x="127211" y="59531"/>
                  <a:pt x="123676" y="61280"/>
                  <a:pt x="121444" y="64294"/>
                </a:cubicBezTo>
                <a:lnTo>
                  <a:pt x="109389" y="80367"/>
                </a:lnTo>
                <a:lnTo>
                  <a:pt x="94506" y="60536"/>
                </a:lnTo>
                <a:lnTo>
                  <a:pt x="102394" y="50006"/>
                </a:lnTo>
                <a:cubicBezTo>
                  <a:pt x="109128" y="41002"/>
                  <a:pt x="119732" y="35719"/>
                  <a:pt x="130969" y="35719"/>
                </a:cubicBezTo>
                <a:lnTo>
                  <a:pt x="142875" y="35719"/>
                </a:lnTo>
                <a:lnTo>
                  <a:pt x="142875" y="23812"/>
                </a:lnTo>
                <a:cubicBezTo>
                  <a:pt x="142875" y="19013"/>
                  <a:pt x="145777" y="14660"/>
                  <a:pt x="150242" y="12799"/>
                </a:cubicBezTo>
                <a:close/>
                <a:moveTo>
                  <a:pt x="57299" y="110133"/>
                </a:moveTo>
                <a:lnTo>
                  <a:pt x="72182" y="129964"/>
                </a:lnTo>
                <a:lnTo>
                  <a:pt x="64294" y="140494"/>
                </a:lnTo>
                <a:cubicBezTo>
                  <a:pt x="57559" y="149498"/>
                  <a:pt x="46955" y="154781"/>
                  <a:pt x="35719" y="154781"/>
                </a:cubicBezTo>
                <a:lnTo>
                  <a:pt x="11906" y="154781"/>
                </a:lnTo>
                <a:cubicBezTo>
                  <a:pt x="5321" y="154781"/>
                  <a:pt x="0" y="149461"/>
                  <a:pt x="0" y="142875"/>
                </a:cubicBezTo>
                <a:cubicBezTo>
                  <a:pt x="0" y="136289"/>
                  <a:pt x="5321" y="130969"/>
                  <a:pt x="11906" y="130969"/>
                </a:cubicBezTo>
                <a:lnTo>
                  <a:pt x="35719" y="130969"/>
                </a:lnTo>
                <a:cubicBezTo>
                  <a:pt x="39477" y="130969"/>
                  <a:pt x="43011" y="129220"/>
                  <a:pt x="45244" y="126206"/>
                </a:cubicBezTo>
                <a:lnTo>
                  <a:pt x="57299" y="110133"/>
                </a:lnTo>
                <a:close/>
                <a:moveTo>
                  <a:pt x="163190" y="175096"/>
                </a:moveTo>
                <a:cubicBezTo>
                  <a:pt x="159767" y="178519"/>
                  <a:pt x="154670" y="179524"/>
                  <a:pt x="150205" y="177664"/>
                </a:cubicBezTo>
                <a:cubicBezTo>
                  <a:pt x="145740" y="175803"/>
                  <a:pt x="142875" y="171487"/>
                  <a:pt x="142875" y="166688"/>
                </a:cubicBezTo>
                <a:lnTo>
                  <a:pt x="142875" y="154781"/>
                </a:lnTo>
                <a:lnTo>
                  <a:pt x="130969" y="154781"/>
                </a:lnTo>
                <a:cubicBezTo>
                  <a:pt x="119732" y="154781"/>
                  <a:pt x="109128" y="149498"/>
                  <a:pt x="102394" y="140494"/>
                </a:cubicBezTo>
                <a:lnTo>
                  <a:pt x="45244" y="64294"/>
                </a:lnTo>
                <a:cubicBezTo>
                  <a:pt x="43011" y="61280"/>
                  <a:pt x="39477" y="59531"/>
                  <a:pt x="35719" y="59531"/>
                </a:cubicBez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35719" y="35719"/>
                </a:lnTo>
                <a:cubicBezTo>
                  <a:pt x="46955" y="35719"/>
                  <a:pt x="57559" y="41002"/>
                  <a:pt x="64294" y="50006"/>
                </a:cubicBezTo>
                <a:lnTo>
                  <a:pt x="121444" y="126206"/>
                </a:lnTo>
                <a:cubicBezTo>
                  <a:pt x="123676" y="129220"/>
                  <a:pt x="127211" y="130969"/>
                  <a:pt x="130969" y="130969"/>
                </a:cubicBezTo>
                <a:lnTo>
                  <a:pt x="142875" y="130969"/>
                </a:lnTo>
                <a:lnTo>
                  <a:pt x="142875" y="119063"/>
                </a:lnTo>
                <a:cubicBezTo>
                  <a:pt x="142875" y="114263"/>
                  <a:pt x="145777" y="109910"/>
                  <a:pt x="150242" y="108049"/>
                </a:cubicBezTo>
                <a:cubicBezTo>
                  <a:pt x="154707" y="106189"/>
                  <a:pt x="159804" y="107231"/>
                  <a:pt x="163227" y="110617"/>
                </a:cubicBezTo>
                <a:lnTo>
                  <a:pt x="187040" y="134429"/>
                </a:lnTo>
                <a:cubicBezTo>
                  <a:pt x="189272" y="136661"/>
                  <a:pt x="190537" y="139675"/>
                  <a:pt x="190537" y="142838"/>
                </a:cubicBezTo>
                <a:cubicBezTo>
                  <a:pt x="190537" y="146000"/>
                  <a:pt x="189272" y="149014"/>
                  <a:pt x="187040" y="151247"/>
                </a:cubicBezTo>
                <a:lnTo>
                  <a:pt x="163227" y="175059"/>
                </a:ln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37" name="Text 34"/>
          <p:cNvSpPr/>
          <p:nvPr/>
        </p:nvSpPr>
        <p:spPr>
          <a:xfrm>
            <a:off x="6918960" y="4476750"/>
            <a:ext cx="2133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Patterns Non Pertinents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6347460" y="4953000"/>
            <a:ext cx="53625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L'algorithme peut trouver des patterns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statistiquement significatifs mais sans intérêt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— filtrage nécessaire.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392430" y="5871212"/>
            <a:ext cx="11405235" cy="594360"/>
          </a:xfrm>
          <a:custGeom>
            <a:avLst/>
            <a:gdLst/>
            <a:ahLst/>
            <a:cxnLst/>
            <a:rect l="l" t="t" r="r" b="b"/>
            <a:pathLst>
              <a:path w="11405235" h="594360">
                <a:moveTo>
                  <a:pt x="0" y="0"/>
                </a:moveTo>
                <a:lnTo>
                  <a:pt x="11405235" y="0"/>
                </a:lnTo>
                <a:lnTo>
                  <a:pt x="11405235" y="594360"/>
                </a:lnTo>
                <a:lnTo>
                  <a:pt x="0" y="59436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048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3094434" y="6065518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FFE66D"/>
          </a:solidFill>
          <a:ln/>
        </p:spPr>
      </p:sp>
      <p:sp>
        <p:nvSpPr>
          <p:cNvPr id="41" name="Text 38"/>
          <p:cNvSpPr/>
          <p:nvPr/>
        </p:nvSpPr>
        <p:spPr>
          <a:xfrm>
            <a:off x="803910" y="6035046"/>
            <a:ext cx="10877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Clé du succès: Comprendre ces défis et les adresser proactivement!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2430" y="392430"/>
            <a:ext cx="889635" cy="889635"/>
          </a:xfrm>
          <a:custGeom>
            <a:avLst/>
            <a:gdLst/>
            <a:ahLst/>
            <a:cxnLst/>
            <a:rect l="l" t="t" r="r" b="b"/>
            <a:pathLst>
              <a:path w="889635" h="889635">
                <a:moveTo>
                  <a:pt x="444818" y="0"/>
                </a:moveTo>
                <a:lnTo>
                  <a:pt x="444818" y="0"/>
                </a:lnTo>
                <a:cubicBezTo>
                  <a:pt x="690483" y="0"/>
                  <a:pt x="889635" y="199152"/>
                  <a:pt x="889635" y="444817"/>
                </a:cubicBezTo>
                <a:lnTo>
                  <a:pt x="889635" y="444818"/>
                </a:lnTo>
                <a:cubicBezTo>
                  <a:pt x="889635" y="690483"/>
                  <a:pt x="690483" y="889635"/>
                  <a:pt x="444818" y="889635"/>
                </a:cubicBezTo>
                <a:lnTo>
                  <a:pt x="444818" y="889635"/>
                </a:lnTo>
                <a:cubicBezTo>
                  <a:pt x="199152" y="889635"/>
                  <a:pt x="0" y="690483"/>
                  <a:pt x="0" y="444818"/>
                </a:cubicBezTo>
                <a:lnTo>
                  <a:pt x="0" y="444818"/>
                </a:lnTo>
                <a:cubicBezTo>
                  <a:pt x="0" y="199152"/>
                  <a:pt x="199152" y="0"/>
                  <a:pt x="444817" y="0"/>
                </a:cubicBezTo>
                <a:close/>
              </a:path>
            </a:pathLst>
          </a:custGeom>
          <a:solidFill>
            <a:srgbClr val="FF6B6B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 rot="2700000">
            <a:off x="10705577" y="647177"/>
            <a:ext cx="584835" cy="584835"/>
          </a:xfrm>
          <a:custGeom>
            <a:avLst/>
            <a:gdLst/>
            <a:ahLst/>
            <a:cxnLst/>
            <a:rect l="l" t="t" r="r" b="b"/>
            <a:pathLst>
              <a:path w="584835" h="584835">
                <a:moveTo>
                  <a:pt x="0" y="0"/>
                </a:moveTo>
                <a:lnTo>
                  <a:pt x="584835" y="0"/>
                </a:lnTo>
                <a:lnTo>
                  <a:pt x="584835" y="584835"/>
                </a:lnTo>
                <a:lnTo>
                  <a:pt x="0" y="58483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374630" y="5802630"/>
            <a:ext cx="1194435" cy="432435"/>
          </a:xfrm>
          <a:custGeom>
            <a:avLst/>
            <a:gdLst/>
            <a:ahLst/>
            <a:cxnLst/>
            <a:rect l="l" t="t" r="r" b="b"/>
            <a:pathLst>
              <a:path w="1194435" h="432435">
                <a:moveTo>
                  <a:pt x="0" y="0"/>
                </a:moveTo>
                <a:lnTo>
                  <a:pt x="1194435" y="0"/>
                </a:lnTo>
                <a:lnTo>
                  <a:pt x="1194435" y="432435"/>
                </a:lnTo>
                <a:lnTo>
                  <a:pt x="0" y="432435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30630" y="4735830"/>
            <a:ext cx="356235" cy="1194435"/>
          </a:xfrm>
          <a:custGeom>
            <a:avLst/>
            <a:gdLst/>
            <a:ahLst/>
            <a:cxnLst/>
            <a:rect l="l" t="t" r="r" b="b"/>
            <a:pathLst>
              <a:path w="356235" h="1194435">
                <a:moveTo>
                  <a:pt x="0" y="0"/>
                </a:moveTo>
                <a:lnTo>
                  <a:pt x="356235" y="0"/>
                </a:lnTo>
                <a:lnTo>
                  <a:pt x="356235" y="1194435"/>
                </a:lnTo>
                <a:lnTo>
                  <a:pt x="0" y="1194435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12630" y="4888230"/>
            <a:ext cx="737235" cy="737235"/>
          </a:xfrm>
          <a:custGeom>
            <a:avLst/>
            <a:gdLst/>
            <a:ahLst/>
            <a:cxnLst/>
            <a:rect l="l" t="t" r="r" b="b"/>
            <a:pathLst>
              <a:path w="737235" h="737235">
                <a:moveTo>
                  <a:pt x="368617" y="0"/>
                </a:moveTo>
                <a:lnTo>
                  <a:pt x="368617" y="0"/>
                </a:lnTo>
                <a:cubicBezTo>
                  <a:pt x="572199" y="0"/>
                  <a:pt x="737235" y="165036"/>
                  <a:pt x="737235" y="368617"/>
                </a:cubicBezTo>
                <a:lnTo>
                  <a:pt x="737235" y="368617"/>
                </a:lnTo>
                <a:cubicBezTo>
                  <a:pt x="737235" y="572199"/>
                  <a:pt x="572199" y="737235"/>
                  <a:pt x="368617" y="737235"/>
                </a:cubicBezTo>
                <a:lnTo>
                  <a:pt x="368617" y="737235"/>
                </a:lnTo>
                <a:cubicBezTo>
                  <a:pt x="165036" y="737235"/>
                  <a:pt x="0" y="572199"/>
                  <a:pt x="0" y="368618"/>
                </a:cubicBezTo>
                <a:lnTo>
                  <a:pt x="0" y="368617"/>
                </a:lnTo>
                <a:cubicBezTo>
                  <a:pt x="0" y="165036"/>
                  <a:pt x="165036" y="0"/>
                  <a:pt x="368617" y="0"/>
                </a:cubicBezTo>
                <a:close/>
              </a:path>
            </a:pathLst>
          </a:custGeom>
          <a:solidFill>
            <a:srgbClr val="4ECDC4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3048000" y="914400"/>
            <a:ext cx="666750" cy="571500"/>
          </a:xfrm>
          <a:prstGeom prst="roundRect">
            <a:avLst>
              <a:gd name="adj" fmla="val 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11049000" y="6248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9" name="Shape 6"/>
          <p:cNvSpPr/>
          <p:nvPr/>
        </p:nvSpPr>
        <p:spPr>
          <a:xfrm>
            <a:off x="11315700" y="6248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10" name="Shape 7"/>
          <p:cNvSpPr/>
          <p:nvPr/>
        </p:nvSpPr>
        <p:spPr>
          <a:xfrm>
            <a:off x="11582400" y="6248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11" name="Shape 8"/>
          <p:cNvSpPr/>
          <p:nvPr/>
        </p:nvSpPr>
        <p:spPr>
          <a:xfrm>
            <a:off x="1847850" y="944407"/>
            <a:ext cx="8496300" cy="3819525"/>
          </a:xfrm>
          <a:custGeom>
            <a:avLst/>
            <a:gdLst/>
            <a:ahLst/>
            <a:cxnLst/>
            <a:rect l="l" t="t" r="r" b="b"/>
            <a:pathLst>
              <a:path w="8496300" h="3819525">
                <a:moveTo>
                  <a:pt x="0" y="0"/>
                </a:moveTo>
                <a:lnTo>
                  <a:pt x="8496300" y="0"/>
                </a:lnTo>
                <a:lnTo>
                  <a:pt x="8496300" y="3819525"/>
                </a:lnTo>
                <a:lnTo>
                  <a:pt x="0" y="38195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5080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057400" y="1268257"/>
            <a:ext cx="807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Conclusion et Perspectives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179320" y="1961677"/>
            <a:ext cx="7835265" cy="882015"/>
          </a:xfrm>
          <a:custGeom>
            <a:avLst/>
            <a:gdLst/>
            <a:ahLst/>
            <a:cxnLst/>
            <a:rect l="l" t="t" r="r" b="b"/>
            <a:pathLst>
              <a:path w="7835265" h="882015">
                <a:moveTo>
                  <a:pt x="0" y="0"/>
                </a:moveTo>
                <a:lnTo>
                  <a:pt x="7835265" y="0"/>
                </a:lnTo>
                <a:lnTo>
                  <a:pt x="7835265" y="882015"/>
                </a:lnTo>
                <a:lnTo>
                  <a:pt x="0" y="882015"/>
                </a:lnTo>
                <a:lnTo>
                  <a:pt x="0" y="0"/>
                </a:lnTo>
                <a:close/>
              </a:path>
            </a:pathLst>
          </a:custGeom>
          <a:solidFill>
            <a:srgbClr val="4ECDC4"/>
          </a:solidFill>
          <a:ln w="20320">
            <a:solidFill>
              <a:srgbClr val="4ECDC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339340" y="2121694"/>
            <a:ext cx="760095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L'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apprentissage non supervisé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est un outil puissant pour explorer des données sans labels et découvrir des insights cachés.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179320" y="3006572"/>
            <a:ext cx="3834765" cy="1424940"/>
          </a:xfrm>
          <a:custGeom>
            <a:avLst/>
            <a:gdLst/>
            <a:ahLst/>
            <a:cxnLst/>
            <a:rect l="l" t="t" r="r" b="b"/>
            <a:pathLst>
              <a:path w="3834765" h="1424940">
                <a:moveTo>
                  <a:pt x="0" y="0"/>
                </a:moveTo>
                <a:lnTo>
                  <a:pt x="3834765" y="0"/>
                </a:lnTo>
                <a:lnTo>
                  <a:pt x="3834765" y="1424940"/>
                </a:lnTo>
                <a:lnTo>
                  <a:pt x="0" y="142494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20320">
            <a:solidFill>
              <a:srgbClr val="FF6B6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363153" y="3212306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12514" y="117872"/>
                </a:moveTo>
                <a:cubicBezTo>
                  <a:pt x="145063" y="117872"/>
                  <a:pt x="171450" y="91485"/>
                  <a:pt x="171450" y="58936"/>
                </a:cubicBezTo>
                <a:cubicBezTo>
                  <a:pt x="171450" y="26387"/>
                  <a:pt x="145063" y="0"/>
                  <a:pt x="112514" y="0"/>
                </a:cubicBezTo>
                <a:cubicBezTo>
                  <a:pt x="79965" y="0"/>
                  <a:pt x="53578" y="26387"/>
                  <a:pt x="53578" y="58936"/>
                </a:cubicBezTo>
                <a:cubicBezTo>
                  <a:pt x="53578" y="65198"/>
                  <a:pt x="54549" y="71259"/>
                  <a:pt x="56357" y="76918"/>
                </a:cubicBezTo>
                <a:lnTo>
                  <a:pt x="2344" y="130932"/>
                </a:lnTo>
                <a:cubicBezTo>
                  <a:pt x="837" y="132438"/>
                  <a:pt x="0" y="134481"/>
                  <a:pt x="0" y="136624"/>
                </a:cubicBezTo>
                <a:lnTo>
                  <a:pt x="0" y="163413"/>
                </a:lnTo>
                <a:cubicBezTo>
                  <a:pt x="0" y="167867"/>
                  <a:pt x="3583" y="171450"/>
                  <a:pt x="8037" y="171450"/>
                </a:cubicBezTo>
                <a:lnTo>
                  <a:pt x="34826" y="171450"/>
                </a:lnTo>
                <a:cubicBezTo>
                  <a:pt x="39279" y="171450"/>
                  <a:pt x="42863" y="167867"/>
                  <a:pt x="42863" y="163413"/>
                </a:cubicBezTo>
                <a:lnTo>
                  <a:pt x="42863" y="150019"/>
                </a:lnTo>
                <a:lnTo>
                  <a:pt x="56257" y="150019"/>
                </a:lnTo>
                <a:cubicBezTo>
                  <a:pt x="60711" y="150019"/>
                  <a:pt x="64294" y="146436"/>
                  <a:pt x="64294" y="141982"/>
                </a:cubicBezTo>
                <a:lnTo>
                  <a:pt x="64294" y="128588"/>
                </a:lnTo>
                <a:lnTo>
                  <a:pt x="77688" y="128588"/>
                </a:lnTo>
                <a:cubicBezTo>
                  <a:pt x="79831" y="128588"/>
                  <a:pt x="81874" y="127750"/>
                  <a:pt x="83381" y="126243"/>
                </a:cubicBezTo>
                <a:lnTo>
                  <a:pt x="94532" y="115093"/>
                </a:lnTo>
                <a:cubicBezTo>
                  <a:pt x="100191" y="116901"/>
                  <a:pt x="106252" y="117872"/>
                  <a:pt x="112514" y="117872"/>
                </a:cubicBezTo>
                <a:close/>
                <a:moveTo>
                  <a:pt x="125909" y="32147"/>
                </a:moveTo>
                <a:cubicBezTo>
                  <a:pt x="133301" y="32147"/>
                  <a:pt x="139303" y="38149"/>
                  <a:pt x="139303" y="45541"/>
                </a:cubicBezTo>
                <a:cubicBezTo>
                  <a:pt x="139303" y="52934"/>
                  <a:pt x="133301" y="58936"/>
                  <a:pt x="125909" y="58936"/>
                </a:cubicBezTo>
                <a:cubicBezTo>
                  <a:pt x="118516" y="58936"/>
                  <a:pt x="112514" y="52934"/>
                  <a:pt x="112514" y="45541"/>
                </a:cubicBezTo>
                <a:cubicBezTo>
                  <a:pt x="112514" y="38149"/>
                  <a:pt x="118516" y="32147"/>
                  <a:pt x="125909" y="32147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17" name="Text 14"/>
          <p:cNvSpPr/>
          <p:nvPr/>
        </p:nvSpPr>
        <p:spPr>
          <a:xfrm>
            <a:off x="2615565" y="3166588"/>
            <a:ext cx="3324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Clé du Succès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2339340" y="3509488"/>
            <a:ext cx="3590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• Comprendre les familles d'algorithmes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339340" y="3776188"/>
            <a:ext cx="3590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• Choisir selon le contexte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2339340" y="4042888"/>
            <a:ext cx="3590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• Valider rigoureusement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179820" y="3006572"/>
            <a:ext cx="3834765" cy="1424940"/>
          </a:xfrm>
          <a:custGeom>
            <a:avLst/>
            <a:gdLst/>
            <a:ahLst/>
            <a:cxnLst/>
            <a:rect l="l" t="t" r="r" b="b"/>
            <a:pathLst>
              <a:path w="3834765" h="1424940">
                <a:moveTo>
                  <a:pt x="0" y="0"/>
                </a:moveTo>
                <a:lnTo>
                  <a:pt x="3834765" y="0"/>
                </a:lnTo>
                <a:lnTo>
                  <a:pt x="3834765" y="1424940"/>
                </a:lnTo>
                <a:lnTo>
                  <a:pt x="0" y="1424940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20320">
            <a:solidFill>
              <a:srgbClr val="FFE66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363653" y="3212306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2863" y="107156"/>
                </a:moveTo>
                <a:lnTo>
                  <a:pt x="8204" y="107156"/>
                </a:lnTo>
                <a:cubicBezTo>
                  <a:pt x="-134" y="107156"/>
                  <a:pt x="-5257" y="98081"/>
                  <a:pt x="-971" y="90915"/>
                </a:cubicBezTo>
                <a:lnTo>
                  <a:pt x="16743" y="61380"/>
                </a:lnTo>
                <a:cubicBezTo>
                  <a:pt x="19656" y="56525"/>
                  <a:pt x="24880" y="53578"/>
                  <a:pt x="30540" y="53578"/>
                </a:cubicBezTo>
                <a:lnTo>
                  <a:pt x="62352" y="53578"/>
                </a:lnTo>
                <a:cubicBezTo>
                  <a:pt x="87835" y="10414"/>
                  <a:pt x="125842" y="8238"/>
                  <a:pt x="151258" y="11955"/>
                </a:cubicBezTo>
                <a:cubicBezTo>
                  <a:pt x="155544" y="12591"/>
                  <a:pt x="158893" y="15939"/>
                  <a:pt x="159495" y="20192"/>
                </a:cubicBezTo>
                <a:cubicBezTo>
                  <a:pt x="163212" y="45608"/>
                  <a:pt x="161036" y="83615"/>
                  <a:pt x="117872" y="109098"/>
                </a:cubicBezTo>
                <a:lnTo>
                  <a:pt x="117872" y="140910"/>
                </a:lnTo>
                <a:cubicBezTo>
                  <a:pt x="117872" y="146570"/>
                  <a:pt x="114925" y="151794"/>
                  <a:pt x="110070" y="154707"/>
                </a:cubicBezTo>
                <a:lnTo>
                  <a:pt x="80535" y="172421"/>
                </a:lnTo>
                <a:cubicBezTo>
                  <a:pt x="73402" y="176707"/>
                  <a:pt x="64294" y="171550"/>
                  <a:pt x="64294" y="163246"/>
                </a:cubicBezTo>
                <a:lnTo>
                  <a:pt x="64294" y="128588"/>
                </a:lnTo>
                <a:cubicBezTo>
                  <a:pt x="64294" y="116767"/>
                  <a:pt x="54683" y="107156"/>
                  <a:pt x="42863" y="107156"/>
                </a:cubicBezTo>
                <a:lnTo>
                  <a:pt x="42829" y="107156"/>
                </a:lnTo>
                <a:close/>
                <a:moveTo>
                  <a:pt x="133945" y="53578"/>
                </a:moveTo>
                <a:cubicBezTo>
                  <a:pt x="133945" y="44707"/>
                  <a:pt x="126743" y="37505"/>
                  <a:pt x="117872" y="37505"/>
                </a:cubicBezTo>
                <a:cubicBezTo>
                  <a:pt x="109001" y="37505"/>
                  <a:pt x="101798" y="44707"/>
                  <a:pt x="101798" y="53578"/>
                </a:cubicBezTo>
                <a:cubicBezTo>
                  <a:pt x="101798" y="62449"/>
                  <a:pt x="109001" y="69652"/>
                  <a:pt x="117872" y="69652"/>
                </a:cubicBezTo>
                <a:cubicBezTo>
                  <a:pt x="126743" y="69652"/>
                  <a:pt x="133945" y="62449"/>
                  <a:pt x="133945" y="53578"/>
                </a:cubicBezTo>
                <a:close/>
              </a:path>
            </a:pathLst>
          </a:custGeom>
          <a:solidFill>
            <a:srgbClr val="2D3436"/>
          </a:solidFill>
          <a:ln/>
        </p:spPr>
      </p:sp>
      <p:sp>
        <p:nvSpPr>
          <p:cNvPr id="23" name="Text 20"/>
          <p:cNvSpPr/>
          <p:nvPr/>
        </p:nvSpPr>
        <p:spPr>
          <a:xfrm>
            <a:off x="6616065" y="3166588"/>
            <a:ext cx="3324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Prochaines Étapes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339840" y="3509488"/>
            <a:ext cx="3590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• Apprentissage semi-supervisé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339840" y="3776188"/>
            <a:ext cx="3590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• Auto-supervisé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339840" y="4042888"/>
            <a:ext cx="3590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D343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• Deep learning non supervisé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4231838" y="5022054"/>
            <a:ext cx="3728085" cy="670560"/>
          </a:xfrm>
          <a:custGeom>
            <a:avLst/>
            <a:gdLst/>
            <a:ahLst/>
            <a:cxnLst/>
            <a:rect l="l" t="t" r="r" b="b"/>
            <a:pathLst>
              <a:path w="3728085" h="670560">
                <a:moveTo>
                  <a:pt x="0" y="0"/>
                </a:moveTo>
                <a:lnTo>
                  <a:pt x="3728085" y="0"/>
                </a:lnTo>
                <a:lnTo>
                  <a:pt x="3728085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solidFill>
            <a:srgbClr val="FF6B6B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4476631" y="5185888"/>
            <a:ext cx="3238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Merci de votre attention!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5878711" y="5944082"/>
            <a:ext cx="432435" cy="432435"/>
          </a:xfrm>
          <a:custGeom>
            <a:avLst/>
            <a:gdLst/>
            <a:ahLst/>
            <a:cxnLst/>
            <a:rect l="l" t="t" r="r" b="b"/>
            <a:pathLst>
              <a:path w="432435" h="432435">
                <a:moveTo>
                  <a:pt x="216218" y="0"/>
                </a:moveTo>
                <a:lnTo>
                  <a:pt x="216218" y="0"/>
                </a:lnTo>
                <a:cubicBezTo>
                  <a:pt x="335551" y="0"/>
                  <a:pt x="432435" y="96884"/>
                  <a:pt x="432435" y="216218"/>
                </a:cubicBezTo>
                <a:lnTo>
                  <a:pt x="432435" y="216218"/>
                </a:lnTo>
                <a:cubicBezTo>
                  <a:pt x="432435" y="335551"/>
                  <a:pt x="335551" y="432435"/>
                  <a:pt x="216218" y="432435"/>
                </a:cubicBezTo>
                <a:lnTo>
                  <a:pt x="216218" y="432435"/>
                </a:lnTo>
                <a:cubicBezTo>
                  <a:pt x="96884" y="432435"/>
                  <a:pt x="0" y="335551"/>
                  <a:pt x="0" y="216218"/>
                </a:cubicBezTo>
                <a:lnTo>
                  <a:pt x="0" y="216218"/>
                </a:lnTo>
                <a:cubicBezTo>
                  <a:pt x="0" y="96884"/>
                  <a:pt x="96884" y="0"/>
                  <a:pt x="216218" y="0"/>
                </a:cubicBezTo>
                <a:close/>
              </a:path>
            </a:pathLst>
          </a:custGeom>
          <a:solidFill>
            <a:srgbClr val="4ECDC4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 rot="720000">
            <a:off x="5926556" y="5915730"/>
            <a:ext cx="280035" cy="280035"/>
          </a:xfrm>
          <a:custGeom>
            <a:avLst/>
            <a:gdLst/>
            <a:ahLst/>
            <a:cxnLst/>
            <a:rect l="l" t="t" r="r" b="b"/>
            <a:pathLst>
              <a:path w="280035" h="280035">
                <a:moveTo>
                  <a:pt x="0" y="0"/>
                </a:moveTo>
                <a:lnTo>
                  <a:pt x="280035" y="0"/>
                </a:lnTo>
                <a:lnTo>
                  <a:pt x="280035" y="280035"/>
                </a:lnTo>
                <a:lnTo>
                  <a:pt x="0" y="280035"/>
                </a:lnTo>
                <a:lnTo>
                  <a:pt x="0" y="0"/>
                </a:lnTo>
                <a:close/>
              </a:path>
            </a:pathLst>
          </a:custGeom>
          <a:solidFill>
            <a:srgbClr val="FFE66D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916811" y="5944082"/>
            <a:ext cx="356235" cy="356235"/>
          </a:xfrm>
          <a:custGeom>
            <a:avLst/>
            <a:gdLst/>
            <a:ahLst/>
            <a:cxnLst/>
            <a:rect l="l" t="t" r="r" b="b"/>
            <a:pathLst>
              <a:path w="356235" h="356235">
                <a:moveTo>
                  <a:pt x="178118" y="0"/>
                </a:moveTo>
                <a:lnTo>
                  <a:pt x="178118" y="0"/>
                </a:lnTo>
                <a:cubicBezTo>
                  <a:pt x="276423" y="0"/>
                  <a:pt x="356235" y="79812"/>
                  <a:pt x="356235" y="178118"/>
                </a:cubicBezTo>
                <a:lnTo>
                  <a:pt x="356235" y="178118"/>
                </a:lnTo>
                <a:cubicBezTo>
                  <a:pt x="356235" y="276423"/>
                  <a:pt x="276423" y="356235"/>
                  <a:pt x="178118" y="356235"/>
                </a:cubicBezTo>
                <a:lnTo>
                  <a:pt x="178118" y="356235"/>
                </a:lnTo>
                <a:cubicBezTo>
                  <a:pt x="79812" y="356235"/>
                  <a:pt x="0" y="276423"/>
                  <a:pt x="0" y="178118"/>
                </a:cubicBezTo>
                <a:lnTo>
                  <a:pt x="0" y="178118"/>
                </a:lnTo>
                <a:cubicBezTo>
                  <a:pt x="0" y="79812"/>
                  <a:pt x="79812" y="0"/>
                  <a:pt x="178118" y="0"/>
                </a:cubicBezTo>
                <a:close/>
              </a:path>
            </a:pathLst>
          </a:custGeom>
          <a:solidFill>
            <a:srgbClr val="FF6B6B"/>
          </a:solidFill>
          <a:ln w="30480">
            <a:solidFill>
              <a:srgbClr val="2D3436"/>
            </a:solidFill>
            <a:prstDash val="solid"/>
          </a:ln>
          <a:effectLst>
            <a:outerShdw sx="100000" sy="100000" kx="0" ky="0" algn="bl" rotWithShape="0" blurRad="101600" dist="38100" dir="2700000">
              <a:srgbClr val="2d3436">
                <a:alpha val="100000"/>
              </a:srgbClr>
            </a:outerShdw>
          </a:effectLst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Apprentissage Automatique Non Supervisé</dc:title>
  <dc:subject>Apprentissage Automatique Non Supervisé</dc:subject>
  <dc:creator>Kimi</dc:creator>
  <cp:lastModifiedBy>Kimi</cp:lastModifiedBy>
  <cp:revision>1</cp:revision>
  <dcterms:created xsi:type="dcterms:W3CDTF">2026-04-10T09:28:06Z</dcterms:created>
  <dcterms:modified xsi:type="dcterms:W3CDTF">2026-04-10T09:28:06Z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{"Label":"Apprentissage Automatique Non Supervisé","ContentProducer":"001191110108MACG2KBH8F10000","ProduceID":"19d7656a-0532-8fda-8000-0000e24ed9c6","ReservedCode1":"","ContentPropagator":"001191110108MACG2KBH8F20000","PropagateID":"19d7656a-0532-8fda-8000-0000e24ed9c6","ReservedCode2":""}</vt:lpwstr>
  </property>
</Properties>
</file>