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12192000"/>
  <p:embeddedFontLst>
    <p:embeddedFont>
      <p:font typeface="微软雅黑" panose="020B0503020204020204" pitchFamily="34" charset="-122"/>
      <p:regular r:id="rId17"/>
      <p:bold r:id="rId18"/>
    </p:embeddedFont>
    <p:embeddedFont>
      <p:font typeface="Liter" panose="020B0604020202020204" charset="0"/>
      <p:regular r:id="rId19"/>
    </p:embeddedFont>
    <p:embeddedFont>
      <p:font typeface="Oranienbaum" panose="02000506080000020003" pitchFamily="2" charset="0"/>
      <p:regular r:id="rId20"/>
    </p:embeddedFont>
    <p:embeddedFont>
      <p:font typeface="Quattrocento Sans" panose="020B0502050000020003" pitchFamily="34" charset="0"/>
      <p:regular r:id="rId21"/>
      <p:bold r:id="rId22"/>
    </p:embeddedFont>
    <p:embeddedFont>
      <p:font typeface="Unna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754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83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3E498-88C4-80FD-2558-4042679E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0D75E-20EE-0981-5A7B-E135DD26D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CD850-134E-92E9-3742-10387076A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C677F-2ED5-84AF-C7B7-A63AAE834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29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bin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bin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2" r="6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4879777" y="1724025"/>
            <a:ext cx="2428875" cy="342900"/>
          </a:xfrm>
          <a:custGeom>
            <a:avLst/>
            <a:gdLst/>
            <a:ahLst/>
            <a:cxnLst/>
            <a:rect l="l" t="t" r="r" b="b"/>
            <a:pathLst>
              <a:path w="2428875" h="342900">
                <a:moveTo>
                  <a:pt x="0" y="0"/>
                </a:moveTo>
                <a:lnTo>
                  <a:pt x="2428875" y="0"/>
                </a:lnTo>
                <a:lnTo>
                  <a:pt x="24288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4846439" y="1724025"/>
            <a:ext cx="2495550" cy="3429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10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ARTIFICIELLE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91514" y="2600325"/>
            <a:ext cx="7010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CF0F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Apprentissage Supervisé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36861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128016" y="4029075"/>
            <a:ext cx="3933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6A08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Classification et Régression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07638" y="4867275"/>
            <a:ext cx="617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CF0F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Fondamentaux de l'Intelligence Artificielle - Cours Complet pour Étudiants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00049" y="579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ECF0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495324" y="57912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25277" y="579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CF0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320552" y="579120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519035" y="57912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ECF0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842885" y="5791200"/>
            <a:ext cx="21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Plan du Cours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14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5581650" cy="1152525"/>
          </a:xfrm>
          <a:custGeom>
            <a:avLst/>
            <a:gdLst/>
            <a:ahLst/>
            <a:cxnLst/>
            <a:rect l="l" t="t" r="r" b="b"/>
            <a:pathLst>
              <a:path w="5581650" h="1152525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76320"/>
                </a:lnTo>
                <a:cubicBezTo>
                  <a:pt x="5581650" y="1118407"/>
                  <a:pt x="5547532" y="1152525"/>
                  <a:pt x="5505445" y="1152525"/>
                </a:cubicBez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38100" cy="1152525"/>
          </a:xfrm>
          <a:custGeom>
            <a:avLst/>
            <a:gdLst/>
            <a:ahLst/>
            <a:cxnLst/>
            <a:rect l="l" t="t" r="r" b="b"/>
            <a:pathLst>
              <a:path w="38100" h="1152525">
                <a:moveTo>
                  <a:pt x="38100" y="0"/>
                </a:moveTo>
                <a:lnTo>
                  <a:pt x="38100" y="0"/>
                </a:lnTo>
                <a:lnTo>
                  <a:pt x="38100" y="1152525"/>
                </a:ln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47700" y="14716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00075" y="147161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7300" y="1471613"/>
            <a:ext cx="3162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Introduction à l'Apprentissage Supervisé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1814513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Définition, principe fondamental et workflow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1181100"/>
            <a:ext cx="5581650" cy="1152525"/>
          </a:xfrm>
          <a:custGeom>
            <a:avLst/>
            <a:gdLst/>
            <a:ahLst/>
            <a:cxnLst/>
            <a:rect l="l" t="t" r="r" b="b"/>
            <a:pathLst>
              <a:path w="5581650" h="1152525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76320"/>
                </a:lnTo>
                <a:cubicBezTo>
                  <a:pt x="5581650" y="1118407"/>
                  <a:pt x="5547532" y="1152525"/>
                  <a:pt x="5505445" y="1152525"/>
                </a:cubicBez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229350" y="1181100"/>
            <a:ext cx="38100" cy="1152525"/>
          </a:xfrm>
          <a:custGeom>
            <a:avLst/>
            <a:gdLst/>
            <a:ahLst/>
            <a:cxnLst/>
            <a:rect l="l" t="t" r="r" b="b"/>
            <a:pathLst>
              <a:path w="38100" h="1152525">
                <a:moveTo>
                  <a:pt x="38100" y="0"/>
                </a:moveTo>
                <a:lnTo>
                  <a:pt x="38100" y="0"/>
                </a:lnTo>
                <a:lnTo>
                  <a:pt x="38100" y="1152525"/>
                </a:ln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477000" y="14716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29375" y="147161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1471613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Concepts Fondamentaux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1814513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Données étiquetées, entraînement et prédiction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562225"/>
            <a:ext cx="5581650" cy="1152525"/>
          </a:xfrm>
          <a:custGeom>
            <a:avLst/>
            <a:gdLst/>
            <a:ahLst/>
            <a:cxnLst/>
            <a:rect l="l" t="t" r="r" b="b"/>
            <a:pathLst>
              <a:path w="5581650" h="1152525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76320"/>
                </a:lnTo>
                <a:cubicBezTo>
                  <a:pt x="5581650" y="1118407"/>
                  <a:pt x="5547532" y="1152525"/>
                  <a:pt x="5505445" y="1152525"/>
                </a:cubicBez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00050" y="2562225"/>
            <a:ext cx="38100" cy="1152525"/>
          </a:xfrm>
          <a:custGeom>
            <a:avLst/>
            <a:gdLst/>
            <a:ahLst/>
            <a:cxnLst/>
            <a:rect l="l" t="t" r="r" b="b"/>
            <a:pathLst>
              <a:path w="38100" h="1152525">
                <a:moveTo>
                  <a:pt x="38100" y="0"/>
                </a:moveTo>
                <a:lnTo>
                  <a:pt x="38100" y="0"/>
                </a:lnTo>
                <a:lnTo>
                  <a:pt x="38100" y="1152525"/>
                </a:ln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47700" y="28527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00075" y="285273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7300" y="2852738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La Classification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3195638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Prédiction de catégories et frontières de décision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2562225"/>
            <a:ext cx="5581650" cy="1152525"/>
          </a:xfrm>
          <a:custGeom>
            <a:avLst/>
            <a:gdLst/>
            <a:ahLst/>
            <a:cxnLst/>
            <a:rect l="l" t="t" r="r" b="b"/>
            <a:pathLst>
              <a:path w="5581650" h="1152525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76320"/>
                </a:lnTo>
                <a:cubicBezTo>
                  <a:pt x="5581650" y="1118407"/>
                  <a:pt x="5547532" y="1152525"/>
                  <a:pt x="5505445" y="1152525"/>
                </a:cubicBez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229350" y="2562225"/>
            <a:ext cx="38100" cy="1152525"/>
          </a:xfrm>
          <a:custGeom>
            <a:avLst/>
            <a:gdLst/>
            <a:ahLst/>
            <a:cxnLst/>
            <a:rect l="l" t="t" r="r" b="b"/>
            <a:pathLst>
              <a:path w="38100" h="1152525">
                <a:moveTo>
                  <a:pt x="38100" y="0"/>
                </a:moveTo>
                <a:lnTo>
                  <a:pt x="38100" y="0"/>
                </a:lnTo>
                <a:lnTo>
                  <a:pt x="38100" y="1152525"/>
                </a:ln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477000" y="28527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429375" y="285273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2852738"/>
            <a:ext cx="3609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La Régression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195638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Prédiction de valeurs continues et lignes d'ajustement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3943350"/>
            <a:ext cx="5581650" cy="1152525"/>
          </a:xfrm>
          <a:custGeom>
            <a:avLst/>
            <a:gdLst/>
            <a:ahLst/>
            <a:cxnLst/>
            <a:rect l="l" t="t" r="r" b="b"/>
            <a:pathLst>
              <a:path w="5581650" h="1152525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76320"/>
                </a:lnTo>
                <a:cubicBezTo>
                  <a:pt x="5581650" y="1118407"/>
                  <a:pt x="5547532" y="1152525"/>
                  <a:pt x="5505445" y="1152525"/>
                </a:cubicBez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00050" y="3943350"/>
            <a:ext cx="38100" cy="1152525"/>
          </a:xfrm>
          <a:custGeom>
            <a:avLst/>
            <a:gdLst/>
            <a:ahLst/>
            <a:cxnLst/>
            <a:rect l="l" t="t" r="r" b="b"/>
            <a:pathLst>
              <a:path w="38100" h="1152525">
                <a:moveTo>
                  <a:pt x="38100" y="0"/>
                </a:moveTo>
                <a:lnTo>
                  <a:pt x="38100" y="0"/>
                </a:lnTo>
                <a:lnTo>
                  <a:pt x="38100" y="1152525"/>
                </a:ln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47700" y="42338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00075" y="423386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57300" y="4233863"/>
            <a:ext cx="3190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Algorithmes Principaux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57300" y="4576763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 logistique, SVM, arbres, forêts, KNN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9350" y="3943350"/>
            <a:ext cx="5581650" cy="1152525"/>
          </a:xfrm>
          <a:custGeom>
            <a:avLst/>
            <a:gdLst/>
            <a:ahLst/>
            <a:cxnLst/>
            <a:rect l="l" t="t" r="r" b="b"/>
            <a:pathLst>
              <a:path w="5581650" h="1152525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76320"/>
                </a:lnTo>
                <a:cubicBezTo>
                  <a:pt x="5581650" y="1118407"/>
                  <a:pt x="5547532" y="1152525"/>
                  <a:pt x="5505445" y="1152525"/>
                </a:cubicBez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229350" y="3943350"/>
            <a:ext cx="38100" cy="1152525"/>
          </a:xfrm>
          <a:custGeom>
            <a:avLst/>
            <a:gdLst/>
            <a:ahLst/>
            <a:cxnLst/>
            <a:rect l="l" t="t" r="r" b="b"/>
            <a:pathLst>
              <a:path w="38100" h="1152525">
                <a:moveTo>
                  <a:pt x="38100" y="0"/>
                </a:moveTo>
                <a:lnTo>
                  <a:pt x="38100" y="0"/>
                </a:lnTo>
                <a:lnTo>
                  <a:pt x="38100" y="1152525"/>
                </a:ln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477000" y="42338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429375" y="423386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86600" y="4233863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Métriques d'Évaluation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4576763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Accuracy, Precision, Recall, F1, MSE, RMSE, R²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5324475"/>
            <a:ext cx="5581650" cy="1152525"/>
          </a:xfrm>
          <a:custGeom>
            <a:avLst/>
            <a:gdLst/>
            <a:ahLst/>
            <a:cxnLst/>
            <a:rect l="l" t="t" r="r" b="b"/>
            <a:pathLst>
              <a:path w="5581650" h="1152525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76320"/>
                </a:lnTo>
                <a:cubicBezTo>
                  <a:pt x="5581650" y="1118407"/>
                  <a:pt x="5547532" y="1152525"/>
                  <a:pt x="5505445" y="1152525"/>
                </a:cubicBez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400050" y="5324475"/>
            <a:ext cx="38100" cy="1152525"/>
          </a:xfrm>
          <a:custGeom>
            <a:avLst/>
            <a:gdLst/>
            <a:ahLst/>
            <a:cxnLst/>
            <a:rect l="l" t="t" r="r" b="b"/>
            <a:pathLst>
              <a:path w="38100" h="1152525">
                <a:moveTo>
                  <a:pt x="38100" y="0"/>
                </a:moveTo>
                <a:lnTo>
                  <a:pt x="38100" y="0"/>
                </a:lnTo>
                <a:lnTo>
                  <a:pt x="38100" y="1152525"/>
                </a:ln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47700" y="56149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00075" y="561498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57300" y="5614988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Biais-Variance et Surapprentissage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57300" y="59578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Compromis fondamental et stratégies d'équilibrage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29350" y="5324475"/>
            <a:ext cx="5581650" cy="1152525"/>
          </a:xfrm>
          <a:custGeom>
            <a:avLst/>
            <a:gdLst/>
            <a:ahLst/>
            <a:cxnLst/>
            <a:rect l="l" t="t" r="r" b="b"/>
            <a:pathLst>
              <a:path w="5581650" h="1152525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76320"/>
                </a:lnTo>
                <a:cubicBezTo>
                  <a:pt x="5581650" y="1118407"/>
                  <a:pt x="5547532" y="1152525"/>
                  <a:pt x="5505445" y="1152525"/>
                </a:cubicBez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229350" y="5324475"/>
            <a:ext cx="38100" cy="1152525"/>
          </a:xfrm>
          <a:custGeom>
            <a:avLst/>
            <a:gdLst/>
            <a:ahLst/>
            <a:cxnLst/>
            <a:rect l="l" t="t" r="r" b="b"/>
            <a:pathLst>
              <a:path w="38100" h="1152525">
                <a:moveTo>
                  <a:pt x="38100" y="0"/>
                </a:moveTo>
                <a:lnTo>
                  <a:pt x="38100" y="0"/>
                </a:lnTo>
                <a:lnTo>
                  <a:pt x="38100" y="1152525"/>
                </a:lnTo>
                <a:lnTo>
                  <a:pt x="38100" y="1152525"/>
                </a:lnTo>
                <a:cubicBezTo>
                  <a:pt x="17072" y="1152525"/>
                  <a:pt x="0" y="1135453"/>
                  <a:pt x="0" y="1114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6477000" y="56149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429375" y="561498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86600" y="5614988"/>
            <a:ext cx="2819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Quand Utiliser Quelle Méthode ?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86600" y="5957888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 pratique de sélection d'algorithmes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0" y="0"/>
                </a:moveTo>
                <a:lnTo>
                  <a:pt x="1038225" y="0"/>
                </a:lnTo>
                <a:lnTo>
                  <a:pt x="1038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1104900" cy="2667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Qu'est-ce que l'Apprentissage Supervisé 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81000" y="1371600"/>
            <a:ext cx="5600700" cy="2571750"/>
          </a:xfrm>
          <a:custGeom>
            <a:avLst/>
            <a:gdLst/>
            <a:ahLst/>
            <a:cxnLst/>
            <a:rect l="l" t="t" r="r" b="b"/>
            <a:pathLst>
              <a:path w="5600700" h="2571750">
                <a:moveTo>
                  <a:pt x="76201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2495549"/>
                </a:lnTo>
                <a:cubicBezTo>
                  <a:pt x="5600700" y="2537634"/>
                  <a:pt x="5566584" y="2571750"/>
                  <a:pt x="5524499" y="2571750"/>
                </a:cubicBezTo>
                <a:lnTo>
                  <a:pt x="76201" y="2571750"/>
                </a:lnTo>
                <a:cubicBezTo>
                  <a:pt x="34116" y="2571750"/>
                  <a:pt x="0" y="2537634"/>
                  <a:pt x="0" y="24955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19125" y="16002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09625" y="156210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Définition Fondamentale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943100"/>
            <a:ext cx="5295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L'apprentissage supervisé</a:t>
            </a: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 une méthode d'apprentissage automatique où un modèle apprend à partir de </a:t>
            </a:r>
            <a:r>
              <a:rPr lang="en-US" sz="12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données étiquetées </a:t>
            </a: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c'est-à-dire des données d'entrée pour lesquelles la sortie correcte est déjà connue.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306705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800" y="3181350"/>
            <a:ext cx="506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"L'objectif est d'apprendre une fonction de mapping qui peut faire des prédictions précises sur de nouvelles données jamais vues."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1000" y="4095750"/>
            <a:ext cx="5600700" cy="2571750"/>
          </a:xfrm>
          <a:custGeom>
            <a:avLst/>
            <a:gdLst/>
            <a:ahLst/>
            <a:cxnLst/>
            <a:rect l="l" t="t" r="r" b="b"/>
            <a:pathLst>
              <a:path w="5600700" h="2571750">
                <a:moveTo>
                  <a:pt x="76201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2495549"/>
                </a:lnTo>
                <a:cubicBezTo>
                  <a:pt x="5600700" y="2537634"/>
                  <a:pt x="5566584" y="2571750"/>
                  <a:pt x="5524499" y="2571750"/>
                </a:cubicBezTo>
                <a:lnTo>
                  <a:pt x="76201" y="2571750"/>
                </a:lnTo>
                <a:cubicBezTo>
                  <a:pt x="34116" y="2571750"/>
                  <a:pt x="0" y="2537634"/>
                  <a:pt x="0" y="24955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71500" y="4324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09625" y="428625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 Processus en 3 Étapes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470213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38163" y="470213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4702135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Entraînement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4930736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modèle apprend à partir des données étiquetées (80% des données)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534340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8163" y="534340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5343406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0600" y="5572006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Ajustement des hyperparamètres et évaluation intermédiaire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500" y="598467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38163" y="5984677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0600" y="5984677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600" y="6213277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Évaluation finale sur données jamais vues (20% des données)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300" y="1371600"/>
            <a:ext cx="5600700" cy="3238500"/>
          </a:xfrm>
          <a:custGeom>
            <a:avLst/>
            <a:gdLst/>
            <a:ahLst/>
            <a:cxnLst/>
            <a:rect l="l" t="t" r="r" b="b"/>
            <a:pathLst>
              <a:path w="5600700" h="3238500">
                <a:moveTo>
                  <a:pt x="76202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3162298"/>
                </a:lnTo>
                <a:cubicBezTo>
                  <a:pt x="5600700" y="3204383"/>
                  <a:pt x="5566583" y="3238500"/>
                  <a:pt x="5524498" y="3238500"/>
                </a:cubicBezTo>
                <a:lnTo>
                  <a:pt x="76202" y="3238500"/>
                </a:lnTo>
                <a:cubicBezTo>
                  <a:pt x="34117" y="3238500"/>
                  <a:pt x="0" y="3204383"/>
                  <a:pt x="0" y="31622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400800" y="1562100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Workflow de l'Apprentissage Supervisé</a:t>
            </a:r>
            <a:endParaRPr lang="en-US" sz="1600" dirty="0"/>
          </a:p>
        </p:txBody>
      </p:sp>
      <p:pic>
        <p:nvPicPr>
          <p:cNvPr id="29" name="Image 0" descr="https://kimi-web-img.moonshot.cn/img/images.prismic.io/e9f5bfdf4c79cfc0614be8af17d89d578dc1e7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81800" y="1943100"/>
            <a:ext cx="4457700" cy="2476500"/>
          </a:xfrm>
          <a:prstGeom prst="roundRect">
            <a:avLst>
              <a:gd name="adj" fmla="val 3077"/>
            </a:avLst>
          </a:prstGeom>
        </p:spPr>
      </p:pic>
      <p:sp>
        <p:nvSpPr>
          <p:cNvPr id="30" name="Shape 27"/>
          <p:cNvSpPr/>
          <p:nvPr/>
        </p:nvSpPr>
        <p:spPr>
          <a:xfrm>
            <a:off x="6210300" y="4762500"/>
            <a:ext cx="5600700" cy="1905000"/>
          </a:xfrm>
          <a:custGeom>
            <a:avLst/>
            <a:gdLst/>
            <a:ahLst/>
            <a:cxnLst/>
            <a:rect l="l" t="t" r="r" b="b"/>
            <a:pathLst>
              <a:path w="5600700" h="19050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828800"/>
                </a:lnTo>
                <a:cubicBezTo>
                  <a:pt x="5600700" y="1870856"/>
                  <a:pt x="5566556" y="1905000"/>
                  <a:pt x="55245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6424613" y="4991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6638925" y="495300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Caractéristiques Clés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19850" y="5372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6705600" y="5334000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Données étiquetées :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Chaque entrée a une sortie connue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419850" y="5676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6705600" y="5638800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 de coût :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Mesure l'erreur entre prédiction et réalité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419850" y="5981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6705600" y="5943600"/>
            <a:ext cx="425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Optimisation :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Minimisation de l'erreur par descente de gradient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198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705600" y="6248400"/>
            <a:ext cx="402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Généralisation :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Capacité à performer sur nouvelles données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889000" cy="222250"/>
          </a:xfrm>
          <a:custGeom>
            <a:avLst/>
            <a:gdLst/>
            <a:ahLst/>
            <a:cxnLst/>
            <a:rect l="l" t="t" r="r" b="b"/>
            <a:pathLst>
              <a:path w="889000" h="222250">
                <a:moveTo>
                  <a:pt x="0" y="0"/>
                </a:moveTo>
                <a:lnTo>
                  <a:pt x="889000" y="0"/>
                </a:lnTo>
                <a:lnTo>
                  <a:pt x="889000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17500" y="317500"/>
            <a:ext cx="944563" cy="222250"/>
          </a:xfrm>
          <a:prstGeom prst="rect">
            <a:avLst/>
          </a:prstGeom>
          <a:noFill/>
          <a:ln/>
        </p:spPr>
        <p:txBody>
          <a:bodyPr wrap="square" lIns="127000" tIns="31750" rIns="1270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032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Les Deux Piliers : Classification vs Régression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17500" y="1158876"/>
            <a:ext cx="5699125" cy="3213100"/>
          </a:xfrm>
          <a:custGeom>
            <a:avLst/>
            <a:gdLst/>
            <a:ahLst/>
            <a:cxnLst/>
            <a:rect l="l" t="t" r="r" b="b"/>
            <a:pathLst>
              <a:path w="5699125" h="3675063">
                <a:moveTo>
                  <a:pt x="31750" y="0"/>
                </a:moveTo>
                <a:lnTo>
                  <a:pt x="5667375" y="0"/>
                </a:lnTo>
                <a:cubicBezTo>
                  <a:pt x="5684910" y="0"/>
                  <a:pt x="5699125" y="14215"/>
                  <a:pt x="5699125" y="31750"/>
                </a:cubicBezTo>
                <a:lnTo>
                  <a:pt x="5699125" y="3611557"/>
                </a:lnTo>
                <a:cubicBezTo>
                  <a:pt x="5699125" y="3646630"/>
                  <a:pt x="5670693" y="3675063"/>
                  <a:pt x="5635620" y="3675063"/>
                </a:cubicBezTo>
                <a:lnTo>
                  <a:pt x="63505" y="3675063"/>
                </a:lnTo>
                <a:cubicBezTo>
                  <a:pt x="28432" y="3675063"/>
                  <a:pt x="0" y="3646630"/>
                  <a:pt x="0" y="361155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7" name="Shape 5"/>
          <p:cNvSpPr/>
          <p:nvPr/>
        </p:nvSpPr>
        <p:spPr>
          <a:xfrm>
            <a:off x="317500" y="115887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76250" y="1333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91344" y="1460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9275" y="14548"/>
                </a:moveTo>
                <a:lnTo>
                  <a:pt x="204415" y="70470"/>
                </a:lnTo>
                <a:cubicBezTo>
                  <a:pt x="214722" y="80925"/>
                  <a:pt x="214722" y="97668"/>
                  <a:pt x="204415" y="108124"/>
                </a:cubicBezTo>
                <a:lnTo>
                  <a:pt x="146224" y="167022"/>
                </a:lnTo>
                <a:cubicBezTo>
                  <a:pt x="142763" y="170520"/>
                  <a:pt x="137108" y="170557"/>
                  <a:pt x="133610" y="167097"/>
                </a:cubicBezTo>
                <a:cubicBezTo>
                  <a:pt x="130113" y="163637"/>
                  <a:pt x="130076" y="157981"/>
                  <a:pt x="133536" y="154484"/>
                </a:cubicBezTo>
                <a:lnTo>
                  <a:pt x="191728" y="95548"/>
                </a:lnTo>
                <a:cubicBezTo>
                  <a:pt x="195151" y="92087"/>
                  <a:pt x="195151" y="86469"/>
                  <a:pt x="191728" y="83009"/>
                </a:cubicBezTo>
                <a:lnTo>
                  <a:pt x="136550" y="27124"/>
                </a:lnTo>
                <a:cubicBezTo>
                  <a:pt x="133090" y="23626"/>
                  <a:pt x="133127" y="17971"/>
                  <a:pt x="136624" y="14511"/>
                </a:cubicBezTo>
                <a:cubicBezTo>
                  <a:pt x="140122" y="11050"/>
                  <a:pt x="145777" y="11088"/>
                  <a:pt x="149237" y="14585"/>
                </a:cubicBezTo>
                <a:close/>
                <a:moveTo>
                  <a:pt x="11943" y="85390"/>
                </a:moveTo>
                <a:lnTo>
                  <a:pt x="11943" y="35719"/>
                </a:lnTo>
                <a:cubicBezTo>
                  <a:pt x="11943" y="22585"/>
                  <a:pt x="22622" y="11906"/>
                  <a:pt x="35756" y="11906"/>
                </a:cubicBezTo>
                <a:lnTo>
                  <a:pt x="85427" y="11906"/>
                </a:lnTo>
                <a:cubicBezTo>
                  <a:pt x="91753" y="11906"/>
                  <a:pt x="97817" y="14399"/>
                  <a:pt x="102282" y="18864"/>
                </a:cubicBezTo>
                <a:lnTo>
                  <a:pt x="155860" y="72442"/>
                </a:lnTo>
                <a:cubicBezTo>
                  <a:pt x="165162" y="81744"/>
                  <a:pt x="165162" y="96813"/>
                  <a:pt x="155860" y="106114"/>
                </a:cubicBezTo>
                <a:lnTo>
                  <a:pt x="106189" y="155786"/>
                </a:lnTo>
                <a:cubicBezTo>
                  <a:pt x="96887" y="165088"/>
                  <a:pt x="81818" y="165088"/>
                  <a:pt x="72517" y="155786"/>
                </a:cubicBezTo>
                <a:lnTo>
                  <a:pt x="18938" y="102208"/>
                </a:lnTo>
                <a:cubicBezTo>
                  <a:pt x="14474" y="97743"/>
                  <a:pt x="11981" y="91678"/>
                  <a:pt x="11981" y="85353"/>
                </a:cubicBezTo>
                <a:close/>
                <a:moveTo>
                  <a:pt x="65522" y="53578"/>
                </a:moveTo>
                <a:cubicBezTo>
                  <a:pt x="65522" y="47007"/>
                  <a:pt x="60187" y="41672"/>
                  <a:pt x="53615" y="41672"/>
                </a:cubicBezTo>
                <a:cubicBezTo>
                  <a:pt x="47044" y="41672"/>
                  <a:pt x="41709" y="47007"/>
                  <a:pt x="41709" y="53578"/>
                </a:cubicBezTo>
                <a:cubicBezTo>
                  <a:pt x="41709" y="60149"/>
                  <a:pt x="47044" y="65484"/>
                  <a:pt x="53615" y="65484"/>
                </a:cubicBezTo>
                <a:cubicBezTo>
                  <a:pt x="60187" y="65484"/>
                  <a:pt x="65522" y="60149"/>
                  <a:pt x="65522" y="535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16000" y="1428750"/>
            <a:ext cx="1119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250" y="1905000"/>
            <a:ext cx="544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 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8586" y="1902619"/>
            <a:ext cx="544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Prédire des </a:t>
            </a:r>
            <a:r>
              <a:rPr lang="en-US" sz="10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catégories discrètes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classes prédéfinies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" y="2194661"/>
            <a:ext cx="544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Sortie 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0750" y="2192280"/>
            <a:ext cx="544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catégorielle (ex: Spam/Non-Spam, Chat/Chien)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6250" y="2523393"/>
            <a:ext cx="5381625" cy="1301750"/>
          </a:xfrm>
          <a:custGeom>
            <a:avLst/>
            <a:gdLst/>
            <a:ahLst/>
            <a:cxnLst/>
            <a:rect l="l" t="t" r="r" b="b"/>
            <a:pathLst>
              <a:path w="5381625" h="130175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1238251"/>
                </a:lnTo>
                <a:cubicBezTo>
                  <a:pt x="5381625" y="1273320"/>
                  <a:pt x="5353195" y="1301750"/>
                  <a:pt x="5318126" y="1301750"/>
                </a:cubicBezTo>
                <a:lnTo>
                  <a:pt x="63499" y="1301750"/>
                </a:lnTo>
                <a:cubicBezTo>
                  <a:pt x="28430" y="1301750"/>
                  <a:pt x="0" y="1273320"/>
                  <a:pt x="0" y="1238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1500" y="261864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Exemples Concrets 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287264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Détection de spam emails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309489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Diagnostic médical (Malade/Sain)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331714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Reconnaissance d'images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353939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Analyse de sentiment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6250" y="4384675"/>
            <a:ext cx="5381625" cy="6350"/>
          </a:xfrm>
          <a:custGeom>
            <a:avLst/>
            <a:gdLst/>
            <a:ahLst/>
            <a:cxnLst/>
            <a:rect l="l" t="t" r="r" b="b"/>
            <a:pathLst>
              <a:path w="5381625" h="6350">
                <a:moveTo>
                  <a:pt x="0" y="0"/>
                </a:moveTo>
                <a:lnTo>
                  <a:pt x="5381625" y="0"/>
                </a:lnTo>
                <a:lnTo>
                  <a:pt x="53816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6250" y="4047393"/>
            <a:ext cx="1184672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 répondue 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28577" y="4047393"/>
            <a:ext cx="2485231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"À quelle catégorie appartient cet élément ?"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5375" y="1158875"/>
            <a:ext cx="5699125" cy="3194051"/>
          </a:xfrm>
          <a:custGeom>
            <a:avLst/>
            <a:gdLst/>
            <a:ahLst/>
            <a:cxnLst/>
            <a:rect l="l" t="t" r="r" b="b"/>
            <a:pathLst>
              <a:path w="5699125" h="3675063">
                <a:moveTo>
                  <a:pt x="31750" y="0"/>
                </a:moveTo>
                <a:lnTo>
                  <a:pt x="5667375" y="0"/>
                </a:lnTo>
                <a:cubicBezTo>
                  <a:pt x="5684910" y="0"/>
                  <a:pt x="5699125" y="14215"/>
                  <a:pt x="5699125" y="31750"/>
                </a:cubicBezTo>
                <a:lnTo>
                  <a:pt x="5699125" y="3611557"/>
                </a:lnTo>
                <a:cubicBezTo>
                  <a:pt x="5699125" y="3646630"/>
                  <a:pt x="5670693" y="3675063"/>
                  <a:pt x="5635620" y="3675063"/>
                </a:cubicBezTo>
                <a:lnTo>
                  <a:pt x="63505" y="3675063"/>
                </a:lnTo>
                <a:cubicBezTo>
                  <a:pt x="28432" y="3675063"/>
                  <a:pt x="0" y="3646630"/>
                  <a:pt x="0" y="361155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175375" y="115887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334125" y="1333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461125" y="1460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873875" y="1428750"/>
            <a:ext cx="92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Régression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4125" y="1905000"/>
            <a:ext cx="544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 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73875" y="1898650"/>
            <a:ext cx="544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Prédire des </a:t>
            </a:r>
            <a:r>
              <a:rPr lang="en-US" sz="1000" dirty="0">
                <a:solidFill>
                  <a:srgbClr val="16A0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valeurs continues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numériques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34125" y="2186845"/>
            <a:ext cx="544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Sortie 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78625" y="2185135"/>
            <a:ext cx="544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numérique continue (ex: 245.5€, 23.7°C)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4125" y="2523393"/>
            <a:ext cx="5381625" cy="1301750"/>
          </a:xfrm>
          <a:custGeom>
            <a:avLst/>
            <a:gdLst/>
            <a:ahLst/>
            <a:cxnLst/>
            <a:rect l="l" t="t" r="r" b="b"/>
            <a:pathLst>
              <a:path w="5381625" h="130175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1238251"/>
                </a:lnTo>
                <a:cubicBezTo>
                  <a:pt x="5381625" y="1273320"/>
                  <a:pt x="5353195" y="1301750"/>
                  <a:pt x="5318126" y="1301750"/>
                </a:cubicBezTo>
                <a:lnTo>
                  <a:pt x="63499" y="1301750"/>
                </a:lnTo>
                <a:cubicBezTo>
                  <a:pt x="28430" y="1301750"/>
                  <a:pt x="0" y="1273320"/>
                  <a:pt x="0" y="1238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429375" y="261864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Exemples Concrets 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29375" y="287264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Prédiction de prix immobiliers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29375" y="309489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Prévisions financières et boursières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29375" y="331714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Estimation de température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29375" y="353939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Prévision de ventes et revenus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4125" y="4384675"/>
            <a:ext cx="5381625" cy="6350"/>
          </a:xfrm>
          <a:custGeom>
            <a:avLst/>
            <a:gdLst/>
            <a:ahLst/>
            <a:cxnLst/>
            <a:rect l="l" t="t" r="r" b="b"/>
            <a:pathLst>
              <a:path w="5381625" h="6350">
                <a:moveTo>
                  <a:pt x="0" y="0"/>
                </a:moveTo>
                <a:lnTo>
                  <a:pt x="5381625" y="0"/>
                </a:lnTo>
                <a:lnTo>
                  <a:pt x="53816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334125" y="4047393"/>
            <a:ext cx="1184672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 répondue 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86451" y="4047393"/>
            <a:ext cx="1954411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"Quelle est la valeur quantitative ?"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17500" y="4506050"/>
            <a:ext cx="11557000" cy="2174875"/>
          </a:xfrm>
          <a:custGeom>
            <a:avLst/>
            <a:gdLst/>
            <a:ahLst/>
            <a:cxnLst/>
            <a:rect l="l" t="t" r="r" b="b"/>
            <a:pathLst>
              <a:path w="11557000" h="2174875">
                <a:moveTo>
                  <a:pt x="63506" y="0"/>
                </a:moveTo>
                <a:lnTo>
                  <a:pt x="11493494" y="0"/>
                </a:lnTo>
                <a:cubicBezTo>
                  <a:pt x="11528567" y="0"/>
                  <a:pt x="11557000" y="28433"/>
                  <a:pt x="11557000" y="63506"/>
                </a:cubicBezTo>
                <a:lnTo>
                  <a:pt x="11557000" y="2111369"/>
                </a:lnTo>
                <a:cubicBezTo>
                  <a:pt x="11557000" y="2146442"/>
                  <a:pt x="11528567" y="2174875"/>
                  <a:pt x="11493494" y="2174875"/>
                </a:cubicBezTo>
                <a:lnTo>
                  <a:pt x="63506" y="2174875"/>
                </a:lnTo>
                <a:cubicBezTo>
                  <a:pt x="28433" y="2174875"/>
                  <a:pt x="0" y="2146442"/>
                  <a:pt x="0" y="2111369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131208"/>
              </p:ext>
            </p:extLst>
          </p:nvPr>
        </p:nvGraphicFramePr>
        <p:xfrm>
          <a:off x="444500" y="4633050"/>
          <a:ext cx="11303000" cy="1920875"/>
        </p:xfrm>
        <a:graphic>
          <a:graphicData uri="http://schemas.openxmlformats.org/drawingml/2006/table">
            <a:tbl>
              <a:tblPr/>
              <a:tblGrid>
                <a:gridCol w="250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5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0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Caractéristique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Classification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Régression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 de Sortie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Catégorielle (discrète)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Numérique (continue)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Objectif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Frontière de décision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Ligne de meilleur ajustement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Métriques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Accuracy, Precision, Recall, F1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MAE, MSE, RMSE, R²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Exemple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Spam vs Non-Spam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Prix = 250 000€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321" y="340321"/>
            <a:ext cx="952899" cy="238225"/>
          </a:xfrm>
          <a:custGeom>
            <a:avLst/>
            <a:gdLst/>
            <a:ahLst/>
            <a:cxnLst/>
            <a:rect l="l" t="t" r="r" b="b"/>
            <a:pathLst>
              <a:path w="952899" h="238225">
                <a:moveTo>
                  <a:pt x="0" y="0"/>
                </a:moveTo>
                <a:lnTo>
                  <a:pt x="952899" y="0"/>
                </a:lnTo>
                <a:lnTo>
                  <a:pt x="952899" y="238225"/>
                </a:lnTo>
                <a:lnTo>
                  <a:pt x="0" y="238225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40321" y="340321"/>
            <a:ext cx="1012455" cy="238225"/>
          </a:xfrm>
          <a:prstGeom prst="rect">
            <a:avLst/>
          </a:prstGeom>
          <a:noFill/>
          <a:ln/>
        </p:spPr>
        <p:txBody>
          <a:bodyPr wrap="square" lIns="136128" tIns="34032" rIns="136128" bIns="34032" rtlCol="0" anchor="ctr"/>
          <a:lstStyle/>
          <a:p>
            <a:pPr>
              <a:lnSpc>
                <a:spcPct val="120000"/>
              </a:lnSpc>
            </a:pPr>
            <a:r>
              <a:rPr lang="en-US" sz="938" b="1" kern="0" spc="4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0321" y="646610"/>
            <a:ext cx="11664502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2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La Classification : Concepts et Applications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0321" y="1054995"/>
            <a:ext cx="816770" cy="34032"/>
          </a:xfrm>
          <a:custGeom>
            <a:avLst/>
            <a:gdLst/>
            <a:ahLst/>
            <a:cxnLst/>
            <a:rect l="l" t="t" r="r" b="b"/>
            <a:pathLst>
              <a:path w="816770" h="34032">
                <a:moveTo>
                  <a:pt x="0" y="0"/>
                </a:moveTo>
                <a:lnTo>
                  <a:pt x="816770" y="0"/>
                </a:lnTo>
                <a:lnTo>
                  <a:pt x="816770" y="34032"/>
                </a:lnTo>
                <a:lnTo>
                  <a:pt x="0" y="34032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40321" y="1225156"/>
            <a:ext cx="6848960" cy="2841680"/>
          </a:xfrm>
          <a:custGeom>
            <a:avLst/>
            <a:gdLst/>
            <a:ahLst/>
            <a:cxnLst/>
            <a:rect l="l" t="t" r="r" b="b"/>
            <a:pathLst>
              <a:path w="6848960" h="2841680">
                <a:moveTo>
                  <a:pt x="68058" y="0"/>
                </a:moveTo>
                <a:lnTo>
                  <a:pt x="6780902" y="0"/>
                </a:lnTo>
                <a:cubicBezTo>
                  <a:pt x="6818490" y="0"/>
                  <a:pt x="6848960" y="30471"/>
                  <a:pt x="6848960" y="68058"/>
                </a:cubicBezTo>
                <a:lnTo>
                  <a:pt x="6848960" y="2773622"/>
                </a:lnTo>
                <a:cubicBezTo>
                  <a:pt x="6848960" y="2811210"/>
                  <a:pt x="6818490" y="2841680"/>
                  <a:pt x="6780902" y="2841680"/>
                </a:cubicBezTo>
                <a:lnTo>
                  <a:pt x="68058" y="2841680"/>
                </a:lnTo>
                <a:cubicBezTo>
                  <a:pt x="30471" y="2841680"/>
                  <a:pt x="0" y="2811210"/>
                  <a:pt x="0" y="2773622"/>
                </a:cubicBezTo>
                <a:lnTo>
                  <a:pt x="0" y="68058"/>
                </a:lnTo>
                <a:cubicBezTo>
                  <a:pt x="0" y="30496"/>
                  <a:pt x="30496" y="0"/>
                  <a:pt x="68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1048" dist="3403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31752" y="1429348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148890" y="85080"/>
                </a:moveTo>
                <a:cubicBezTo>
                  <a:pt x="148890" y="49862"/>
                  <a:pt x="120298" y="21270"/>
                  <a:pt x="85080" y="21270"/>
                </a:cubicBezTo>
                <a:cubicBezTo>
                  <a:pt x="49862" y="21270"/>
                  <a:pt x="21270" y="49862"/>
                  <a:pt x="21270" y="85080"/>
                </a:cubicBezTo>
                <a:cubicBezTo>
                  <a:pt x="21270" y="120298"/>
                  <a:pt x="49862" y="148890"/>
                  <a:pt x="85080" y="148890"/>
                </a:cubicBezTo>
                <a:cubicBezTo>
                  <a:pt x="120298" y="148890"/>
                  <a:pt x="148890" y="120298"/>
                  <a:pt x="148890" y="85080"/>
                </a:cubicBezTo>
                <a:close/>
                <a:moveTo>
                  <a:pt x="0" y="85080"/>
                </a:moveTo>
                <a:cubicBezTo>
                  <a:pt x="0" y="38123"/>
                  <a:pt x="38123" y="0"/>
                  <a:pt x="85080" y="0"/>
                </a:cubicBezTo>
                <a:cubicBezTo>
                  <a:pt x="132037" y="0"/>
                  <a:pt x="170161" y="38123"/>
                  <a:pt x="170161" y="85080"/>
                </a:cubicBezTo>
                <a:cubicBezTo>
                  <a:pt x="170161" y="132037"/>
                  <a:pt x="132037" y="170161"/>
                  <a:pt x="85080" y="170161"/>
                </a:cubicBezTo>
                <a:cubicBezTo>
                  <a:pt x="38123" y="170161"/>
                  <a:pt x="0" y="132037"/>
                  <a:pt x="0" y="85080"/>
                </a:cubicBezTo>
                <a:close/>
                <a:moveTo>
                  <a:pt x="85080" y="111668"/>
                </a:moveTo>
                <a:cubicBezTo>
                  <a:pt x="99754" y="111668"/>
                  <a:pt x="111668" y="99754"/>
                  <a:pt x="111668" y="85080"/>
                </a:cubicBezTo>
                <a:cubicBezTo>
                  <a:pt x="111668" y="70406"/>
                  <a:pt x="99754" y="58493"/>
                  <a:pt x="85080" y="58493"/>
                </a:cubicBezTo>
                <a:cubicBezTo>
                  <a:pt x="70406" y="58493"/>
                  <a:pt x="58493" y="70406"/>
                  <a:pt x="58493" y="85080"/>
                </a:cubicBezTo>
                <a:cubicBezTo>
                  <a:pt x="58493" y="99754"/>
                  <a:pt x="70406" y="111668"/>
                  <a:pt x="85080" y="111668"/>
                </a:cubicBezTo>
                <a:close/>
                <a:moveTo>
                  <a:pt x="85080" y="37223"/>
                </a:moveTo>
                <a:cubicBezTo>
                  <a:pt x="111494" y="37223"/>
                  <a:pt x="132938" y="58667"/>
                  <a:pt x="132938" y="85080"/>
                </a:cubicBezTo>
                <a:cubicBezTo>
                  <a:pt x="132938" y="111494"/>
                  <a:pt x="111494" y="132938"/>
                  <a:pt x="85080" y="132938"/>
                </a:cubicBezTo>
                <a:cubicBezTo>
                  <a:pt x="58667" y="132938"/>
                  <a:pt x="37223" y="111494"/>
                  <a:pt x="37223" y="85080"/>
                </a:cubicBezTo>
                <a:cubicBezTo>
                  <a:pt x="37223" y="58667"/>
                  <a:pt x="58667" y="37223"/>
                  <a:pt x="85080" y="37223"/>
                </a:cubicBezTo>
                <a:close/>
                <a:moveTo>
                  <a:pt x="74445" y="85080"/>
                </a:moveTo>
                <a:cubicBezTo>
                  <a:pt x="74445" y="79211"/>
                  <a:pt x="79211" y="74445"/>
                  <a:pt x="85080" y="74445"/>
                </a:cubicBezTo>
                <a:cubicBezTo>
                  <a:pt x="90950" y="74445"/>
                  <a:pt x="95715" y="79211"/>
                  <a:pt x="95715" y="85080"/>
                </a:cubicBezTo>
                <a:cubicBezTo>
                  <a:pt x="95715" y="90950"/>
                  <a:pt x="90950" y="95715"/>
                  <a:pt x="85080" y="95715"/>
                </a:cubicBezTo>
                <a:cubicBezTo>
                  <a:pt x="79211" y="95715"/>
                  <a:pt x="74445" y="90950"/>
                  <a:pt x="74445" y="8508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23182" y="1395316"/>
            <a:ext cx="6381019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Définition et Objectif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0482" y="1735637"/>
            <a:ext cx="6576703" cy="663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</a:t>
            </a:r>
            <a:r>
              <a:rPr lang="en-US" sz="1072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 une tâche d'apprentissage supervisé où l'objectif est d'attribuer des données d'entrée à des </a:t>
            </a:r>
            <a:r>
              <a:rPr lang="en-US" sz="1072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catégories prédéfinies</a:t>
            </a: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classes. Le modèle apprend une </a:t>
            </a:r>
            <a:r>
              <a:rPr lang="en-US" sz="1072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frontière de décision</a:t>
            </a: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qui sépare les différentes classes dans l'espace des caractéristiques.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0482" y="2501359"/>
            <a:ext cx="3207525" cy="1395316"/>
          </a:xfrm>
          <a:custGeom>
            <a:avLst/>
            <a:gdLst/>
            <a:ahLst/>
            <a:cxnLst/>
            <a:rect l="l" t="t" r="r" b="b"/>
            <a:pathLst>
              <a:path w="3207525" h="1395316">
                <a:moveTo>
                  <a:pt x="68064" y="0"/>
                </a:moveTo>
                <a:lnTo>
                  <a:pt x="3139462" y="0"/>
                </a:lnTo>
                <a:cubicBezTo>
                  <a:pt x="3177052" y="0"/>
                  <a:pt x="3207525" y="30473"/>
                  <a:pt x="3207525" y="68064"/>
                </a:cubicBezTo>
                <a:lnTo>
                  <a:pt x="3207525" y="1327253"/>
                </a:lnTo>
                <a:cubicBezTo>
                  <a:pt x="3207525" y="1364843"/>
                  <a:pt x="3177052" y="1395316"/>
                  <a:pt x="3139462" y="1395316"/>
                </a:cubicBezTo>
                <a:lnTo>
                  <a:pt x="68064" y="1395316"/>
                </a:lnTo>
                <a:cubicBezTo>
                  <a:pt x="30473" y="1395316"/>
                  <a:pt x="0" y="1364843"/>
                  <a:pt x="0" y="1327253"/>
                </a:cubicBezTo>
                <a:lnTo>
                  <a:pt x="0" y="68064"/>
                </a:lnTo>
                <a:cubicBezTo>
                  <a:pt x="0" y="30498"/>
                  <a:pt x="30498" y="0"/>
                  <a:pt x="68064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12578" y="2603456"/>
            <a:ext cx="307139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Binaire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578" y="2875712"/>
            <a:ext cx="307139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Deux classes mutuellement exclusives 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578" y="3113937"/>
            <a:ext cx="307139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Oui / Non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578" y="3352162"/>
            <a:ext cx="307139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Positif / Négatif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578" y="3590387"/>
            <a:ext cx="307139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Classe A / Classe 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7232" y="2501359"/>
            <a:ext cx="3207525" cy="1395316"/>
          </a:xfrm>
          <a:custGeom>
            <a:avLst/>
            <a:gdLst/>
            <a:ahLst/>
            <a:cxnLst/>
            <a:rect l="l" t="t" r="r" b="b"/>
            <a:pathLst>
              <a:path w="3207525" h="1395316">
                <a:moveTo>
                  <a:pt x="68064" y="0"/>
                </a:moveTo>
                <a:lnTo>
                  <a:pt x="3139462" y="0"/>
                </a:lnTo>
                <a:cubicBezTo>
                  <a:pt x="3177052" y="0"/>
                  <a:pt x="3207525" y="30473"/>
                  <a:pt x="3207525" y="68064"/>
                </a:cubicBezTo>
                <a:lnTo>
                  <a:pt x="3207525" y="1327253"/>
                </a:lnTo>
                <a:cubicBezTo>
                  <a:pt x="3207525" y="1364843"/>
                  <a:pt x="3177052" y="1395316"/>
                  <a:pt x="3139462" y="1395316"/>
                </a:cubicBezTo>
                <a:lnTo>
                  <a:pt x="68064" y="1395316"/>
                </a:lnTo>
                <a:cubicBezTo>
                  <a:pt x="30473" y="1395316"/>
                  <a:pt x="0" y="1364843"/>
                  <a:pt x="0" y="1327253"/>
                </a:cubicBezTo>
                <a:lnTo>
                  <a:pt x="0" y="68064"/>
                </a:lnTo>
                <a:cubicBezTo>
                  <a:pt x="0" y="30498"/>
                  <a:pt x="30498" y="0"/>
                  <a:pt x="68064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919328" y="2603456"/>
            <a:ext cx="307139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Multi-Classes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19328" y="2875712"/>
            <a:ext cx="307139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Plus de deux classes 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19328" y="3113937"/>
            <a:ext cx="307139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Chat, Chien, Oiseau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19328" y="3352162"/>
            <a:ext cx="307139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Type de cancer (A, B, C)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19328" y="3590387"/>
            <a:ext cx="307139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Niveau de risque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0321" y="4202964"/>
            <a:ext cx="6848960" cy="2484343"/>
          </a:xfrm>
          <a:custGeom>
            <a:avLst/>
            <a:gdLst/>
            <a:ahLst/>
            <a:cxnLst/>
            <a:rect l="l" t="t" r="r" b="b"/>
            <a:pathLst>
              <a:path w="6848960" h="2484343">
                <a:moveTo>
                  <a:pt x="68071" y="0"/>
                </a:moveTo>
                <a:lnTo>
                  <a:pt x="6780889" y="0"/>
                </a:lnTo>
                <a:cubicBezTo>
                  <a:pt x="6818484" y="0"/>
                  <a:pt x="6848960" y="30476"/>
                  <a:pt x="6848960" y="68071"/>
                </a:cubicBezTo>
                <a:lnTo>
                  <a:pt x="6848960" y="2416272"/>
                </a:lnTo>
                <a:cubicBezTo>
                  <a:pt x="6848960" y="2453867"/>
                  <a:pt x="6818484" y="2484343"/>
                  <a:pt x="6780889" y="2484343"/>
                </a:cubicBezTo>
                <a:lnTo>
                  <a:pt x="68071" y="2484343"/>
                </a:lnTo>
                <a:cubicBezTo>
                  <a:pt x="30476" y="2484343"/>
                  <a:pt x="0" y="2453867"/>
                  <a:pt x="0" y="2416272"/>
                </a:cubicBezTo>
                <a:lnTo>
                  <a:pt x="0" y="68071"/>
                </a:lnTo>
                <a:cubicBezTo>
                  <a:pt x="0" y="30476"/>
                  <a:pt x="30476" y="0"/>
                  <a:pt x="6807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1048" dist="3403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31752" y="4407157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0" y="26588"/>
                </a:moveTo>
                <a:cubicBezTo>
                  <a:pt x="0" y="17780"/>
                  <a:pt x="7145" y="10635"/>
                  <a:pt x="15953" y="10635"/>
                </a:cubicBezTo>
                <a:lnTo>
                  <a:pt x="47858" y="10635"/>
                </a:lnTo>
                <a:cubicBezTo>
                  <a:pt x="56665" y="10635"/>
                  <a:pt x="63810" y="17780"/>
                  <a:pt x="63810" y="26588"/>
                </a:cubicBezTo>
                <a:lnTo>
                  <a:pt x="63810" y="31905"/>
                </a:lnTo>
                <a:lnTo>
                  <a:pt x="106350" y="31905"/>
                </a:lnTo>
                <a:lnTo>
                  <a:pt x="106350" y="26588"/>
                </a:lnTo>
                <a:cubicBezTo>
                  <a:pt x="106350" y="17780"/>
                  <a:pt x="113496" y="10635"/>
                  <a:pt x="122303" y="10635"/>
                </a:cubicBezTo>
                <a:lnTo>
                  <a:pt x="154208" y="10635"/>
                </a:lnTo>
                <a:cubicBezTo>
                  <a:pt x="163015" y="10635"/>
                  <a:pt x="170161" y="17780"/>
                  <a:pt x="170161" y="26588"/>
                </a:cubicBezTo>
                <a:lnTo>
                  <a:pt x="170161" y="58493"/>
                </a:lnTo>
                <a:cubicBezTo>
                  <a:pt x="170161" y="67300"/>
                  <a:pt x="163015" y="74445"/>
                  <a:pt x="154208" y="74445"/>
                </a:cubicBezTo>
                <a:lnTo>
                  <a:pt x="122303" y="74445"/>
                </a:lnTo>
                <a:cubicBezTo>
                  <a:pt x="113496" y="74445"/>
                  <a:pt x="106350" y="67300"/>
                  <a:pt x="106350" y="58493"/>
                </a:cubicBezTo>
                <a:lnTo>
                  <a:pt x="106350" y="53175"/>
                </a:lnTo>
                <a:lnTo>
                  <a:pt x="63810" y="53175"/>
                </a:lnTo>
                <a:lnTo>
                  <a:pt x="63810" y="58493"/>
                </a:lnTo>
                <a:cubicBezTo>
                  <a:pt x="63810" y="60919"/>
                  <a:pt x="63245" y="63245"/>
                  <a:pt x="62281" y="65306"/>
                </a:cubicBezTo>
                <a:lnTo>
                  <a:pt x="85080" y="95715"/>
                </a:lnTo>
                <a:lnTo>
                  <a:pt x="111668" y="95715"/>
                </a:lnTo>
                <a:cubicBezTo>
                  <a:pt x="120475" y="95715"/>
                  <a:pt x="127620" y="102861"/>
                  <a:pt x="127620" y="111668"/>
                </a:cubicBezTo>
                <a:lnTo>
                  <a:pt x="127620" y="143573"/>
                </a:lnTo>
                <a:cubicBezTo>
                  <a:pt x="127620" y="152380"/>
                  <a:pt x="120475" y="159525"/>
                  <a:pt x="111668" y="159525"/>
                </a:cubicBezTo>
                <a:lnTo>
                  <a:pt x="79763" y="159525"/>
                </a:lnTo>
                <a:cubicBezTo>
                  <a:pt x="70956" y="159525"/>
                  <a:pt x="63810" y="152380"/>
                  <a:pt x="63810" y="143573"/>
                </a:cubicBezTo>
                <a:lnTo>
                  <a:pt x="63810" y="111668"/>
                </a:lnTo>
                <a:cubicBezTo>
                  <a:pt x="63810" y="109242"/>
                  <a:pt x="64375" y="106915"/>
                  <a:pt x="65339" y="104855"/>
                </a:cubicBezTo>
                <a:lnTo>
                  <a:pt x="42540" y="74445"/>
                </a:lnTo>
                <a:lnTo>
                  <a:pt x="15953" y="74445"/>
                </a:lnTo>
                <a:cubicBezTo>
                  <a:pt x="7145" y="74445"/>
                  <a:pt x="0" y="67300"/>
                  <a:pt x="0" y="58493"/>
                </a:cubicBezTo>
                <a:lnTo>
                  <a:pt x="0" y="26588"/>
                </a:ln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23182" y="4373125"/>
            <a:ext cx="6381019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Frontière de Décision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0482" y="4713446"/>
            <a:ext cx="6576703" cy="44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</a:t>
            </a:r>
            <a:r>
              <a:rPr lang="en-US" sz="1072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frontière de décision</a:t>
            </a:r>
            <a:r>
              <a:rPr lang="en-US" sz="1072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 la surface qui sépare les différentes classes dans l'espace des caractéristiques. Elle peut être 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0482" y="5257960"/>
            <a:ext cx="2101482" cy="1259188"/>
          </a:xfrm>
          <a:custGeom>
            <a:avLst/>
            <a:gdLst/>
            <a:ahLst/>
            <a:cxnLst/>
            <a:rect l="l" t="t" r="r" b="b"/>
            <a:pathLst>
              <a:path w="2101482" h="1259188">
                <a:moveTo>
                  <a:pt x="68059" y="0"/>
                </a:moveTo>
                <a:lnTo>
                  <a:pt x="2033423" y="0"/>
                </a:lnTo>
                <a:cubicBezTo>
                  <a:pt x="2071011" y="0"/>
                  <a:pt x="2101482" y="30471"/>
                  <a:pt x="2101482" y="68059"/>
                </a:cubicBezTo>
                <a:lnTo>
                  <a:pt x="2101482" y="1191129"/>
                </a:lnTo>
                <a:cubicBezTo>
                  <a:pt x="2101482" y="1228717"/>
                  <a:pt x="2071011" y="1259188"/>
                  <a:pt x="2033423" y="1259188"/>
                </a:cubicBezTo>
                <a:lnTo>
                  <a:pt x="68059" y="1259188"/>
                </a:lnTo>
                <a:cubicBezTo>
                  <a:pt x="30471" y="1259188"/>
                  <a:pt x="0" y="1228717"/>
                  <a:pt x="0" y="1191129"/>
                </a:cubicBezTo>
                <a:lnTo>
                  <a:pt x="0" y="68059"/>
                </a:lnTo>
                <a:cubicBezTo>
                  <a:pt x="0" y="30496"/>
                  <a:pt x="30496" y="0"/>
                  <a:pt x="68059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78546" y="5360056"/>
            <a:ext cx="1965354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Linéaire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578" y="5632313"/>
            <a:ext cx="1897290" cy="544514"/>
          </a:xfrm>
          <a:custGeom>
            <a:avLst/>
            <a:gdLst/>
            <a:ahLst/>
            <a:cxnLst/>
            <a:rect l="l" t="t" r="r" b="b"/>
            <a:pathLst>
              <a:path w="1897290" h="544514">
                <a:moveTo>
                  <a:pt x="34032" y="0"/>
                </a:moveTo>
                <a:lnTo>
                  <a:pt x="1863258" y="0"/>
                </a:lnTo>
                <a:cubicBezTo>
                  <a:pt x="1882053" y="0"/>
                  <a:pt x="1897290" y="15237"/>
                  <a:pt x="1897290" y="34032"/>
                </a:cubicBezTo>
                <a:lnTo>
                  <a:pt x="1897290" y="510482"/>
                </a:lnTo>
                <a:cubicBezTo>
                  <a:pt x="1897290" y="529277"/>
                  <a:pt x="1882053" y="544514"/>
                  <a:pt x="1863258" y="544514"/>
                </a:cubicBez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gradFill flip="none" rotWithShape="1">
            <a:gsLst>
              <a:gs pos="0">
                <a:srgbClr val="DBEAFE"/>
              </a:gs>
              <a:gs pos="100000">
                <a:srgbClr val="FFE2E2"/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 rot="-720000">
            <a:off x="631548" y="5698925"/>
            <a:ext cx="1897290" cy="17016"/>
          </a:xfrm>
          <a:custGeom>
            <a:avLst/>
            <a:gdLst/>
            <a:ahLst/>
            <a:cxnLst/>
            <a:rect l="l" t="t" r="r" b="b"/>
            <a:pathLst>
              <a:path w="1897290" h="17016">
                <a:moveTo>
                  <a:pt x="0" y="0"/>
                </a:moveTo>
                <a:lnTo>
                  <a:pt x="1897290" y="0"/>
                </a:lnTo>
                <a:lnTo>
                  <a:pt x="1897290" y="17016"/>
                </a:lnTo>
                <a:lnTo>
                  <a:pt x="0" y="17016"/>
                </a:lnTo>
                <a:lnTo>
                  <a:pt x="0" y="0"/>
                </a:ln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82800" y="6244890"/>
            <a:ext cx="1956846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8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Séparation par une ligne/droite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14911" y="5257960"/>
            <a:ext cx="2101482" cy="1259188"/>
          </a:xfrm>
          <a:custGeom>
            <a:avLst/>
            <a:gdLst/>
            <a:ahLst/>
            <a:cxnLst/>
            <a:rect l="l" t="t" r="r" b="b"/>
            <a:pathLst>
              <a:path w="2101482" h="1259188">
                <a:moveTo>
                  <a:pt x="68059" y="0"/>
                </a:moveTo>
                <a:lnTo>
                  <a:pt x="2033423" y="0"/>
                </a:lnTo>
                <a:cubicBezTo>
                  <a:pt x="2071011" y="0"/>
                  <a:pt x="2101482" y="30471"/>
                  <a:pt x="2101482" y="68059"/>
                </a:cubicBezTo>
                <a:lnTo>
                  <a:pt x="2101482" y="1191129"/>
                </a:lnTo>
                <a:cubicBezTo>
                  <a:pt x="2101482" y="1228717"/>
                  <a:pt x="2071011" y="1259188"/>
                  <a:pt x="2033423" y="1259188"/>
                </a:cubicBezTo>
                <a:lnTo>
                  <a:pt x="68059" y="1259188"/>
                </a:lnTo>
                <a:cubicBezTo>
                  <a:pt x="30471" y="1259188"/>
                  <a:pt x="0" y="1228717"/>
                  <a:pt x="0" y="1191129"/>
                </a:cubicBezTo>
                <a:lnTo>
                  <a:pt x="0" y="68059"/>
                </a:lnTo>
                <a:cubicBezTo>
                  <a:pt x="0" y="30496"/>
                  <a:pt x="30496" y="0"/>
                  <a:pt x="68059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2782975" y="5360056"/>
            <a:ext cx="1965354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Non-Linéaire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817007" y="5632313"/>
            <a:ext cx="1897290" cy="544514"/>
          </a:xfrm>
          <a:custGeom>
            <a:avLst/>
            <a:gdLst/>
            <a:ahLst/>
            <a:cxnLst/>
            <a:rect l="l" t="t" r="r" b="b"/>
            <a:pathLst>
              <a:path w="1897290" h="544514">
                <a:moveTo>
                  <a:pt x="34032" y="0"/>
                </a:moveTo>
                <a:lnTo>
                  <a:pt x="1863258" y="0"/>
                </a:lnTo>
                <a:cubicBezTo>
                  <a:pt x="1882053" y="0"/>
                  <a:pt x="1897290" y="15237"/>
                  <a:pt x="1897290" y="34032"/>
                </a:cubicBezTo>
                <a:lnTo>
                  <a:pt x="1897290" y="510482"/>
                </a:lnTo>
                <a:cubicBezTo>
                  <a:pt x="1897290" y="529277"/>
                  <a:pt x="1882053" y="544514"/>
                  <a:pt x="1863258" y="544514"/>
                </a:cubicBez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gradFill flip="none" rotWithShape="1">
            <a:gsLst>
              <a:gs pos="0">
                <a:srgbClr val="DBEAFE"/>
              </a:gs>
              <a:gs pos="100000">
                <a:srgbClr val="FFE2E2"/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3432563" y="5571055"/>
            <a:ext cx="668731" cy="668731"/>
          </a:xfrm>
          <a:custGeom>
            <a:avLst/>
            <a:gdLst/>
            <a:ahLst/>
            <a:cxnLst/>
            <a:rect l="l" t="t" r="r" b="b"/>
            <a:pathLst>
              <a:path w="668731" h="668731">
                <a:moveTo>
                  <a:pt x="334365" y="0"/>
                </a:moveTo>
                <a:lnTo>
                  <a:pt x="334365" y="0"/>
                </a:lnTo>
                <a:cubicBezTo>
                  <a:pt x="518907" y="0"/>
                  <a:pt x="668731" y="149824"/>
                  <a:pt x="668731" y="334365"/>
                </a:cubicBezTo>
                <a:lnTo>
                  <a:pt x="668731" y="334365"/>
                </a:lnTo>
                <a:cubicBezTo>
                  <a:pt x="668731" y="518907"/>
                  <a:pt x="518907" y="668731"/>
                  <a:pt x="334365" y="668731"/>
                </a:cubicBezTo>
                <a:lnTo>
                  <a:pt x="334365" y="668731"/>
                </a:lnTo>
                <a:cubicBezTo>
                  <a:pt x="149824" y="668731"/>
                  <a:pt x="0" y="518907"/>
                  <a:pt x="0" y="334365"/>
                </a:cubicBezTo>
                <a:lnTo>
                  <a:pt x="0" y="334365"/>
                </a:lnTo>
                <a:cubicBezTo>
                  <a:pt x="0" y="149824"/>
                  <a:pt x="149824" y="0"/>
                  <a:pt x="33436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787229" y="6244890"/>
            <a:ext cx="1956846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8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Courbes, cercles, formes complexes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19447" y="5257960"/>
            <a:ext cx="2101482" cy="1259188"/>
          </a:xfrm>
          <a:custGeom>
            <a:avLst/>
            <a:gdLst/>
            <a:ahLst/>
            <a:cxnLst/>
            <a:rect l="l" t="t" r="r" b="b"/>
            <a:pathLst>
              <a:path w="2101482" h="1259188">
                <a:moveTo>
                  <a:pt x="68059" y="0"/>
                </a:moveTo>
                <a:lnTo>
                  <a:pt x="2033423" y="0"/>
                </a:lnTo>
                <a:cubicBezTo>
                  <a:pt x="2071011" y="0"/>
                  <a:pt x="2101482" y="30471"/>
                  <a:pt x="2101482" y="68059"/>
                </a:cubicBezTo>
                <a:lnTo>
                  <a:pt x="2101482" y="1191129"/>
                </a:lnTo>
                <a:cubicBezTo>
                  <a:pt x="2101482" y="1228717"/>
                  <a:pt x="2071011" y="1259188"/>
                  <a:pt x="2033423" y="1259188"/>
                </a:cubicBezTo>
                <a:lnTo>
                  <a:pt x="68059" y="1259188"/>
                </a:lnTo>
                <a:cubicBezTo>
                  <a:pt x="30471" y="1259188"/>
                  <a:pt x="0" y="1228717"/>
                  <a:pt x="0" y="1191129"/>
                </a:cubicBezTo>
                <a:lnTo>
                  <a:pt x="0" y="68059"/>
                </a:lnTo>
                <a:cubicBezTo>
                  <a:pt x="0" y="30496"/>
                  <a:pt x="30496" y="0"/>
                  <a:pt x="68059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987511" y="5360056"/>
            <a:ext cx="1965354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21543" y="5632313"/>
            <a:ext cx="1897290" cy="544514"/>
          </a:xfrm>
          <a:custGeom>
            <a:avLst/>
            <a:gdLst/>
            <a:ahLst/>
            <a:cxnLst/>
            <a:rect l="l" t="t" r="r" b="b"/>
            <a:pathLst>
              <a:path w="1897290" h="544514">
                <a:moveTo>
                  <a:pt x="34032" y="0"/>
                </a:moveTo>
                <a:lnTo>
                  <a:pt x="1863258" y="0"/>
                </a:lnTo>
                <a:cubicBezTo>
                  <a:pt x="1882053" y="0"/>
                  <a:pt x="1897290" y="15237"/>
                  <a:pt x="1897290" y="34032"/>
                </a:cubicBezTo>
                <a:lnTo>
                  <a:pt x="1897290" y="510482"/>
                </a:lnTo>
                <a:cubicBezTo>
                  <a:pt x="1897290" y="529277"/>
                  <a:pt x="1882053" y="544514"/>
                  <a:pt x="1863258" y="544514"/>
                </a:cubicBez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gradFill flip="none" rotWithShape="1">
            <a:gsLst>
              <a:gs pos="0">
                <a:srgbClr val="DBEAFE"/>
              </a:gs>
              <a:gs pos="100000">
                <a:srgbClr val="FFE2E2"/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15372" y="5691869"/>
            <a:ext cx="510482" cy="425401"/>
          </a:xfrm>
          <a:prstGeom prst="roundRect">
            <a:avLst>
              <a:gd name="adj" fmla="val 6250"/>
            </a:avLst>
          </a:prstGeom>
        </p:spPr>
      </p:pic>
      <p:sp>
        <p:nvSpPr>
          <p:cNvPr id="40" name="Text 37"/>
          <p:cNvSpPr/>
          <p:nvPr/>
        </p:nvSpPr>
        <p:spPr>
          <a:xfrm>
            <a:off x="4991765" y="6244890"/>
            <a:ext cx="1956846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8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Frontières irrégulières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328175" y="1225156"/>
            <a:ext cx="4526269" cy="2663012"/>
          </a:xfrm>
          <a:custGeom>
            <a:avLst/>
            <a:gdLst/>
            <a:ahLst/>
            <a:cxnLst/>
            <a:rect l="l" t="t" r="r" b="b"/>
            <a:pathLst>
              <a:path w="4526269" h="2663012">
                <a:moveTo>
                  <a:pt x="68067" y="0"/>
                </a:moveTo>
                <a:lnTo>
                  <a:pt x="4458203" y="0"/>
                </a:lnTo>
                <a:cubicBezTo>
                  <a:pt x="4495795" y="0"/>
                  <a:pt x="4526269" y="30474"/>
                  <a:pt x="4526269" y="68067"/>
                </a:cubicBezTo>
                <a:lnTo>
                  <a:pt x="4526269" y="2594945"/>
                </a:lnTo>
                <a:cubicBezTo>
                  <a:pt x="4526269" y="2632537"/>
                  <a:pt x="4495795" y="2663012"/>
                  <a:pt x="4458203" y="2663012"/>
                </a:cubicBezTo>
                <a:lnTo>
                  <a:pt x="68067" y="2663012"/>
                </a:lnTo>
                <a:cubicBezTo>
                  <a:pt x="30474" y="2663012"/>
                  <a:pt x="0" y="2632537"/>
                  <a:pt x="0" y="2594945"/>
                </a:cubicBezTo>
                <a:lnTo>
                  <a:pt x="0" y="68067"/>
                </a:lnTo>
                <a:cubicBezTo>
                  <a:pt x="0" y="30500"/>
                  <a:pt x="30500" y="0"/>
                  <a:pt x="6806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1048" dist="3403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7464303" y="1361284"/>
            <a:ext cx="4330585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Visualisation de la Frontière</a:t>
            </a:r>
            <a:endParaRPr lang="en-US" sz="1600" dirty="0"/>
          </a:p>
        </p:txBody>
      </p:sp>
      <p:pic>
        <p:nvPicPr>
          <p:cNvPr id="43" name="Image 1" descr="https://kimi-web-img.moonshot.cn/img/media.geeksforgeeks.org/42f087df6bd47d85ffba2dbdeda3d24a8e54769c.webp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57951" y="1701605"/>
            <a:ext cx="3062889" cy="1531445"/>
          </a:xfrm>
          <a:prstGeom prst="roundRect">
            <a:avLst>
              <a:gd name="adj" fmla="val 4444"/>
            </a:avLst>
          </a:prstGeom>
        </p:spPr>
      </p:pic>
      <p:sp>
        <p:nvSpPr>
          <p:cNvPr id="44" name="Text 40"/>
          <p:cNvSpPr/>
          <p:nvPr/>
        </p:nvSpPr>
        <p:spPr>
          <a:xfrm>
            <a:off x="7434525" y="3301114"/>
            <a:ext cx="431356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8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Différentes frontières de décision selon la complexité du modèle</a:t>
            </a: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7328175" y="4024296"/>
            <a:ext cx="4526269" cy="2663012"/>
          </a:xfrm>
          <a:custGeom>
            <a:avLst/>
            <a:gdLst/>
            <a:ahLst/>
            <a:cxnLst/>
            <a:rect l="l" t="t" r="r" b="b"/>
            <a:pathLst>
              <a:path w="4526269" h="2663012">
                <a:moveTo>
                  <a:pt x="68067" y="0"/>
                </a:moveTo>
                <a:lnTo>
                  <a:pt x="4458203" y="0"/>
                </a:lnTo>
                <a:cubicBezTo>
                  <a:pt x="4495795" y="0"/>
                  <a:pt x="4526269" y="30474"/>
                  <a:pt x="4526269" y="68067"/>
                </a:cubicBezTo>
                <a:lnTo>
                  <a:pt x="4526269" y="2594945"/>
                </a:lnTo>
                <a:cubicBezTo>
                  <a:pt x="4526269" y="2632537"/>
                  <a:pt x="4495795" y="2663012"/>
                  <a:pt x="4458203" y="2663012"/>
                </a:cubicBezTo>
                <a:lnTo>
                  <a:pt x="68067" y="2663012"/>
                </a:lnTo>
                <a:cubicBezTo>
                  <a:pt x="30474" y="2663012"/>
                  <a:pt x="0" y="2632537"/>
                  <a:pt x="0" y="2594945"/>
                </a:cubicBezTo>
                <a:lnTo>
                  <a:pt x="0" y="68067"/>
                </a:lnTo>
                <a:cubicBezTo>
                  <a:pt x="0" y="30500"/>
                  <a:pt x="30500" y="0"/>
                  <a:pt x="68067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2"/>
          <p:cNvSpPr/>
          <p:nvPr/>
        </p:nvSpPr>
        <p:spPr>
          <a:xfrm>
            <a:off x="7495145" y="4202964"/>
            <a:ext cx="134001" cy="153144"/>
          </a:xfrm>
          <a:custGeom>
            <a:avLst/>
            <a:gdLst/>
            <a:ahLst/>
            <a:cxnLst/>
            <a:rect l="l" t="t" r="r" b="b"/>
            <a:pathLst>
              <a:path w="134001" h="153144">
                <a:moveTo>
                  <a:pt x="86144" y="0"/>
                </a:moveTo>
                <a:lnTo>
                  <a:pt x="38286" y="0"/>
                </a:lnTo>
                <a:cubicBezTo>
                  <a:pt x="32992" y="0"/>
                  <a:pt x="28715" y="4277"/>
                  <a:pt x="28715" y="9572"/>
                </a:cubicBezTo>
                <a:cubicBezTo>
                  <a:pt x="28715" y="14866"/>
                  <a:pt x="32992" y="19143"/>
                  <a:pt x="38286" y="19143"/>
                </a:cubicBezTo>
                <a:lnTo>
                  <a:pt x="38286" y="64458"/>
                </a:lnTo>
                <a:lnTo>
                  <a:pt x="2243" y="127511"/>
                </a:lnTo>
                <a:cubicBezTo>
                  <a:pt x="778" y="130113"/>
                  <a:pt x="0" y="133014"/>
                  <a:pt x="0" y="136005"/>
                </a:cubicBezTo>
                <a:cubicBezTo>
                  <a:pt x="0" y="145487"/>
                  <a:pt x="7657" y="153144"/>
                  <a:pt x="17139" y="153144"/>
                </a:cubicBezTo>
                <a:lnTo>
                  <a:pt x="116862" y="153144"/>
                </a:lnTo>
                <a:cubicBezTo>
                  <a:pt x="126314" y="153144"/>
                  <a:pt x="134001" y="145487"/>
                  <a:pt x="134001" y="136005"/>
                </a:cubicBezTo>
                <a:cubicBezTo>
                  <a:pt x="134001" y="133014"/>
                  <a:pt x="133224" y="130083"/>
                  <a:pt x="131758" y="127511"/>
                </a:cubicBezTo>
                <a:lnTo>
                  <a:pt x="95715" y="64458"/>
                </a:lnTo>
                <a:lnTo>
                  <a:pt x="95715" y="19143"/>
                </a:lnTo>
                <a:cubicBezTo>
                  <a:pt x="101010" y="19143"/>
                  <a:pt x="105287" y="14866"/>
                  <a:pt x="105287" y="9572"/>
                </a:cubicBezTo>
                <a:cubicBezTo>
                  <a:pt x="105287" y="4277"/>
                  <a:pt x="101010" y="0"/>
                  <a:pt x="95715" y="0"/>
                </a:cubicBezTo>
                <a:lnTo>
                  <a:pt x="86144" y="0"/>
                </a:lnTo>
                <a:close/>
                <a:moveTo>
                  <a:pt x="57429" y="64458"/>
                </a:moveTo>
                <a:lnTo>
                  <a:pt x="57429" y="19143"/>
                </a:lnTo>
                <a:lnTo>
                  <a:pt x="76572" y="19143"/>
                </a:lnTo>
                <a:lnTo>
                  <a:pt x="76572" y="64458"/>
                </a:lnTo>
                <a:cubicBezTo>
                  <a:pt x="76572" y="67778"/>
                  <a:pt x="77440" y="71069"/>
                  <a:pt x="79085" y="73970"/>
                </a:cubicBezTo>
                <a:lnTo>
                  <a:pt x="91528" y="95715"/>
                </a:lnTo>
                <a:lnTo>
                  <a:pt x="42474" y="95715"/>
                </a:lnTo>
                <a:lnTo>
                  <a:pt x="54917" y="73970"/>
                </a:lnTo>
                <a:cubicBezTo>
                  <a:pt x="56562" y="71069"/>
                  <a:pt x="57429" y="67808"/>
                  <a:pt x="57429" y="64458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3"/>
          <p:cNvSpPr/>
          <p:nvPr/>
        </p:nvSpPr>
        <p:spPr>
          <a:xfrm>
            <a:off x="7659988" y="4160424"/>
            <a:ext cx="4134900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Applications Réelles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7481319" y="4578381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12762" y="17016"/>
                </a:moveTo>
                <a:cubicBezTo>
                  <a:pt x="5716" y="17016"/>
                  <a:pt x="0" y="22732"/>
                  <a:pt x="0" y="29778"/>
                </a:cubicBezTo>
                <a:cubicBezTo>
                  <a:pt x="0" y="33793"/>
                  <a:pt x="1888" y="37568"/>
                  <a:pt x="5105" y="39988"/>
                </a:cubicBezTo>
                <a:lnTo>
                  <a:pt x="60407" y="81464"/>
                </a:lnTo>
                <a:cubicBezTo>
                  <a:pt x="64953" y="84868"/>
                  <a:pt x="71175" y="84868"/>
                  <a:pt x="75721" y="81464"/>
                </a:cubicBezTo>
                <a:lnTo>
                  <a:pt x="131024" y="39988"/>
                </a:lnTo>
                <a:cubicBezTo>
                  <a:pt x="134241" y="37568"/>
                  <a:pt x="136128" y="33793"/>
                  <a:pt x="136128" y="29778"/>
                </a:cubicBezTo>
                <a:cubicBezTo>
                  <a:pt x="136128" y="22732"/>
                  <a:pt x="130412" y="17016"/>
                  <a:pt x="123366" y="17016"/>
                </a:cubicBezTo>
                <a:lnTo>
                  <a:pt x="12762" y="17016"/>
                </a:lnTo>
                <a:close/>
                <a:moveTo>
                  <a:pt x="0" y="52112"/>
                </a:moveTo>
                <a:lnTo>
                  <a:pt x="0" y="102096"/>
                </a:lnTo>
                <a:cubicBezTo>
                  <a:pt x="0" y="111482"/>
                  <a:pt x="7631" y="119112"/>
                  <a:pt x="17016" y="119112"/>
                </a:cubicBezTo>
                <a:lnTo>
                  <a:pt x="119112" y="119112"/>
                </a:lnTo>
                <a:cubicBezTo>
                  <a:pt x="128498" y="119112"/>
                  <a:pt x="136128" y="111482"/>
                  <a:pt x="136128" y="102096"/>
                </a:cubicBezTo>
                <a:lnTo>
                  <a:pt x="136128" y="52112"/>
                </a:lnTo>
                <a:lnTo>
                  <a:pt x="83379" y="91674"/>
                </a:lnTo>
                <a:cubicBezTo>
                  <a:pt x="74312" y="98480"/>
                  <a:pt x="61816" y="98480"/>
                  <a:pt x="52750" y="91674"/>
                </a:cubicBezTo>
                <a:lnTo>
                  <a:pt x="0" y="52112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5"/>
          <p:cNvSpPr/>
          <p:nvPr/>
        </p:nvSpPr>
        <p:spPr>
          <a:xfrm>
            <a:off x="7702528" y="4544349"/>
            <a:ext cx="169309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Filtrage de Spam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7702528" y="4748542"/>
            <a:ext cx="168458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binaire des emails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7481319" y="5108006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28688"/>
                </a:moveTo>
                <a:lnTo>
                  <a:pt x="64076" y="23158"/>
                </a:lnTo>
                <a:cubicBezTo>
                  <a:pt x="57429" y="13958"/>
                  <a:pt x="46768" y="8508"/>
                  <a:pt x="35388" y="8508"/>
                </a:cubicBezTo>
                <a:cubicBezTo>
                  <a:pt x="15846" y="8508"/>
                  <a:pt x="0" y="24354"/>
                  <a:pt x="0" y="43896"/>
                </a:cubicBezTo>
                <a:lnTo>
                  <a:pt x="0" y="44587"/>
                </a:lnTo>
                <a:cubicBezTo>
                  <a:pt x="0" y="50862"/>
                  <a:pt x="1648" y="57349"/>
                  <a:pt x="4414" y="63810"/>
                </a:cubicBezTo>
                <a:lnTo>
                  <a:pt x="32596" y="63810"/>
                </a:lnTo>
                <a:cubicBezTo>
                  <a:pt x="33447" y="63810"/>
                  <a:pt x="34218" y="63305"/>
                  <a:pt x="34564" y="62507"/>
                </a:cubicBezTo>
                <a:lnTo>
                  <a:pt x="43019" y="42221"/>
                </a:lnTo>
                <a:cubicBezTo>
                  <a:pt x="44002" y="39881"/>
                  <a:pt x="46289" y="38339"/>
                  <a:pt x="48815" y="38286"/>
                </a:cubicBezTo>
                <a:cubicBezTo>
                  <a:pt x="51341" y="38233"/>
                  <a:pt x="53680" y="39722"/>
                  <a:pt x="54717" y="42035"/>
                </a:cubicBezTo>
                <a:lnTo>
                  <a:pt x="68357" y="72318"/>
                </a:lnTo>
                <a:lnTo>
                  <a:pt x="79364" y="50304"/>
                </a:lnTo>
                <a:cubicBezTo>
                  <a:pt x="80454" y="48150"/>
                  <a:pt x="82661" y="46768"/>
                  <a:pt x="85080" y="46768"/>
                </a:cubicBezTo>
                <a:cubicBezTo>
                  <a:pt x="87500" y="46768"/>
                  <a:pt x="89706" y="48124"/>
                  <a:pt x="90797" y="50304"/>
                </a:cubicBezTo>
                <a:lnTo>
                  <a:pt x="96965" y="62614"/>
                </a:lnTo>
                <a:cubicBezTo>
                  <a:pt x="97337" y="63332"/>
                  <a:pt x="98055" y="63784"/>
                  <a:pt x="98879" y="63784"/>
                </a:cubicBezTo>
                <a:lnTo>
                  <a:pt x="131741" y="63784"/>
                </a:lnTo>
                <a:cubicBezTo>
                  <a:pt x="134533" y="57323"/>
                  <a:pt x="136155" y="50835"/>
                  <a:pt x="136155" y="44561"/>
                </a:cubicBezTo>
                <a:lnTo>
                  <a:pt x="136155" y="43870"/>
                </a:lnTo>
                <a:cubicBezTo>
                  <a:pt x="136128" y="24354"/>
                  <a:pt x="120282" y="8508"/>
                  <a:pt x="100740" y="8508"/>
                </a:cubicBezTo>
                <a:cubicBezTo>
                  <a:pt x="89387" y="8508"/>
                  <a:pt x="78699" y="13958"/>
                  <a:pt x="72052" y="23158"/>
                </a:cubicBezTo>
                <a:lnTo>
                  <a:pt x="68064" y="28661"/>
                </a:lnTo>
                <a:close/>
                <a:moveTo>
                  <a:pt x="124855" y="76572"/>
                </a:moveTo>
                <a:lnTo>
                  <a:pt x="98853" y="76572"/>
                </a:lnTo>
                <a:cubicBezTo>
                  <a:pt x="93216" y="76572"/>
                  <a:pt x="88058" y="73382"/>
                  <a:pt x="85532" y="68330"/>
                </a:cubicBezTo>
                <a:lnTo>
                  <a:pt x="85080" y="67426"/>
                </a:lnTo>
                <a:lnTo>
                  <a:pt x="73781" y="90052"/>
                </a:lnTo>
                <a:cubicBezTo>
                  <a:pt x="72690" y="92259"/>
                  <a:pt x="70404" y="93641"/>
                  <a:pt x="67931" y="93588"/>
                </a:cubicBezTo>
                <a:cubicBezTo>
                  <a:pt x="65459" y="93535"/>
                  <a:pt x="63252" y="92073"/>
                  <a:pt x="62242" y="89839"/>
                </a:cubicBezTo>
                <a:lnTo>
                  <a:pt x="49134" y="60726"/>
                </a:lnTo>
                <a:lnTo>
                  <a:pt x="46342" y="67426"/>
                </a:lnTo>
                <a:cubicBezTo>
                  <a:pt x="44029" y="72983"/>
                  <a:pt x="38605" y="76599"/>
                  <a:pt x="32596" y="76599"/>
                </a:cubicBezTo>
                <a:lnTo>
                  <a:pt x="11273" y="76599"/>
                </a:lnTo>
                <a:cubicBezTo>
                  <a:pt x="23822" y="96220"/>
                  <a:pt x="43976" y="114273"/>
                  <a:pt x="56578" y="123898"/>
                </a:cubicBezTo>
                <a:cubicBezTo>
                  <a:pt x="59875" y="126397"/>
                  <a:pt x="63917" y="127647"/>
                  <a:pt x="68038" y="127647"/>
                </a:cubicBezTo>
                <a:cubicBezTo>
                  <a:pt x="72159" y="127647"/>
                  <a:pt x="76227" y="126424"/>
                  <a:pt x="79497" y="123898"/>
                </a:cubicBezTo>
                <a:cubicBezTo>
                  <a:pt x="92153" y="114247"/>
                  <a:pt x="112306" y="96194"/>
                  <a:pt x="124855" y="76572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48"/>
          <p:cNvSpPr/>
          <p:nvPr/>
        </p:nvSpPr>
        <p:spPr>
          <a:xfrm>
            <a:off x="7702528" y="5073973"/>
            <a:ext cx="1216648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Diagnostic Médical</a:t>
            </a: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7702528" y="5278166"/>
            <a:ext cx="120814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Détection de maladies</a:t>
            </a:r>
            <a:endParaRPr lang="en-US" sz="1600" dirty="0"/>
          </a:p>
        </p:txBody>
      </p:sp>
      <p:sp>
        <p:nvSpPr>
          <p:cNvPr id="54" name="Shape 50"/>
          <p:cNvSpPr/>
          <p:nvPr/>
        </p:nvSpPr>
        <p:spPr>
          <a:xfrm>
            <a:off x="7489827" y="5637630"/>
            <a:ext cx="119112" cy="136128"/>
          </a:xfrm>
          <a:custGeom>
            <a:avLst/>
            <a:gdLst/>
            <a:ahLst/>
            <a:cxnLst/>
            <a:rect l="l" t="t" r="r" b="b"/>
            <a:pathLst>
              <a:path w="119112" h="136128">
                <a:moveTo>
                  <a:pt x="17016" y="8508"/>
                </a:moveTo>
                <a:cubicBezTo>
                  <a:pt x="7631" y="8508"/>
                  <a:pt x="0" y="16139"/>
                  <a:pt x="0" y="25524"/>
                </a:cubicBezTo>
                <a:lnTo>
                  <a:pt x="0" y="110604"/>
                </a:lnTo>
                <a:cubicBezTo>
                  <a:pt x="0" y="119990"/>
                  <a:pt x="7631" y="127620"/>
                  <a:pt x="17016" y="127620"/>
                </a:cubicBezTo>
                <a:lnTo>
                  <a:pt x="102096" y="127620"/>
                </a:lnTo>
                <a:cubicBezTo>
                  <a:pt x="111482" y="127620"/>
                  <a:pt x="119112" y="119990"/>
                  <a:pt x="119112" y="110604"/>
                </a:cubicBezTo>
                <a:lnTo>
                  <a:pt x="119112" y="25524"/>
                </a:lnTo>
                <a:cubicBezTo>
                  <a:pt x="119112" y="16139"/>
                  <a:pt x="111482" y="8508"/>
                  <a:pt x="102096" y="8508"/>
                </a:cubicBezTo>
                <a:lnTo>
                  <a:pt x="17016" y="8508"/>
                </a:lnTo>
                <a:close/>
                <a:moveTo>
                  <a:pt x="34032" y="29778"/>
                </a:moveTo>
                <a:cubicBezTo>
                  <a:pt x="41076" y="29778"/>
                  <a:pt x="46794" y="35497"/>
                  <a:pt x="46794" y="42540"/>
                </a:cubicBezTo>
                <a:cubicBezTo>
                  <a:pt x="46794" y="49584"/>
                  <a:pt x="41076" y="55302"/>
                  <a:pt x="34032" y="55302"/>
                </a:cubicBezTo>
                <a:cubicBezTo>
                  <a:pt x="26989" y="55302"/>
                  <a:pt x="21270" y="49584"/>
                  <a:pt x="21270" y="42540"/>
                </a:cubicBezTo>
                <a:cubicBezTo>
                  <a:pt x="21270" y="35497"/>
                  <a:pt x="26989" y="29778"/>
                  <a:pt x="34032" y="29778"/>
                </a:cubicBezTo>
                <a:close/>
                <a:moveTo>
                  <a:pt x="72318" y="59556"/>
                </a:moveTo>
                <a:cubicBezTo>
                  <a:pt x="74552" y="59556"/>
                  <a:pt x="76599" y="60726"/>
                  <a:pt x="77769" y="62614"/>
                </a:cubicBezTo>
                <a:lnTo>
                  <a:pt x="101166" y="100900"/>
                </a:lnTo>
                <a:cubicBezTo>
                  <a:pt x="102362" y="102867"/>
                  <a:pt x="102415" y="105340"/>
                  <a:pt x="101299" y="107361"/>
                </a:cubicBezTo>
                <a:cubicBezTo>
                  <a:pt x="100182" y="109381"/>
                  <a:pt x="98028" y="110604"/>
                  <a:pt x="95715" y="110604"/>
                </a:cubicBezTo>
                <a:lnTo>
                  <a:pt x="23397" y="110604"/>
                </a:lnTo>
                <a:cubicBezTo>
                  <a:pt x="21031" y="110604"/>
                  <a:pt x="18824" y="109275"/>
                  <a:pt x="17734" y="107175"/>
                </a:cubicBezTo>
                <a:cubicBezTo>
                  <a:pt x="16644" y="105074"/>
                  <a:pt x="16803" y="102522"/>
                  <a:pt x="18159" y="100581"/>
                </a:cubicBezTo>
                <a:lnTo>
                  <a:pt x="33048" y="79311"/>
                </a:lnTo>
                <a:cubicBezTo>
                  <a:pt x="34245" y="77609"/>
                  <a:pt x="36186" y="76599"/>
                  <a:pt x="38286" y="76599"/>
                </a:cubicBezTo>
                <a:cubicBezTo>
                  <a:pt x="40387" y="76599"/>
                  <a:pt x="42327" y="77609"/>
                  <a:pt x="43524" y="79311"/>
                </a:cubicBezTo>
                <a:lnTo>
                  <a:pt x="50543" y="89361"/>
                </a:lnTo>
                <a:lnTo>
                  <a:pt x="66868" y="62640"/>
                </a:lnTo>
                <a:cubicBezTo>
                  <a:pt x="68038" y="60753"/>
                  <a:pt x="70085" y="59583"/>
                  <a:pt x="72318" y="59583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1"/>
          <p:cNvSpPr/>
          <p:nvPr/>
        </p:nvSpPr>
        <p:spPr>
          <a:xfrm>
            <a:off x="7702528" y="5603598"/>
            <a:ext cx="1573985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Reconnaissance d'Images</a:t>
            </a:r>
            <a:endParaRPr lang="en-US" sz="1600" dirty="0"/>
          </a:p>
        </p:txBody>
      </p:sp>
      <p:sp>
        <p:nvSpPr>
          <p:cNvPr id="56" name="Text 52"/>
          <p:cNvSpPr/>
          <p:nvPr/>
        </p:nvSpPr>
        <p:spPr>
          <a:xfrm>
            <a:off x="7702528" y="5807791"/>
            <a:ext cx="1565477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Identification d'objets</a:t>
            </a:r>
            <a:endParaRPr lang="en-US" sz="1600" dirty="0"/>
          </a:p>
        </p:txBody>
      </p:sp>
      <p:sp>
        <p:nvSpPr>
          <p:cNvPr id="57" name="Shape 53"/>
          <p:cNvSpPr/>
          <p:nvPr/>
        </p:nvSpPr>
        <p:spPr>
          <a:xfrm>
            <a:off x="7481319" y="6167255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0" y="34032"/>
                </a:moveTo>
                <a:lnTo>
                  <a:pt x="0" y="42540"/>
                </a:lnTo>
                <a:lnTo>
                  <a:pt x="136128" y="42540"/>
                </a:lnTo>
                <a:lnTo>
                  <a:pt x="136128" y="34032"/>
                </a:lnTo>
                <a:cubicBezTo>
                  <a:pt x="136128" y="24647"/>
                  <a:pt x="128498" y="17016"/>
                  <a:pt x="119112" y="17016"/>
                </a:cubicBezTo>
                <a:lnTo>
                  <a:pt x="17016" y="17016"/>
                </a:lnTo>
                <a:cubicBezTo>
                  <a:pt x="7631" y="17016"/>
                  <a:pt x="0" y="24647"/>
                  <a:pt x="0" y="34032"/>
                </a:cubicBezTo>
                <a:close/>
                <a:moveTo>
                  <a:pt x="0" y="55302"/>
                </a:moveTo>
                <a:lnTo>
                  <a:pt x="0" y="102096"/>
                </a:lnTo>
                <a:cubicBezTo>
                  <a:pt x="0" y="111482"/>
                  <a:pt x="7631" y="119112"/>
                  <a:pt x="17016" y="119112"/>
                </a:cubicBezTo>
                <a:lnTo>
                  <a:pt x="119112" y="119112"/>
                </a:lnTo>
                <a:cubicBezTo>
                  <a:pt x="128498" y="119112"/>
                  <a:pt x="136128" y="111482"/>
                  <a:pt x="136128" y="102096"/>
                </a:cubicBezTo>
                <a:lnTo>
                  <a:pt x="136128" y="55302"/>
                </a:lnTo>
                <a:lnTo>
                  <a:pt x="0" y="55302"/>
                </a:lnTo>
                <a:close/>
                <a:moveTo>
                  <a:pt x="17016" y="95715"/>
                </a:moveTo>
                <a:cubicBezTo>
                  <a:pt x="17016" y="92179"/>
                  <a:pt x="19861" y="89334"/>
                  <a:pt x="23397" y="89334"/>
                </a:cubicBezTo>
                <a:lnTo>
                  <a:pt x="36159" y="89334"/>
                </a:lnTo>
                <a:cubicBezTo>
                  <a:pt x="39695" y="89334"/>
                  <a:pt x="42540" y="92179"/>
                  <a:pt x="42540" y="95715"/>
                </a:cubicBezTo>
                <a:cubicBezTo>
                  <a:pt x="42540" y="99251"/>
                  <a:pt x="39695" y="102096"/>
                  <a:pt x="36159" y="102096"/>
                </a:cubicBezTo>
                <a:lnTo>
                  <a:pt x="23397" y="102096"/>
                </a:lnTo>
                <a:cubicBezTo>
                  <a:pt x="19861" y="102096"/>
                  <a:pt x="17016" y="99251"/>
                  <a:pt x="17016" y="95715"/>
                </a:cubicBezTo>
                <a:close/>
                <a:moveTo>
                  <a:pt x="55302" y="95715"/>
                </a:moveTo>
                <a:cubicBezTo>
                  <a:pt x="55302" y="92179"/>
                  <a:pt x="58147" y="89334"/>
                  <a:pt x="61683" y="89334"/>
                </a:cubicBezTo>
                <a:lnTo>
                  <a:pt x="78699" y="89334"/>
                </a:lnTo>
                <a:cubicBezTo>
                  <a:pt x="82235" y="89334"/>
                  <a:pt x="85080" y="92179"/>
                  <a:pt x="85080" y="95715"/>
                </a:cubicBezTo>
                <a:cubicBezTo>
                  <a:pt x="85080" y="99251"/>
                  <a:pt x="82235" y="102096"/>
                  <a:pt x="78699" y="102096"/>
                </a:cubicBezTo>
                <a:lnTo>
                  <a:pt x="61683" y="102096"/>
                </a:lnTo>
                <a:cubicBezTo>
                  <a:pt x="58147" y="102096"/>
                  <a:pt x="55302" y="99251"/>
                  <a:pt x="55302" y="95715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4"/>
          <p:cNvSpPr/>
          <p:nvPr/>
        </p:nvSpPr>
        <p:spPr>
          <a:xfrm>
            <a:off x="7702528" y="6133223"/>
            <a:ext cx="1259188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Détection de Fraude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7702528" y="6337415"/>
            <a:ext cx="125068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Transactions suspectes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6644" y="331467"/>
            <a:ext cx="11685701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Algorithmes de Classification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6644" y="723440"/>
            <a:ext cx="783946" cy="32664"/>
          </a:xfrm>
          <a:custGeom>
            <a:avLst/>
            <a:gdLst/>
            <a:ahLst/>
            <a:cxnLst/>
            <a:rect l="l" t="t" r="r" b="b"/>
            <a:pathLst>
              <a:path w="783946" h="32664">
                <a:moveTo>
                  <a:pt x="0" y="0"/>
                </a:moveTo>
                <a:lnTo>
                  <a:pt x="783946" y="0"/>
                </a:lnTo>
                <a:lnTo>
                  <a:pt x="783946" y="32664"/>
                </a:lnTo>
                <a:lnTo>
                  <a:pt x="0" y="32664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42977" y="886763"/>
            <a:ext cx="3740078" cy="4311705"/>
          </a:xfrm>
          <a:custGeom>
            <a:avLst/>
            <a:gdLst/>
            <a:ahLst/>
            <a:cxnLst/>
            <a:rect l="l" t="t" r="r" b="b"/>
            <a:pathLst>
              <a:path w="3740078" h="4311705">
                <a:moveTo>
                  <a:pt x="32664" y="0"/>
                </a:moveTo>
                <a:lnTo>
                  <a:pt x="3674739" y="0"/>
                </a:lnTo>
                <a:cubicBezTo>
                  <a:pt x="3710824" y="0"/>
                  <a:pt x="3740078" y="29253"/>
                  <a:pt x="3740078" y="65339"/>
                </a:cubicBezTo>
                <a:lnTo>
                  <a:pt x="3740078" y="4246366"/>
                </a:lnTo>
                <a:cubicBezTo>
                  <a:pt x="3740078" y="4282452"/>
                  <a:pt x="3710824" y="4311705"/>
                  <a:pt x="3674739" y="4311705"/>
                </a:cubicBezTo>
                <a:lnTo>
                  <a:pt x="32664" y="4311705"/>
                </a:lnTo>
                <a:cubicBezTo>
                  <a:pt x="14624" y="4311705"/>
                  <a:pt x="0" y="4297081"/>
                  <a:pt x="0" y="4279041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42977" y="886763"/>
            <a:ext cx="32664" cy="4311705"/>
          </a:xfrm>
          <a:custGeom>
            <a:avLst/>
            <a:gdLst/>
            <a:ahLst/>
            <a:cxnLst/>
            <a:rect l="l" t="t" r="r" b="b"/>
            <a:pathLst>
              <a:path w="32664" h="4311705">
                <a:moveTo>
                  <a:pt x="32664" y="0"/>
                </a:moveTo>
                <a:lnTo>
                  <a:pt x="32664" y="0"/>
                </a:lnTo>
                <a:lnTo>
                  <a:pt x="32664" y="4311705"/>
                </a:lnTo>
                <a:lnTo>
                  <a:pt x="32664" y="4311705"/>
                </a:lnTo>
                <a:cubicBezTo>
                  <a:pt x="14624" y="4311705"/>
                  <a:pt x="0" y="4297081"/>
                  <a:pt x="0" y="4279041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89967" y="1017420"/>
            <a:ext cx="326644" cy="326644"/>
          </a:xfrm>
          <a:custGeom>
            <a:avLst/>
            <a:gdLst/>
            <a:ahLst/>
            <a:cxnLst/>
            <a:rect l="l" t="t" r="r" b="b"/>
            <a:pathLst>
              <a:path w="326644" h="326644">
                <a:moveTo>
                  <a:pt x="163322" y="0"/>
                </a:moveTo>
                <a:lnTo>
                  <a:pt x="163322" y="0"/>
                </a:lnTo>
                <a:cubicBezTo>
                  <a:pt x="253462" y="0"/>
                  <a:pt x="326644" y="73182"/>
                  <a:pt x="326644" y="163322"/>
                </a:cubicBezTo>
                <a:lnTo>
                  <a:pt x="326644" y="163322"/>
                </a:lnTo>
                <a:cubicBezTo>
                  <a:pt x="326644" y="253462"/>
                  <a:pt x="253462" y="326644"/>
                  <a:pt x="163322" y="326644"/>
                </a:cubicBezTo>
                <a:lnTo>
                  <a:pt x="163322" y="326644"/>
                </a:lnTo>
                <a:cubicBezTo>
                  <a:pt x="73182" y="326644"/>
                  <a:pt x="0" y="253462"/>
                  <a:pt x="0" y="163322"/>
                </a:cubicBezTo>
                <a:lnTo>
                  <a:pt x="0" y="163322"/>
                </a:lnTo>
                <a:cubicBezTo>
                  <a:pt x="0" y="73182"/>
                  <a:pt x="73182" y="0"/>
                  <a:pt x="163322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3219" y="1017420"/>
            <a:ext cx="400139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1940" y="1066417"/>
            <a:ext cx="1355574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Régression Logistique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9967" y="1442058"/>
            <a:ext cx="3462430" cy="718618"/>
          </a:xfrm>
          <a:custGeom>
            <a:avLst/>
            <a:gdLst/>
            <a:ahLst/>
            <a:cxnLst/>
            <a:rect l="l" t="t" r="r" b="b"/>
            <a:pathLst>
              <a:path w="3462430" h="718618">
                <a:moveTo>
                  <a:pt x="32661" y="0"/>
                </a:moveTo>
                <a:lnTo>
                  <a:pt x="3429769" y="0"/>
                </a:lnTo>
                <a:cubicBezTo>
                  <a:pt x="3447807" y="0"/>
                  <a:pt x="3462430" y="14623"/>
                  <a:pt x="3462430" y="32661"/>
                </a:cubicBezTo>
                <a:lnTo>
                  <a:pt x="3462430" y="685956"/>
                </a:lnTo>
                <a:cubicBezTo>
                  <a:pt x="3462430" y="703995"/>
                  <a:pt x="3447807" y="718618"/>
                  <a:pt x="3429769" y="718618"/>
                </a:cubicBezTo>
                <a:lnTo>
                  <a:pt x="32661" y="718618"/>
                </a:lnTo>
                <a:cubicBezTo>
                  <a:pt x="14623" y="718618"/>
                  <a:pt x="0" y="703995"/>
                  <a:pt x="0" y="685956"/>
                </a:cubicBezTo>
                <a:lnTo>
                  <a:pt x="0" y="32661"/>
                </a:lnTo>
                <a:cubicBezTo>
                  <a:pt x="0" y="14623"/>
                  <a:pt x="14623" y="0"/>
                  <a:pt x="32661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55295" y="1507387"/>
            <a:ext cx="338893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Principe 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5295" y="1703373"/>
            <a:ext cx="3397101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Modèle linéaire utilisant la </a:t>
            </a:r>
            <a:r>
              <a:rPr lang="en-US" sz="1029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 sigmoïde</a:t>
            </a:r>
            <a:r>
              <a:rPr lang="en-US" sz="1029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prédire des probabilités entre 0 et 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9967" y="2226004"/>
            <a:ext cx="3462430" cy="293980"/>
          </a:xfrm>
          <a:custGeom>
            <a:avLst/>
            <a:gdLst/>
            <a:ahLst/>
            <a:cxnLst/>
            <a:rect l="l" t="t" r="r" b="b"/>
            <a:pathLst>
              <a:path w="3462430" h="293980">
                <a:moveTo>
                  <a:pt x="32664" y="0"/>
                </a:moveTo>
                <a:lnTo>
                  <a:pt x="3429766" y="0"/>
                </a:lnTo>
                <a:cubicBezTo>
                  <a:pt x="3447806" y="0"/>
                  <a:pt x="3462430" y="14624"/>
                  <a:pt x="3462430" y="32664"/>
                </a:cubicBezTo>
                <a:lnTo>
                  <a:pt x="3462430" y="261316"/>
                </a:lnTo>
                <a:cubicBezTo>
                  <a:pt x="3462430" y="279356"/>
                  <a:pt x="3447806" y="293980"/>
                  <a:pt x="3429766" y="293980"/>
                </a:cubicBezTo>
                <a:lnTo>
                  <a:pt x="32664" y="293980"/>
                </a:lnTo>
                <a:cubicBezTo>
                  <a:pt x="14624" y="293980"/>
                  <a:pt x="0" y="279356"/>
                  <a:pt x="0" y="261316"/>
                </a:cubicBezTo>
                <a:lnTo>
                  <a:pt x="0" y="32664"/>
                </a:lnTo>
                <a:cubicBezTo>
                  <a:pt x="0" y="14624"/>
                  <a:pt x="14624" y="0"/>
                  <a:pt x="3266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1385" y="2226004"/>
            <a:ext cx="3519593" cy="293980"/>
          </a:xfrm>
          <a:prstGeom prst="rect">
            <a:avLst/>
          </a:prstGeom>
          <a:noFill/>
          <a:ln/>
        </p:spPr>
        <p:txBody>
          <a:bodyPr wrap="square" lIns="65329" tIns="65329" rIns="65329" bIns="65329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P(Y=1|X) = 1/(1+e</a:t>
            </a:r>
            <a:r>
              <a:rPr lang="en-US" sz="675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-z</a:t>
            </a:r>
            <a:r>
              <a:rPr lang="en-US" sz="900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233" y="2588580"/>
            <a:ext cx="3460797" cy="953801"/>
          </a:xfrm>
          <a:custGeom>
            <a:avLst/>
            <a:gdLst/>
            <a:ahLst/>
            <a:cxnLst/>
            <a:rect l="l" t="t" r="r" b="b"/>
            <a:pathLst>
              <a:path w="3460797" h="953801">
                <a:moveTo>
                  <a:pt x="32668" y="0"/>
                </a:moveTo>
                <a:lnTo>
                  <a:pt x="3428129" y="0"/>
                </a:lnTo>
                <a:cubicBezTo>
                  <a:pt x="3446171" y="0"/>
                  <a:pt x="3460797" y="14626"/>
                  <a:pt x="3460797" y="32668"/>
                </a:cubicBezTo>
                <a:lnTo>
                  <a:pt x="3460797" y="921134"/>
                </a:lnTo>
                <a:cubicBezTo>
                  <a:pt x="3460797" y="939176"/>
                  <a:pt x="3446171" y="953801"/>
                  <a:pt x="3428129" y="953801"/>
                </a:cubicBezTo>
                <a:lnTo>
                  <a:pt x="32668" y="953801"/>
                </a:lnTo>
                <a:cubicBezTo>
                  <a:pt x="14626" y="953801"/>
                  <a:pt x="0" y="939176"/>
                  <a:pt x="0" y="921134"/>
                </a:cubicBezTo>
                <a:lnTo>
                  <a:pt x="0" y="32668"/>
                </a:lnTo>
                <a:cubicBezTo>
                  <a:pt x="0" y="14626"/>
                  <a:pt x="14626" y="0"/>
                  <a:pt x="32668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61828" y="2657177"/>
            <a:ext cx="338076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Forces 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1828" y="2820500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Interprétable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1828" y="3049151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Rapide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1828" y="3277802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Bien pour données linéaires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233" y="3614244"/>
            <a:ext cx="3460797" cy="725150"/>
          </a:xfrm>
          <a:custGeom>
            <a:avLst/>
            <a:gdLst/>
            <a:ahLst/>
            <a:cxnLst/>
            <a:rect l="l" t="t" r="r" b="b"/>
            <a:pathLst>
              <a:path w="3460797" h="725150">
                <a:moveTo>
                  <a:pt x="32668" y="0"/>
                </a:moveTo>
                <a:lnTo>
                  <a:pt x="3428129" y="0"/>
                </a:lnTo>
                <a:cubicBezTo>
                  <a:pt x="3446171" y="0"/>
                  <a:pt x="3460797" y="14626"/>
                  <a:pt x="3460797" y="32668"/>
                </a:cubicBezTo>
                <a:lnTo>
                  <a:pt x="3460797" y="692482"/>
                </a:lnTo>
                <a:cubicBezTo>
                  <a:pt x="3460797" y="710524"/>
                  <a:pt x="3446171" y="725150"/>
                  <a:pt x="3428129" y="725150"/>
                </a:cubicBezTo>
                <a:lnTo>
                  <a:pt x="32668" y="725150"/>
                </a:lnTo>
                <a:cubicBezTo>
                  <a:pt x="14638" y="725150"/>
                  <a:pt x="0" y="710512"/>
                  <a:pt x="0" y="692482"/>
                </a:cubicBezTo>
                <a:lnTo>
                  <a:pt x="0" y="32668"/>
                </a:lnTo>
                <a:cubicBezTo>
                  <a:pt x="0" y="14638"/>
                  <a:pt x="14638" y="0"/>
                  <a:pt x="32668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1828" y="3682837"/>
            <a:ext cx="338076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Limites 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1828" y="3846160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Relations non-linéaires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1828" y="4074811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Features corrélées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9967" y="4835894"/>
            <a:ext cx="3462430" cy="6533"/>
          </a:xfrm>
          <a:custGeom>
            <a:avLst/>
            <a:gdLst/>
            <a:ahLst/>
            <a:cxnLst/>
            <a:rect l="l" t="t" r="r" b="b"/>
            <a:pathLst>
              <a:path w="3462430" h="6533">
                <a:moveTo>
                  <a:pt x="0" y="0"/>
                </a:moveTo>
                <a:lnTo>
                  <a:pt x="3462430" y="0"/>
                </a:lnTo>
                <a:lnTo>
                  <a:pt x="3462430" y="6533"/>
                </a:lnTo>
                <a:lnTo>
                  <a:pt x="0" y="653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9967" y="4904488"/>
            <a:ext cx="3519593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d'usage :</a:t>
            </a:r>
            <a:r>
              <a:rPr lang="en-US" sz="9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Spam, churn client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33617" y="886763"/>
            <a:ext cx="3740078" cy="4311705"/>
          </a:xfrm>
          <a:custGeom>
            <a:avLst/>
            <a:gdLst/>
            <a:ahLst/>
            <a:cxnLst/>
            <a:rect l="l" t="t" r="r" b="b"/>
            <a:pathLst>
              <a:path w="3740078" h="4311705">
                <a:moveTo>
                  <a:pt x="32664" y="0"/>
                </a:moveTo>
                <a:lnTo>
                  <a:pt x="3674739" y="0"/>
                </a:lnTo>
                <a:cubicBezTo>
                  <a:pt x="3710824" y="0"/>
                  <a:pt x="3740078" y="29253"/>
                  <a:pt x="3740078" y="65339"/>
                </a:cubicBezTo>
                <a:lnTo>
                  <a:pt x="3740078" y="4246366"/>
                </a:lnTo>
                <a:cubicBezTo>
                  <a:pt x="3740078" y="4282452"/>
                  <a:pt x="3710824" y="4311705"/>
                  <a:pt x="3674739" y="4311705"/>
                </a:cubicBezTo>
                <a:lnTo>
                  <a:pt x="32664" y="4311705"/>
                </a:lnTo>
                <a:cubicBezTo>
                  <a:pt x="14624" y="4311705"/>
                  <a:pt x="0" y="4297081"/>
                  <a:pt x="0" y="4279041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233617" y="886763"/>
            <a:ext cx="32664" cy="4311705"/>
          </a:xfrm>
          <a:custGeom>
            <a:avLst/>
            <a:gdLst/>
            <a:ahLst/>
            <a:cxnLst/>
            <a:rect l="l" t="t" r="r" b="b"/>
            <a:pathLst>
              <a:path w="32664" h="4311705">
                <a:moveTo>
                  <a:pt x="32664" y="0"/>
                </a:moveTo>
                <a:lnTo>
                  <a:pt x="32664" y="0"/>
                </a:lnTo>
                <a:lnTo>
                  <a:pt x="32664" y="4311705"/>
                </a:lnTo>
                <a:lnTo>
                  <a:pt x="32664" y="4311705"/>
                </a:lnTo>
                <a:cubicBezTo>
                  <a:pt x="14624" y="4311705"/>
                  <a:pt x="0" y="4297081"/>
                  <a:pt x="0" y="4279041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380607" y="1017420"/>
            <a:ext cx="326644" cy="326644"/>
          </a:xfrm>
          <a:custGeom>
            <a:avLst/>
            <a:gdLst/>
            <a:ahLst/>
            <a:cxnLst/>
            <a:rect l="l" t="t" r="r" b="b"/>
            <a:pathLst>
              <a:path w="326644" h="326644">
                <a:moveTo>
                  <a:pt x="163322" y="0"/>
                </a:moveTo>
                <a:lnTo>
                  <a:pt x="163322" y="0"/>
                </a:lnTo>
                <a:cubicBezTo>
                  <a:pt x="253462" y="0"/>
                  <a:pt x="326644" y="73182"/>
                  <a:pt x="326644" y="163322"/>
                </a:cubicBezTo>
                <a:lnTo>
                  <a:pt x="326644" y="163322"/>
                </a:lnTo>
                <a:cubicBezTo>
                  <a:pt x="326644" y="253462"/>
                  <a:pt x="253462" y="326644"/>
                  <a:pt x="163322" y="326644"/>
                </a:cubicBezTo>
                <a:lnTo>
                  <a:pt x="163322" y="326644"/>
                </a:lnTo>
                <a:cubicBezTo>
                  <a:pt x="73182" y="326644"/>
                  <a:pt x="0" y="253462"/>
                  <a:pt x="0" y="163322"/>
                </a:cubicBezTo>
                <a:lnTo>
                  <a:pt x="0" y="163322"/>
                </a:lnTo>
                <a:cubicBezTo>
                  <a:pt x="0" y="73182"/>
                  <a:pt x="73182" y="0"/>
                  <a:pt x="163322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343859" y="1017420"/>
            <a:ext cx="400139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72580" y="1066417"/>
            <a:ext cx="33481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SVM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0607" y="1442058"/>
            <a:ext cx="3462430" cy="718618"/>
          </a:xfrm>
          <a:custGeom>
            <a:avLst/>
            <a:gdLst/>
            <a:ahLst/>
            <a:cxnLst/>
            <a:rect l="l" t="t" r="r" b="b"/>
            <a:pathLst>
              <a:path w="3462430" h="718618">
                <a:moveTo>
                  <a:pt x="32661" y="0"/>
                </a:moveTo>
                <a:lnTo>
                  <a:pt x="3429769" y="0"/>
                </a:lnTo>
                <a:cubicBezTo>
                  <a:pt x="3447807" y="0"/>
                  <a:pt x="3462430" y="14623"/>
                  <a:pt x="3462430" y="32661"/>
                </a:cubicBezTo>
                <a:lnTo>
                  <a:pt x="3462430" y="685956"/>
                </a:lnTo>
                <a:cubicBezTo>
                  <a:pt x="3462430" y="703995"/>
                  <a:pt x="3447807" y="718618"/>
                  <a:pt x="3429769" y="718618"/>
                </a:cubicBezTo>
                <a:lnTo>
                  <a:pt x="32661" y="718618"/>
                </a:lnTo>
                <a:cubicBezTo>
                  <a:pt x="14623" y="718618"/>
                  <a:pt x="0" y="703995"/>
                  <a:pt x="0" y="685956"/>
                </a:cubicBezTo>
                <a:lnTo>
                  <a:pt x="0" y="32661"/>
                </a:lnTo>
                <a:cubicBezTo>
                  <a:pt x="0" y="14623"/>
                  <a:pt x="14623" y="0"/>
                  <a:pt x="32661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445936" y="1507387"/>
            <a:ext cx="338893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Principe 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45936" y="1703373"/>
            <a:ext cx="3397101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Trouve l'</a:t>
            </a:r>
            <a:r>
              <a:rPr lang="en-US" sz="1029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hyperplan optimal</a:t>
            </a: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qui maximise la marge entre les classes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80607" y="2226004"/>
            <a:ext cx="3462430" cy="718618"/>
          </a:xfrm>
          <a:custGeom>
            <a:avLst/>
            <a:gdLst/>
            <a:ahLst/>
            <a:cxnLst/>
            <a:rect l="l" t="t" r="r" b="b"/>
            <a:pathLst>
              <a:path w="3462430" h="718618">
                <a:moveTo>
                  <a:pt x="32661" y="0"/>
                </a:moveTo>
                <a:lnTo>
                  <a:pt x="3429769" y="0"/>
                </a:lnTo>
                <a:cubicBezTo>
                  <a:pt x="3447807" y="0"/>
                  <a:pt x="3462430" y="14623"/>
                  <a:pt x="3462430" y="32661"/>
                </a:cubicBezTo>
                <a:lnTo>
                  <a:pt x="3462430" y="685956"/>
                </a:lnTo>
                <a:cubicBezTo>
                  <a:pt x="3462430" y="703995"/>
                  <a:pt x="3447807" y="718618"/>
                  <a:pt x="3429769" y="718618"/>
                </a:cubicBezTo>
                <a:lnTo>
                  <a:pt x="32661" y="718618"/>
                </a:lnTo>
                <a:cubicBezTo>
                  <a:pt x="14623" y="718618"/>
                  <a:pt x="0" y="703995"/>
                  <a:pt x="0" y="685956"/>
                </a:cubicBezTo>
                <a:lnTo>
                  <a:pt x="0" y="32661"/>
                </a:lnTo>
                <a:cubicBezTo>
                  <a:pt x="0" y="14623"/>
                  <a:pt x="14623" y="0"/>
                  <a:pt x="3266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445936" y="2291333"/>
            <a:ext cx="338893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Vectors 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45936" y="2487320"/>
            <a:ext cx="3397101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 les plus proches de la frontière qui définissent la marge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83873" y="3013217"/>
            <a:ext cx="3460797" cy="953801"/>
          </a:xfrm>
          <a:custGeom>
            <a:avLst/>
            <a:gdLst/>
            <a:ahLst/>
            <a:cxnLst/>
            <a:rect l="l" t="t" r="r" b="b"/>
            <a:pathLst>
              <a:path w="3460797" h="953801">
                <a:moveTo>
                  <a:pt x="32668" y="0"/>
                </a:moveTo>
                <a:lnTo>
                  <a:pt x="3428129" y="0"/>
                </a:lnTo>
                <a:cubicBezTo>
                  <a:pt x="3446171" y="0"/>
                  <a:pt x="3460797" y="14626"/>
                  <a:pt x="3460797" y="32668"/>
                </a:cubicBezTo>
                <a:lnTo>
                  <a:pt x="3460797" y="921134"/>
                </a:lnTo>
                <a:cubicBezTo>
                  <a:pt x="3460797" y="939176"/>
                  <a:pt x="3446171" y="953801"/>
                  <a:pt x="3428129" y="953801"/>
                </a:cubicBezTo>
                <a:lnTo>
                  <a:pt x="32668" y="953801"/>
                </a:lnTo>
                <a:cubicBezTo>
                  <a:pt x="14626" y="953801"/>
                  <a:pt x="0" y="939176"/>
                  <a:pt x="0" y="921134"/>
                </a:cubicBezTo>
                <a:lnTo>
                  <a:pt x="0" y="32668"/>
                </a:lnTo>
                <a:cubicBezTo>
                  <a:pt x="0" y="14626"/>
                  <a:pt x="14626" y="0"/>
                  <a:pt x="32668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452468" y="3081815"/>
            <a:ext cx="338076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Forces 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52468" y="3245137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Efficace en haute dimension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52468" y="3473788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Kernels pour non-linéarité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52468" y="3702439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Bonne généralisation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83873" y="4038881"/>
            <a:ext cx="3460797" cy="725150"/>
          </a:xfrm>
          <a:custGeom>
            <a:avLst/>
            <a:gdLst/>
            <a:ahLst/>
            <a:cxnLst/>
            <a:rect l="l" t="t" r="r" b="b"/>
            <a:pathLst>
              <a:path w="3460797" h="725150">
                <a:moveTo>
                  <a:pt x="32668" y="0"/>
                </a:moveTo>
                <a:lnTo>
                  <a:pt x="3428129" y="0"/>
                </a:lnTo>
                <a:cubicBezTo>
                  <a:pt x="3446171" y="0"/>
                  <a:pt x="3460797" y="14626"/>
                  <a:pt x="3460797" y="32668"/>
                </a:cubicBezTo>
                <a:lnTo>
                  <a:pt x="3460797" y="692482"/>
                </a:lnTo>
                <a:cubicBezTo>
                  <a:pt x="3460797" y="710524"/>
                  <a:pt x="3446171" y="725150"/>
                  <a:pt x="3428129" y="725150"/>
                </a:cubicBezTo>
                <a:lnTo>
                  <a:pt x="32668" y="725150"/>
                </a:lnTo>
                <a:cubicBezTo>
                  <a:pt x="14638" y="725150"/>
                  <a:pt x="0" y="710512"/>
                  <a:pt x="0" y="692482"/>
                </a:cubicBezTo>
                <a:lnTo>
                  <a:pt x="0" y="32668"/>
                </a:lnTo>
                <a:cubicBezTo>
                  <a:pt x="0" y="14638"/>
                  <a:pt x="14638" y="0"/>
                  <a:pt x="32668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452468" y="4107475"/>
            <a:ext cx="338076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Limites 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52468" y="4270797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Lent sur grands datasets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52468" y="4499448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Choix du kernel difficile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380607" y="4835894"/>
            <a:ext cx="3462430" cy="6533"/>
          </a:xfrm>
          <a:custGeom>
            <a:avLst/>
            <a:gdLst/>
            <a:ahLst/>
            <a:cxnLst/>
            <a:rect l="l" t="t" r="r" b="b"/>
            <a:pathLst>
              <a:path w="3462430" h="6533">
                <a:moveTo>
                  <a:pt x="0" y="0"/>
                </a:moveTo>
                <a:lnTo>
                  <a:pt x="3462430" y="0"/>
                </a:lnTo>
                <a:lnTo>
                  <a:pt x="3462430" y="6533"/>
                </a:lnTo>
                <a:lnTo>
                  <a:pt x="0" y="653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380607" y="4904488"/>
            <a:ext cx="3519593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d'usage :</a:t>
            </a:r>
            <a:r>
              <a:rPr lang="en-US" sz="9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Bioinformatique, texte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24257" y="886763"/>
            <a:ext cx="3740078" cy="4311705"/>
          </a:xfrm>
          <a:custGeom>
            <a:avLst/>
            <a:gdLst/>
            <a:ahLst/>
            <a:cxnLst/>
            <a:rect l="l" t="t" r="r" b="b"/>
            <a:pathLst>
              <a:path w="3740078" h="4311705">
                <a:moveTo>
                  <a:pt x="32664" y="0"/>
                </a:moveTo>
                <a:lnTo>
                  <a:pt x="3674739" y="0"/>
                </a:lnTo>
                <a:cubicBezTo>
                  <a:pt x="3710824" y="0"/>
                  <a:pt x="3740078" y="29253"/>
                  <a:pt x="3740078" y="65339"/>
                </a:cubicBezTo>
                <a:lnTo>
                  <a:pt x="3740078" y="4246366"/>
                </a:lnTo>
                <a:cubicBezTo>
                  <a:pt x="3740078" y="4282452"/>
                  <a:pt x="3710824" y="4311705"/>
                  <a:pt x="3674739" y="4311705"/>
                </a:cubicBezTo>
                <a:lnTo>
                  <a:pt x="32664" y="4311705"/>
                </a:lnTo>
                <a:cubicBezTo>
                  <a:pt x="14624" y="4311705"/>
                  <a:pt x="0" y="4297081"/>
                  <a:pt x="0" y="4279041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8124257" y="886763"/>
            <a:ext cx="32664" cy="4311705"/>
          </a:xfrm>
          <a:custGeom>
            <a:avLst/>
            <a:gdLst/>
            <a:ahLst/>
            <a:cxnLst/>
            <a:rect l="l" t="t" r="r" b="b"/>
            <a:pathLst>
              <a:path w="32664" h="4311705">
                <a:moveTo>
                  <a:pt x="32664" y="0"/>
                </a:moveTo>
                <a:lnTo>
                  <a:pt x="32664" y="0"/>
                </a:lnTo>
                <a:lnTo>
                  <a:pt x="32664" y="4311705"/>
                </a:lnTo>
                <a:lnTo>
                  <a:pt x="32664" y="4311705"/>
                </a:lnTo>
                <a:cubicBezTo>
                  <a:pt x="14624" y="4311705"/>
                  <a:pt x="0" y="4297081"/>
                  <a:pt x="0" y="4279041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8271247" y="1017420"/>
            <a:ext cx="326644" cy="326644"/>
          </a:xfrm>
          <a:custGeom>
            <a:avLst/>
            <a:gdLst/>
            <a:ahLst/>
            <a:cxnLst/>
            <a:rect l="l" t="t" r="r" b="b"/>
            <a:pathLst>
              <a:path w="326644" h="326644">
                <a:moveTo>
                  <a:pt x="163322" y="0"/>
                </a:moveTo>
                <a:lnTo>
                  <a:pt x="163322" y="0"/>
                </a:lnTo>
                <a:cubicBezTo>
                  <a:pt x="253462" y="0"/>
                  <a:pt x="326644" y="73182"/>
                  <a:pt x="326644" y="163322"/>
                </a:cubicBezTo>
                <a:lnTo>
                  <a:pt x="326644" y="163322"/>
                </a:lnTo>
                <a:cubicBezTo>
                  <a:pt x="326644" y="253462"/>
                  <a:pt x="253462" y="326644"/>
                  <a:pt x="163322" y="326644"/>
                </a:cubicBezTo>
                <a:lnTo>
                  <a:pt x="163322" y="326644"/>
                </a:lnTo>
                <a:cubicBezTo>
                  <a:pt x="73182" y="326644"/>
                  <a:pt x="0" y="253462"/>
                  <a:pt x="0" y="163322"/>
                </a:cubicBezTo>
                <a:lnTo>
                  <a:pt x="0" y="163322"/>
                </a:lnTo>
                <a:cubicBezTo>
                  <a:pt x="0" y="73182"/>
                  <a:pt x="73182" y="0"/>
                  <a:pt x="163322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8234500" y="1017420"/>
            <a:ext cx="400139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663220" y="1066417"/>
            <a:ext cx="115958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Arbres de Décision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71247" y="1442058"/>
            <a:ext cx="3462430" cy="718618"/>
          </a:xfrm>
          <a:custGeom>
            <a:avLst/>
            <a:gdLst/>
            <a:ahLst/>
            <a:cxnLst/>
            <a:rect l="l" t="t" r="r" b="b"/>
            <a:pathLst>
              <a:path w="3462430" h="718618">
                <a:moveTo>
                  <a:pt x="32661" y="0"/>
                </a:moveTo>
                <a:lnTo>
                  <a:pt x="3429769" y="0"/>
                </a:lnTo>
                <a:cubicBezTo>
                  <a:pt x="3447807" y="0"/>
                  <a:pt x="3462430" y="14623"/>
                  <a:pt x="3462430" y="32661"/>
                </a:cubicBezTo>
                <a:lnTo>
                  <a:pt x="3462430" y="685956"/>
                </a:lnTo>
                <a:cubicBezTo>
                  <a:pt x="3462430" y="703995"/>
                  <a:pt x="3447807" y="718618"/>
                  <a:pt x="3429769" y="718618"/>
                </a:cubicBezTo>
                <a:lnTo>
                  <a:pt x="32661" y="718618"/>
                </a:lnTo>
                <a:cubicBezTo>
                  <a:pt x="14623" y="718618"/>
                  <a:pt x="0" y="703995"/>
                  <a:pt x="0" y="685956"/>
                </a:cubicBezTo>
                <a:lnTo>
                  <a:pt x="0" y="32661"/>
                </a:lnTo>
                <a:cubicBezTo>
                  <a:pt x="0" y="14623"/>
                  <a:pt x="14623" y="0"/>
                  <a:pt x="32661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8336576" y="1507387"/>
            <a:ext cx="338893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Principe 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36576" y="1703373"/>
            <a:ext cx="3397101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 arborescente avec </a:t>
            </a:r>
            <a:r>
              <a:rPr lang="en-US" sz="1029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nœuds de décision</a:t>
            </a: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</a:t>
            </a:r>
            <a:r>
              <a:rPr lang="en-US" sz="1029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feuilles</a:t>
            </a: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comme classes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71247" y="2226004"/>
            <a:ext cx="3462430" cy="718618"/>
          </a:xfrm>
          <a:custGeom>
            <a:avLst/>
            <a:gdLst/>
            <a:ahLst/>
            <a:cxnLst/>
            <a:rect l="l" t="t" r="r" b="b"/>
            <a:pathLst>
              <a:path w="3462430" h="718618">
                <a:moveTo>
                  <a:pt x="32661" y="0"/>
                </a:moveTo>
                <a:lnTo>
                  <a:pt x="3429769" y="0"/>
                </a:lnTo>
                <a:cubicBezTo>
                  <a:pt x="3447807" y="0"/>
                  <a:pt x="3462430" y="14623"/>
                  <a:pt x="3462430" y="32661"/>
                </a:cubicBezTo>
                <a:lnTo>
                  <a:pt x="3462430" y="685956"/>
                </a:lnTo>
                <a:cubicBezTo>
                  <a:pt x="3462430" y="703995"/>
                  <a:pt x="3447807" y="718618"/>
                  <a:pt x="3429769" y="718618"/>
                </a:cubicBezTo>
                <a:lnTo>
                  <a:pt x="32661" y="718618"/>
                </a:lnTo>
                <a:cubicBezTo>
                  <a:pt x="14623" y="718618"/>
                  <a:pt x="0" y="703995"/>
                  <a:pt x="0" y="685956"/>
                </a:cubicBezTo>
                <a:lnTo>
                  <a:pt x="0" y="32661"/>
                </a:lnTo>
                <a:cubicBezTo>
                  <a:pt x="0" y="14623"/>
                  <a:pt x="14623" y="0"/>
                  <a:pt x="3266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8336576" y="2291333"/>
            <a:ext cx="338893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Splitting :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36576" y="2487320"/>
            <a:ext cx="3397101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Divise récursivement les données selon la feature qui maximise le gain d'information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74514" y="3013217"/>
            <a:ext cx="3460797" cy="953801"/>
          </a:xfrm>
          <a:custGeom>
            <a:avLst/>
            <a:gdLst/>
            <a:ahLst/>
            <a:cxnLst/>
            <a:rect l="l" t="t" r="r" b="b"/>
            <a:pathLst>
              <a:path w="3460797" h="953801">
                <a:moveTo>
                  <a:pt x="32668" y="0"/>
                </a:moveTo>
                <a:lnTo>
                  <a:pt x="3428129" y="0"/>
                </a:lnTo>
                <a:cubicBezTo>
                  <a:pt x="3446171" y="0"/>
                  <a:pt x="3460797" y="14626"/>
                  <a:pt x="3460797" y="32668"/>
                </a:cubicBezTo>
                <a:lnTo>
                  <a:pt x="3460797" y="921134"/>
                </a:lnTo>
                <a:cubicBezTo>
                  <a:pt x="3460797" y="939176"/>
                  <a:pt x="3446171" y="953801"/>
                  <a:pt x="3428129" y="953801"/>
                </a:cubicBezTo>
                <a:lnTo>
                  <a:pt x="32668" y="953801"/>
                </a:lnTo>
                <a:cubicBezTo>
                  <a:pt x="14626" y="953801"/>
                  <a:pt x="0" y="939176"/>
                  <a:pt x="0" y="921134"/>
                </a:cubicBezTo>
                <a:lnTo>
                  <a:pt x="0" y="32668"/>
                </a:lnTo>
                <a:cubicBezTo>
                  <a:pt x="0" y="14626"/>
                  <a:pt x="14626" y="0"/>
                  <a:pt x="32668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8343109" y="3081815"/>
            <a:ext cx="338076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Forces :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43109" y="3245137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Très interprétable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43109" y="3473788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Gère features mixtes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43109" y="3702439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Pas de normalisation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74514" y="4038881"/>
            <a:ext cx="3460797" cy="725150"/>
          </a:xfrm>
          <a:custGeom>
            <a:avLst/>
            <a:gdLst/>
            <a:ahLst/>
            <a:cxnLst/>
            <a:rect l="l" t="t" r="r" b="b"/>
            <a:pathLst>
              <a:path w="3460797" h="725150">
                <a:moveTo>
                  <a:pt x="32668" y="0"/>
                </a:moveTo>
                <a:lnTo>
                  <a:pt x="3428129" y="0"/>
                </a:lnTo>
                <a:cubicBezTo>
                  <a:pt x="3446171" y="0"/>
                  <a:pt x="3460797" y="14626"/>
                  <a:pt x="3460797" y="32668"/>
                </a:cubicBezTo>
                <a:lnTo>
                  <a:pt x="3460797" y="692482"/>
                </a:lnTo>
                <a:cubicBezTo>
                  <a:pt x="3460797" y="710524"/>
                  <a:pt x="3446171" y="725150"/>
                  <a:pt x="3428129" y="725150"/>
                </a:cubicBezTo>
                <a:lnTo>
                  <a:pt x="32668" y="725150"/>
                </a:lnTo>
                <a:cubicBezTo>
                  <a:pt x="14638" y="725150"/>
                  <a:pt x="0" y="710512"/>
                  <a:pt x="0" y="692482"/>
                </a:cubicBezTo>
                <a:lnTo>
                  <a:pt x="0" y="32668"/>
                </a:lnTo>
                <a:cubicBezTo>
                  <a:pt x="0" y="14638"/>
                  <a:pt x="14638" y="0"/>
                  <a:pt x="32668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8343109" y="4107475"/>
            <a:ext cx="338076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Limites :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43109" y="4270797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Surapprentissage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43109" y="4499448"/>
            <a:ext cx="33889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Instable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71247" y="4835894"/>
            <a:ext cx="3462430" cy="6533"/>
          </a:xfrm>
          <a:custGeom>
            <a:avLst/>
            <a:gdLst/>
            <a:ahLst/>
            <a:cxnLst/>
            <a:rect l="l" t="t" r="r" b="b"/>
            <a:pathLst>
              <a:path w="3462430" h="6533">
                <a:moveTo>
                  <a:pt x="0" y="0"/>
                </a:moveTo>
                <a:lnTo>
                  <a:pt x="3462430" y="0"/>
                </a:lnTo>
                <a:lnTo>
                  <a:pt x="3462430" y="6533"/>
                </a:lnTo>
                <a:lnTo>
                  <a:pt x="0" y="653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8271247" y="4904488"/>
            <a:ext cx="3519593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d'usage :</a:t>
            </a:r>
            <a:r>
              <a:rPr lang="en-US" sz="9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Scoring crédit, médical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2977" y="5329126"/>
            <a:ext cx="3740078" cy="1241248"/>
          </a:xfrm>
          <a:custGeom>
            <a:avLst/>
            <a:gdLst/>
            <a:ahLst/>
            <a:cxnLst/>
            <a:rect l="l" t="t" r="r" b="b"/>
            <a:pathLst>
              <a:path w="3740078" h="1241248">
                <a:moveTo>
                  <a:pt x="32664" y="0"/>
                </a:moveTo>
                <a:lnTo>
                  <a:pt x="3674751" y="0"/>
                </a:lnTo>
                <a:cubicBezTo>
                  <a:pt x="3710830" y="0"/>
                  <a:pt x="3740078" y="29248"/>
                  <a:pt x="3740078" y="65327"/>
                </a:cubicBezTo>
                <a:lnTo>
                  <a:pt x="3740078" y="1175922"/>
                </a:lnTo>
                <a:cubicBezTo>
                  <a:pt x="3740078" y="1212001"/>
                  <a:pt x="3710830" y="1241248"/>
                  <a:pt x="3674751" y="1241248"/>
                </a:cubicBezTo>
                <a:lnTo>
                  <a:pt x="32664" y="1241248"/>
                </a:lnTo>
                <a:cubicBezTo>
                  <a:pt x="14624" y="1241248"/>
                  <a:pt x="0" y="1226624"/>
                  <a:pt x="0" y="120858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342977" y="5329126"/>
            <a:ext cx="32664" cy="1241248"/>
          </a:xfrm>
          <a:custGeom>
            <a:avLst/>
            <a:gdLst/>
            <a:ahLst/>
            <a:cxnLst/>
            <a:rect l="l" t="t" r="r" b="b"/>
            <a:pathLst>
              <a:path w="32664" h="1241248">
                <a:moveTo>
                  <a:pt x="32664" y="0"/>
                </a:moveTo>
                <a:lnTo>
                  <a:pt x="32664" y="0"/>
                </a:lnTo>
                <a:lnTo>
                  <a:pt x="32664" y="1241248"/>
                </a:lnTo>
                <a:lnTo>
                  <a:pt x="32664" y="1241248"/>
                </a:lnTo>
                <a:cubicBezTo>
                  <a:pt x="14624" y="1241248"/>
                  <a:pt x="0" y="1226624"/>
                  <a:pt x="0" y="120858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489967" y="5459783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461385" y="5459783"/>
            <a:ext cx="31847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16611" y="5492448"/>
            <a:ext cx="94726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Forêts Aléatoires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89967" y="5786428"/>
            <a:ext cx="3527759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</a:t>
            </a: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multiples arbres de décision. Vote majoritaire pour la prédiction finale.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489967" y="6243730"/>
            <a:ext cx="1143255" cy="195987"/>
          </a:xfrm>
          <a:custGeom>
            <a:avLst/>
            <a:gdLst/>
            <a:ahLst/>
            <a:cxnLst/>
            <a:rect l="l" t="t" r="r" b="b"/>
            <a:pathLst>
              <a:path w="1143255" h="195987">
                <a:moveTo>
                  <a:pt x="32665" y="0"/>
                </a:moveTo>
                <a:lnTo>
                  <a:pt x="1110590" y="0"/>
                </a:lnTo>
                <a:cubicBezTo>
                  <a:pt x="1128631" y="0"/>
                  <a:pt x="1143255" y="14625"/>
                  <a:pt x="1143255" y="32665"/>
                </a:cubicBezTo>
                <a:lnTo>
                  <a:pt x="1143255" y="163322"/>
                </a:lnTo>
                <a:cubicBezTo>
                  <a:pt x="1143255" y="181362"/>
                  <a:pt x="1128631" y="195987"/>
                  <a:pt x="1110590" y="195987"/>
                </a:cubicBezTo>
                <a:lnTo>
                  <a:pt x="32665" y="195987"/>
                </a:lnTo>
                <a:cubicBezTo>
                  <a:pt x="14625" y="195987"/>
                  <a:pt x="0" y="181362"/>
                  <a:pt x="0" y="163322"/>
                </a:cubicBezTo>
                <a:lnTo>
                  <a:pt x="0" y="32665"/>
                </a:lnTo>
                <a:cubicBezTo>
                  <a:pt x="0" y="14637"/>
                  <a:pt x="14637" y="0"/>
                  <a:pt x="32665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489967" y="6243730"/>
            <a:ext cx="1192252" cy="195987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Réduit surapprentissage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701919" y="6243730"/>
            <a:ext cx="955435" cy="195987"/>
          </a:xfrm>
          <a:custGeom>
            <a:avLst/>
            <a:gdLst/>
            <a:ahLst/>
            <a:cxnLst/>
            <a:rect l="l" t="t" r="r" b="b"/>
            <a:pathLst>
              <a:path w="955435" h="195987">
                <a:moveTo>
                  <a:pt x="32665" y="0"/>
                </a:moveTo>
                <a:lnTo>
                  <a:pt x="922770" y="0"/>
                </a:lnTo>
                <a:cubicBezTo>
                  <a:pt x="940810" y="0"/>
                  <a:pt x="955435" y="14625"/>
                  <a:pt x="955435" y="32665"/>
                </a:cubicBezTo>
                <a:lnTo>
                  <a:pt x="955435" y="163322"/>
                </a:lnTo>
                <a:cubicBezTo>
                  <a:pt x="955435" y="181362"/>
                  <a:pt x="940810" y="195987"/>
                  <a:pt x="922770" y="195987"/>
                </a:cubicBezTo>
                <a:lnTo>
                  <a:pt x="32665" y="195987"/>
                </a:lnTo>
                <a:cubicBezTo>
                  <a:pt x="14625" y="195987"/>
                  <a:pt x="0" y="181362"/>
                  <a:pt x="0" y="163322"/>
                </a:cubicBezTo>
                <a:lnTo>
                  <a:pt x="0" y="32665"/>
                </a:lnTo>
                <a:cubicBezTo>
                  <a:pt x="0" y="14637"/>
                  <a:pt x="14637" y="0"/>
                  <a:pt x="32665" y="0"/>
                </a:cubicBezTo>
                <a:close/>
              </a:path>
            </a:pathLst>
          </a:custGeom>
          <a:solidFill>
            <a:srgbClr val="DBE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1701919" y="6243730"/>
            <a:ext cx="1004431" cy="195987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193C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233617" y="5329126"/>
            <a:ext cx="3740078" cy="1241248"/>
          </a:xfrm>
          <a:custGeom>
            <a:avLst/>
            <a:gdLst/>
            <a:ahLst/>
            <a:cxnLst/>
            <a:rect l="l" t="t" r="r" b="b"/>
            <a:pathLst>
              <a:path w="3740078" h="1241248">
                <a:moveTo>
                  <a:pt x="32664" y="0"/>
                </a:moveTo>
                <a:lnTo>
                  <a:pt x="3674751" y="0"/>
                </a:lnTo>
                <a:cubicBezTo>
                  <a:pt x="3710830" y="0"/>
                  <a:pt x="3740078" y="29248"/>
                  <a:pt x="3740078" y="65327"/>
                </a:cubicBezTo>
                <a:lnTo>
                  <a:pt x="3740078" y="1175922"/>
                </a:lnTo>
                <a:cubicBezTo>
                  <a:pt x="3740078" y="1212001"/>
                  <a:pt x="3710830" y="1241248"/>
                  <a:pt x="3674751" y="1241248"/>
                </a:cubicBezTo>
                <a:lnTo>
                  <a:pt x="32664" y="1241248"/>
                </a:lnTo>
                <a:cubicBezTo>
                  <a:pt x="14624" y="1241248"/>
                  <a:pt x="0" y="1226624"/>
                  <a:pt x="0" y="120858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4233617" y="5329126"/>
            <a:ext cx="32664" cy="1241248"/>
          </a:xfrm>
          <a:custGeom>
            <a:avLst/>
            <a:gdLst/>
            <a:ahLst/>
            <a:cxnLst/>
            <a:rect l="l" t="t" r="r" b="b"/>
            <a:pathLst>
              <a:path w="32664" h="1241248">
                <a:moveTo>
                  <a:pt x="32664" y="0"/>
                </a:moveTo>
                <a:lnTo>
                  <a:pt x="32664" y="0"/>
                </a:lnTo>
                <a:lnTo>
                  <a:pt x="32664" y="1241248"/>
                </a:lnTo>
                <a:lnTo>
                  <a:pt x="32664" y="1241248"/>
                </a:lnTo>
                <a:cubicBezTo>
                  <a:pt x="14624" y="1241248"/>
                  <a:pt x="0" y="1226624"/>
                  <a:pt x="0" y="120858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4380607" y="5459783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Text 82"/>
          <p:cNvSpPr/>
          <p:nvPr/>
        </p:nvSpPr>
        <p:spPr>
          <a:xfrm>
            <a:off x="4352025" y="5459783"/>
            <a:ext cx="31847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4707251" y="5492448"/>
            <a:ext cx="146990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K-Nearest Neighbors (KNN)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4380607" y="5786428"/>
            <a:ext cx="3527759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 un point selon les </a:t>
            </a:r>
            <a:r>
              <a:rPr lang="en-US" sz="1029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voisins les plus proches</a:t>
            </a: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Distance euclidienne ou Manhattan.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4380607" y="6243730"/>
            <a:ext cx="424638" cy="195987"/>
          </a:xfrm>
          <a:custGeom>
            <a:avLst/>
            <a:gdLst/>
            <a:ahLst/>
            <a:cxnLst/>
            <a:rect l="l" t="t" r="r" b="b"/>
            <a:pathLst>
              <a:path w="424638" h="195987">
                <a:moveTo>
                  <a:pt x="32665" y="0"/>
                </a:moveTo>
                <a:lnTo>
                  <a:pt x="391973" y="0"/>
                </a:lnTo>
                <a:cubicBezTo>
                  <a:pt x="410013" y="0"/>
                  <a:pt x="424638" y="14625"/>
                  <a:pt x="424638" y="32665"/>
                </a:cubicBezTo>
                <a:lnTo>
                  <a:pt x="424638" y="163322"/>
                </a:lnTo>
                <a:cubicBezTo>
                  <a:pt x="424638" y="181362"/>
                  <a:pt x="410013" y="195987"/>
                  <a:pt x="391973" y="195987"/>
                </a:cubicBezTo>
                <a:lnTo>
                  <a:pt x="32665" y="195987"/>
                </a:lnTo>
                <a:cubicBezTo>
                  <a:pt x="14625" y="195987"/>
                  <a:pt x="0" y="181362"/>
                  <a:pt x="0" y="163322"/>
                </a:cubicBezTo>
                <a:lnTo>
                  <a:pt x="0" y="32665"/>
                </a:lnTo>
                <a:cubicBezTo>
                  <a:pt x="0" y="14637"/>
                  <a:pt x="14637" y="0"/>
                  <a:pt x="32665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4380607" y="6243730"/>
            <a:ext cx="473634" cy="195987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4867307" y="6243730"/>
            <a:ext cx="718618" cy="195987"/>
          </a:xfrm>
          <a:custGeom>
            <a:avLst/>
            <a:gdLst/>
            <a:ahLst/>
            <a:cxnLst/>
            <a:rect l="l" t="t" r="r" b="b"/>
            <a:pathLst>
              <a:path w="718618" h="195987">
                <a:moveTo>
                  <a:pt x="32665" y="0"/>
                </a:moveTo>
                <a:lnTo>
                  <a:pt x="685952" y="0"/>
                </a:lnTo>
                <a:cubicBezTo>
                  <a:pt x="703993" y="0"/>
                  <a:pt x="718618" y="14625"/>
                  <a:pt x="718618" y="32665"/>
                </a:cubicBezTo>
                <a:lnTo>
                  <a:pt x="718618" y="163322"/>
                </a:lnTo>
                <a:cubicBezTo>
                  <a:pt x="718618" y="181362"/>
                  <a:pt x="703993" y="195987"/>
                  <a:pt x="685952" y="195987"/>
                </a:cubicBezTo>
                <a:lnTo>
                  <a:pt x="32665" y="195987"/>
                </a:lnTo>
                <a:cubicBezTo>
                  <a:pt x="14625" y="195987"/>
                  <a:pt x="0" y="181362"/>
                  <a:pt x="0" y="163322"/>
                </a:cubicBezTo>
                <a:lnTo>
                  <a:pt x="0" y="32665"/>
                </a:lnTo>
                <a:cubicBezTo>
                  <a:pt x="0" y="14637"/>
                  <a:pt x="14637" y="0"/>
                  <a:pt x="32665" y="0"/>
                </a:cubicBezTo>
                <a:close/>
              </a:path>
            </a:pathLst>
          </a:custGeom>
          <a:solidFill>
            <a:srgbClr val="FEF9C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4867307" y="6243730"/>
            <a:ext cx="767614" cy="195987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894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Lent à prédire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124257" y="5329126"/>
            <a:ext cx="3740078" cy="1241248"/>
          </a:xfrm>
          <a:custGeom>
            <a:avLst/>
            <a:gdLst/>
            <a:ahLst/>
            <a:cxnLst/>
            <a:rect l="l" t="t" r="r" b="b"/>
            <a:pathLst>
              <a:path w="3740078" h="1241248">
                <a:moveTo>
                  <a:pt x="32664" y="0"/>
                </a:moveTo>
                <a:lnTo>
                  <a:pt x="3674751" y="0"/>
                </a:lnTo>
                <a:cubicBezTo>
                  <a:pt x="3710830" y="0"/>
                  <a:pt x="3740078" y="29248"/>
                  <a:pt x="3740078" y="65327"/>
                </a:cubicBezTo>
                <a:lnTo>
                  <a:pt x="3740078" y="1175922"/>
                </a:lnTo>
                <a:cubicBezTo>
                  <a:pt x="3740078" y="1212001"/>
                  <a:pt x="3710830" y="1241248"/>
                  <a:pt x="3674751" y="1241248"/>
                </a:cubicBezTo>
                <a:lnTo>
                  <a:pt x="32664" y="1241248"/>
                </a:lnTo>
                <a:cubicBezTo>
                  <a:pt x="14624" y="1241248"/>
                  <a:pt x="0" y="1226624"/>
                  <a:pt x="0" y="120858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2" name="Shape 90"/>
          <p:cNvSpPr/>
          <p:nvPr/>
        </p:nvSpPr>
        <p:spPr>
          <a:xfrm>
            <a:off x="8124257" y="5329126"/>
            <a:ext cx="32664" cy="1241248"/>
          </a:xfrm>
          <a:custGeom>
            <a:avLst/>
            <a:gdLst/>
            <a:ahLst/>
            <a:cxnLst/>
            <a:rect l="l" t="t" r="r" b="b"/>
            <a:pathLst>
              <a:path w="32664" h="1241248">
                <a:moveTo>
                  <a:pt x="32664" y="0"/>
                </a:moveTo>
                <a:lnTo>
                  <a:pt x="32664" y="0"/>
                </a:lnTo>
                <a:lnTo>
                  <a:pt x="32664" y="1241248"/>
                </a:lnTo>
                <a:lnTo>
                  <a:pt x="32664" y="1241248"/>
                </a:lnTo>
                <a:cubicBezTo>
                  <a:pt x="14624" y="1241248"/>
                  <a:pt x="0" y="1226624"/>
                  <a:pt x="0" y="120858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3" name="Shape 91"/>
          <p:cNvSpPr/>
          <p:nvPr/>
        </p:nvSpPr>
        <p:spPr>
          <a:xfrm>
            <a:off x="8271247" y="5459783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4" name="Text 92"/>
          <p:cNvSpPr/>
          <p:nvPr/>
        </p:nvSpPr>
        <p:spPr>
          <a:xfrm>
            <a:off x="8242666" y="5459783"/>
            <a:ext cx="31847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8597891" y="5492448"/>
            <a:ext cx="677787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Naive Bayes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8271247" y="5786428"/>
            <a:ext cx="3527759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Classificateur probabiliste basé sur le </a:t>
            </a:r>
            <a:r>
              <a:rPr lang="en-US" sz="1029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théorème de Bayes</a:t>
            </a:r>
            <a:r>
              <a:rPr lang="en-US" sz="1029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Hypothèse d'indépendance des features.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8271247" y="6243730"/>
            <a:ext cx="604292" cy="195987"/>
          </a:xfrm>
          <a:custGeom>
            <a:avLst/>
            <a:gdLst/>
            <a:ahLst/>
            <a:cxnLst/>
            <a:rect l="l" t="t" r="r" b="b"/>
            <a:pathLst>
              <a:path w="604292" h="195987">
                <a:moveTo>
                  <a:pt x="32665" y="0"/>
                </a:moveTo>
                <a:lnTo>
                  <a:pt x="571627" y="0"/>
                </a:lnTo>
                <a:cubicBezTo>
                  <a:pt x="589667" y="0"/>
                  <a:pt x="604292" y="14625"/>
                  <a:pt x="604292" y="32665"/>
                </a:cubicBezTo>
                <a:lnTo>
                  <a:pt x="604292" y="163322"/>
                </a:lnTo>
                <a:cubicBezTo>
                  <a:pt x="604292" y="181362"/>
                  <a:pt x="589667" y="195987"/>
                  <a:pt x="571627" y="195987"/>
                </a:cubicBezTo>
                <a:lnTo>
                  <a:pt x="32665" y="195987"/>
                </a:lnTo>
                <a:cubicBezTo>
                  <a:pt x="14625" y="195987"/>
                  <a:pt x="0" y="181362"/>
                  <a:pt x="0" y="163322"/>
                </a:cubicBezTo>
                <a:lnTo>
                  <a:pt x="0" y="32665"/>
                </a:lnTo>
                <a:cubicBezTo>
                  <a:pt x="0" y="14637"/>
                  <a:pt x="14637" y="0"/>
                  <a:pt x="32665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8" name="Text 96"/>
          <p:cNvSpPr/>
          <p:nvPr/>
        </p:nvSpPr>
        <p:spPr>
          <a:xfrm>
            <a:off x="8271247" y="6243730"/>
            <a:ext cx="653289" cy="195987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Très rapide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8941583" y="6243730"/>
            <a:ext cx="367475" cy="195987"/>
          </a:xfrm>
          <a:custGeom>
            <a:avLst/>
            <a:gdLst/>
            <a:ahLst/>
            <a:cxnLst/>
            <a:rect l="l" t="t" r="r" b="b"/>
            <a:pathLst>
              <a:path w="367475" h="195987">
                <a:moveTo>
                  <a:pt x="32665" y="0"/>
                </a:moveTo>
                <a:lnTo>
                  <a:pt x="334810" y="0"/>
                </a:lnTo>
                <a:cubicBezTo>
                  <a:pt x="352850" y="0"/>
                  <a:pt x="367475" y="14625"/>
                  <a:pt x="367475" y="32665"/>
                </a:cubicBezTo>
                <a:lnTo>
                  <a:pt x="367475" y="163322"/>
                </a:lnTo>
                <a:cubicBezTo>
                  <a:pt x="367475" y="181362"/>
                  <a:pt x="352850" y="195987"/>
                  <a:pt x="334810" y="195987"/>
                </a:cubicBezTo>
                <a:lnTo>
                  <a:pt x="32665" y="195987"/>
                </a:lnTo>
                <a:cubicBezTo>
                  <a:pt x="14625" y="195987"/>
                  <a:pt x="0" y="181362"/>
                  <a:pt x="0" y="163322"/>
                </a:cubicBezTo>
                <a:lnTo>
                  <a:pt x="0" y="32665"/>
                </a:lnTo>
                <a:cubicBezTo>
                  <a:pt x="0" y="14637"/>
                  <a:pt x="14637" y="0"/>
                  <a:pt x="32665" y="0"/>
                </a:cubicBezTo>
                <a:close/>
              </a:path>
            </a:pathLst>
          </a:custGeom>
          <a:solidFill>
            <a:srgbClr val="DBE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0" name="Text 98"/>
          <p:cNvSpPr/>
          <p:nvPr/>
        </p:nvSpPr>
        <p:spPr>
          <a:xfrm>
            <a:off x="8941583" y="6243730"/>
            <a:ext cx="416472" cy="195987"/>
          </a:xfrm>
          <a:prstGeom prst="rect">
            <a:avLst/>
          </a:prstGeom>
          <a:noFill/>
          <a:ln/>
        </p:spPr>
        <p:txBody>
          <a:bodyPr wrap="square" lIns="65329" tIns="32664" rIns="65329" bIns="32664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193C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977" y="360977"/>
            <a:ext cx="1010736" cy="252684"/>
          </a:xfrm>
          <a:custGeom>
            <a:avLst/>
            <a:gdLst/>
            <a:ahLst/>
            <a:cxnLst/>
            <a:rect l="l" t="t" r="r" b="b"/>
            <a:pathLst>
              <a:path w="1010736" h="252684">
                <a:moveTo>
                  <a:pt x="0" y="0"/>
                </a:moveTo>
                <a:lnTo>
                  <a:pt x="1010736" y="0"/>
                </a:lnTo>
                <a:lnTo>
                  <a:pt x="1010736" y="252684"/>
                </a:lnTo>
                <a:lnTo>
                  <a:pt x="0" y="252684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0977" y="360977"/>
            <a:ext cx="1073907" cy="252684"/>
          </a:xfrm>
          <a:prstGeom prst="rect">
            <a:avLst/>
          </a:prstGeom>
          <a:noFill/>
          <a:ln/>
        </p:spPr>
        <p:txBody>
          <a:bodyPr wrap="square" lIns="144391" tIns="36098" rIns="144391" bIns="36098" rtlCol="0" anchor="ctr"/>
          <a:lstStyle/>
          <a:p>
            <a:pPr>
              <a:lnSpc>
                <a:spcPct val="120000"/>
              </a:lnSpc>
            </a:pPr>
            <a:r>
              <a:rPr lang="en-US" sz="995" b="1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0977" y="685856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La Régression : Concepts et Applications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977" y="1119029"/>
            <a:ext cx="866345" cy="36098"/>
          </a:xfrm>
          <a:custGeom>
            <a:avLst/>
            <a:gdLst/>
            <a:ahLst/>
            <a:cxnLst/>
            <a:rect l="l" t="t" r="r" b="b"/>
            <a:pathLst>
              <a:path w="866345" h="36098">
                <a:moveTo>
                  <a:pt x="0" y="0"/>
                </a:moveTo>
                <a:lnTo>
                  <a:pt x="866345" y="0"/>
                </a:lnTo>
                <a:lnTo>
                  <a:pt x="866345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0977" y="1299517"/>
            <a:ext cx="5649291" cy="2508791"/>
          </a:xfrm>
          <a:custGeom>
            <a:avLst/>
            <a:gdLst/>
            <a:ahLst/>
            <a:cxnLst/>
            <a:rect l="l" t="t" r="r" b="b"/>
            <a:pathLst>
              <a:path w="5649291" h="2508791">
                <a:moveTo>
                  <a:pt x="72203" y="0"/>
                </a:moveTo>
                <a:lnTo>
                  <a:pt x="5577088" y="0"/>
                </a:lnTo>
                <a:cubicBezTo>
                  <a:pt x="5616965" y="0"/>
                  <a:pt x="5649291" y="32326"/>
                  <a:pt x="5649291" y="72203"/>
                </a:cubicBezTo>
                <a:lnTo>
                  <a:pt x="5649291" y="2436588"/>
                </a:lnTo>
                <a:cubicBezTo>
                  <a:pt x="5649291" y="2476464"/>
                  <a:pt x="5616965" y="2508791"/>
                  <a:pt x="5577088" y="2508791"/>
                </a:cubicBezTo>
                <a:lnTo>
                  <a:pt x="72203" y="2508791"/>
                </a:lnTo>
                <a:cubicBezTo>
                  <a:pt x="32326" y="2508791"/>
                  <a:pt x="0" y="2476464"/>
                  <a:pt x="0" y="2436588"/>
                </a:cubicBezTo>
                <a:lnTo>
                  <a:pt x="0" y="72203"/>
                </a:lnTo>
                <a:cubicBezTo>
                  <a:pt x="0" y="32353"/>
                  <a:pt x="32353" y="0"/>
                  <a:pt x="722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147" dist="3609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64027" y="1516104"/>
            <a:ext cx="180489" cy="180489"/>
          </a:xfrm>
          <a:custGeom>
            <a:avLst/>
            <a:gdLst/>
            <a:ahLst/>
            <a:cxnLst/>
            <a:rect l="l" t="t" r="r" b="b"/>
            <a:pathLst>
              <a:path w="180489" h="180489">
                <a:moveTo>
                  <a:pt x="11281" y="11281"/>
                </a:moveTo>
                <a:cubicBezTo>
                  <a:pt x="17520" y="11281"/>
                  <a:pt x="22561" y="16322"/>
                  <a:pt x="22561" y="22561"/>
                </a:cubicBezTo>
                <a:lnTo>
                  <a:pt x="22561" y="141007"/>
                </a:lnTo>
                <a:cubicBezTo>
                  <a:pt x="22561" y="144109"/>
                  <a:pt x="25099" y="146647"/>
                  <a:pt x="28201" y="146647"/>
                </a:cubicBezTo>
                <a:lnTo>
                  <a:pt x="169208" y="146647"/>
                </a:lnTo>
                <a:cubicBezTo>
                  <a:pt x="175448" y="146647"/>
                  <a:pt x="180489" y="151688"/>
                  <a:pt x="180489" y="157927"/>
                </a:cubicBezTo>
                <a:cubicBezTo>
                  <a:pt x="180489" y="164167"/>
                  <a:pt x="175448" y="169208"/>
                  <a:pt x="169208" y="169208"/>
                </a:cubicBezTo>
                <a:lnTo>
                  <a:pt x="28201" y="169208"/>
                </a:lnTo>
                <a:cubicBezTo>
                  <a:pt x="12620" y="169208"/>
                  <a:pt x="0" y="156588"/>
                  <a:pt x="0" y="141007"/>
                </a:cubicBezTo>
                <a:lnTo>
                  <a:pt x="0" y="22561"/>
                </a:lnTo>
                <a:cubicBezTo>
                  <a:pt x="0" y="16322"/>
                  <a:pt x="5041" y="11281"/>
                  <a:pt x="11281" y="11281"/>
                </a:cubicBezTo>
                <a:close/>
                <a:moveTo>
                  <a:pt x="84604" y="33842"/>
                </a:moveTo>
                <a:cubicBezTo>
                  <a:pt x="86966" y="33842"/>
                  <a:pt x="89222" y="34829"/>
                  <a:pt x="90844" y="36591"/>
                </a:cubicBezTo>
                <a:lnTo>
                  <a:pt x="115907" y="63911"/>
                </a:lnTo>
                <a:lnTo>
                  <a:pt x="132194" y="47590"/>
                </a:lnTo>
                <a:cubicBezTo>
                  <a:pt x="135507" y="44276"/>
                  <a:pt x="140866" y="44276"/>
                  <a:pt x="144144" y="47590"/>
                </a:cubicBezTo>
                <a:lnTo>
                  <a:pt x="166705" y="70151"/>
                </a:lnTo>
                <a:cubicBezTo>
                  <a:pt x="168291" y="71737"/>
                  <a:pt x="169173" y="73887"/>
                  <a:pt x="169173" y="76144"/>
                </a:cubicBezTo>
                <a:lnTo>
                  <a:pt x="169173" y="115625"/>
                </a:lnTo>
                <a:cubicBezTo>
                  <a:pt x="169173" y="120314"/>
                  <a:pt x="165401" y="124086"/>
                  <a:pt x="160712" y="124086"/>
                </a:cubicBezTo>
                <a:lnTo>
                  <a:pt x="53547" y="124086"/>
                </a:lnTo>
                <a:cubicBezTo>
                  <a:pt x="48859" y="124086"/>
                  <a:pt x="45087" y="120314"/>
                  <a:pt x="45087" y="115625"/>
                </a:cubicBezTo>
                <a:lnTo>
                  <a:pt x="45087" y="76144"/>
                </a:lnTo>
                <a:cubicBezTo>
                  <a:pt x="45087" y="74028"/>
                  <a:pt x="45898" y="71984"/>
                  <a:pt x="47308" y="70433"/>
                </a:cubicBezTo>
                <a:lnTo>
                  <a:pt x="78329" y="36591"/>
                </a:lnTo>
                <a:cubicBezTo>
                  <a:pt x="79916" y="34829"/>
                  <a:pt x="82207" y="33842"/>
                  <a:pt x="84569" y="33842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7076" y="1480006"/>
            <a:ext cx="515294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Définition et Objectif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1466" y="1840983"/>
            <a:ext cx="5360509" cy="70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</a:t>
            </a:r>
            <a:r>
              <a:rPr lang="en-US" sz="1137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</a:t>
            </a:r>
            <a:r>
              <a:rPr lang="en-US" sz="1137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vise à établir une relation entre une ou plusieurs </a:t>
            </a:r>
            <a:r>
              <a:rPr lang="en-US" sz="1137" dirty="0">
                <a:solidFill>
                  <a:srgbClr val="16A0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indépendantes</a:t>
            </a:r>
            <a:r>
              <a:rPr lang="en-US" sz="1137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(features) et une </a:t>
            </a:r>
            <a:r>
              <a:rPr lang="en-US" sz="1137" dirty="0">
                <a:solidFill>
                  <a:srgbClr val="16A0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dépendante continue</a:t>
            </a:r>
            <a:r>
              <a:rPr lang="en-US" sz="1137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(target). Le modèle apprend une fonction qui minimise l'erreur de prédiction.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1466" y="2653181"/>
            <a:ext cx="5288314" cy="974638"/>
          </a:xfrm>
          <a:custGeom>
            <a:avLst/>
            <a:gdLst/>
            <a:ahLst/>
            <a:cxnLst/>
            <a:rect l="l" t="t" r="r" b="b"/>
            <a:pathLst>
              <a:path w="5288314" h="974638">
                <a:moveTo>
                  <a:pt x="72191" y="0"/>
                </a:moveTo>
                <a:lnTo>
                  <a:pt x="5216122" y="0"/>
                </a:lnTo>
                <a:cubicBezTo>
                  <a:pt x="5255993" y="0"/>
                  <a:pt x="5288314" y="32321"/>
                  <a:pt x="5288314" y="72191"/>
                </a:cubicBezTo>
                <a:lnTo>
                  <a:pt x="5288314" y="902447"/>
                </a:lnTo>
                <a:cubicBezTo>
                  <a:pt x="5288314" y="942317"/>
                  <a:pt x="5255993" y="974638"/>
                  <a:pt x="5216122" y="974638"/>
                </a:cubicBezTo>
                <a:lnTo>
                  <a:pt x="72191" y="974638"/>
                </a:lnTo>
                <a:cubicBezTo>
                  <a:pt x="32321" y="974638"/>
                  <a:pt x="0" y="942317"/>
                  <a:pt x="0" y="902447"/>
                </a:cubicBezTo>
                <a:lnTo>
                  <a:pt x="0" y="72191"/>
                </a:lnTo>
                <a:cubicBezTo>
                  <a:pt x="0" y="32348"/>
                  <a:pt x="32348" y="0"/>
                  <a:pt x="72191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9759" y="2761474"/>
            <a:ext cx="514392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Formulation Mathématique 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759" y="3050256"/>
            <a:ext cx="514392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= f(X) + 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759" y="3339038"/>
            <a:ext cx="513489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où y est la variable cible, X les features, f la fonction à apprendre, et ε le bruit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0977" y="3952699"/>
            <a:ext cx="5649291" cy="2833670"/>
          </a:xfrm>
          <a:custGeom>
            <a:avLst/>
            <a:gdLst/>
            <a:ahLst/>
            <a:cxnLst/>
            <a:rect l="l" t="t" r="r" b="b"/>
            <a:pathLst>
              <a:path w="5649291" h="2833670">
                <a:moveTo>
                  <a:pt x="72202" y="0"/>
                </a:moveTo>
                <a:lnTo>
                  <a:pt x="5577089" y="0"/>
                </a:lnTo>
                <a:cubicBezTo>
                  <a:pt x="5616965" y="0"/>
                  <a:pt x="5649291" y="32326"/>
                  <a:pt x="5649291" y="72202"/>
                </a:cubicBezTo>
                <a:lnTo>
                  <a:pt x="5649291" y="2761468"/>
                </a:lnTo>
                <a:cubicBezTo>
                  <a:pt x="5649291" y="2801344"/>
                  <a:pt x="5616965" y="2833670"/>
                  <a:pt x="5577089" y="2833670"/>
                </a:cubicBezTo>
                <a:lnTo>
                  <a:pt x="72202" y="2833670"/>
                </a:lnTo>
                <a:cubicBezTo>
                  <a:pt x="32326" y="2833670"/>
                  <a:pt x="0" y="2801344"/>
                  <a:pt x="0" y="2761468"/>
                </a:cubicBezTo>
                <a:lnTo>
                  <a:pt x="0" y="72202"/>
                </a:lnTo>
                <a:cubicBezTo>
                  <a:pt x="0" y="32326"/>
                  <a:pt x="32326" y="0"/>
                  <a:pt x="72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147" dist="3609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75307" y="4169285"/>
            <a:ext cx="157927" cy="180489"/>
          </a:xfrm>
          <a:custGeom>
            <a:avLst/>
            <a:gdLst/>
            <a:ahLst/>
            <a:cxnLst/>
            <a:rect l="l" t="t" r="r" b="b"/>
            <a:pathLst>
              <a:path w="157927" h="180489">
                <a:moveTo>
                  <a:pt x="353" y="155707"/>
                </a:moveTo>
                <a:cubicBezTo>
                  <a:pt x="1939" y="163391"/>
                  <a:pt x="8742" y="169208"/>
                  <a:pt x="16921" y="169208"/>
                </a:cubicBezTo>
                <a:lnTo>
                  <a:pt x="141007" y="169208"/>
                </a:lnTo>
                <a:cubicBezTo>
                  <a:pt x="150348" y="169208"/>
                  <a:pt x="157927" y="161629"/>
                  <a:pt x="157927" y="152287"/>
                </a:cubicBezTo>
                <a:lnTo>
                  <a:pt x="157927" y="118446"/>
                </a:lnTo>
                <a:cubicBezTo>
                  <a:pt x="157927" y="109104"/>
                  <a:pt x="150348" y="101525"/>
                  <a:pt x="141007" y="101525"/>
                </a:cubicBezTo>
                <a:lnTo>
                  <a:pt x="124086" y="101525"/>
                </a:lnTo>
                <a:lnTo>
                  <a:pt x="124086" y="126906"/>
                </a:lnTo>
                <a:cubicBezTo>
                  <a:pt x="124086" y="131594"/>
                  <a:pt x="120314" y="135366"/>
                  <a:pt x="115625" y="135366"/>
                </a:cubicBezTo>
                <a:cubicBezTo>
                  <a:pt x="110937" y="135366"/>
                  <a:pt x="107165" y="131594"/>
                  <a:pt x="107165" y="126906"/>
                </a:cubicBezTo>
                <a:lnTo>
                  <a:pt x="107165" y="101525"/>
                </a:lnTo>
                <a:lnTo>
                  <a:pt x="84604" y="101525"/>
                </a:lnTo>
                <a:lnTo>
                  <a:pt x="84604" y="126906"/>
                </a:lnTo>
                <a:cubicBezTo>
                  <a:pt x="84604" y="131594"/>
                  <a:pt x="80832" y="135366"/>
                  <a:pt x="76144" y="135366"/>
                </a:cubicBezTo>
                <a:cubicBezTo>
                  <a:pt x="71455" y="135366"/>
                  <a:pt x="67683" y="131594"/>
                  <a:pt x="67683" y="126906"/>
                </a:cubicBezTo>
                <a:lnTo>
                  <a:pt x="67683" y="101525"/>
                </a:lnTo>
                <a:lnTo>
                  <a:pt x="42302" y="101525"/>
                </a:lnTo>
                <a:cubicBezTo>
                  <a:pt x="37614" y="101525"/>
                  <a:pt x="33842" y="97753"/>
                  <a:pt x="33842" y="93064"/>
                </a:cubicBezTo>
                <a:cubicBezTo>
                  <a:pt x="33842" y="88376"/>
                  <a:pt x="37614" y="84604"/>
                  <a:pt x="42302" y="84604"/>
                </a:cubicBezTo>
                <a:lnTo>
                  <a:pt x="67683" y="84604"/>
                </a:lnTo>
                <a:lnTo>
                  <a:pt x="67683" y="62043"/>
                </a:lnTo>
                <a:lnTo>
                  <a:pt x="42302" y="62043"/>
                </a:lnTo>
                <a:cubicBezTo>
                  <a:pt x="37614" y="62043"/>
                  <a:pt x="33842" y="58271"/>
                  <a:pt x="33842" y="53583"/>
                </a:cubicBezTo>
                <a:cubicBezTo>
                  <a:pt x="33842" y="48894"/>
                  <a:pt x="37614" y="45122"/>
                  <a:pt x="42302" y="45122"/>
                </a:cubicBezTo>
                <a:lnTo>
                  <a:pt x="67683" y="45122"/>
                </a:lnTo>
                <a:lnTo>
                  <a:pt x="67683" y="28201"/>
                </a:lnTo>
                <a:cubicBezTo>
                  <a:pt x="67683" y="18860"/>
                  <a:pt x="60104" y="11281"/>
                  <a:pt x="50762" y="11281"/>
                </a:cubicBezTo>
                <a:lnTo>
                  <a:pt x="16921" y="11281"/>
                </a:lnTo>
                <a:cubicBezTo>
                  <a:pt x="7579" y="11281"/>
                  <a:pt x="0" y="18860"/>
                  <a:pt x="0" y="28201"/>
                </a:cubicBezTo>
                <a:lnTo>
                  <a:pt x="0" y="152287"/>
                </a:lnTo>
                <a:cubicBezTo>
                  <a:pt x="0" y="153450"/>
                  <a:pt x="106" y="154614"/>
                  <a:pt x="353" y="155707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67076" y="4133187"/>
            <a:ext cx="515294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Ligne de Meilleur Ajustement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1466" y="4494164"/>
            <a:ext cx="536050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régression trouve la ligne (ou courbe) qui </a:t>
            </a:r>
            <a:r>
              <a:rPr lang="en-US" sz="1137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minimise l'erreur</a:t>
            </a:r>
            <a:r>
              <a:rPr lang="en-US" sz="1137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entre les prédictions et les valeurs réelles. Cette ligne représente la tendance générale des données.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1466" y="5071728"/>
            <a:ext cx="2590010" cy="1534152"/>
          </a:xfrm>
          <a:custGeom>
            <a:avLst/>
            <a:gdLst/>
            <a:ahLst/>
            <a:cxnLst/>
            <a:rect l="l" t="t" r="r" b="b"/>
            <a:pathLst>
              <a:path w="2590010" h="1534152">
                <a:moveTo>
                  <a:pt x="72197" y="0"/>
                </a:moveTo>
                <a:lnTo>
                  <a:pt x="2517813" y="0"/>
                </a:lnTo>
                <a:cubicBezTo>
                  <a:pt x="2557687" y="0"/>
                  <a:pt x="2590010" y="32324"/>
                  <a:pt x="2590010" y="72197"/>
                </a:cubicBezTo>
                <a:lnTo>
                  <a:pt x="2590010" y="1461955"/>
                </a:lnTo>
                <a:cubicBezTo>
                  <a:pt x="2590010" y="1501829"/>
                  <a:pt x="2557687" y="1534152"/>
                  <a:pt x="2517813" y="1534152"/>
                </a:cubicBezTo>
                <a:lnTo>
                  <a:pt x="72197" y="1534152"/>
                </a:lnTo>
                <a:cubicBezTo>
                  <a:pt x="32324" y="1534152"/>
                  <a:pt x="0" y="1501829"/>
                  <a:pt x="0" y="1461955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9759" y="5180021"/>
            <a:ext cx="2436595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 Linéaire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3368" y="5436314"/>
            <a:ext cx="2362595" cy="711125"/>
          </a:xfrm>
          <a:custGeom>
            <a:avLst/>
            <a:gdLst/>
            <a:ahLst/>
            <a:cxnLst/>
            <a:rect l="l" t="t" r="r" b="b"/>
            <a:pathLst>
              <a:path w="2362595" h="711125">
                <a:moveTo>
                  <a:pt x="36097" y="0"/>
                </a:moveTo>
                <a:lnTo>
                  <a:pt x="2326498" y="0"/>
                </a:lnTo>
                <a:cubicBezTo>
                  <a:pt x="2346434" y="0"/>
                  <a:pt x="2362595" y="16161"/>
                  <a:pt x="2362595" y="36097"/>
                </a:cubicBezTo>
                <a:lnTo>
                  <a:pt x="2362595" y="675028"/>
                </a:lnTo>
                <a:cubicBezTo>
                  <a:pt x="2362595" y="694964"/>
                  <a:pt x="2346434" y="711125"/>
                  <a:pt x="2326498" y="711125"/>
                </a:cubicBezTo>
                <a:lnTo>
                  <a:pt x="36097" y="711125"/>
                </a:lnTo>
                <a:cubicBezTo>
                  <a:pt x="16161" y="711125"/>
                  <a:pt x="0" y="694964"/>
                  <a:pt x="0" y="675028"/>
                </a:cubicBezTo>
                <a:lnTo>
                  <a:pt x="0" y="36097"/>
                </a:lnTo>
                <a:cubicBezTo>
                  <a:pt x="0" y="16174"/>
                  <a:pt x="16174" y="0"/>
                  <a:pt x="360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449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 rot="360000">
            <a:off x="662491" y="5661523"/>
            <a:ext cx="2355375" cy="18049"/>
          </a:xfrm>
          <a:custGeom>
            <a:avLst/>
            <a:gdLst/>
            <a:ahLst/>
            <a:cxnLst/>
            <a:rect l="l" t="t" r="r" b="b"/>
            <a:pathLst>
              <a:path w="2355375" h="18049">
                <a:moveTo>
                  <a:pt x="0" y="0"/>
                </a:moveTo>
                <a:lnTo>
                  <a:pt x="2355375" y="0"/>
                </a:lnTo>
                <a:lnTo>
                  <a:pt x="2355375" y="18049"/>
                </a:lnTo>
                <a:lnTo>
                  <a:pt x="0" y="18049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128279" y="5652111"/>
            <a:ext cx="72195" cy="72195"/>
          </a:xfrm>
          <a:custGeom>
            <a:avLst/>
            <a:gdLst/>
            <a:ahLst/>
            <a:cxnLst/>
            <a:rect l="l" t="t" r="r" b="b"/>
            <a:pathLst>
              <a:path w="72195" h="72195">
                <a:moveTo>
                  <a:pt x="36098" y="0"/>
                </a:moveTo>
                <a:lnTo>
                  <a:pt x="36098" y="0"/>
                </a:lnTo>
                <a:cubicBezTo>
                  <a:pt x="56034" y="0"/>
                  <a:pt x="72195" y="16161"/>
                  <a:pt x="72195" y="36098"/>
                </a:cubicBezTo>
                <a:lnTo>
                  <a:pt x="72195" y="36098"/>
                </a:lnTo>
                <a:cubicBezTo>
                  <a:pt x="72195" y="56034"/>
                  <a:pt x="56034" y="72195"/>
                  <a:pt x="36098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835455" y="5793682"/>
            <a:ext cx="72195" cy="72195"/>
          </a:xfrm>
          <a:custGeom>
            <a:avLst/>
            <a:gdLst/>
            <a:ahLst/>
            <a:cxnLst/>
            <a:rect l="l" t="t" r="r" b="b"/>
            <a:pathLst>
              <a:path w="72195" h="72195">
                <a:moveTo>
                  <a:pt x="36098" y="0"/>
                </a:moveTo>
                <a:lnTo>
                  <a:pt x="36098" y="0"/>
                </a:lnTo>
                <a:cubicBezTo>
                  <a:pt x="56034" y="0"/>
                  <a:pt x="72195" y="16161"/>
                  <a:pt x="72195" y="36098"/>
                </a:cubicBezTo>
                <a:lnTo>
                  <a:pt x="72195" y="36098"/>
                </a:lnTo>
                <a:cubicBezTo>
                  <a:pt x="72195" y="56034"/>
                  <a:pt x="56034" y="72195"/>
                  <a:pt x="36098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542519" y="5935142"/>
            <a:ext cx="72195" cy="72195"/>
          </a:xfrm>
          <a:custGeom>
            <a:avLst/>
            <a:gdLst/>
            <a:ahLst/>
            <a:cxnLst/>
            <a:rect l="l" t="t" r="r" b="b"/>
            <a:pathLst>
              <a:path w="72195" h="72195">
                <a:moveTo>
                  <a:pt x="36098" y="0"/>
                </a:moveTo>
                <a:lnTo>
                  <a:pt x="36098" y="0"/>
                </a:lnTo>
                <a:cubicBezTo>
                  <a:pt x="56034" y="0"/>
                  <a:pt x="72195" y="16161"/>
                  <a:pt x="72195" y="36098"/>
                </a:cubicBezTo>
                <a:lnTo>
                  <a:pt x="72195" y="36098"/>
                </a:lnTo>
                <a:cubicBezTo>
                  <a:pt x="72195" y="56034"/>
                  <a:pt x="56034" y="72195"/>
                  <a:pt x="36098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49759" y="6190756"/>
            <a:ext cx="2427571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 linéaire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37739" y="5071728"/>
            <a:ext cx="2590010" cy="1534152"/>
          </a:xfrm>
          <a:custGeom>
            <a:avLst/>
            <a:gdLst/>
            <a:ahLst/>
            <a:cxnLst/>
            <a:rect l="l" t="t" r="r" b="b"/>
            <a:pathLst>
              <a:path w="2590010" h="1534152">
                <a:moveTo>
                  <a:pt x="72197" y="0"/>
                </a:moveTo>
                <a:lnTo>
                  <a:pt x="2517813" y="0"/>
                </a:lnTo>
                <a:cubicBezTo>
                  <a:pt x="2557687" y="0"/>
                  <a:pt x="2590010" y="32324"/>
                  <a:pt x="2590010" y="72197"/>
                </a:cubicBezTo>
                <a:lnTo>
                  <a:pt x="2590010" y="1461955"/>
                </a:lnTo>
                <a:cubicBezTo>
                  <a:pt x="2590010" y="1501829"/>
                  <a:pt x="2557687" y="1534152"/>
                  <a:pt x="2517813" y="1534152"/>
                </a:cubicBezTo>
                <a:lnTo>
                  <a:pt x="72197" y="1534152"/>
                </a:lnTo>
                <a:cubicBezTo>
                  <a:pt x="32324" y="1534152"/>
                  <a:pt x="0" y="1501829"/>
                  <a:pt x="0" y="1461955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346032" y="5180021"/>
            <a:ext cx="2436595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 Non-Linéaire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49641" y="5436314"/>
            <a:ext cx="2362595" cy="711125"/>
          </a:xfrm>
          <a:custGeom>
            <a:avLst/>
            <a:gdLst/>
            <a:ahLst/>
            <a:cxnLst/>
            <a:rect l="l" t="t" r="r" b="b"/>
            <a:pathLst>
              <a:path w="2362595" h="711125">
                <a:moveTo>
                  <a:pt x="36097" y="0"/>
                </a:moveTo>
                <a:lnTo>
                  <a:pt x="2326498" y="0"/>
                </a:lnTo>
                <a:cubicBezTo>
                  <a:pt x="2346434" y="0"/>
                  <a:pt x="2362595" y="16161"/>
                  <a:pt x="2362595" y="36097"/>
                </a:cubicBezTo>
                <a:lnTo>
                  <a:pt x="2362595" y="675028"/>
                </a:lnTo>
                <a:cubicBezTo>
                  <a:pt x="2362595" y="694964"/>
                  <a:pt x="2346434" y="711125"/>
                  <a:pt x="2326498" y="711125"/>
                </a:cubicBezTo>
                <a:lnTo>
                  <a:pt x="36097" y="711125"/>
                </a:lnTo>
                <a:cubicBezTo>
                  <a:pt x="16161" y="711125"/>
                  <a:pt x="0" y="694964"/>
                  <a:pt x="0" y="675028"/>
                </a:cubicBezTo>
                <a:lnTo>
                  <a:pt x="0" y="36097"/>
                </a:lnTo>
                <a:cubicBezTo>
                  <a:pt x="0" y="16174"/>
                  <a:pt x="16174" y="0"/>
                  <a:pt x="360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449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80507" y="5522949"/>
            <a:ext cx="902443" cy="541466"/>
          </a:xfrm>
          <a:prstGeom prst="roundRect">
            <a:avLst>
              <a:gd name="adj" fmla="val 5128"/>
            </a:avLst>
          </a:prstGeom>
        </p:spPr>
      </p:pic>
      <p:sp>
        <p:nvSpPr>
          <p:cNvPr id="30" name="Text 27"/>
          <p:cNvSpPr/>
          <p:nvPr/>
        </p:nvSpPr>
        <p:spPr>
          <a:xfrm>
            <a:off x="3346032" y="6190756"/>
            <a:ext cx="2427571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Courbes, polynômes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86695" y="1299517"/>
            <a:ext cx="5649291" cy="2707328"/>
          </a:xfrm>
          <a:custGeom>
            <a:avLst/>
            <a:gdLst/>
            <a:ahLst/>
            <a:cxnLst/>
            <a:rect l="l" t="t" r="r" b="b"/>
            <a:pathLst>
              <a:path w="5649291" h="2707328">
                <a:moveTo>
                  <a:pt x="72204" y="0"/>
                </a:moveTo>
                <a:lnTo>
                  <a:pt x="5577086" y="0"/>
                </a:lnTo>
                <a:cubicBezTo>
                  <a:pt x="5616964" y="0"/>
                  <a:pt x="5649291" y="32327"/>
                  <a:pt x="5649291" y="72204"/>
                </a:cubicBezTo>
                <a:lnTo>
                  <a:pt x="5649291" y="2635123"/>
                </a:lnTo>
                <a:cubicBezTo>
                  <a:pt x="5649291" y="2675001"/>
                  <a:pt x="5616964" y="2707328"/>
                  <a:pt x="5577086" y="2707328"/>
                </a:cubicBezTo>
                <a:lnTo>
                  <a:pt x="72204" y="2707328"/>
                </a:lnTo>
                <a:cubicBezTo>
                  <a:pt x="32327" y="2707328"/>
                  <a:pt x="0" y="2675001"/>
                  <a:pt x="0" y="2635123"/>
                </a:cubicBezTo>
                <a:lnTo>
                  <a:pt x="0" y="72204"/>
                </a:lnTo>
                <a:cubicBezTo>
                  <a:pt x="0" y="32354"/>
                  <a:pt x="32354" y="0"/>
                  <a:pt x="722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147" dist="3609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6331086" y="1443908"/>
            <a:ext cx="544172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Visualisation de la Régression</a:t>
            </a:r>
            <a:endParaRPr lang="en-US" sz="1600" dirty="0"/>
          </a:p>
        </p:txBody>
      </p:sp>
      <p:pic>
        <p:nvPicPr>
          <p:cNvPr id="33" name="Image 1" descr="https://kimi-web-img.moonshot.cn/img/i0.wp.com/dc8a3a314e2a91a1f53d9006017a7a5223d8e98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55647" y="1804885"/>
            <a:ext cx="2707328" cy="1804885"/>
          </a:xfrm>
          <a:prstGeom prst="roundRect">
            <a:avLst>
              <a:gd name="adj" fmla="val 4000"/>
            </a:avLst>
          </a:prstGeom>
        </p:spPr>
      </p:pic>
      <p:sp>
        <p:nvSpPr>
          <p:cNvPr id="34" name="Text 30"/>
          <p:cNvSpPr/>
          <p:nvPr/>
        </p:nvSpPr>
        <p:spPr>
          <a:xfrm>
            <a:off x="6299501" y="3681966"/>
            <a:ext cx="542368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ligne de régression minimise la somme des erreurs au carré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6186695" y="4151236"/>
            <a:ext cx="5649291" cy="2635132"/>
          </a:xfrm>
          <a:custGeom>
            <a:avLst/>
            <a:gdLst/>
            <a:ahLst/>
            <a:cxnLst/>
            <a:rect l="l" t="t" r="r" b="b"/>
            <a:pathLst>
              <a:path w="5649291" h="2635132">
                <a:moveTo>
                  <a:pt x="72203" y="0"/>
                </a:moveTo>
                <a:lnTo>
                  <a:pt x="5577088" y="0"/>
                </a:lnTo>
                <a:cubicBezTo>
                  <a:pt x="5616965" y="0"/>
                  <a:pt x="5649291" y="32326"/>
                  <a:pt x="5649291" y="72203"/>
                </a:cubicBezTo>
                <a:lnTo>
                  <a:pt x="5649291" y="2562930"/>
                </a:lnTo>
                <a:cubicBezTo>
                  <a:pt x="5649291" y="2602806"/>
                  <a:pt x="5616965" y="2635132"/>
                  <a:pt x="5577088" y="2635132"/>
                </a:cubicBezTo>
                <a:lnTo>
                  <a:pt x="72203" y="2635132"/>
                </a:lnTo>
                <a:cubicBezTo>
                  <a:pt x="32326" y="2635132"/>
                  <a:pt x="0" y="2602806"/>
                  <a:pt x="0" y="2562930"/>
                </a:cubicBezTo>
                <a:lnTo>
                  <a:pt x="0" y="72203"/>
                </a:lnTo>
                <a:cubicBezTo>
                  <a:pt x="0" y="32353"/>
                  <a:pt x="32353" y="0"/>
                  <a:pt x="72203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2"/>
          <p:cNvSpPr/>
          <p:nvPr/>
        </p:nvSpPr>
        <p:spPr>
          <a:xfrm>
            <a:off x="6399897" y="4376847"/>
            <a:ext cx="142135" cy="162440"/>
          </a:xfrm>
          <a:custGeom>
            <a:avLst/>
            <a:gdLst/>
            <a:ahLst/>
            <a:cxnLst/>
            <a:rect l="l" t="t" r="r" b="b"/>
            <a:pathLst>
              <a:path w="142135" h="162440">
                <a:moveTo>
                  <a:pt x="91372" y="0"/>
                </a:moveTo>
                <a:lnTo>
                  <a:pt x="40610" y="0"/>
                </a:lnTo>
                <a:cubicBezTo>
                  <a:pt x="34994" y="0"/>
                  <a:pt x="30457" y="4537"/>
                  <a:pt x="30457" y="10152"/>
                </a:cubicBezTo>
                <a:cubicBezTo>
                  <a:pt x="30457" y="15768"/>
                  <a:pt x="34994" y="20305"/>
                  <a:pt x="40610" y="20305"/>
                </a:cubicBezTo>
                <a:lnTo>
                  <a:pt x="40610" y="68371"/>
                </a:lnTo>
                <a:lnTo>
                  <a:pt x="2379" y="135250"/>
                </a:lnTo>
                <a:cubicBezTo>
                  <a:pt x="825" y="138010"/>
                  <a:pt x="0" y="141088"/>
                  <a:pt x="0" y="144260"/>
                </a:cubicBezTo>
                <a:cubicBezTo>
                  <a:pt x="0" y="154318"/>
                  <a:pt x="8122" y="162440"/>
                  <a:pt x="18179" y="162440"/>
                </a:cubicBezTo>
                <a:lnTo>
                  <a:pt x="123955" y="162440"/>
                </a:lnTo>
                <a:cubicBezTo>
                  <a:pt x="133981" y="162440"/>
                  <a:pt x="142135" y="154318"/>
                  <a:pt x="142135" y="144260"/>
                </a:cubicBezTo>
                <a:cubicBezTo>
                  <a:pt x="142135" y="141088"/>
                  <a:pt x="141310" y="137979"/>
                  <a:pt x="139755" y="135250"/>
                </a:cubicBezTo>
                <a:lnTo>
                  <a:pt x="101525" y="68371"/>
                </a:lnTo>
                <a:lnTo>
                  <a:pt x="101525" y="20305"/>
                </a:lnTo>
                <a:cubicBezTo>
                  <a:pt x="107140" y="20305"/>
                  <a:pt x="111677" y="15768"/>
                  <a:pt x="111677" y="10152"/>
                </a:cubicBezTo>
                <a:cubicBezTo>
                  <a:pt x="111677" y="4537"/>
                  <a:pt x="107140" y="0"/>
                  <a:pt x="101525" y="0"/>
                </a:cubicBezTo>
                <a:lnTo>
                  <a:pt x="91372" y="0"/>
                </a:lnTo>
                <a:close/>
                <a:moveTo>
                  <a:pt x="60915" y="68371"/>
                </a:moveTo>
                <a:lnTo>
                  <a:pt x="60915" y="20305"/>
                </a:lnTo>
                <a:lnTo>
                  <a:pt x="81220" y="20305"/>
                </a:lnTo>
                <a:lnTo>
                  <a:pt x="81220" y="68371"/>
                </a:lnTo>
                <a:cubicBezTo>
                  <a:pt x="81220" y="71892"/>
                  <a:pt x="82140" y="75382"/>
                  <a:pt x="83885" y="78460"/>
                </a:cubicBezTo>
                <a:lnTo>
                  <a:pt x="97083" y="101525"/>
                </a:lnTo>
                <a:lnTo>
                  <a:pt x="45052" y="101525"/>
                </a:lnTo>
                <a:lnTo>
                  <a:pt x="58250" y="78460"/>
                </a:lnTo>
                <a:cubicBezTo>
                  <a:pt x="59995" y="75382"/>
                  <a:pt x="60915" y="71924"/>
                  <a:pt x="60915" y="68371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3"/>
          <p:cNvSpPr/>
          <p:nvPr/>
        </p:nvSpPr>
        <p:spPr>
          <a:xfrm>
            <a:off x="6574746" y="4331725"/>
            <a:ext cx="516197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Applications Réelles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6385233" y="4728799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8343" y="2425"/>
                </a:moveTo>
                <a:cubicBezTo>
                  <a:pt x="74875" y="-790"/>
                  <a:pt x="69516" y="-790"/>
                  <a:pt x="66076" y="2425"/>
                </a:cubicBezTo>
                <a:lnTo>
                  <a:pt x="2905" y="61084"/>
                </a:lnTo>
                <a:cubicBezTo>
                  <a:pt x="197" y="63622"/>
                  <a:pt x="-705" y="67542"/>
                  <a:pt x="649" y="70983"/>
                </a:cubicBezTo>
                <a:cubicBezTo>
                  <a:pt x="2002" y="74423"/>
                  <a:pt x="5302" y="76708"/>
                  <a:pt x="9024" y="76708"/>
                </a:cubicBezTo>
                <a:lnTo>
                  <a:pt x="13537" y="76708"/>
                </a:lnTo>
                <a:lnTo>
                  <a:pt x="13537" y="126342"/>
                </a:lnTo>
                <a:cubicBezTo>
                  <a:pt x="13537" y="136297"/>
                  <a:pt x="21630" y="144391"/>
                  <a:pt x="31585" y="144391"/>
                </a:cubicBezTo>
                <a:lnTo>
                  <a:pt x="112805" y="144391"/>
                </a:lnTo>
                <a:cubicBezTo>
                  <a:pt x="122760" y="144391"/>
                  <a:pt x="130854" y="136297"/>
                  <a:pt x="130854" y="126342"/>
                </a:cubicBezTo>
                <a:lnTo>
                  <a:pt x="130854" y="76708"/>
                </a:lnTo>
                <a:lnTo>
                  <a:pt x="135366" y="76708"/>
                </a:lnTo>
                <a:cubicBezTo>
                  <a:pt x="139089" y="76708"/>
                  <a:pt x="142417" y="74423"/>
                  <a:pt x="143770" y="70983"/>
                </a:cubicBezTo>
                <a:cubicBezTo>
                  <a:pt x="145124" y="67542"/>
                  <a:pt x="144222" y="63594"/>
                  <a:pt x="141514" y="61084"/>
                </a:cubicBezTo>
                <a:lnTo>
                  <a:pt x="78343" y="2425"/>
                </a:lnTo>
                <a:close/>
                <a:moveTo>
                  <a:pt x="67683" y="90244"/>
                </a:moveTo>
                <a:lnTo>
                  <a:pt x="76708" y="90244"/>
                </a:lnTo>
                <a:cubicBezTo>
                  <a:pt x="84181" y="90244"/>
                  <a:pt x="90244" y="96308"/>
                  <a:pt x="90244" y="103781"/>
                </a:cubicBezTo>
                <a:lnTo>
                  <a:pt x="90244" y="130854"/>
                </a:lnTo>
                <a:lnTo>
                  <a:pt x="54147" y="130854"/>
                </a:lnTo>
                <a:lnTo>
                  <a:pt x="54147" y="103781"/>
                </a:lnTo>
                <a:cubicBezTo>
                  <a:pt x="54147" y="96308"/>
                  <a:pt x="60210" y="90244"/>
                  <a:pt x="67683" y="90244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5"/>
          <p:cNvSpPr/>
          <p:nvPr/>
        </p:nvSpPr>
        <p:spPr>
          <a:xfrm>
            <a:off x="6619868" y="4692702"/>
            <a:ext cx="3077329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Immobilier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6619868" y="4909288"/>
            <a:ext cx="3068305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Prédiction de prix basée sur superficie, localisation, etc.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6385233" y="5234167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8049" y="18049"/>
                </a:moveTo>
                <a:cubicBezTo>
                  <a:pt x="18049" y="13057"/>
                  <a:pt x="14016" y="9024"/>
                  <a:pt x="9024" y="9024"/>
                </a:cubicBezTo>
                <a:cubicBezTo>
                  <a:pt x="4033" y="9024"/>
                  <a:pt x="0" y="13057"/>
                  <a:pt x="0" y="18049"/>
                </a:cubicBezTo>
                <a:lnTo>
                  <a:pt x="0" y="112805"/>
                </a:lnTo>
                <a:cubicBezTo>
                  <a:pt x="0" y="125270"/>
                  <a:pt x="10096" y="135366"/>
                  <a:pt x="22561" y="135366"/>
                </a:cubicBezTo>
                <a:lnTo>
                  <a:pt x="135366" y="135366"/>
                </a:lnTo>
                <a:cubicBezTo>
                  <a:pt x="140358" y="135366"/>
                  <a:pt x="144391" y="131334"/>
                  <a:pt x="144391" y="126342"/>
                </a:cubicBezTo>
                <a:cubicBezTo>
                  <a:pt x="144391" y="121350"/>
                  <a:pt x="140358" y="117318"/>
                  <a:pt x="135366" y="117318"/>
                </a:cubicBezTo>
                <a:lnTo>
                  <a:pt x="22561" y="117318"/>
                </a:lnTo>
                <a:cubicBezTo>
                  <a:pt x="20079" y="117318"/>
                  <a:pt x="18049" y="115287"/>
                  <a:pt x="18049" y="112805"/>
                </a:cubicBezTo>
                <a:lnTo>
                  <a:pt x="18049" y="18049"/>
                </a:lnTo>
                <a:close/>
                <a:moveTo>
                  <a:pt x="132715" y="42471"/>
                </a:moveTo>
                <a:cubicBezTo>
                  <a:pt x="136241" y="38946"/>
                  <a:pt x="136241" y="33221"/>
                  <a:pt x="132715" y="29696"/>
                </a:cubicBezTo>
                <a:cubicBezTo>
                  <a:pt x="129190" y="26171"/>
                  <a:pt x="123465" y="26171"/>
                  <a:pt x="119940" y="29696"/>
                </a:cubicBezTo>
                <a:lnTo>
                  <a:pt x="90244" y="59420"/>
                </a:lnTo>
                <a:lnTo>
                  <a:pt x="74057" y="43261"/>
                </a:lnTo>
                <a:cubicBezTo>
                  <a:pt x="70532" y="39736"/>
                  <a:pt x="64807" y="39736"/>
                  <a:pt x="61281" y="43261"/>
                </a:cubicBezTo>
                <a:lnTo>
                  <a:pt x="34208" y="70334"/>
                </a:lnTo>
                <a:cubicBezTo>
                  <a:pt x="30683" y="73859"/>
                  <a:pt x="30683" y="79584"/>
                  <a:pt x="34208" y="83109"/>
                </a:cubicBezTo>
                <a:cubicBezTo>
                  <a:pt x="37733" y="86634"/>
                  <a:pt x="43458" y="86634"/>
                  <a:pt x="46983" y="83109"/>
                </a:cubicBezTo>
                <a:lnTo>
                  <a:pt x="67683" y="62410"/>
                </a:lnTo>
                <a:lnTo>
                  <a:pt x="83871" y="78597"/>
                </a:lnTo>
                <a:cubicBezTo>
                  <a:pt x="87396" y="82122"/>
                  <a:pt x="93121" y="82122"/>
                  <a:pt x="96646" y="78597"/>
                </a:cubicBezTo>
                <a:lnTo>
                  <a:pt x="132744" y="42499"/>
                </a:ln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38"/>
          <p:cNvSpPr/>
          <p:nvPr/>
        </p:nvSpPr>
        <p:spPr>
          <a:xfrm>
            <a:off x="6619868" y="5198070"/>
            <a:ext cx="2608059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Finance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6619868" y="5414656"/>
            <a:ext cx="2599035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Prévisions boursières et estimation des risques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6385233" y="5739535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27073" y="27073"/>
                </a:moveTo>
                <a:cubicBezTo>
                  <a:pt x="27073" y="12127"/>
                  <a:pt x="39200" y="0"/>
                  <a:pt x="54147" y="0"/>
                </a:cubicBezTo>
                <a:cubicBezTo>
                  <a:pt x="69093" y="0"/>
                  <a:pt x="81220" y="12127"/>
                  <a:pt x="81220" y="27073"/>
                </a:cubicBezTo>
                <a:lnTo>
                  <a:pt x="81220" y="73521"/>
                </a:lnTo>
                <a:cubicBezTo>
                  <a:pt x="89539" y="80966"/>
                  <a:pt x="94756" y="91767"/>
                  <a:pt x="94756" y="103781"/>
                </a:cubicBezTo>
                <a:cubicBezTo>
                  <a:pt x="94756" y="126201"/>
                  <a:pt x="76567" y="144391"/>
                  <a:pt x="54147" y="144391"/>
                </a:cubicBezTo>
                <a:cubicBezTo>
                  <a:pt x="31726" y="144391"/>
                  <a:pt x="13537" y="126201"/>
                  <a:pt x="13537" y="103781"/>
                </a:cubicBezTo>
                <a:cubicBezTo>
                  <a:pt x="13537" y="91767"/>
                  <a:pt x="18754" y="80938"/>
                  <a:pt x="27073" y="73521"/>
                </a:cubicBezTo>
                <a:lnTo>
                  <a:pt x="27073" y="27073"/>
                </a:lnTo>
                <a:close/>
                <a:moveTo>
                  <a:pt x="54147" y="121830"/>
                </a:moveTo>
                <a:cubicBezTo>
                  <a:pt x="64102" y="121830"/>
                  <a:pt x="72195" y="113736"/>
                  <a:pt x="72195" y="103781"/>
                </a:cubicBezTo>
                <a:cubicBezTo>
                  <a:pt x="72195" y="96195"/>
                  <a:pt x="67542" y="89708"/>
                  <a:pt x="60915" y="87058"/>
                </a:cubicBezTo>
                <a:lnTo>
                  <a:pt x="60915" y="27073"/>
                </a:lnTo>
                <a:cubicBezTo>
                  <a:pt x="60915" y="23323"/>
                  <a:pt x="57897" y="20305"/>
                  <a:pt x="54147" y="20305"/>
                </a:cubicBezTo>
                <a:cubicBezTo>
                  <a:pt x="50396" y="20305"/>
                  <a:pt x="47378" y="23323"/>
                  <a:pt x="47378" y="27073"/>
                </a:cubicBezTo>
                <a:lnTo>
                  <a:pt x="47378" y="87058"/>
                </a:lnTo>
                <a:cubicBezTo>
                  <a:pt x="40751" y="89737"/>
                  <a:pt x="36098" y="96223"/>
                  <a:pt x="36098" y="103781"/>
                </a:cubicBezTo>
                <a:cubicBezTo>
                  <a:pt x="36098" y="113736"/>
                  <a:pt x="44191" y="121830"/>
                  <a:pt x="54147" y="121830"/>
                </a:cubicBezTo>
                <a:close/>
                <a:moveTo>
                  <a:pt x="130854" y="22561"/>
                </a:moveTo>
                <a:cubicBezTo>
                  <a:pt x="130854" y="17580"/>
                  <a:pt x="126810" y="13537"/>
                  <a:pt x="121830" y="13537"/>
                </a:cubicBezTo>
                <a:cubicBezTo>
                  <a:pt x="116849" y="13537"/>
                  <a:pt x="112805" y="17580"/>
                  <a:pt x="112805" y="22561"/>
                </a:cubicBezTo>
                <a:cubicBezTo>
                  <a:pt x="112805" y="27542"/>
                  <a:pt x="116849" y="31585"/>
                  <a:pt x="121830" y="31585"/>
                </a:cubicBezTo>
                <a:cubicBezTo>
                  <a:pt x="126810" y="31585"/>
                  <a:pt x="130854" y="27542"/>
                  <a:pt x="130854" y="22561"/>
                </a:cubicBezTo>
                <a:close/>
                <a:moveTo>
                  <a:pt x="99269" y="22561"/>
                </a:moveTo>
                <a:cubicBezTo>
                  <a:pt x="99269" y="10109"/>
                  <a:pt x="109378" y="0"/>
                  <a:pt x="121830" y="0"/>
                </a:cubicBezTo>
                <a:cubicBezTo>
                  <a:pt x="134282" y="0"/>
                  <a:pt x="144391" y="10109"/>
                  <a:pt x="144391" y="22561"/>
                </a:cubicBezTo>
                <a:cubicBezTo>
                  <a:pt x="144391" y="35013"/>
                  <a:pt x="134282" y="45122"/>
                  <a:pt x="121830" y="45122"/>
                </a:cubicBezTo>
                <a:cubicBezTo>
                  <a:pt x="109378" y="45122"/>
                  <a:pt x="99269" y="35013"/>
                  <a:pt x="99269" y="22561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1"/>
          <p:cNvSpPr/>
          <p:nvPr/>
        </p:nvSpPr>
        <p:spPr>
          <a:xfrm>
            <a:off x="6619868" y="5703437"/>
            <a:ext cx="2617084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Météorologie</a:t>
            </a:r>
            <a:endParaRPr lang="en-US" sz="1600" dirty="0"/>
          </a:p>
        </p:txBody>
      </p:sp>
      <p:sp>
        <p:nvSpPr>
          <p:cNvPr id="46" name="Text 42"/>
          <p:cNvSpPr/>
          <p:nvPr/>
        </p:nvSpPr>
        <p:spPr>
          <a:xfrm>
            <a:off x="6619868" y="5920024"/>
            <a:ext cx="260805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Prédiction de température et conditions météo</a:t>
            </a:r>
            <a:endParaRPr lang="en-US" sz="1600" dirty="0"/>
          </a:p>
        </p:txBody>
      </p:sp>
      <p:sp>
        <p:nvSpPr>
          <p:cNvPr id="47" name="Shape 43"/>
          <p:cNvSpPr/>
          <p:nvPr/>
        </p:nvSpPr>
        <p:spPr>
          <a:xfrm>
            <a:off x="6367184" y="6244903"/>
            <a:ext cx="180489" cy="144391"/>
          </a:xfrm>
          <a:custGeom>
            <a:avLst/>
            <a:gdLst/>
            <a:ahLst/>
            <a:cxnLst/>
            <a:rect l="l" t="t" r="r" b="b"/>
            <a:pathLst>
              <a:path w="180489" h="144391">
                <a:moveTo>
                  <a:pt x="6768" y="-4512"/>
                </a:moveTo>
                <a:cubicBezTo>
                  <a:pt x="3018" y="-4512"/>
                  <a:pt x="0" y="-1495"/>
                  <a:pt x="0" y="2256"/>
                </a:cubicBezTo>
                <a:cubicBezTo>
                  <a:pt x="0" y="6007"/>
                  <a:pt x="3018" y="9024"/>
                  <a:pt x="6768" y="9024"/>
                </a:cubicBezTo>
                <a:lnTo>
                  <a:pt x="19544" y="9024"/>
                </a:lnTo>
                <a:cubicBezTo>
                  <a:pt x="20643" y="9024"/>
                  <a:pt x="21574" y="9814"/>
                  <a:pt x="21771" y="10886"/>
                </a:cubicBezTo>
                <a:lnTo>
                  <a:pt x="36464" y="91626"/>
                </a:lnTo>
                <a:cubicBezTo>
                  <a:pt x="38213" y="101271"/>
                  <a:pt x="46617" y="108293"/>
                  <a:pt x="56431" y="108293"/>
                </a:cubicBezTo>
                <a:lnTo>
                  <a:pt x="128598" y="108293"/>
                </a:lnTo>
                <a:cubicBezTo>
                  <a:pt x="132349" y="108293"/>
                  <a:pt x="135366" y="105276"/>
                  <a:pt x="135366" y="101525"/>
                </a:cubicBezTo>
                <a:cubicBezTo>
                  <a:pt x="135366" y="97774"/>
                  <a:pt x="132349" y="94756"/>
                  <a:pt x="128598" y="94756"/>
                </a:cubicBezTo>
                <a:lnTo>
                  <a:pt x="56431" y="94756"/>
                </a:lnTo>
                <a:cubicBezTo>
                  <a:pt x="53160" y="94756"/>
                  <a:pt x="50368" y="92416"/>
                  <a:pt x="49775" y="89201"/>
                </a:cubicBezTo>
                <a:lnTo>
                  <a:pt x="48337" y="81220"/>
                </a:lnTo>
                <a:lnTo>
                  <a:pt x="133956" y="81220"/>
                </a:lnTo>
                <a:cubicBezTo>
                  <a:pt x="142642" y="81220"/>
                  <a:pt x="150087" y="75044"/>
                  <a:pt x="151695" y="66499"/>
                </a:cubicBezTo>
                <a:lnTo>
                  <a:pt x="160437" y="19713"/>
                </a:lnTo>
                <a:cubicBezTo>
                  <a:pt x="161481" y="14157"/>
                  <a:pt x="157222" y="9024"/>
                  <a:pt x="151554" y="9024"/>
                </a:cubicBezTo>
                <a:lnTo>
                  <a:pt x="35167" y="9024"/>
                </a:lnTo>
                <a:lnTo>
                  <a:pt x="35054" y="8460"/>
                </a:lnTo>
                <a:cubicBezTo>
                  <a:pt x="33701" y="959"/>
                  <a:pt x="27158" y="-4512"/>
                  <a:pt x="19515" y="-4512"/>
                </a:cubicBezTo>
                <a:lnTo>
                  <a:pt x="6768" y="-4512"/>
                </a:lnTo>
                <a:close/>
                <a:moveTo>
                  <a:pt x="58659" y="144391"/>
                </a:moveTo>
                <a:cubicBezTo>
                  <a:pt x="66130" y="144391"/>
                  <a:pt x="72195" y="138325"/>
                  <a:pt x="72195" y="130854"/>
                </a:cubicBezTo>
                <a:cubicBezTo>
                  <a:pt x="72195" y="123383"/>
                  <a:pt x="66130" y="117318"/>
                  <a:pt x="58659" y="117318"/>
                </a:cubicBezTo>
                <a:cubicBezTo>
                  <a:pt x="51188" y="117318"/>
                  <a:pt x="45122" y="123383"/>
                  <a:pt x="45122" y="130854"/>
                </a:cubicBezTo>
                <a:cubicBezTo>
                  <a:pt x="45122" y="138325"/>
                  <a:pt x="51188" y="144391"/>
                  <a:pt x="58659" y="144391"/>
                </a:cubicBezTo>
                <a:close/>
                <a:moveTo>
                  <a:pt x="121830" y="144391"/>
                </a:moveTo>
                <a:cubicBezTo>
                  <a:pt x="129301" y="144391"/>
                  <a:pt x="135366" y="138325"/>
                  <a:pt x="135366" y="130854"/>
                </a:cubicBezTo>
                <a:cubicBezTo>
                  <a:pt x="135366" y="123383"/>
                  <a:pt x="129301" y="117318"/>
                  <a:pt x="121830" y="117318"/>
                </a:cubicBezTo>
                <a:cubicBezTo>
                  <a:pt x="114359" y="117318"/>
                  <a:pt x="108293" y="123383"/>
                  <a:pt x="108293" y="130854"/>
                </a:cubicBezTo>
                <a:cubicBezTo>
                  <a:pt x="108293" y="138325"/>
                  <a:pt x="114359" y="144391"/>
                  <a:pt x="121830" y="144391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4"/>
          <p:cNvSpPr/>
          <p:nvPr/>
        </p:nvSpPr>
        <p:spPr>
          <a:xfrm>
            <a:off x="6619868" y="6208805"/>
            <a:ext cx="2292204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Commerce</a:t>
            </a:r>
            <a:endParaRPr lang="en-US" sz="1600" dirty="0"/>
          </a:p>
        </p:txBody>
      </p:sp>
      <p:sp>
        <p:nvSpPr>
          <p:cNvPr id="49" name="Text 45"/>
          <p:cNvSpPr/>
          <p:nvPr/>
        </p:nvSpPr>
        <p:spPr>
          <a:xfrm>
            <a:off x="6619868" y="6425392"/>
            <a:ext cx="228318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Prévision de ventes et gestion des stocks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37729" y="336892"/>
            <a:ext cx="11668521" cy="33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3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Algorithmes de Régression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729" y="742166"/>
            <a:ext cx="810548" cy="33773"/>
          </a:xfrm>
          <a:custGeom>
            <a:avLst/>
            <a:gdLst/>
            <a:ahLst/>
            <a:cxnLst/>
            <a:rect l="l" t="t" r="r" b="b"/>
            <a:pathLst>
              <a:path w="810548" h="33773">
                <a:moveTo>
                  <a:pt x="0" y="0"/>
                </a:moveTo>
                <a:lnTo>
                  <a:pt x="810548" y="0"/>
                </a:lnTo>
                <a:lnTo>
                  <a:pt x="810548" y="33773"/>
                </a:lnTo>
                <a:lnTo>
                  <a:pt x="0" y="33773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54615" y="911031"/>
            <a:ext cx="3731900" cy="4018970"/>
          </a:xfrm>
          <a:custGeom>
            <a:avLst/>
            <a:gdLst/>
            <a:ahLst/>
            <a:cxnLst/>
            <a:rect l="l" t="t" r="r" b="b"/>
            <a:pathLst>
              <a:path w="3731900" h="4018970">
                <a:moveTo>
                  <a:pt x="33773" y="0"/>
                </a:moveTo>
                <a:lnTo>
                  <a:pt x="3664353" y="0"/>
                </a:lnTo>
                <a:cubicBezTo>
                  <a:pt x="3701658" y="0"/>
                  <a:pt x="3731900" y="30242"/>
                  <a:pt x="3731900" y="67547"/>
                </a:cubicBezTo>
                <a:lnTo>
                  <a:pt x="3731900" y="3951422"/>
                </a:lnTo>
                <a:cubicBezTo>
                  <a:pt x="3731900" y="3988728"/>
                  <a:pt x="3701658" y="4018970"/>
                  <a:pt x="3664353" y="4018970"/>
                </a:cubicBezTo>
                <a:lnTo>
                  <a:pt x="33773" y="4018970"/>
                </a:lnTo>
                <a:cubicBezTo>
                  <a:pt x="15121" y="4018970"/>
                  <a:pt x="0" y="4003849"/>
                  <a:pt x="0" y="3985197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659" dist="3377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54615" y="911031"/>
            <a:ext cx="33773" cy="4018970"/>
          </a:xfrm>
          <a:custGeom>
            <a:avLst/>
            <a:gdLst/>
            <a:ahLst/>
            <a:cxnLst/>
            <a:rect l="l" t="t" r="r" b="b"/>
            <a:pathLst>
              <a:path w="33773" h="4018970">
                <a:moveTo>
                  <a:pt x="33773" y="0"/>
                </a:moveTo>
                <a:lnTo>
                  <a:pt x="33773" y="0"/>
                </a:lnTo>
                <a:lnTo>
                  <a:pt x="33773" y="4018970"/>
                </a:lnTo>
                <a:lnTo>
                  <a:pt x="33773" y="4018970"/>
                </a:lnTo>
                <a:cubicBezTo>
                  <a:pt x="15121" y="4018970"/>
                  <a:pt x="0" y="4003849"/>
                  <a:pt x="0" y="3985197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06593" y="1046122"/>
            <a:ext cx="337729" cy="337729"/>
          </a:xfrm>
          <a:custGeom>
            <a:avLst/>
            <a:gdLst/>
            <a:ahLst/>
            <a:cxnLst/>
            <a:rect l="l" t="t" r="r" b="b"/>
            <a:pathLst>
              <a:path w="337729" h="337729">
                <a:moveTo>
                  <a:pt x="168864" y="0"/>
                </a:moveTo>
                <a:lnTo>
                  <a:pt x="168864" y="0"/>
                </a:lnTo>
                <a:cubicBezTo>
                  <a:pt x="262063" y="0"/>
                  <a:pt x="337729" y="75666"/>
                  <a:pt x="337729" y="168864"/>
                </a:cubicBezTo>
                <a:lnTo>
                  <a:pt x="337729" y="168864"/>
                </a:lnTo>
                <a:cubicBezTo>
                  <a:pt x="337729" y="262063"/>
                  <a:pt x="262063" y="337729"/>
                  <a:pt x="168864" y="337729"/>
                </a:cubicBezTo>
                <a:lnTo>
                  <a:pt x="168864" y="337729"/>
                </a:lnTo>
                <a:cubicBezTo>
                  <a:pt x="75666" y="337729"/>
                  <a:pt x="0" y="262063"/>
                  <a:pt x="0" y="168864"/>
                </a:cubicBezTo>
                <a:lnTo>
                  <a:pt x="0" y="168864"/>
                </a:lnTo>
                <a:cubicBezTo>
                  <a:pt x="0" y="75666"/>
                  <a:pt x="75666" y="0"/>
                  <a:pt x="168864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68598" y="1046122"/>
            <a:ext cx="413717" cy="33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1867" y="1096781"/>
            <a:ext cx="1258039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Régression Linéaire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593" y="1485169"/>
            <a:ext cx="3444831" cy="743003"/>
          </a:xfrm>
          <a:custGeom>
            <a:avLst/>
            <a:gdLst/>
            <a:ahLst/>
            <a:cxnLst/>
            <a:rect l="l" t="t" r="r" b="b"/>
            <a:pathLst>
              <a:path w="3444831" h="743003">
                <a:moveTo>
                  <a:pt x="33769" y="0"/>
                </a:moveTo>
                <a:lnTo>
                  <a:pt x="3411062" y="0"/>
                </a:lnTo>
                <a:cubicBezTo>
                  <a:pt x="3429712" y="0"/>
                  <a:pt x="3444831" y="15119"/>
                  <a:pt x="3444831" y="33769"/>
                </a:cubicBezTo>
                <a:lnTo>
                  <a:pt x="3444831" y="709233"/>
                </a:lnTo>
                <a:cubicBezTo>
                  <a:pt x="3444831" y="727884"/>
                  <a:pt x="3429712" y="743003"/>
                  <a:pt x="3411062" y="743003"/>
                </a:cubicBezTo>
                <a:lnTo>
                  <a:pt x="33769" y="743003"/>
                </a:lnTo>
                <a:cubicBezTo>
                  <a:pt x="15132" y="743003"/>
                  <a:pt x="0" y="727871"/>
                  <a:pt x="0" y="709233"/>
                </a:cubicBezTo>
                <a:lnTo>
                  <a:pt x="0" y="33769"/>
                </a:lnTo>
                <a:cubicBezTo>
                  <a:pt x="0" y="15132"/>
                  <a:pt x="15132" y="0"/>
                  <a:pt x="33769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74139" y="1552715"/>
            <a:ext cx="336884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Principe 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4139" y="1755352"/>
            <a:ext cx="3377285" cy="40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Modélise une </a:t>
            </a:r>
            <a:r>
              <a:rPr lang="en-US" sz="1064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 linéaire</a:t>
            </a:r>
            <a:r>
              <a:rPr lang="en-US" sz="1064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entre variables indépendantes et dépendante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6593" y="2295718"/>
            <a:ext cx="3444831" cy="303956"/>
          </a:xfrm>
          <a:custGeom>
            <a:avLst/>
            <a:gdLst/>
            <a:ahLst/>
            <a:cxnLst/>
            <a:rect l="l" t="t" r="r" b="b"/>
            <a:pathLst>
              <a:path w="3444831" h="303956">
                <a:moveTo>
                  <a:pt x="33773" y="0"/>
                </a:moveTo>
                <a:lnTo>
                  <a:pt x="3411059" y="0"/>
                </a:lnTo>
                <a:cubicBezTo>
                  <a:pt x="3429711" y="0"/>
                  <a:pt x="3444831" y="15120"/>
                  <a:pt x="3444831" y="33773"/>
                </a:cubicBezTo>
                <a:lnTo>
                  <a:pt x="3444831" y="270183"/>
                </a:lnTo>
                <a:cubicBezTo>
                  <a:pt x="3444831" y="288835"/>
                  <a:pt x="3429711" y="303956"/>
                  <a:pt x="3411059" y="303956"/>
                </a:cubicBezTo>
                <a:lnTo>
                  <a:pt x="33773" y="303956"/>
                </a:lnTo>
                <a:cubicBezTo>
                  <a:pt x="15120" y="303956"/>
                  <a:pt x="0" y="288835"/>
                  <a:pt x="0" y="270183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7042" y="2295718"/>
            <a:ext cx="3503934" cy="303956"/>
          </a:xfrm>
          <a:prstGeom prst="rect">
            <a:avLst/>
          </a:prstGeom>
          <a:noFill/>
          <a:ln/>
        </p:spPr>
        <p:txBody>
          <a:bodyPr wrap="square" lIns="67546" tIns="67546" rIns="67546" bIns="67546" rtlCol="0" anchor="ctr"/>
          <a:lstStyle/>
          <a:p>
            <a:pPr algn="ctr">
              <a:lnSpc>
                <a:spcPct val="120000"/>
              </a:lnSpc>
            </a:pPr>
            <a:r>
              <a:rPr lang="en-US" sz="931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= β₀ + β₁x₁ + β₂x₂ + ... + ε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9970" y="2670596"/>
            <a:ext cx="3434699" cy="986167"/>
          </a:xfrm>
          <a:custGeom>
            <a:avLst/>
            <a:gdLst/>
            <a:ahLst/>
            <a:cxnLst/>
            <a:rect l="l" t="t" r="r" b="b"/>
            <a:pathLst>
              <a:path w="3434699" h="986167">
                <a:moveTo>
                  <a:pt x="33776" y="0"/>
                </a:moveTo>
                <a:lnTo>
                  <a:pt x="3400923" y="0"/>
                </a:lnTo>
                <a:cubicBezTo>
                  <a:pt x="3419577" y="0"/>
                  <a:pt x="3434699" y="15122"/>
                  <a:pt x="3434699" y="33776"/>
                </a:cubicBezTo>
                <a:lnTo>
                  <a:pt x="3434699" y="952391"/>
                </a:lnTo>
                <a:cubicBezTo>
                  <a:pt x="3434699" y="971045"/>
                  <a:pt x="3419577" y="986167"/>
                  <a:pt x="3400923" y="986167"/>
                </a:cubicBezTo>
                <a:lnTo>
                  <a:pt x="33776" y="986167"/>
                </a:lnTo>
                <a:cubicBezTo>
                  <a:pt x="15122" y="986167"/>
                  <a:pt x="0" y="971045"/>
                  <a:pt x="0" y="952391"/>
                </a:cubicBezTo>
                <a:lnTo>
                  <a:pt x="0" y="33776"/>
                </a:lnTo>
                <a:cubicBezTo>
                  <a:pt x="0" y="15122"/>
                  <a:pt x="15122" y="0"/>
                  <a:pt x="33776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80893" y="2741522"/>
            <a:ext cx="3351956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Forces 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0893" y="2910386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Simple et interprétable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0893" y="3146796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Rapide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0893" y="3383206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Bien pour relations linéaires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9970" y="3731065"/>
            <a:ext cx="3434699" cy="749757"/>
          </a:xfrm>
          <a:custGeom>
            <a:avLst/>
            <a:gdLst/>
            <a:ahLst/>
            <a:cxnLst/>
            <a:rect l="l" t="t" r="r" b="b"/>
            <a:pathLst>
              <a:path w="3434699" h="749757">
                <a:moveTo>
                  <a:pt x="33777" y="0"/>
                </a:moveTo>
                <a:lnTo>
                  <a:pt x="3400923" y="0"/>
                </a:lnTo>
                <a:cubicBezTo>
                  <a:pt x="3419577" y="0"/>
                  <a:pt x="3434699" y="15122"/>
                  <a:pt x="3434699" y="33777"/>
                </a:cubicBezTo>
                <a:lnTo>
                  <a:pt x="3434699" y="715981"/>
                </a:lnTo>
                <a:cubicBezTo>
                  <a:pt x="3434699" y="734635"/>
                  <a:pt x="3419577" y="749757"/>
                  <a:pt x="3400923" y="749757"/>
                </a:cubicBezTo>
                <a:lnTo>
                  <a:pt x="33777" y="749757"/>
                </a:lnTo>
                <a:cubicBezTo>
                  <a:pt x="15122" y="749757"/>
                  <a:pt x="0" y="734635"/>
                  <a:pt x="0" y="715981"/>
                </a:cubicBezTo>
                <a:lnTo>
                  <a:pt x="0" y="33777"/>
                </a:lnTo>
                <a:cubicBezTo>
                  <a:pt x="0" y="15122"/>
                  <a:pt x="15122" y="0"/>
                  <a:pt x="33777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80893" y="3801986"/>
            <a:ext cx="3351956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Limites 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0893" y="3970850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Relations non-linéaires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893" y="4207260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Outliers sensibles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6593" y="4555123"/>
            <a:ext cx="3444831" cy="6755"/>
          </a:xfrm>
          <a:custGeom>
            <a:avLst/>
            <a:gdLst/>
            <a:ahLst/>
            <a:cxnLst/>
            <a:rect l="l" t="t" r="r" b="b"/>
            <a:pathLst>
              <a:path w="3444831" h="6755">
                <a:moveTo>
                  <a:pt x="0" y="0"/>
                </a:moveTo>
                <a:lnTo>
                  <a:pt x="3444831" y="0"/>
                </a:lnTo>
                <a:lnTo>
                  <a:pt x="3444831" y="6755"/>
                </a:lnTo>
                <a:lnTo>
                  <a:pt x="0" y="675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06593" y="4626045"/>
            <a:ext cx="3503934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d'usage :</a:t>
            </a:r>
            <a:r>
              <a:rPr lang="en-US" sz="93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Prédiction prix simple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37227" y="911031"/>
            <a:ext cx="3731900" cy="4018970"/>
          </a:xfrm>
          <a:custGeom>
            <a:avLst/>
            <a:gdLst/>
            <a:ahLst/>
            <a:cxnLst/>
            <a:rect l="l" t="t" r="r" b="b"/>
            <a:pathLst>
              <a:path w="3731900" h="4018970">
                <a:moveTo>
                  <a:pt x="33773" y="0"/>
                </a:moveTo>
                <a:lnTo>
                  <a:pt x="3664353" y="0"/>
                </a:lnTo>
                <a:cubicBezTo>
                  <a:pt x="3701658" y="0"/>
                  <a:pt x="3731900" y="30242"/>
                  <a:pt x="3731900" y="67547"/>
                </a:cubicBezTo>
                <a:lnTo>
                  <a:pt x="3731900" y="3951422"/>
                </a:lnTo>
                <a:cubicBezTo>
                  <a:pt x="3731900" y="3988728"/>
                  <a:pt x="3701658" y="4018970"/>
                  <a:pt x="3664353" y="4018970"/>
                </a:cubicBezTo>
                <a:lnTo>
                  <a:pt x="33773" y="4018970"/>
                </a:lnTo>
                <a:cubicBezTo>
                  <a:pt x="15121" y="4018970"/>
                  <a:pt x="0" y="4003849"/>
                  <a:pt x="0" y="3985197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659" dist="3377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237227" y="911031"/>
            <a:ext cx="33773" cy="4018970"/>
          </a:xfrm>
          <a:custGeom>
            <a:avLst/>
            <a:gdLst/>
            <a:ahLst/>
            <a:cxnLst/>
            <a:rect l="l" t="t" r="r" b="b"/>
            <a:pathLst>
              <a:path w="33773" h="4018970">
                <a:moveTo>
                  <a:pt x="33773" y="0"/>
                </a:moveTo>
                <a:lnTo>
                  <a:pt x="33773" y="0"/>
                </a:lnTo>
                <a:lnTo>
                  <a:pt x="33773" y="4018970"/>
                </a:lnTo>
                <a:lnTo>
                  <a:pt x="33773" y="4018970"/>
                </a:lnTo>
                <a:cubicBezTo>
                  <a:pt x="15121" y="4018970"/>
                  <a:pt x="0" y="4003849"/>
                  <a:pt x="0" y="3985197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389205" y="1046122"/>
            <a:ext cx="337729" cy="337729"/>
          </a:xfrm>
          <a:custGeom>
            <a:avLst/>
            <a:gdLst/>
            <a:ahLst/>
            <a:cxnLst/>
            <a:rect l="l" t="t" r="r" b="b"/>
            <a:pathLst>
              <a:path w="337729" h="337729">
                <a:moveTo>
                  <a:pt x="168864" y="0"/>
                </a:moveTo>
                <a:lnTo>
                  <a:pt x="168864" y="0"/>
                </a:lnTo>
                <a:cubicBezTo>
                  <a:pt x="262063" y="0"/>
                  <a:pt x="337729" y="75666"/>
                  <a:pt x="337729" y="168864"/>
                </a:cubicBezTo>
                <a:lnTo>
                  <a:pt x="337729" y="168864"/>
                </a:lnTo>
                <a:cubicBezTo>
                  <a:pt x="337729" y="262063"/>
                  <a:pt x="262063" y="337729"/>
                  <a:pt x="168864" y="337729"/>
                </a:cubicBezTo>
                <a:lnTo>
                  <a:pt x="168864" y="337729"/>
                </a:lnTo>
                <a:cubicBezTo>
                  <a:pt x="75666" y="337729"/>
                  <a:pt x="0" y="262063"/>
                  <a:pt x="0" y="168864"/>
                </a:cubicBezTo>
                <a:lnTo>
                  <a:pt x="0" y="168864"/>
                </a:lnTo>
                <a:cubicBezTo>
                  <a:pt x="0" y="75666"/>
                  <a:pt x="75666" y="0"/>
                  <a:pt x="168864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351210" y="1046122"/>
            <a:ext cx="413717" cy="33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94479" y="1096781"/>
            <a:ext cx="1511335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Régression Polynomiale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9205" y="1485169"/>
            <a:ext cx="3444831" cy="743003"/>
          </a:xfrm>
          <a:custGeom>
            <a:avLst/>
            <a:gdLst/>
            <a:ahLst/>
            <a:cxnLst/>
            <a:rect l="l" t="t" r="r" b="b"/>
            <a:pathLst>
              <a:path w="3444831" h="743003">
                <a:moveTo>
                  <a:pt x="33769" y="0"/>
                </a:moveTo>
                <a:lnTo>
                  <a:pt x="3411062" y="0"/>
                </a:lnTo>
                <a:cubicBezTo>
                  <a:pt x="3429712" y="0"/>
                  <a:pt x="3444831" y="15119"/>
                  <a:pt x="3444831" y="33769"/>
                </a:cubicBezTo>
                <a:lnTo>
                  <a:pt x="3444831" y="709233"/>
                </a:lnTo>
                <a:cubicBezTo>
                  <a:pt x="3444831" y="727884"/>
                  <a:pt x="3429712" y="743003"/>
                  <a:pt x="3411062" y="743003"/>
                </a:cubicBezTo>
                <a:lnTo>
                  <a:pt x="33769" y="743003"/>
                </a:lnTo>
                <a:cubicBezTo>
                  <a:pt x="15132" y="743003"/>
                  <a:pt x="0" y="727871"/>
                  <a:pt x="0" y="709233"/>
                </a:cubicBezTo>
                <a:lnTo>
                  <a:pt x="0" y="33769"/>
                </a:lnTo>
                <a:cubicBezTo>
                  <a:pt x="0" y="15132"/>
                  <a:pt x="15132" y="0"/>
                  <a:pt x="33769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456750" y="1552715"/>
            <a:ext cx="336884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Principe 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56750" y="1755352"/>
            <a:ext cx="3377285" cy="40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Ajoute des </a:t>
            </a:r>
            <a:r>
              <a:rPr lang="en-US" sz="1064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termes polynomiaux</a:t>
            </a: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capturer les relations non-linéaires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89205" y="2295718"/>
            <a:ext cx="3444831" cy="303956"/>
          </a:xfrm>
          <a:custGeom>
            <a:avLst/>
            <a:gdLst/>
            <a:ahLst/>
            <a:cxnLst/>
            <a:rect l="l" t="t" r="r" b="b"/>
            <a:pathLst>
              <a:path w="3444831" h="303956">
                <a:moveTo>
                  <a:pt x="33773" y="0"/>
                </a:moveTo>
                <a:lnTo>
                  <a:pt x="3411059" y="0"/>
                </a:lnTo>
                <a:cubicBezTo>
                  <a:pt x="3429711" y="0"/>
                  <a:pt x="3444831" y="15120"/>
                  <a:pt x="3444831" y="33773"/>
                </a:cubicBezTo>
                <a:lnTo>
                  <a:pt x="3444831" y="270183"/>
                </a:lnTo>
                <a:cubicBezTo>
                  <a:pt x="3444831" y="288835"/>
                  <a:pt x="3429711" y="303956"/>
                  <a:pt x="3411059" y="303956"/>
                </a:cubicBezTo>
                <a:lnTo>
                  <a:pt x="33773" y="303956"/>
                </a:lnTo>
                <a:cubicBezTo>
                  <a:pt x="15120" y="303956"/>
                  <a:pt x="0" y="288835"/>
                  <a:pt x="0" y="270183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359653" y="2295718"/>
            <a:ext cx="3503934" cy="303956"/>
          </a:xfrm>
          <a:prstGeom prst="rect">
            <a:avLst/>
          </a:prstGeom>
          <a:noFill/>
          <a:ln/>
        </p:spPr>
        <p:txBody>
          <a:bodyPr wrap="square" lIns="67546" tIns="67546" rIns="67546" bIns="67546" rtlCol="0" anchor="ctr"/>
          <a:lstStyle/>
          <a:p>
            <a:pPr algn="ctr">
              <a:lnSpc>
                <a:spcPct val="120000"/>
              </a:lnSpc>
            </a:pPr>
            <a:r>
              <a:rPr lang="en-US" sz="931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= β₀ + β₁x + β₂x² + β₃x³ + ... + 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92582" y="2670596"/>
            <a:ext cx="3434699" cy="986167"/>
          </a:xfrm>
          <a:custGeom>
            <a:avLst/>
            <a:gdLst/>
            <a:ahLst/>
            <a:cxnLst/>
            <a:rect l="l" t="t" r="r" b="b"/>
            <a:pathLst>
              <a:path w="3434699" h="986167">
                <a:moveTo>
                  <a:pt x="33776" y="0"/>
                </a:moveTo>
                <a:lnTo>
                  <a:pt x="3400923" y="0"/>
                </a:lnTo>
                <a:cubicBezTo>
                  <a:pt x="3419577" y="0"/>
                  <a:pt x="3434699" y="15122"/>
                  <a:pt x="3434699" y="33776"/>
                </a:cubicBezTo>
                <a:lnTo>
                  <a:pt x="3434699" y="952391"/>
                </a:lnTo>
                <a:cubicBezTo>
                  <a:pt x="3434699" y="971045"/>
                  <a:pt x="3419577" y="986167"/>
                  <a:pt x="3400923" y="986167"/>
                </a:cubicBezTo>
                <a:lnTo>
                  <a:pt x="33776" y="986167"/>
                </a:lnTo>
                <a:cubicBezTo>
                  <a:pt x="15122" y="986167"/>
                  <a:pt x="0" y="971045"/>
                  <a:pt x="0" y="952391"/>
                </a:cubicBezTo>
                <a:lnTo>
                  <a:pt x="0" y="33776"/>
                </a:lnTo>
                <a:cubicBezTo>
                  <a:pt x="0" y="15122"/>
                  <a:pt x="15122" y="0"/>
                  <a:pt x="33776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463505" y="2741522"/>
            <a:ext cx="3351956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Forces 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63505" y="2910386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Relations non-linéaires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63505" y="3146796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Flexible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63505" y="3383206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Courbes complexes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92582" y="3731065"/>
            <a:ext cx="3434699" cy="749757"/>
          </a:xfrm>
          <a:custGeom>
            <a:avLst/>
            <a:gdLst/>
            <a:ahLst/>
            <a:cxnLst/>
            <a:rect l="l" t="t" r="r" b="b"/>
            <a:pathLst>
              <a:path w="3434699" h="749757">
                <a:moveTo>
                  <a:pt x="33777" y="0"/>
                </a:moveTo>
                <a:lnTo>
                  <a:pt x="3400923" y="0"/>
                </a:lnTo>
                <a:cubicBezTo>
                  <a:pt x="3419577" y="0"/>
                  <a:pt x="3434699" y="15122"/>
                  <a:pt x="3434699" y="33777"/>
                </a:cubicBezTo>
                <a:lnTo>
                  <a:pt x="3434699" y="715981"/>
                </a:lnTo>
                <a:cubicBezTo>
                  <a:pt x="3434699" y="734635"/>
                  <a:pt x="3419577" y="749757"/>
                  <a:pt x="3400923" y="749757"/>
                </a:cubicBezTo>
                <a:lnTo>
                  <a:pt x="33777" y="749757"/>
                </a:lnTo>
                <a:cubicBezTo>
                  <a:pt x="15122" y="749757"/>
                  <a:pt x="0" y="734635"/>
                  <a:pt x="0" y="715981"/>
                </a:cubicBezTo>
                <a:lnTo>
                  <a:pt x="0" y="33777"/>
                </a:lnTo>
                <a:cubicBezTo>
                  <a:pt x="0" y="15122"/>
                  <a:pt x="15122" y="0"/>
                  <a:pt x="33777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463505" y="3801986"/>
            <a:ext cx="3351956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Limites 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63505" y="3970850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Surapprentissage (degré élevé)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63505" y="4207260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Interprétation difficile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89205" y="4555123"/>
            <a:ext cx="3444831" cy="6755"/>
          </a:xfrm>
          <a:custGeom>
            <a:avLst/>
            <a:gdLst/>
            <a:ahLst/>
            <a:cxnLst/>
            <a:rect l="l" t="t" r="r" b="b"/>
            <a:pathLst>
              <a:path w="3444831" h="6755">
                <a:moveTo>
                  <a:pt x="0" y="0"/>
                </a:moveTo>
                <a:lnTo>
                  <a:pt x="3444831" y="0"/>
                </a:lnTo>
                <a:lnTo>
                  <a:pt x="3444831" y="6755"/>
                </a:lnTo>
                <a:lnTo>
                  <a:pt x="0" y="675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4389205" y="4626045"/>
            <a:ext cx="3503934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d'usage :</a:t>
            </a:r>
            <a:r>
              <a:rPr lang="en-US" sz="93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Croissance, trajectoires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19838" y="911031"/>
            <a:ext cx="3731900" cy="4018970"/>
          </a:xfrm>
          <a:custGeom>
            <a:avLst/>
            <a:gdLst/>
            <a:ahLst/>
            <a:cxnLst/>
            <a:rect l="l" t="t" r="r" b="b"/>
            <a:pathLst>
              <a:path w="3731900" h="4018970">
                <a:moveTo>
                  <a:pt x="33773" y="0"/>
                </a:moveTo>
                <a:lnTo>
                  <a:pt x="3664353" y="0"/>
                </a:lnTo>
                <a:cubicBezTo>
                  <a:pt x="3701658" y="0"/>
                  <a:pt x="3731900" y="30242"/>
                  <a:pt x="3731900" y="67547"/>
                </a:cubicBezTo>
                <a:lnTo>
                  <a:pt x="3731900" y="3951422"/>
                </a:lnTo>
                <a:cubicBezTo>
                  <a:pt x="3731900" y="3988728"/>
                  <a:pt x="3701658" y="4018970"/>
                  <a:pt x="3664353" y="4018970"/>
                </a:cubicBezTo>
                <a:lnTo>
                  <a:pt x="33773" y="4018970"/>
                </a:lnTo>
                <a:cubicBezTo>
                  <a:pt x="15121" y="4018970"/>
                  <a:pt x="0" y="4003849"/>
                  <a:pt x="0" y="3985197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659" dist="3377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8119838" y="911031"/>
            <a:ext cx="33773" cy="4018970"/>
          </a:xfrm>
          <a:custGeom>
            <a:avLst/>
            <a:gdLst/>
            <a:ahLst/>
            <a:cxnLst/>
            <a:rect l="l" t="t" r="r" b="b"/>
            <a:pathLst>
              <a:path w="33773" h="4018970">
                <a:moveTo>
                  <a:pt x="33773" y="0"/>
                </a:moveTo>
                <a:lnTo>
                  <a:pt x="33773" y="0"/>
                </a:lnTo>
                <a:lnTo>
                  <a:pt x="33773" y="4018970"/>
                </a:lnTo>
                <a:lnTo>
                  <a:pt x="33773" y="4018970"/>
                </a:lnTo>
                <a:cubicBezTo>
                  <a:pt x="15121" y="4018970"/>
                  <a:pt x="0" y="4003849"/>
                  <a:pt x="0" y="3985197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8271816" y="1046122"/>
            <a:ext cx="337729" cy="337729"/>
          </a:xfrm>
          <a:custGeom>
            <a:avLst/>
            <a:gdLst/>
            <a:ahLst/>
            <a:cxnLst/>
            <a:rect l="l" t="t" r="r" b="b"/>
            <a:pathLst>
              <a:path w="337729" h="337729">
                <a:moveTo>
                  <a:pt x="168864" y="0"/>
                </a:moveTo>
                <a:lnTo>
                  <a:pt x="168864" y="0"/>
                </a:lnTo>
                <a:cubicBezTo>
                  <a:pt x="262063" y="0"/>
                  <a:pt x="337729" y="75666"/>
                  <a:pt x="337729" y="168864"/>
                </a:cubicBezTo>
                <a:lnTo>
                  <a:pt x="337729" y="168864"/>
                </a:lnTo>
                <a:cubicBezTo>
                  <a:pt x="337729" y="262063"/>
                  <a:pt x="262063" y="337729"/>
                  <a:pt x="168864" y="337729"/>
                </a:cubicBezTo>
                <a:lnTo>
                  <a:pt x="168864" y="337729"/>
                </a:lnTo>
                <a:cubicBezTo>
                  <a:pt x="75666" y="337729"/>
                  <a:pt x="0" y="262063"/>
                  <a:pt x="0" y="168864"/>
                </a:cubicBezTo>
                <a:lnTo>
                  <a:pt x="0" y="168864"/>
                </a:lnTo>
                <a:cubicBezTo>
                  <a:pt x="0" y="75666"/>
                  <a:pt x="75666" y="0"/>
                  <a:pt x="168864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8233822" y="1046122"/>
            <a:ext cx="413717" cy="33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77091" y="1096781"/>
            <a:ext cx="903424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Ridge &amp; Lasso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71816" y="1485169"/>
            <a:ext cx="3444831" cy="743003"/>
          </a:xfrm>
          <a:custGeom>
            <a:avLst/>
            <a:gdLst/>
            <a:ahLst/>
            <a:cxnLst/>
            <a:rect l="l" t="t" r="r" b="b"/>
            <a:pathLst>
              <a:path w="3444831" h="743003">
                <a:moveTo>
                  <a:pt x="33769" y="0"/>
                </a:moveTo>
                <a:lnTo>
                  <a:pt x="3411062" y="0"/>
                </a:lnTo>
                <a:cubicBezTo>
                  <a:pt x="3429712" y="0"/>
                  <a:pt x="3444831" y="15119"/>
                  <a:pt x="3444831" y="33769"/>
                </a:cubicBezTo>
                <a:lnTo>
                  <a:pt x="3444831" y="709233"/>
                </a:lnTo>
                <a:cubicBezTo>
                  <a:pt x="3444831" y="727884"/>
                  <a:pt x="3429712" y="743003"/>
                  <a:pt x="3411062" y="743003"/>
                </a:cubicBezTo>
                <a:lnTo>
                  <a:pt x="33769" y="743003"/>
                </a:lnTo>
                <a:cubicBezTo>
                  <a:pt x="15132" y="743003"/>
                  <a:pt x="0" y="727871"/>
                  <a:pt x="0" y="709233"/>
                </a:cubicBezTo>
                <a:lnTo>
                  <a:pt x="0" y="33769"/>
                </a:lnTo>
                <a:cubicBezTo>
                  <a:pt x="0" y="15132"/>
                  <a:pt x="15132" y="0"/>
                  <a:pt x="33769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8339362" y="1552715"/>
            <a:ext cx="336884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Principe 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39362" y="1755352"/>
            <a:ext cx="3377285" cy="40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Régularisation</a:t>
            </a: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réduire le surapprentissage en pénalisant les grands coefficients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71816" y="2295718"/>
            <a:ext cx="1688643" cy="540366"/>
          </a:xfrm>
          <a:custGeom>
            <a:avLst/>
            <a:gdLst/>
            <a:ahLst/>
            <a:cxnLst/>
            <a:rect l="l" t="t" r="r" b="b"/>
            <a:pathLst>
              <a:path w="1688643" h="540366">
                <a:moveTo>
                  <a:pt x="33773" y="0"/>
                </a:moveTo>
                <a:lnTo>
                  <a:pt x="1654870" y="0"/>
                </a:lnTo>
                <a:cubicBezTo>
                  <a:pt x="1673522" y="0"/>
                  <a:pt x="1688643" y="15121"/>
                  <a:pt x="1688643" y="33773"/>
                </a:cubicBezTo>
                <a:lnTo>
                  <a:pt x="1688643" y="506593"/>
                </a:lnTo>
                <a:cubicBezTo>
                  <a:pt x="1688643" y="525245"/>
                  <a:pt x="1673522" y="540366"/>
                  <a:pt x="1654870" y="540366"/>
                </a:cubicBezTo>
                <a:lnTo>
                  <a:pt x="33773" y="540366"/>
                </a:lnTo>
                <a:cubicBezTo>
                  <a:pt x="15121" y="540366"/>
                  <a:pt x="0" y="525245"/>
                  <a:pt x="0" y="50659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8314032" y="2363263"/>
            <a:ext cx="1604211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Ridge (L2)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14032" y="2498252"/>
            <a:ext cx="1604211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λΣβ²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14032" y="2633236"/>
            <a:ext cx="1604211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Rétrécit coeffs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027371" y="2295718"/>
            <a:ext cx="1688643" cy="540366"/>
          </a:xfrm>
          <a:custGeom>
            <a:avLst/>
            <a:gdLst/>
            <a:ahLst/>
            <a:cxnLst/>
            <a:rect l="l" t="t" r="r" b="b"/>
            <a:pathLst>
              <a:path w="1688643" h="540366">
                <a:moveTo>
                  <a:pt x="33773" y="0"/>
                </a:moveTo>
                <a:lnTo>
                  <a:pt x="1654870" y="0"/>
                </a:lnTo>
                <a:cubicBezTo>
                  <a:pt x="1673522" y="0"/>
                  <a:pt x="1688643" y="15121"/>
                  <a:pt x="1688643" y="33773"/>
                </a:cubicBezTo>
                <a:lnTo>
                  <a:pt x="1688643" y="506593"/>
                </a:lnTo>
                <a:cubicBezTo>
                  <a:pt x="1688643" y="525245"/>
                  <a:pt x="1673522" y="540366"/>
                  <a:pt x="1654870" y="540366"/>
                </a:cubicBezTo>
                <a:lnTo>
                  <a:pt x="33773" y="540366"/>
                </a:lnTo>
                <a:cubicBezTo>
                  <a:pt x="15121" y="540366"/>
                  <a:pt x="0" y="525245"/>
                  <a:pt x="0" y="50659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10069587" y="2363263"/>
            <a:ext cx="1604211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Lasso (L1)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069587" y="2498252"/>
            <a:ext cx="1604211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λΣ|β|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069587" y="2633236"/>
            <a:ext cx="1604211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Sélection features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75193" y="2906689"/>
            <a:ext cx="3434699" cy="986167"/>
          </a:xfrm>
          <a:custGeom>
            <a:avLst/>
            <a:gdLst/>
            <a:ahLst/>
            <a:cxnLst/>
            <a:rect l="l" t="t" r="r" b="b"/>
            <a:pathLst>
              <a:path w="3434699" h="986167">
                <a:moveTo>
                  <a:pt x="33776" y="0"/>
                </a:moveTo>
                <a:lnTo>
                  <a:pt x="3400923" y="0"/>
                </a:lnTo>
                <a:cubicBezTo>
                  <a:pt x="3419577" y="0"/>
                  <a:pt x="3434699" y="15122"/>
                  <a:pt x="3434699" y="33776"/>
                </a:cubicBezTo>
                <a:lnTo>
                  <a:pt x="3434699" y="952391"/>
                </a:lnTo>
                <a:cubicBezTo>
                  <a:pt x="3434699" y="971045"/>
                  <a:pt x="3419577" y="986167"/>
                  <a:pt x="3400923" y="986167"/>
                </a:cubicBezTo>
                <a:lnTo>
                  <a:pt x="33776" y="986167"/>
                </a:lnTo>
                <a:cubicBezTo>
                  <a:pt x="15122" y="986167"/>
                  <a:pt x="0" y="971045"/>
                  <a:pt x="0" y="952391"/>
                </a:cubicBezTo>
                <a:lnTo>
                  <a:pt x="0" y="33776"/>
                </a:lnTo>
                <a:cubicBezTo>
                  <a:pt x="0" y="15122"/>
                  <a:pt x="15122" y="0"/>
                  <a:pt x="33776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8346116" y="2977614"/>
            <a:ext cx="3351956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Forces :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46116" y="3146479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Réduit surapprentissage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46116" y="3382889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Gère multicolinéarité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46116" y="3619299"/>
            <a:ext cx="336039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Lasso sélectionne features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71816" y="4555123"/>
            <a:ext cx="3444831" cy="6755"/>
          </a:xfrm>
          <a:custGeom>
            <a:avLst/>
            <a:gdLst/>
            <a:ahLst/>
            <a:cxnLst/>
            <a:rect l="l" t="t" r="r" b="b"/>
            <a:pathLst>
              <a:path w="3444831" h="6755">
                <a:moveTo>
                  <a:pt x="0" y="0"/>
                </a:moveTo>
                <a:lnTo>
                  <a:pt x="3444831" y="0"/>
                </a:lnTo>
                <a:lnTo>
                  <a:pt x="3444831" y="6755"/>
                </a:lnTo>
                <a:lnTo>
                  <a:pt x="0" y="675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8271816" y="4626045"/>
            <a:ext cx="3503934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d'usage :</a:t>
            </a:r>
            <a:r>
              <a:rPr lang="en-US" sz="93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Haute dimensionnalité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54615" y="5065092"/>
            <a:ext cx="3731900" cy="1486006"/>
          </a:xfrm>
          <a:custGeom>
            <a:avLst/>
            <a:gdLst/>
            <a:ahLst/>
            <a:cxnLst/>
            <a:rect l="l" t="t" r="r" b="b"/>
            <a:pathLst>
              <a:path w="3731900" h="1486006">
                <a:moveTo>
                  <a:pt x="33773" y="0"/>
                </a:moveTo>
                <a:lnTo>
                  <a:pt x="3664361" y="0"/>
                </a:lnTo>
                <a:cubicBezTo>
                  <a:pt x="3701662" y="0"/>
                  <a:pt x="3731900" y="30238"/>
                  <a:pt x="3731900" y="67539"/>
                </a:cubicBezTo>
                <a:lnTo>
                  <a:pt x="3731900" y="1418467"/>
                </a:lnTo>
                <a:cubicBezTo>
                  <a:pt x="3731900" y="1455767"/>
                  <a:pt x="3701662" y="1486006"/>
                  <a:pt x="3664361" y="1486006"/>
                </a:cubicBezTo>
                <a:lnTo>
                  <a:pt x="33773" y="1486006"/>
                </a:lnTo>
                <a:cubicBezTo>
                  <a:pt x="15121" y="1486006"/>
                  <a:pt x="0" y="1470885"/>
                  <a:pt x="0" y="1452233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659" dist="3377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354615" y="5065092"/>
            <a:ext cx="33773" cy="1486006"/>
          </a:xfrm>
          <a:custGeom>
            <a:avLst/>
            <a:gdLst/>
            <a:ahLst/>
            <a:cxnLst/>
            <a:rect l="l" t="t" r="r" b="b"/>
            <a:pathLst>
              <a:path w="33773" h="1486006">
                <a:moveTo>
                  <a:pt x="33773" y="0"/>
                </a:moveTo>
                <a:lnTo>
                  <a:pt x="33773" y="0"/>
                </a:lnTo>
                <a:lnTo>
                  <a:pt x="33773" y="1486006"/>
                </a:lnTo>
                <a:lnTo>
                  <a:pt x="33773" y="1486006"/>
                </a:lnTo>
                <a:cubicBezTo>
                  <a:pt x="15121" y="1486006"/>
                  <a:pt x="0" y="1470885"/>
                  <a:pt x="0" y="145223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506593" y="5200183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135091" y="0"/>
                </a:moveTo>
                <a:lnTo>
                  <a:pt x="135091" y="0"/>
                </a:lnTo>
                <a:cubicBezTo>
                  <a:pt x="209700" y="0"/>
                  <a:pt x="270183" y="60482"/>
                  <a:pt x="270183" y="135091"/>
                </a:cubicBezTo>
                <a:lnTo>
                  <a:pt x="270183" y="135091"/>
                </a:lnTo>
                <a:cubicBezTo>
                  <a:pt x="270183" y="209700"/>
                  <a:pt x="209700" y="270183"/>
                  <a:pt x="135091" y="270183"/>
                </a:cubicBezTo>
                <a:lnTo>
                  <a:pt x="135091" y="270183"/>
                </a:lnTo>
                <a:cubicBezTo>
                  <a:pt x="60482" y="270183"/>
                  <a:pt x="0" y="209700"/>
                  <a:pt x="0" y="135091"/>
                </a:cubicBezTo>
                <a:lnTo>
                  <a:pt x="0" y="135091"/>
                </a:lnTo>
                <a:cubicBezTo>
                  <a:pt x="0" y="60482"/>
                  <a:pt x="60482" y="0"/>
                  <a:pt x="135091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477042" y="5200183"/>
            <a:ext cx="329285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44321" y="5233956"/>
            <a:ext cx="1249596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Régression par Arbres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506593" y="5537912"/>
            <a:ext cx="3512377" cy="40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Divise l'espace des features en </a:t>
            </a:r>
            <a:r>
              <a:rPr lang="en-US" sz="1064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régions rectangulaires</a:t>
            </a: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Prédiction = moyenne des valeurs dans la région.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06593" y="6010732"/>
            <a:ext cx="683900" cy="202637"/>
          </a:xfrm>
          <a:custGeom>
            <a:avLst/>
            <a:gdLst/>
            <a:ahLst/>
            <a:cxnLst/>
            <a:rect l="l" t="t" r="r" b="b"/>
            <a:pathLst>
              <a:path w="683900" h="202637">
                <a:moveTo>
                  <a:pt x="33774" y="0"/>
                </a:moveTo>
                <a:lnTo>
                  <a:pt x="650127" y="0"/>
                </a:lnTo>
                <a:cubicBezTo>
                  <a:pt x="668779" y="0"/>
                  <a:pt x="683900" y="15121"/>
                  <a:pt x="683900" y="33774"/>
                </a:cubicBezTo>
                <a:lnTo>
                  <a:pt x="683900" y="168864"/>
                </a:lnTo>
                <a:cubicBezTo>
                  <a:pt x="683900" y="187516"/>
                  <a:pt x="668779" y="202637"/>
                  <a:pt x="650127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506593" y="6010732"/>
            <a:ext cx="734560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Non-linéaire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258355" y="6010732"/>
            <a:ext cx="894981" cy="202637"/>
          </a:xfrm>
          <a:custGeom>
            <a:avLst/>
            <a:gdLst/>
            <a:ahLst/>
            <a:cxnLst/>
            <a:rect l="l" t="t" r="r" b="b"/>
            <a:pathLst>
              <a:path w="894981" h="202637">
                <a:moveTo>
                  <a:pt x="33774" y="0"/>
                </a:moveTo>
                <a:lnTo>
                  <a:pt x="861207" y="0"/>
                </a:lnTo>
                <a:cubicBezTo>
                  <a:pt x="879860" y="0"/>
                  <a:pt x="894981" y="15121"/>
                  <a:pt x="894981" y="33774"/>
                </a:cubicBezTo>
                <a:lnTo>
                  <a:pt x="894981" y="168864"/>
                </a:lnTo>
                <a:cubicBezTo>
                  <a:pt x="894981" y="187516"/>
                  <a:pt x="879860" y="202637"/>
                  <a:pt x="861207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FEF9C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1258355" y="6010732"/>
            <a:ext cx="945640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894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Surapprentissage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237227" y="5065092"/>
            <a:ext cx="3731900" cy="1486006"/>
          </a:xfrm>
          <a:custGeom>
            <a:avLst/>
            <a:gdLst/>
            <a:ahLst/>
            <a:cxnLst/>
            <a:rect l="l" t="t" r="r" b="b"/>
            <a:pathLst>
              <a:path w="3731900" h="1486006">
                <a:moveTo>
                  <a:pt x="33773" y="0"/>
                </a:moveTo>
                <a:lnTo>
                  <a:pt x="3664361" y="0"/>
                </a:lnTo>
                <a:cubicBezTo>
                  <a:pt x="3701662" y="0"/>
                  <a:pt x="3731900" y="30238"/>
                  <a:pt x="3731900" y="67539"/>
                </a:cubicBezTo>
                <a:lnTo>
                  <a:pt x="3731900" y="1418467"/>
                </a:lnTo>
                <a:cubicBezTo>
                  <a:pt x="3731900" y="1455767"/>
                  <a:pt x="3701662" y="1486006"/>
                  <a:pt x="3664361" y="1486006"/>
                </a:cubicBezTo>
                <a:lnTo>
                  <a:pt x="33773" y="1486006"/>
                </a:lnTo>
                <a:cubicBezTo>
                  <a:pt x="15121" y="1486006"/>
                  <a:pt x="0" y="1470885"/>
                  <a:pt x="0" y="1452233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659" dist="3377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4237227" y="5065092"/>
            <a:ext cx="33773" cy="1486006"/>
          </a:xfrm>
          <a:custGeom>
            <a:avLst/>
            <a:gdLst/>
            <a:ahLst/>
            <a:cxnLst/>
            <a:rect l="l" t="t" r="r" b="b"/>
            <a:pathLst>
              <a:path w="33773" h="1486006">
                <a:moveTo>
                  <a:pt x="33773" y="0"/>
                </a:moveTo>
                <a:lnTo>
                  <a:pt x="33773" y="0"/>
                </a:lnTo>
                <a:lnTo>
                  <a:pt x="33773" y="1486006"/>
                </a:lnTo>
                <a:lnTo>
                  <a:pt x="33773" y="1486006"/>
                </a:lnTo>
                <a:cubicBezTo>
                  <a:pt x="15121" y="1486006"/>
                  <a:pt x="0" y="1470885"/>
                  <a:pt x="0" y="145223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4389205" y="5200183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135091" y="0"/>
                </a:moveTo>
                <a:lnTo>
                  <a:pt x="135091" y="0"/>
                </a:lnTo>
                <a:cubicBezTo>
                  <a:pt x="209700" y="0"/>
                  <a:pt x="270183" y="60482"/>
                  <a:pt x="270183" y="135091"/>
                </a:cubicBezTo>
                <a:lnTo>
                  <a:pt x="270183" y="135091"/>
                </a:lnTo>
                <a:cubicBezTo>
                  <a:pt x="270183" y="209700"/>
                  <a:pt x="209700" y="270183"/>
                  <a:pt x="135091" y="270183"/>
                </a:cubicBezTo>
                <a:lnTo>
                  <a:pt x="135091" y="270183"/>
                </a:lnTo>
                <a:cubicBezTo>
                  <a:pt x="60482" y="270183"/>
                  <a:pt x="0" y="209700"/>
                  <a:pt x="0" y="135091"/>
                </a:cubicBezTo>
                <a:lnTo>
                  <a:pt x="0" y="135091"/>
                </a:lnTo>
                <a:cubicBezTo>
                  <a:pt x="0" y="60482"/>
                  <a:pt x="60482" y="0"/>
                  <a:pt x="135091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Text 82"/>
          <p:cNvSpPr/>
          <p:nvPr/>
        </p:nvSpPr>
        <p:spPr>
          <a:xfrm>
            <a:off x="4359653" y="5200183"/>
            <a:ext cx="329285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4726933" y="5233956"/>
            <a:ext cx="149444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Support Vector Regression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4389205" y="5537912"/>
            <a:ext cx="3512377" cy="607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Extension des SVM pour la régression. Trouve une fonction qui </a:t>
            </a:r>
            <a:r>
              <a:rPr lang="en-US" sz="1064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devie le moins possible</a:t>
            </a: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valeurs réelles avec une marge de tolérance.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4389205" y="6213369"/>
            <a:ext cx="633241" cy="202637"/>
          </a:xfrm>
          <a:custGeom>
            <a:avLst/>
            <a:gdLst/>
            <a:ahLst/>
            <a:cxnLst/>
            <a:rect l="l" t="t" r="r" b="b"/>
            <a:pathLst>
              <a:path w="633241" h="202637">
                <a:moveTo>
                  <a:pt x="33774" y="0"/>
                </a:moveTo>
                <a:lnTo>
                  <a:pt x="599467" y="0"/>
                </a:lnTo>
                <a:cubicBezTo>
                  <a:pt x="618120" y="0"/>
                  <a:pt x="633241" y="15121"/>
                  <a:pt x="633241" y="33774"/>
                </a:cubicBezTo>
                <a:lnTo>
                  <a:pt x="633241" y="168864"/>
                </a:lnTo>
                <a:cubicBezTo>
                  <a:pt x="633241" y="187516"/>
                  <a:pt x="618120" y="202637"/>
                  <a:pt x="599467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4389205" y="6213369"/>
            <a:ext cx="683900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Robustesse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5092946" y="6213369"/>
            <a:ext cx="464377" cy="202637"/>
          </a:xfrm>
          <a:custGeom>
            <a:avLst/>
            <a:gdLst/>
            <a:ahLst/>
            <a:cxnLst/>
            <a:rect l="l" t="t" r="r" b="b"/>
            <a:pathLst>
              <a:path w="464377" h="202637">
                <a:moveTo>
                  <a:pt x="33774" y="0"/>
                </a:moveTo>
                <a:lnTo>
                  <a:pt x="430603" y="0"/>
                </a:lnTo>
                <a:cubicBezTo>
                  <a:pt x="449256" y="0"/>
                  <a:pt x="464377" y="15121"/>
                  <a:pt x="464377" y="33774"/>
                </a:cubicBezTo>
                <a:lnTo>
                  <a:pt x="464377" y="168864"/>
                </a:lnTo>
                <a:cubicBezTo>
                  <a:pt x="464377" y="187516"/>
                  <a:pt x="449256" y="202637"/>
                  <a:pt x="430603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DBE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5092946" y="6213369"/>
            <a:ext cx="515036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193C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Kernels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119838" y="5065092"/>
            <a:ext cx="3731900" cy="1486006"/>
          </a:xfrm>
          <a:custGeom>
            <a:avLst/>
            <a:gdLst/>
            <a:ahLst/>
            <a:cxnLst/>
            <a:rect l="l" t="t" r="r" b="b"/>
            <a:pathLst>
              <a:path w="3731900" h="1486006">
                <a:moveTo>
                  <a:pt x="33773" y="0"/>
                </a:moveTo>
                <a:lnTo>
                  <a:pt x="3664361" y="0"/>
                </a:lnTo>
                <a:cubicBezTo>
                  <a:pt x="3701662" y="0"/>
                  <a:pt x="3731900" y="30238"/>
                  <a:pt x="3731900" y="67539"/>
                </a:cubicBezTo>
                <a:lnTo>
                  <a:pt x="3731900" y="1418467"/>
                </a:lnTo>
                <a:cubicBezTo>
                  <a:pt x="3731900" y="1455767"/>
                  <a:pt x="3701662" y="1486006"/>
                  <a:pt x="3664361" y="1486006"/>
                </a:cubicBezTo>
                <a:lnTo>
                  <a:pt x="33773" y="1486006"/>
                </a:lnTo>
                <a:cubicBezTo>
                  <a:pt x="15121" y="1486006"/>
                  <a:pt x="0" y="1470885"/>
                  <a:pt x="0" y="1452233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659" dist="3377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2" name="Shape 90"/>
          <p:cNvSpPr/>
          <p:nvPr/>
        </p:nvSpPr>
        <p:spPr>
          <a:xfrm>
            <a:off x="8119838" y="5065092"/>
            <a:ext cx="33773" cy="1486006"/>
          </a:xfrm>
          <a:custGeom>
            <a:avLst/>
            <a:gdLst/>
            <a:ahLst/>
            <a:cxnLst/>
            <a:rect l="l" t="t" r="r" b="b"/>
            <a:pathLst>
              <a:path w="33773" h="1486006">
                <a:moveTo>
                  <a:pt x="33773" y="0"/>
                </a:moveTo>
                <a:lnTo>
                  <a:pt x="33773" y="0"/>
                </a:lnTo>
                <a:lnTo>
                  <a:pt x="33773" y="1486006"/>
                </a:lnTo>
                <a:lnTo>
                  <a:pt x="33773" y="1486006"/>
                </a:lnTo>
                <a:cubicBezTo>
                  <a:pt x="15121" y="1486006"/>
                  <a:pt x="0" y="1470885"/>
                  <a:pt x="0" y="145223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3" name="Shape 91"/>
          <p:cNvSpPr/>
          <p:nvPr/>
        </p:nvSpPr>
        <p:spPr>
          <a:xfrm>
            <a:off x="8271816" y="5200183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135091" y="0"/>
                </a:moveTo>
                <a:lnTo>
                  <a:pt x="135091" y="0"/>
                </a:lnTo>
                <a:cubicBezTo>
                  <a:pt x="209700" y="0"/>
                  <a:pt x="270183" y="60482"/>
                  <a:pt x="270183" y="135091"/>
                </a:cubicBezTo>
                <a:lnTo>
                  <a:pt x="270183" y="135091"/>
                </a:lnTo>
                <a:cubicBezTo>
                  <a:pt x="270183" y="209700"/>
                  <a:pt x="209700" y="270183"/>
                  <a:pt x="135091" y="270183"/>
                </a:cubicBezTo>
                <a:lnTo>
                  <a:pt x="135091" y="270183"/>
                </a:lnTo>
                <a:cubicBezTo>
                  <a:pt x="60482" y="270183"/>
                  <a:pt x="0" y="209700"/>
                  <a:pt x="0" y="135091"/>
                </a:cubicBezTo>
                <a:lnTo>
                  <a:pt x="0" y="135091"/>
                </a:lnTo>
                <a:cubicBezTo>
                  <a:pt x="0" y="60482"/>
                  <a:pt x="60482" y="0"/>
                  <a:pt x="135091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4" name="Text 92"/>
          <p:cNvSpPr/>
          <p:nvPr/>
        </p:nvSpPr>
        <p:spPr>
          <a:xfrm>
            <a:off x="8242265" y="5200183"/>
            <a:ext cx="329285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8609545" y="5233956"/>
            <a:ext cx="1486006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Forêt Aléatoire Régression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8271816" y="5537912"/>
            <a:ext cx="3512377" cy="40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d'arbres de régression. Prédiction finale = </a:t>
            </a:r>
            <a:r>
              <a:rPr lang="en-US" sz="1064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moyenne</a:t>
            </a:r>
            <a:r>
              <a:rPr lang="en-US" sz="1064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prédictions de tous les arbres.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8271816" y="6010732"/>
            <a:ext cx="531922" cy="202637"/>
          </a:xfrm>
          <a:custGeom>
            <a:avLst/>
            <a:gdLst/>
            <a:ahLst/>
            <a:cxnLst/>
            <a:rect l="l" t="t" r="r" b="b"/>
            <a:pathLst>
              <a:path w="531922" h="202637">
                <a:moveTo>
                  <a:pt x="33774" y="0"/>
                </a:moveTo>
                <a:lnTo>
                  <a:pt x="498149" y="0"/>
                </a:lnTo>
                <a:cubicBezTo>
                  <a:pt x="516802" y="0"/>
                  <a:pt x="531922" y="15121"/>
                  <a:pt x="531922" y="33774"/>
                </a:cubicBezTo>
                <a:lnTo>
                  <a:pt x="531922" y="168864"/>
                </a:lnTo>
                <a:cubicBezTo>
                  <a:pt x="531922" y="187516"/>
                  <a:pt x="516802" y="202637"/>
                  <a:pt x="498149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8" name="Text 96"/>
          <p:cNvSpPr/>
          <p:nvPr/>
        </p:nvSpPr>
        <p:spPr>
          <a:xfrm>
            <a:off x="8271816" y="6010732"/>
            <a:ext cx="582582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Précision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8869702" y="6010732"/>
            <a:ext cx="987856" cy="202637"/>
          </a:xfrm>
          <a:custGeom>
            <a:avLst/>
            <a:gdLst/>
            <a:ahLst/>
            <a:cxnLst/>
            <a:rect l="l" t="t" r="r" b="b"/>
            <a:pathLst>
              <a:path w="987856" h="202637">
                <a:moveTo>
                  <a:pt x="33774" y="0"/>
                </a:moveTo>
                <a:lnTo>
                  <a:pt x="954082" y="0"/>
                </a:lnTo>
                <a:cubicBezTo>
                  <a:pt x="972735" y="0"/>
                  <a:pt x="987856" y="15121"/>
                  <a:pt x="987856" y="33774"/>
                </a:cubicBezTo>
                <a:lnTo>
                  <a:pt x="987856" y="168864"/>
                </a:lnTo>
                <a:cubicBezTo>
                  <a:pt x="987856" y="187516"/>
                  <a:pt x="972735" y="202637"/>
                  <a:pt x="954082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DBE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0" name="Text 98"/>
          <p:cNvSpPr/>
          <p:nvPr/>
        </p:nvSpPr>
        <p:spPr>
          <a:xfrm>
            <a:off x="8869702" y="6010732"/>
            <a:ext cx="1038515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193C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importance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889000" cy="222250"/>
          </a:xfrm>
          <a:custGeom>
            <a:avLst/>
            <a:gdLst/>
            <a:ahLst/>
            <a:cxnLst/>
            <a:rect l="l" t="t" r="r" b="b"/>
            <a:pathLst>
              <a:path w="889000" h="222250">
                <a:moveTo>
                  <a:pt x="0" y="0"/>
                </a:moveTo>
                <a:lnTo>
                  <a:pt x="889000" y="0"/>
                </a:lnTo>
                <a:lnTo>
                  <a:pt x="889000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17500" y="317500"/>
            <a:ext cx="944563" cy="222250"/>
          </a:xfrm>
          <a:prstGeom prst="rect">
            <a:avLst/>
          </a:prstGeom>
          <a:noFill/>
          <a:ln/>
        </p:spPr>
        <p:txBody>
          <a:bodyPr wrap="square" lIns="127000" tIns="31750" rIns="1270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032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Métriques d'Évaluation : Classification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17500" y="1143000"/>
            <a:ext cx="5699125" cy="2976563"/>
          </a:xfrm>
          <a:custGeom>
            <a:avLst/>
            <a:gdLst/>
            <a:ahLst/>
            <a:cxnLst/>
            <a:rect l="l" t="t" r="r" b="b"/>
            <a:pathLst>
              <a:path w="5699125" h="2976563">
                <a:moveTo>
                  <a:pt x="63490" y="0"/>
                </a:moveTo>
                <a:lnTo>
                  <a:pt x="5635635" y="0"/>
                </a:lnTo>
                <a:cubicBezTo>
                  <a:pt x="5670700" y="0"/>
                  <a:pt x="5699125" y="28425"/>
                  <a:pt x="5699125" y="63490"/>
                </a:cubicBezTo>
                <a:lnTo>
                  <a:pt x="5699125" y="2913072"/>
                </a:lnTo>
                <a:cubicBezTo>
                  <a:pt x="5699125" y="2948137"/>
                  <a:pt x="5670700" y="2976562"/>
                  <a:pt x="5635635" y="2976563"/>
                </a:cubicBezTo>
                <a:lnTo>
                  <a:pt x="63490" y="2976563"/>
                </a:lnTo>
                <a:cubicBezTo>
                  <a:pt x="28425" y="2976563"/>
                  <a:pt x="0" y="2948137"/>
                  <a:pt x="0" y="2913072"/>
                </a:cubicBezTo>
                <a:lnTo>
                  <a:pt x="0" y="63490"/>
                </a:lnTo>
                <a:cubicBezTo>
                  <a:pt x="0" y="28449"/>
                  <a:pt x="28449" y="0"/>
                  <a:pt x="634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06016" y="133350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19062" y="29766"/>
                </a:moveTo>
                <a:lnTo>
                  <a:pt x="119062" y="49609"/>
                </a:lnTo>
                <a:lnTo>
                  <a:pt x="99219" y="49609"/>
                </a:lnTo>
                <a:lnTo>
                  <a:pt x="99219" y="29766"/>
                </a:lnTo>
                <a:lnTo>
                  <a:pt x="119062" y="29766"/>
                </a:lnTo>
                <a:close/>
                <a:moveTo>
                  <a:pt x="119062" y="69453"/>
                </a:moveTo>
                <a:lnTo>
                  <a:pt x="119062" y="89297"/>
                </a:lnTo>
                <a:lnTo>
                  <a:pt x="99219" y="89297"/>
                </a:lnTo>
                <a:lnTo>
                  <a:pt x="99219" y="69453"/>
                </a:lnTo>
                <a:lnTo>
                  <a:pt x="119062" y="69453"/>
                </a:lnTo>
                <a:close/>
                <a:moveTo>
                  <a:pt x="119062" y="109141"/>
                </a:moveTo>
                <a:lnTo>
                  <a:pt x="119062" y="128984"/>
                </a:lnTo>
                <a:lnTo>
                  <a:pt x="99219" y="128984"/>
                </a:lnTo>
                <a:lnTo>
                  <a:pt x="99219" y="109141"/>
                </a:lnTo>
                <a:lnTo>
                  <a:pt x="119062" y="109141"/>
                </a:lnTo>
                <a:close/>
                <a:moveTo>
                  <a:pt x="79375" y="89297"/>
                </a:moveTo>
                <a:lnTo>
                  <a:pt x="59531" y="89297"/>
                </a:lnTo>
                <a:lnTo>
                  <a:pt x="59531" y="69453"/>
                </a:lnTo>
                <a:lnTo>
                  <a:pt x="79375" y="69453"/>
                </a:lnTo>
                <a:lnTo>
                  <a:pt x="79375" y="89297"/>
                </a:lnTo>
                <a:close/>
                <a:moveTo>
                  <a:pt x="59531" y="109141"/>
                </a:moveTo>
                <a:lnTo>
                  <a:pt x="79375" y="109141"/>
                </a:lnTo>
                <a:lnTo>
                  <a:pt x="79375" y="128984"/>
                </a:lnTo>
                <a:lnTo>
                  <a:pt x="59531" y="128984"/>
                </a:lnTo>
                <a:lnTo>
                  <a:pt x="59531" y="109141"/>
                </a:lnTo>
                <a:close/>
                <a:moveTo>
                  <a:pt x="39688" y="89297"/>
                </a:moveTo>
                <a:lnTo>
                  <a:pt x="19844" y="89297"/>
                </a:lnTo>
                <a:lnTo>
                  <a:pt x="19844" y="69453"/>
                </a:lnTo>
                <a:lnTo>
                  <a:pt x="39688" y="69453"/>
                </a:lnTo>
                <a:lnTo>
                  <a:pt x="39688" y="89297"/>
                </a:lnTo>
                <a:close/>
                <a:moveTo>
                  <a:pt x="19844" y="109141"/>
                </a:moveTo>
                <a:lnTo>
                  <a:pt x="39688" y="109141"/>
                </a:lnTo>
                <a:lnTo>
                  <a:pt x="39688" y="128984"/>
                </a:lnTo>
                <a:lnTo>
                  <a:pt x="19844" y="128984"/>
                </a:lnTo>
                <a:lnTo>
                  <a:pt x="19844" y="109141"/>
                </a:lnTo>
                <a:close/>
                <a:moveTo>
                  <a:pt x="19844" y="49609"/>
                </a:moveTo>
                <a:lnTo>
                  <a:pt x="19844" y="29766"/>
                </a:lnTo>
                <a:lnTo>
                  <a:pt x="39688" y="29766"/>
                </a:lnTo>
                <a:lnTo>
                  <a:pt x="39688" y="49609"/>
                </a:lnTo>
                <a:lnTo>
                  <a:pt x="19844" y="49609"/>
                </a:lnTo>
                <a:close/>
                <a:moveTo>
                  <a:pt x="59531" y="49609"/>
                </a:moveTo>
                <a:lnTo>
                  <a:pt x="59531" y="29766"/>
                </a:lnTo>
                <a:lnTo>
                  <a:pt x="79375" y="29766"/>
                </a:lnTo>
                <a:lnTo>
                  <a:pt x="79375" y="49609"/>
                </a:lnTo>
                <a:lnTo>
                  <a:pt x="59531" y="49609"/>
                </a:lnTo>
                <a:close/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74688" y="130175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Matrice de Confusion</a:t>
            </a:r>
            <a:endParaRPr lang="en-US" sz="1600" dirty="0"/>
          </a:p>
        </p:txBody>
      </p:sp>
      <p:pic>
        <p:nvPicPr>
          <p:cNvPr id="9" name="Image 0" descr="https://kimi-web-img.moonshot.cn/img/images.prismic.io/58352b7f0db7133a5ff4f2fbe3dc66d0824c852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2040533" y="1619250"/>
            <a:ext cx="2254250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479425" y="2987578"/>
            <a:ext cx="2649538" cy="450850"/>
          </a:xfrm>
          <a:custGeom>
            <a:avLst/>
            <a:gdLst/>
            <a:ahLst/>
            <a:cxnLst/>
            <a:rect l="l" t="t" r="r" b="b"/>
            <a:pathLst>
              <a:path w="2649538" h="450850">
                <a:moveTo>
                  <a:pt x="31749" y="0"/>
                </a:moveTo>
                <a:lnTo>
                  <a:pt x="2617789" y="0"/>
                </a:lnTo>
                <a:cubicBezTo>
                  <a:pt x="2635311" y="0"/>
                  <a:pt x="2649538" y="14226"/>
                  <a:pt x="2649538" y="31749"/>
                </a:cubicBezTo>
                <a:lnTo>
                  <a:pt x="2649538" y="419101"/>
                </a:lnTo>
                <a:cubicBezTo>
                  <a:pt x="2649538" y="436624"/>
                  <a:pt x="2635311" y="450850"/>
                  <a:pt x="2617789" y="450850"/>
                </a:cubicBezTo>
                <a:lnTo>
                  <a:pt x="31749" y="450850"/>
                </a:lnTo>
                <a:cubicBezTo>
                  <a:pt x="14226" y="450850"/>
                  <a:pt x="0" y="436624"/>
                  <a:pt x="0" y="4191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46100" y="3054252"/>
            <a:ext cx="257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 (Vrai Positif)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6100" y="3213002"/>
            <a:ext cx="257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Prédit +, Réel +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1988" y="2987578"/>
            <a:ext cx="2649538" cy="450850"/>
          </a:xfrm>
          <a:custGeom>
            <a:avLst/>
            <a:gdLst/>
            <a:ahLst/>
            <a:cxnLst/>
            <a:rect l="l" t="t" r="r" b="b"/>
            <a:pathLst>
              <a:path w="2649538" h="450850">
                <a:moveTo>
                  <a:pt x="31749" y="0"/>
                </a:moveTo>
                <a:lnTo>
                  <a:pt x="2617789" y="0"/>
                </a:lnTo>
                <a:cubicBezTo>
                  <a:pt x="2635311" y="0"/>
                  <a:pt x="2649538" y="14226"/>
                  <a:pt x="2649538" y="31749"/>
                </a:cubicBezTo>
                <a:lnTo>
                  <a:pt x="2649538" y="419101"/>
                </a:lnTo>
                <a:cubicBezTo>
                  <a:pt x="2649538" y="436624"/>
                  <a:pt x="2635311" y="450850"/>
                  <a:pt x="2617789" y="450850"/>
                </a:cubicBezTo>
                <a:lnTo>
                  <a:pt x="31749" y="450850"/>
                </a:lnTo>
                <a:cubicBezTo>
                  <a:pt x="14226" y="450850"/>
                  <a:pt x="0" y="436624"/>
                  <a:pt x="0" y="4191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268663" y="3054252"/>
            <a:ext cx="257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 (Faux Positif)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68663" y="3213002"/>
            <a:ext cx="257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Prédit +, Réel -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79425" y="3508275"/>
            <a:ext cx="2649538" cy="450850"/>
          </a:xfrm>
          <a:custGeom>
            <a:avLst/>
            <a:gdLst/>
            <a:ahLst/>
            <a:cxnLst/>
            <a:rect l="l" t="t" r="r" b="b"/>
            <a:pathLst>
              <a:path w="2649538" h="450850">
                <a:moveTo>
                  <a:pt x="31749" y="0"/>
                </a:moveTo>
                <a:lnTo>
                  <a:pt x="2617789" y="0"/>
                </a:lnTo>
                <a:cubicBezTo>
                  <a:pt x="2635311" y="0"/>
                  <a:pt x="2649538" y="14226"/>
                  <a:pt x="2649538" y="31749"/>
                </a:cubicBezTo>
                <a:lnTo>
                  <a:pt x="2649538" y="419101"/>
                </a:lnTo>
                <a:cubicBezTo>
                  <a:pt x="2649538" y="436624"/>
                  <a:pt x="2635311" y="450850"/>
                  <a:pt x="2617789" y="450850"/>
                </a:cubicBezTo>
                <a:lnTo>
                  <a:pt x="31749" y="450850"/>
                </a:lnTo>
                <a:cubicBezTo>
                  <a:pt x="14226" y="450850"/>
                  <a:pt x="0" y="436624"/>
                  <a:pt x="0" y="4191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46100" y="3574952"/>
            <a:ext cx="257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 (Faux Négatif)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6100" y="3733702"/>
            <a:ext cx="257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Prédit -, Réel +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01988" y="3508275"/>
            <a:ext cx="2649538" cy="450850"/>
          </a:xfrm>
          <a:custGeom>
            <a:avLst/>
            <a:gdLst/>
            <a:ahLst/>
            <a:cxnLst/>
            <a:rect l="l" t="t" r="r" b="b"/>
            <a:pathLst>
              <a:path w="2649538" h="450850">
                <a:moveTo>
                  <a:pt x="31749" y="0"/>
                </a:moveTo>
                <a:lnTo>
                  <a:pt x="2617789" y="0"/>
                </a:lnTo>
                <a:cubicBezTo>
                  <a:pt x="2635311" y="0"/>
                  <a:pt x="2649538" y="14226"/>
                  <a:pt x="2649538" y="31749"/>
                </a:cubicBezTo>
                <a:lnTo>
                  <a:pt x="2649538" y="419101"/>
                </a:lnTo>
                <a:cubicBezTo>
                  <a:pt x="2649538" y="436624"/>
                  <a:pt x="2635311" y="450850"/>
                  <a:pt x="2617789" y="450850"/>
                </a:cubicBezTo>
                <a:lnTo>
                  <a:pt x="31749" y="450850"/>
                </a:lnTo>
                <a:cubicBezTo>
                  <a:pt x="14226" y="450850"/>
                  <a:pt x="0" y="436624"/>
                  <a:pt x="0" y="4191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268663" y="3574952"/>
            <a:ext cx="257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TN (Vrai Négatif)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268663" y="3733702"/>
            <a:ext cx="257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Prédit -, Réel -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17500" y="4248051"/>
            <a:ext cx="5699125" cy="2928938"/>
          </a:xfrm>
          <a:custGeom>
            <a:avLst/>
            <a:gdLst/>
            <a:ahLst/>
            <a:cxnLst/>
            <a:rect l="l" t="t" r="r" b="b"/>
            <a:pathLst>
              <a:path w="5699125" h="2928938">
                <a:moveTo>
                  <a:pt x="63499" y="0"/>
                </a:moveTo>
                <a:lnTo>
                  <a:pt x="5635626" y="0"/>
                </a:lnTo>
                <a:cubicBezTo>
                  <a:pt x="5670695" y="0"/>
                  <a:pt x="5699125" y="28430"/>
                  <a:pt x="5699125" y="63499"/>
                </a:cubicBezTo>
                <a:lnTo>
                  <a:pt x="5699125" y="2865438"/>
                </a:lnTo>
                <a:cubicBezTo>
                  <a:pt x="5699125" y="2900508"/>
                  <a:pt x="5670695" y="2928938"/>
                  <a:pt x="5635626" y="2928938"/>
                </a:cubicBezTo>
                <a:lnTo>
                  <a:pt x="63499" y="2928938"/>
                </a:lnTo>
                <a:cubicBezTo>
                  <a:pt x="28430" y="2928938"/>
                  <a:pt x="0" y="2900508"/>
                  <a:pt x="0" y="2865438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476250" y="4438551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74688" y="4406801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Compromis Precision-Recall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76250" y="4767659"/>
            <a:ext cx="5381625" cy="825500"/>
          </a:xfrm>
          <a:custGeom>
            <a:avLst/>
            <a:gdLst/>
            <a:ahLst/>
            <a:cxnLst/>
            <a:rect l="l" t="t" r="r" b="b"/>
            <a:pathLst>
              <a:path w="5381625" h="825500">
                <a:moveTo>
                  <a:pt x="63497" y="0"/>
                </a:moveTo>
                <a:lnTo>
                  <a:pt x="5318128" y="0"/>
                </a:lnTo>
                <a:cubicBezTo>
                  <a:pt x="5353196" y="0"/>
                  <a:pt x="5381625" y="28429"/>
                  <a:pt x="5381625" y="63497"/>
                </a:cubicBezTo>
                <a:lnTo>
                  <a:pt x="5381625" y="762003"/>
                </a:lnTo>
                <a:cubicBezTo>
                  <a:pt x="5381625" y="797071"/>
                  <a:pt x="5353196" y="825500"/>
                  <a:pt x="5318128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71500" y="4862909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Quand privilégier Precision ?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71500" y="5116909"/>
            <a:ext cx="525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Quand les </a:t>
            </a: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faux positifs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sont coûteux (ex: spam - ne pas marquer un email important comme spam)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76250" y="5775128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571500" y="5870378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Quand privilégier Recall ?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71500" y="6124378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Quand les </a:t>
            </a: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faux négatifs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sont dangereux (ex: cancer - ne pas manquer un cas positif)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76250" y="6592094"/>
            <a:ext cx="5381625" cy="381000"/>
          </a:xfrm>
          <a:custGeom>
            <a:avLst/>
            <a:gdLst/>
            <a:ahLst/>
            <a:cxnLst/>
            <a:rect l="l" t="t" r="r" b="b"/>
            <a:pathLst>
              <a:path w="5381625" h="381000">
                <a:moveTo>
                  <a:pt x="63501" y="0"/>
                </a:moveTo>
                <a:lnTo>
                  <a:pt x="5318124" y="0"/>
                </a:lnTo>
                <a:cubicBezTo>
                  <a:pt x="5353195" y="0"/>
                  <a:pt x="5381625" y="28430"/>
                  <a:pt x="5381625" y="63501"/>
                </a:cubicBezTo>
                <a:lnTo>
                  <a:pt x="5381625" y="317499"/>
                </a:lnTo>
                <a:cubicBezTo>
                  <a:pt x="5381625" y="352570"/>
                  <a:pt x="5353195" y="381000"/>
                  <a:pt x="5318124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571500" y="6687344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</a:t>
            </a: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offre un équilibre entre les deux métriques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175375" y="1143000"/>
            <a:ext cx="5699125" cy="3778250"/>
          </a:xfrm>
          <a:custGeom>
            <a:avLst/>
            <a:gdLst/>
            <a:ahLst/>
            <a:cxnLst/>
            <a:rect l="l" t="t" r="r" b="b"/>
            <a:pathLst>
              <a:path w="5699125" h="3778250">
                <a:moveTo>
                  <a:pt x="63512" y="0"/>
                </a:moveTo>
                <a:lnTo>
                  <a:pt x="5635613" y="0"/>
                </a:lnTo>
                <a:cubicBezTo>
                  <a:pt x="5670690" y="0"/>
                  <a:pt x="5699125" y="28435"/>
                  <a:pt x="5699125" y="63512"/>
                </a:cubicBezTo>
                <a:lnTo>
                  <a:pt x="5699125" y="3714738"/>
                </a:lnTo>
                <a:cubicBezTo>
                  <a:pt x="5699125" y="3749815"/>
                  <a:pt x="5670690" y="3778250"/>
                  <a:pt x="5635613" y="3778250"/>
                </a:cubicBezTo>
                <a:lnTo>
                  <a:pt x="63512" y="3778250"/>
                </a:lnTo>
                <a:cubicBezTo>
                  <a:pt x="28435" y="3778250"/>
                  <a:pt x="0" y="3749815"/>
                  <a:pt x="0" y="3714738"/>
                </a:cubicBezTo>
                <a:lnTo>
                  <a:pt x="0" y="63512"/>
                </a:lnTo>
                <a:cubicBezTo>
                  <a:pt x="0" y="28459"/>
                  <a:pt x="28459" y="0"/>
                  <a:pt x="635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6302375" y="1270000"/>
            <a:ext cx="551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Métriques Clés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02375" y="1587500"/>
            <a:ext cx="5445125" cy="1111250"/>
          </a:xfrm>
          <a:custGeom>
            <a:avLst/>
            <a:gdLst/>
            <a:ahLst/>
            <a:cxnLst/>
            <a:rect l="l" t="t" r="r" b="b"/>
            <a:pathLst>
              <a:path w="5445125" h="1111250">
                <a:moveTo>
                  <a:pt x="63497" y="0"/>
                </a:moveTo>
                <a:lnTo>
                  <a:pt x="5381628" y="0"/>
                </a:lnTo>
                <a:cubicBezTo>
                  <a:pt x="5416697" y="0"/>
                  <a:pt x="5445125" y="28428"/>
                  <a:pt x="5445125" y="63497"/>
                </a:cubicBezTo>
                <a:lnTo>
                  <a:pt x="5445125" y="1047753"/>
                </a:lnTo>
                <a:cubicBezTo>
                  <a:pt x="5445125" y="1082822"/>
                  <a:pt x="5416697" y="1111250"/>
                  <a:pt x="5381628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6397625" y="1682750"/>
            <a:ext cx="163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(Précision Globale)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7" name="Shape 34"/>
          <p:cNvSpPr/>
          <p:nvPr/>
        </p:nvSpPr>
        <p:spPr>
          <a:xfrm>
            <a:off x="11205171" y="1682750"/>
            <a:ext cx="444500" cy="190500"/>
          </a:xfrm>
          <a:custGeom>
            <a:avLst/>
            <a:gdLst/>
            <a:ahLst/>
            <a:cxnLst/>
            <a:rect l="l" t="t" r="r" b="b"/>
            <a:pathLst>
              <a:path w="444500" h="190500">
                <a:moveTo>
                  <a:pt x="31751" y="0"/>
                </a:moveTo>
                <a:lnTo>
                  <a:pt x="412749" y="0"/>
                </a:lnTo>
                <a:cubicBezTo>
                  <a:pt x="430285" y="0"/>
                  <a:pt x="444500" y="14215"/>
                  <a:pt x="444500" y="31751"/>
                </a:cubicBezTo>
                <a:lnTo>
                  <a:pt x="444500" y="158749"/>
                </a:lnTo>
                <a:cubicBezTo>
                  <a:pt x="444500" y="176285"/>
                  <a:pt x="430285" y="190500"/>
                  <a:pt x="412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DBE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11205171" y="1682750"/>
            <a:ext cx="49212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93C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Basique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397625" y="1936750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Proportion de prédictions correctes sur le total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397625" y="2159000"/>
            <a:ext cx="5254625" cy="285750"/>
          </a:xfrm>
          <a:custGeom>
            <a:avLst/>
            <a:gdLst/>
            <a:ahLst/>
            <a:cxnLst/>
            <a:rect l="l" t="t" r="r" b="b"/>
            <a:pathLst>
              <a:path w="5254625" h="285750">
                <a:moveTo>
                  <a:pt x="31750" y="0"/>
                </a:moveTo>
                <a:lnTo>
                  <a:pt x="5222875" y="0"/>
                </a:lnTo>
                <a:cubicBezTo>
                  <a:pt x="5240410" y="0"/>
                  <a:pt x="5254625" y="14215"/>
                  <a:pt x="5254625" y="31750"/>
                </a:cubicBezTo>
                <a:lnTo>
                  <a:pt x="5254625" y="254000"/>
                </a:lnTo>
                <a:cubicBezTo>
                  <a:pt x="5254625" y="271535"/>
                  <a:pt x="5240410" y="285750"/>
                  <a:pt x="52228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6369844" y="2159000"/>
            <a:ext cx="5310188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= (TP + TN) / (TP + TN + FP + FN)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397625" y="2476500"/>
            <a:ext cx="5302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Peut être trompeuse avec données déséquilibrées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302375" y="2793903"/>
            <a:ext cx="5445125" cy="952500"/>
          </a:xfrm>
          <a:custGeom>
            <a:avLst/>
            <a:gdLst/>
            <a:ahLst/>
            <a:cxnLst/>
            <a:rect l="l" t="t" r="r" b="b"/>
            <a:pathLst>
              <a:path w="5445125" h="952500">
                <a:moveTo>
                  <a:pt x="63503" y="0"/>
                </a:moveTo>
                <a:lnTo>
                  <a:pt x="5381622" y="0"/>
                </a:lnTo>
                <a:cubicBezTo>
                  <a:pt x="5416694" y="0"/>
                  <a:pt x="5445125" y="28431"/>
                  <a:pt x="5445125" y="63503"/>
                </a:cubicBezTo>
                <a:lnTo>
                  <a:pt x="5445125" y="888997"/>
                </a:lnTo>
                <a:cubicBezTo>
                  <a:pt x="5445125" y="924069"/>
                  <a:pt x="5416694" y="952500"/>
                  <a:pt x="5381622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6397625" y="2889153"/>
            <a:ext cx="116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(Précision)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1116171" y="2889153"/>
            <a:ext cx="539750" cy="190500"/>
          </a:xfrm>
          <a:custGeom>
            <a:avLst/>
            <a:gdLst/>
            <a:ahLst/>
            <a:cxnLst/>
            <a:rect l="l" t="t" r="r" b="b"/>
            <a:pathLst>
              <a:path w="539750" h="190500">
                <a:moveTo>
                  <a:pt x="31751" y="0"/>
                </a:moveTo>
                <a:lnTo>
                  <a:pt x="507999" y="0"/>
                </a:lnTo>
                <a:cubicBezTo>
                  <a:pt x="525535" y="0"/>
                  <a:pt x="539750" y="14215"/>
                  <a:pt x="539750" y="31751"/>
                </a:cubicBezTo>
                <a:lnTo>
                  <a:pt x="539750" y="158749"/>
                </a:lnTo>
                <a:cubicBezTo>
                  <a:pt x="539750" y="176285"/>
                  <a:pt x="525535" y="190500"/>
                  <a:pt x="50799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11116171" y="2889153"/>
            <a:ext cx="5873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397625" y="314315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Proportion de vrais positifs parmi les prédictions positives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397625" y="3365403"/>
            <a:ext cx="5254625" cy="285750"/>
          </a:xfrm>
          <a:custGeom>
            <a:avLst/>
            <a:gdLst/>
            <a:ahLst/>
            <a:cxnLst/>
            <a:rect l="l" t="t" r="r" b="b"/>
            <a:pathLst>
              <a:path w="5254625" h="285750">
                <a:moveTo>
                  <a:pt x="31750" y="0"/>
                </a:moveTo>
                <a:lnTo>
                  <a:pt x="5222875" y="0"/>
                </a:lnTo>
                <a:cubicBezTo>
                  <a:pt x="5240410" y="0"/>
                  <a:pt x="5254625" y="14215"/>
                  <a:pt x="5254625" y="31750"/>
                </a:cubicBezTo>
                <a:lnTo>
                  <a:pt x="5254625" y="254000"/>
                </a:lnTo>
                <a:cubicBezTo>
                  <a:pt x="5254625" y="271535"/>
                  <a:pt x="5240410" y="285750"/>
                  <a:pt x="52228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6369844" y="3365403"/>
            <a:ext cx="5310188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 = TP / (TP + FP)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02375" y="3841653"/>
            <a:ext cx="5445125" cy="952500"/>
          </a:xfrm>
          <a:custGeom>
            <a:avLst/>
            <a:gdLst/>
            <a:ahLst/>
            <a:cxnLst/>
            <a:rect l="l" t="t" r="r" b="b"/>
            <a:pathLst>
              <a:path w="5445125" h="952500">
                <a:moveTo>
                  <a:pt x="63503" y="0"/>
                </a:moveTo>
                <a:lnTo>
                  <a:pt x="5381622" y="0"/>
                </a:lnTo>
                <a:cubicBezTo>
                  <a:pt x="5416694" y="0"/>
                  <a:pt x="5445125" y="28431"/>
                  <a:pt x="5445125" y="63503"/>
                </a:cubicBezTo>
                <a:lnTo>
                  <a:pt x="5445125" y="888997"/>
                </a:lnTo>
                <a:cubicBezTo>
                  <a:pt x="5445125" y="924069"/>
                  <a:pt x="5416694" y="952500"/>
                  <a:pt x="5381622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6397625" y="3936903"/>
            <a:ext cx="106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 / Sensibilité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1116171" y="3936903"/>
            <a:ext cx="539750" cy="190500"/>
          </a:xfrm>
          <a:custGeom>
            <a:avLst/>
            <a:gdLst/>
            <a:ahLst/>
            <a:cxnLst/>
            <a:rect l="l" t="t" r="r" b="b"/>
            <a:pathLst>
              <a:path w="539750" h="190500">
                <a:moveTo>
                  <a:pt x="31751" y="0"/>
                </a:moveTo>
                <a:lnTo>
                  <a:pt x="507999" y="0"/>
                </a:lnTo>
                <a:cubicBezTo>
                  <a:pt x="525535" y="0"/>
                  <a:pt x="539750" y="14215"/>
                  <a:pt x="539750" y="31751"/>
                </a:cubicBezTo>
                <a:lnTo>
                  <a:pt x="539750" y="158749"/>
                </a:lnTo>
                <a:cubicBezTo>
                  <a:pt x="539750" y="176285"/>
                  <a:pt x="525535" y="190500"/>
                  <a:pt x="50799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11116171" y="3936903"/>
            <a:ext cx="5873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397625" y="419090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Proportion de vrais positifs détectés sur tous les positifs réels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97625" y="4413153"/>
            <a:ext cx="5254625" cy="285750"/>
          </a:xfrm>
          <a:custGeom>
            <a:avLst/>
            <a:gdLst/>
            <a:ahLst/>
            <a:cxnLst/>
            <a:rect l="l" t="t" r="r" b="b"/>
            <a:pathLst>
              <a:path w="5254625" h="285750">
                <a:moveTo>
                  <a:pt x="31750" y="0"/>
                </a:moveTo>
                <a:lnTo>
                  <a:pt x="5222875" y="0"/>
                </a:lnTo>
                <a:cubicBezTo>
                  <a:pt x="5240410" y="0"/>
                  <a:pt x="5254625" y="14215"/>
                  <a:pt x="5254625" y="31750"/>
                </a:cubicBezTo>
                <a:lnTo>
                  <a:pt x="5254625" y="254000"/>
                </a:lnTo>
                <a:cubicBezTo>
                  <a:pt x="5254625" y="271535"/>
                  <a:pt x="5240410" y="285750"/>
                  <a:pt x="52228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3"/>
          <p:cNvSpPr/>
          <p:nvPr/>
        </p:nvSpPr>
        <p:spPr>
          <a:xfrm>
            <a:off x="6369844" y="4413153"/>
            <a:ext cx="5310188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 = TP / (TP + FN)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175375" y="5048153"/>
            <a:ext cx="5699125" cy="2127250"/>
          </a:xfrm>
          <a:custGeom>
            <a:avLst/>
            <a:gdLst/>
            <a:ahLst/>
            <a:cxnLst/>
            <a:rect l="l" t="t" r="r" b="b"/>
            <a:pathLst>
              <a:path w="5699125" h="2127250">
                <a:moveTo>
                  <a:pt x="63498" y="0"/>
                </a:moveTo>
                <a:lnTo>
                  <a:pt x="5635627" y="0"/>
                </a:lnTo>
                <a:cubicBezTo>
                  <a:pt x="5670696" y="0"/>
                  <a:pt x="5699125" y="28429"/>
                  <a:pt x="5699125" y="63498"/>
                </a:cubicBezTo>
                <a:lnTo>
                  <a:pt x="5699125" y="2063752"/>
                </a:lnTo>
                <a:cubicBezTo>
                  <a:pt x="5699125" y="2098821"/>
                  <a:pt x="5670696" y="2127250"/>
                  <a:pt x="5635627" y="2127250"/>
                </a:cubicBezTo>
                <a:lnTo>
                  <a:pt x="63498" y="2127250"/>
                </a:lnTo>
                <a:cubicBezTo>
                  <a:pt x="28429" y="2127250"/>
                  <a:pt x="0" y="2098821"/>
                  <a:pt x="0" y="2063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hape 55"/>
          <p:cNvSpPr/>
          <p:nvPr/>
        </p:nvSpPr>
        <p:spPr>
          <a:xfrm>
            <a:off x="6313289" y="5214841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6367" y="-5274"/>
                </a:moveTo>
                <a:cubicBezTo>
                  <a:pt x="85223" y="-7507"/>
                  <a:pt x="82907" y="-8930"/>
                  <a:pt x="80395" y="-8930"/>
                </a:cubicBezTo>
                <a:cubicBezTo>
                  <a:pt x="77884" y="-8930"/>
                  <a:pt x="75567" y="-7507"/>
                  <a:pt x="74423" y="-5274"/>
                </a:cubicBezTo>
                <a:lnTo>
                  <a:pt x="53885" y="34965"/>
                </a:lnTo>
                <a:lnTo>
                  <a:pt x="9265" y="42053"/>
                </a:lnTo>
                <a:cubicBezTo>
                  <a:pt x="6781" y="42444"/>
                  <a:pt x="4716" y="44202"/>
                  <a:pt x="3935" y="46602"/>
                </a:cubicBezTo>
                <a:cubicBezTo>
                  <a:pt x="3153" y="49002"/>
                  <a:pt x="3795" y="51625"/>
                  <a:pt x="5553" y="53411"/>
                </a:cubicBezTo>
                <a:lnTo>
                  <a:pt x="37477" y="85362"/>
                </a:lnTo>
                <a:lnTo>
                  <a:pt x="30445" y="129983"/>
                </a:lnTo>
                <a:cubicBezTo>
                  <a:pt x="30054" y="132466"/>
                  <a:pt x="31086" y="134978"/>
                  <a:pt x="33124" y="136457"/>
                </a:cubicBezTo>
                <a:cubicBezTo>
                  <a:pt x="35161" y="137936"/>
                  <a:pt x="37840" y="138159"/>
                  <a:pt x="40100" y="137015"/>
                </a:cubicBezTo>
                <a:lnTo>
                  <a:pt x="80395" y="116532"/>
                </a:lnTo>
                <a:lnTo>
                  <a:pt x="120662" y="137015"/>
                </a:lnTo>
                <a:cubicBezTo>
                  <a:pt x="122895" y="138159"/>
                  <a:pt x="125602" y="137936"/>
                  <a:pt x="127639" y="136457"/>
                </a:cubicBezTo>
                <a:cubicBezTo>
                  <a:pt x="129676" y="134978"/>
                  <a:pt x="130708" y="132494"/>
                  <a:pt x="130318" y="129983"/>
                </a:cubicBezTo>
                <a:lnTo>
                  <a:pt x="123258" y="85362"/>
                </a:lnTo>
                <a:lnTo>
                  <a:pt x="155181" y="53411"/>
                </a:lnTo>
                <a:cubicBezTo>
                  <a:pt x="156967" y="51625"/>
                  <a:pt x="157581" y="49002"/>
                  <a:pt x="156800" y="46602"/>
                </a:cubicBezTo>
                <a:cubicBezTo>
                  <a:pt x="156018" y="44202"/>
                  <a:pt x="153981" y="42444"/>
                  <a:pt x="151470" y="42053"/>
                </a:cubicBezTo>
                <a:lnTo>
                  <a:pt x="106877" y="34965"/>
                </a:lnTo>
                <a:lnTo>
                  <a:pt x="86367" y="-5274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6"/>
          <p:cNvSpPr/>
          <p:nvPr/>
        </p:nvSpPr>
        <p:spPr>
          <a:xfrm>
            <a:off x="6484938" y="5175153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F1-Score et ROC-AUC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302375" y="5492653"/>
            <a:ext cx="550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6302375" y="5714903"/>
            <a:ext cx="550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Moyenne harmonique de Precision et Recall. Équilibre entre les deux.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6302375" y="5937153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31750" y="0"/>
                </a:moveTo>
                <a:lnTo>
                  <a:pt x="5413375" y="0"/>
                </a:lnTo>
                <a:cubicBezTo>
                  <a:pt x="5430910" y="0"/>
                  <a:pt x="5445125" y="14215"/>
                  <a:pt x="5445125" y="31750"/>
                </a:cubicBezTo>
                <a:lnTo>
                  <a:pt x="5445125" y="254000"/>
                </a:lnTo>
                <a:cubicBezTo>
                  <a:pt x="5445125" y="271535"/>
                  <a:pt x="5430910" y="285750"/>
                  <a:pt x="54133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0"/>
          <p:cNvSpPr/>
          <p:nvPr/>
        </p:nvSpPr>
        <p:spPr>
          <a:xfrm>
            <a:off x="6274594" y="5937153"/>
            <a:ext cx="5500688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latin typeface="Liter" pitchFamily="34" charset="0"/>
                <a:ea typeface="Liter" pitchFamily="34" charset="-122"/>
                <a:cs typeface="Liter" pitchFamily="34" charset="-120"/>
              </a:rPr>
              <a:t>F1 = 2 × (Precision × Recall) / (Precision + Recall)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6302375" y="6318153"/>
            <a:ext cx="550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ROC-AUC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302375" y="6540403"/>
            <a:ext cx="550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Aire sous la courbe ROC. Mesure la capacité à discriminer entre classes.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6302375" y="6762653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31750" y="0"/>
                </a:moveTo>
                <a:lnTo>
                  <a:pt x="5413375" y="0"/>
                </a:lnTo>
                <a:cubicBezTo>
                  <a:pt x="5430910" y="0"/>
                  <a:pt x="5445125" y="14215"/>
                  <a:pt x="5445125" y="31750"/>
                </a:cubicBezTo>
                <a:lnTo>
                  <a:pt x="5445125" y="254000"/>
                </a:lnTo>
                <a:cubicBezTo>
                  <a:pt x="5445125" y="271535"/>
                  <a:pt x="5430910" y="285750"/>
                  <a:pt x="54133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4"/>
          <p:cNvSpPr/>
          <p:nvPr/>
        </p:nvSpPr>
        <p:spPr>
          <a:xfrm>
            <a:off x="6274594" y="6762653"/>
            <a:ext cx="5500688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 = 1.0 (parfait) | AUC = 0.5 (aléatoire)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1325563" cy="222250"/>
          </a:xfrm>
          <a:custGeom>
            <a:avLst/>
            <a:gdLst/>
            <a:ahLst/>
            <a:cxnLst/>
            <a:rect l="l" t="t" r="r" b="b"/>
            <a:pathLst>
              <a:path w="1325563" h="222250">
                <a:moveTo>
                  <a:pt x="0" y="0"/>
                </a:moveTo>
                <a:lnTo>
                  <a:pt x="1325563" y="0"/>
                </a:lnTo>
                <a:lnTo>
                  <a:pt x="1325563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17500" y="317500"/>
            <a:ext cx="1381125" cy="222250"/>
          </a:xfrm>
          <a:prstGeom prst="rect">
            <a:avLst/>
          </a:prstGeom>
          <a:noFill/>
          <a:ln/>
        </p:spPr>
        <p:txBody>
          <a:bodyPr wrap="square" lIns="127000" tIns="31750" rIns="1270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 5 - SUITE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032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Métriques d'Évaluation : Régression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17500" y="1143000"/>
            <a:ext cx="5699125" cy="2778125"/>
          </a:xfrm>
          <a:custGeom>
            <a:avLst/>
            <a:gdLst/>
            <a:ahLst/>
            <a:cxnLst/>
            <a:rect l="l" t="t" r="r" b="b"/>
            <a:pathLst>
              <a:path w="5699125" h="2778125">
                <a:moveTo>
                  <a:pt x="63508" y="0"/>
                </a:moveTo>
                <a:lnTo>
                  <a:pt x="5635617" y="0"/>
                </a:lnTo>
                <a:cubicBezTo>
                  <a:pt x="5670692" y="0"/>
                  <a:pt x="5699125" y="28433"/>
                  <a:pt x="5699125" y="63508"/>
                </a:cubicBezTo>
                <a:lnTo>
                  <a:pt x="5699125" y="2714617"/>
                </a:lnTo>
                <a:cubicBezTo>
                  <a:pt x="5699125" y="2749692"/>
                  <a:pt x="5670692" y="2778125"/>
                  <a:pt x="5635617" y="2778125"/>
                </a:cubicBezTo>
                <a:lnTo>
                  <a:pt x="63508" y="2778125"/>
                </a:lnTo>
                <a:cubicBezTo>
                  <a:pt x="28433" y="2778125"/>
                  <a:pt x="0" y="2749692"/>
                  <a:pt x="0" y="2714617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86172" y="13335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64833" y="160052"/>
                </a:moveTo>
                <a:cubicBezTo>
                  <a:pt x="59035" y="165850"/>
                  <a:pt x="49609" y="165850"/>
                  <a:pt x="43780" y="160052"/>
                </a:cubicBezTo>
                <a:lnTo>
                  <a:pt x="8713" y="124985"/>
                </a:lnTo>
                <a:cubicBezTo>
                  <a:pt x="2915" y="119187"/>
                  <a:pt x="2915" y="109761"/>
                  <a:pt x="8713" y="103932"/>
                </a:cubicBezTo>
                <a:lnTo>
                  <a:pt x="13984" y="98661"/>
                </a:lnTo>
                <a:lnTo>
                  <a:pt x="36773" y="121450"/>
                </a:lnTo>
                <a:cubicBezTo>
                  <a:pt x="39688" y="124365"/>
                  <a:pt x="44400" y="124365"/>
                  <a:pt x="47284" y="121450"/>
                </a:cubicBezTo>
                <a:cubicBezTo>
                  <a:pt x="50167" y="118535"/>
                  <a:pt x="50198" y="113823"/>
                  <a:pt x="47284" y="110939"/>
                </a:cubicBezTo>
                <a:lnTo>
                  <a:pt x="24495" y="88150"/>
                </a:lnTo>
                <a:lnTo>
                  <a:pt x="35006" y="77639"/>
                </a:lnTo>
                <a:lnTo>
                  <a:pt x="50788" y="93421"/>
                </a:lnTo>
                <a:cubicBezTo>
                  <a:pt x="53702" y="96335"/>
                  <a:pt x="58415" y="96335"/>
                  <a:pt x="61299" y="93421"/>
                </a:cubicBezTo>
                <a:cubicBezTo>
                  <a:pt x="64182" y="90506"/>
                  <a:pt x="64213" y="85793"/>
                  <a:pt x="61299" y="82910"/>
                </a:cubicBezTo>
                <a:lnTo>
                  <a:pt x="45517" y="67128"/>
                </a:lnTo>
                <a:lnTo>
                  <a:pt x="56028" y="56617"/>
                </a:lnTo>
                <a:lnTo>
                  <a:pt x="78817" y="79406"/>
                </a:lnTo>
                <a:cubicBezTo>
                  <a:pt x="81731" y="82321"/>
                  <a:pt x="86444" y="82321"/>
                  <a:pt x="89328" y="79406"/>
                </a:cubicBezTo>
                <a:cubicBezTo>
                  <a:pt x="92211" y="76491"/>
                  <a:pt x="92242" y="71779"/>
                  <a:pt x="89328" y="68895"/>
                </a:cubicBezTo>
                <a:lnTo>
                  <a:pt x="66539" y="46106"/>
                </a:lnTo>
                <a:lnTo>
                  <a:pt x="77050" y="35595"/>
                </a:lnTo>
                <a:lnTo>
                  <a:pt x="92832" y="51377"/>
                </a:lnTo>
                <a:cubicBezTo>
                  <a:pt x="95746" y="54291"/>
                  <a:pt x="100459" y="54291"/>
                  <a:pt x="103343" y="51377"/>
                </a:cubicBezTo>
                <a:cubicBezTo>
                  <a:pt x="106226" y="48462"/>
                  <a:pt x="106257" y="43749"/>
                  <a:pt x="103343" y="40866"/>
                </a:cubicBezTo>
                <a:lnTo>
                  <a:pt x="87561" y="25084"/>
                </a:lnTo>
                <a:lnTo>
                  <a:pt x="98072" y="14573"/>
                </a:lnTo>
                <a:lnTo>
                  <a:pt x="120861" y="37362"/>
                </a:lnTo>
                <a:cubicBezTo>
                  <a:pt x="123775" y="40277"/>
                  <a:pt x="128488" y="40277"/>
                  <a:pt x="131372" y="37362"/>
                </a:cubicBezTo>
                <a:cubicBezTo>
                  <a:pt x="134255" y="34448"/>
                  <a:pt x="134286" y="29735"/>
                  <a:pt x="131372" y="26851"/>
                </a:cubicBezTo>
                <a:lnTo>
                  <a:pt x="108583" y="4062"/>
                </a:lnTo>
                <a:lnTo>
                  <a:pt x="113854" y="-1209"/>
                </a:lnTo>
                <a:cubicBezTo>
                  <a:pt x="119652" y="-7007"/>
                  <a:pt x="129077" y="-7007"/>
                  <a:pt x="134906" y="-1209"/>
                </a:cubicBezTo>
                <a:lnTo>
                  <a:pt x="170067" y="33765"/>
                </a:lnTo>
                <a:cubicBezTo>
                  <a:pt x="175865" y="39563"/>
                  <a:pt x="175865" y="48989"/>
                  <a:pt x="170067" y="54818"/>
                </a:cubicBezTo>
                <a:lnTo>
                  <a:pt x="64833" y="160052"/>
                </a:ln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74688" y="130175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Mean Absolute Error (MAE)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1619250"/>
            <a:ext cx="5381625" cy="603250"/>
          </a:xfrm>
          <a:custGeom>
            <a:avLst/>
            <a:gdLst/>
            <a:ahLst/>
            <a:cxnLst/>
            <a:rect l="l" t="t" r="r" b="b"/>
            <a:pathLst>
              <a:path w="5381625" h="603250">
                <a:moveTo>
                  <a:pt x="63498" y="0"/>
                </a:moveTo>
                <a:lnTo>
                  <a:pt x="5318127" y="0"/>
                </a:lnTo>
                <a:cubicBezTo>
                  <a:pt x="5353196" y="0"/>
                  <a:pt x="5381625" y="28429"/>
                  <a:pt x="5381625" y="63498"/>
                </a:cubicBezTo>
                <a:lnTo>
                  <a:pt x="5381625" y="539752"/>
                </a:lnTo>
                <a:cubicBezTo>
                  <a:pt x="5381625" y="574821"/>
                  <a:pt x="5353196" y="603250"/>
                  <a:pt x="531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71500" y="1714500"/>
            <a:ext cx="5254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Moyenne des </a:t>
            </a: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valeurs absolues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erreurs. Facile à interpréter car dans les mêmes unités que la variable cible.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6250" y="2317750"/>
            <a:ext cx="5381625" cy="412750"/>
          </a:xfrm>
          <a:custGeom>
            <a:avLst/>
            <a:gdLst/>
            <a:ahLst/>
            <a:cxnLst/>
            <a:rect l="l" t="t" r="r" b="b"/>
            <a:pathLst>
              <a:path w="5381625" h="412750">
                <a:moveTo>
                  <a:pt x="63502" y="0"/>
                </a:moveTo>
                <a:lnTo>
                  <a:pt x="5318123" y="0"/>
                </a:lnTo>
                <a:cubicBezTo>
                  <a:pt x="5353194" y="0"/>
                  <a:pt x="5381625" y="28431"/>
                  <a:pt x="5381625" y="63502"/>
                </a:cubicBezTo>
                <a:lnTo>
                  <a:pt x="5381625" y="349248"/>
                </a:lnTo>
                <a:cubicBezTo>
                  <a:pt x="5381625" y="384319"/>
                  <a:pt x="5353194" y="412750"/>
                  <a:pt x="53181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35781" y="241300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MAE = (1/n) × Σ|yᵢ - ŷᵢ|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9425" y="2828925"/>
            <a:ext cx="2633662" cy="927100"/>
          </a:xfrm>
          <a:custGeom>
            <a:avLst/>
            <a:gdLst/>
            <a:ahLst/>
            <a:cxnLst/>
            <a:rect l="l" t="t" r="r" b="b"/>
            <a:pathLst>
              <a:path w="2633662" h="927100">
                <a:moveTo>
                  <a:pt x="31753" y="0"/>
                </a:moveTo>
                <a:lnTo>
                  <a:pt x="2601909" y="0"/>
                </a:lnTo>
                <a:cubicBezTo>
                  <a:pt x="2619446" y="0"/>
                  <a:pt x="2633662" y="14216"/>
                  <a:pt x="2633662" y="31753"/>
                </a:cubicBezTo>
                <a:lnTo>
                  <a:pt x="2633662" y="895347"/>
                </a:lnTo>
                <a:cubicBezTo>
                  <a:pt x="2633662" y="912884"/>
                  <a:pt x="2619446" y="927100"/>
                  <a:pt x="2601909" y="927100"/>
                </a:cubicBezTo>
                <a:lnTo>
                  <a:pt x="31753" y="927100"/>
                </a:lnTo>
                <a:cubicBezTo>
                  <a:pt x="14216" y="927100"/>
                  <a:pt x="0" y="912884"/>
                  <a:pt x="0" y="8953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77850" y="2927352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Avantages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7850" y="3117852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Interprétable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7850" y="3308352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Même unité que 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7850" y="3498852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Robuste aux outliers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17863" y="2828925"/>
            <a:ext cx="2633662" cy="927100"/>
          </a:xfrm>
          <a:custGeom>
            <a:avLst/>
            <a:gdLst/>
            <a:ahLst/>
            <a:cxnLst/>
            <a:rect l="l" t="t" r="r" b="b"/>
            <a:pathLst>
              <a:path w="2633662" h="927100">
                <a:moveTo>
                  <a:pt x="31753" y="0"/>
                </a:moveTo>
                <a:lnTo>
                  <a:pt x="2601909" y="0"/>
                </a:lnTo>
                <a:cubicBezTo>
                  <a:pt x="2619446" y="0"/>
                  <a:pt x="2633662" y="14216"/>
                  <a:pt x="2633662" y="31753"/>
                </a:cubicBezTo>
                <a:lnTo>
                  <a:pt x="2633662" y="895347"/>
                </a:lnTo>
                <a:cubicBezTo>
                  <a:pt x="2633662" y="912884"/>
                  <a:pt x="2619446" y="927100"/>
                  <a:pt x="2601909" y="927100"/>
                </a:cubicBezTo>
                <a:lnTo>
                  <a:pt x="31753" y="927100"/>
                </a:lnTo>
                <a:cubicBezTo>
                  <a:pt x="14216" y="927100"/>
                  <a:pt x="0" y="912884"/>
                  <a:pt x="0" y="8953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316288" y="2927352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Inconvénients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16288" y="3117852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Moins sensible aux gros erreurs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16288" y="3308352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Non-différentiable en 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7500" y="4044951"/>
            <a:ext cx="5699125" cy="3143250"/>
          </a:xfrm>
          <a:custGeom>
            <a:avLst/>
            <a:gdLst/>
            <a:ahLst/>
            <a:cxnLst/>
            <a:rect l="l" t="t" r="r" b="b"/>
            <a:pathLst>
              <a:path w="5699125" h="3143250">
                <a:moveTo>
                  <a:pt x="63494" y="0"/>
                </a:moveTo>
                <a:lnTo>
                  <a:pt x="5635631" y="0"/>
                </a:lnTo>
                <a:cubicBezTo>
                  <a:pt x="5670698" y="0"/>
                  <a:pt x="5699125" y="28427"/>
                  <a:pt x="5699125" y="63494"/>
                </a:cubicBezTo>
                <a:lnTo>
                  <a:pt x="5699125" y="3079756"/>
                </a:lnTo>
                <a:cubicBezTo>
                  <a:pt x="5699125" y="3114823"/>
                  <a:pt x="5670698" y="3143250"/>
                  <a:pt x="5635631" y="3143250"/>
                </a:cubicBezTo>
                <a:lnTo>
                  <a:pt x="63494" y="3143250"/>
                </a:lnTo>
                <a:cubicBezTo>
                  <a:pt x="28427" y="3143250"/>
                  <a:pt x="0" y="3114823"/>
                  <a:pt x="0" y="30797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6172" y="4235451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68672" y="9922"/>
                </a:moveTo>
                <a:cubicBezTo>
                  <a:pt x="168672" y="6480"/>
                  <a:pt x="166905" y="3287"/>
                  <a:pt x="163959" y="1488"/>
                </a:cubicBezTo>
                <a:cubicBezTo>
                  <a:pt x="161013" y="-310"/>
                  <a:pt x="157386" y="-496"/>
                  <a:pt x="154316" y="1054"/>
                </a:cubicBezTo>
                <a:lnTo>
                  <a:pt x="144394" y="6015"/>
                </a:lnTo>
                <a:cubicBezTo>
                  <a:pt x="139495" y="8465"/>
                  <a:pt x="137511" y="14418"/>
                  <a:pt x="139960" y="19317"/>
                </a:cubicBezTo>
                <a:cubicBezTo>
                  <a:pt x="141697" y="22789"/>
                  <a:pt x="145200" y="24805"/>
                  <a:pt x="148828" y="24805"/>
                </a:cubicBezTo>
                <a:lnTo>
                  <a:pt x="148828" y="49609"/>
                </a:lnTo>
                <a:cubicBezTo>
                  <a:pt x="143340" y="49609"/>
                  <a:pt x="138906" y="54043"/>
                  <a:pt x="138906" y="59531"/>
                </a:cubicBezTo>
                <a:cubicBezTo>
                  <a:pt x="138906" y="65019"/>
                  <a:pt x="143340" y="69453"/>
                  <a:pt x="148828" y="69453"/>
                </a:cubicBezTo>
                <a:lnTo>
                  <a:pt x="168672" y="69453"/>
                </a:lnTo>
                <a:cubicBezTo>
                  <a:pt x="174160" y="69453"/>
                  <a:pt x="178594" y="65019"/>
                  <a:pt x="178594" y="59531"/>
                </a:cubicBezTo>
                <a:cubicBezTo>
                  <a:pt x="178594" y="54043"/>
                  <a:pt x="174160" y="49609"/>
                  <a:pt x="168672" y="49609"/>
                </a:cubicBezTo>
                <a:lnTo>
                  <a:pt x="168672" y="9922"/>
                </a:lnTo>
                <a:close/>
                <a:moveTo>
                  <a:pt x="29766" y="19844"/>
                </a:moveTo>
                <a:cubicBezTo>
                  <a:pt x="24278" y="19844"/>
                  <a:pt x="19844" y="24278"/>
                  <a:pt x="19844" y="29766"/>
                </a:cubicBezTo>
                <a:cubicBezTo>
                  <a:pt x="19844" y="35254"/>
                  <a:pt x="24278" y="39688"/>
                  <a:pt x="29766" y="39688"/>
                </a:cubicBezTo>
                <a:lnTo>
                  <a:pt x="34510" y="39688"/>
                </a:lnTo>
                <a:lnTo>
                  <a:pt x="62291" y="79375"/>
                </a:lnTo>
                <a:lnTo>
                  <a:pt x="34510" y="119062"/>
                </a:lnTo>
                <a:lnTo>
                  <a:pt x="29766" y="119062"/>
                </a:lnTo>
                <a:cubicBezTo>
                  <a:pt x="24278" y="119062"/>
                  <a:pt x="19844" y="123496"/>
                  <a:pt x="19844" y="128984"/>
                </a:cubicBezTo>
                <a:cubicBezTo>
                  <a:pt x="19844" y="134472"/>
                  <a:pt x="24278" y="138906"/>
                  <a:pt x="29766" y="138906"/>
                </a:cubicBezTo>
                <a:lnTo>
                  <a:pt x="39688" y="138906"/>
                </a:lnTo>
                <a:cubicBezTo>
                  <a:pt x="42912" y="138906"/>
                  <a:pt x="45951" y="137325"/>
                  <a:pt x="47811" y="134689"/>
                </a:cubicBezTo>
                <a:lnTo>
                  <a:pt x="74414" y="96676"/>
                </a:lnTo>
                <a:lnTo>
                  <a:pt x="101017" y="134689"/>
                </a:lnTo>
                <a:cubicBezTo>
                  <a:pt x="102877" y="137356"/>
                  <a:pt x="105916" y="138906"/>
                  <a:pt x="109141" y="138906"/>
                </a:cubicBezTo>
                <a:lnTo>
                  <a:pt x="119062" y="138906"/>
                </a:lnTo>
                <a:cubicBezTo>
                  <a:pt x="124551" y="138906"/>
                  <a:pt x="128984" y="134472"/>
                  <a:pt x="128984" y="128984"/>
                </a:cubicBezTo>
                <a:cubicBezTo>
                  <a:pt x="128984" y="123496"/>
                  <a:pt x="124551" y="119062"/>
                  <a:pt x="119062" y="119062"/>
                </a:cubicBezTo>
                <a:lnTo>
                  <a:pt x="114319" y="119062"/>
                </a:lnTo>
                <a:lnTo>
                  <a:pt x="86537" y="79375"/>
                </a:lnTo>
                <a:lnTo>
                  <a:pt x="114319" y="39688"/>
                </a:lnTo>
                <a:lnTo>
                  <a:pt x="119063" y="39688"/>
                </a:lnTo>
                <a:cubicBezTo>
                  <a:pt x="124551" y="39688"/>
                  <a:pt x="128984" y="35254"/>
                  <a:pt x="128984" y="29766"/>
                </a:cubicBezTo>
                <a:cubicBezTo>
                  <a:pt x="128984" y="24278"/>
                  <a:pt x="124551" y="19844"/>
                  <a:pt x="119063" y="19844"/>
                </a:cubicBezTo>
                <a:lnTo>
                  <a:pt x="109141" y="19844"/>
                </a:lnTo>
                <a:cubicBezTo>
                  <a:pt x="105916" y="19844"/>
                  <a:pt x="102877" y="21425"/>
                  <a:pt x="101017" y="24061"/>
                </a:cubicBezTo>
                <a:lnTo>
                  <a:pt x="74414" y="62074"/>
                </a:lnTo>
                <a:lnTo>
                  <a:pt x="47811" y="24061"/>
                </a:lnTo>
                <a:cubicBezTo>
                  <a:pt x="45951" y="21425"/>
                  <a:pt x="42912" y="19844"/>
                  <a:pt x="39688" y="19844"/>
                </a:cubicBezTo>
                <a:lnTo>
                  <a:pt x="29766" y="19844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74688" y="4203701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Mean Squared Error (MSE)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6250" y="4521201"/>
            <a:ext cx="5381625" cy="396875"/>
          </a:xfrm>
          <a:custGeom>
            <a:avLst/>
            <a:gdLst/>
            <a:ahLst/>
            <a:cxnLst/>
            <a:rect l="l" t="t" r="r" b="b"/>
            <a:pathLst>
              <a:path w="5381625" h="396875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333375"/>
                </a:lnTo>
                <a:cubicBezTo>
                  <a:pt x="5381625" y="368422"/>
                  <a:pt x="5353172" y="396875"/>
                  <a:pt x="5318125" y="396875"/>
                </a:cubicBezTo>
                <a:lnTo>
                  <a:pt x="63500" y="396875"/>
                </a:lnTo>
                <a:cubicBezTo>
                  <a:pt x="28453" y="396875"/>
                  <a:pt x="0" y="368422"/>
                  <a:pt x="0" y="333375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71500" y="4616451"/>
            <a:ext cx="5254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Moyenne des </a:t>
            </a: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erreurs au carré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Pénalise fortement les grandes erreurs.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6250" y="5013326"/>
            <a:ext cx="5381625" cy="412750"/>
          </a:xfrm>
          <a:custGeom>
            <a:avLst/>
            <a:gdLst/>
            <a:ahLst/>
            <a:cxnLst/>
            <a:rect l="l" t="t" r="r" b="b"/>
            <a:pathLst>
              <a:path w="5381625" h="412750">
                <a:moveTo>
                  <a:pt x="63502" y="0"/>
                </a:moveTo>
                <a:lnTo>
                  <a:pt x="5318123" y="0"/>
                </a:lnTo>
                <a:cubicBezTo>
                  <a:pt x="5353194" y="0"/>
                  <a:pt x="5381625" y="28431"/>
                  <a:pt x="5381625" y="63502"/>
                </a:cubicBezTo>
                <a:lnTo>
                  <a:pt x="5381625" y="349248"/>
                </a:lnTo>
                <a:cubicBezTo>
                  <a:pt x="5381625" y="384319"/>
                  <a:pt x="5353194" y="412750"/>
                  <a:pt x="53181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35781" y="5108576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MSE = (1/n) × Σ(yᵢ - ŷᵢ)²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9425" y="5524505"/>
            <a:ext cx="2633662" cy="1498600"/>
          </a:xfrm>
          <a:custGeom>
            <a:avLst/>
            <a:gdLst/>
            <a:ahLst/>
            <a:cxnLst/>
            <a:rect l="l" t="t" r="r" b="b"/>
            <a:pathLst>
              <a:path w="2633662" h="1498600">
                <a:moveTo>
                  <a:pt x="31755" y="0"/>
                </a:moveTo>
                <a:lnTo>
                  <a:pt x="2601907" y="0"/>
                </a:lnTo>
                <a:cubicBezTo>
                  <a:pt x="2619445" y="0"/>
                  <a:pt x="2633662" y="14217"/>
                  <a:pt x="2633662" y="31755"/>
                </a:cubicBezTo>
                <a:lnTo>
                  <a:pt x="2633662" y="1466845"/>
                </a:lnTo>
                <a:cubicBezTo>
                  <a:pt x="2633662" y="1484383"/>
                  <a:pt x="2619445" y="1498600"/>
                  <a:pt x="2601907" y="1498600"/>
                </a:cubicBezTo>
                <a:lnTo>
                  <a:pt x="31755" y="1498600"/>
                </a:lnTo>
                <a:cubicBezTo>
                  <a:pt x="14217" y="1498600"/>
                  <a:pt x="0" y="1484383"/>
                  <a:pt x="0" y="1466845"/>
                </a:cubicBezTo>
                <a:lnTo>
                  <a:pt x="0" y="31755"/>
                </a:lnTo>
                <a:cubicBezTo>
                  <a:pt x="0" y="14229"/>
                  <a:pt x="14229" y="0"/>
                  <a:pt x="31755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77850" y="5622928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Avantages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7850" y="5813428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Pénalise gros erreurs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7850" y="6003928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Différentiable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7850" y="6194428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Mathématiquement pratique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17863" y="5524505"/>
            <a:ext cx="2633662" cy="1498600"/>
          </a:xfrm>
          <a:custGeom>
            <a:avLst/>
            <a:gdLst/>
            <a:ahLst/>
            <a:cxnLst/>
            <a:rect l="l" t="t" r="r" b="b"/>
            <a:pathLst>
              <a:path w="2633662" h="1498600">
                <a:moveTo>
                  <a:pt x="31755" y="0"/>
                </a:moveTo>
                <a:lnTo>
                  <a:pt x="2601907" y="0"/>
                </a:lnTo>
                <a:cubicBezTo>
                  <a:pt x="2619445" y="0"/>
                  <a:pt x="2633662" y="14217"/>
                  <a:pt x="2633662" y="31755"/>
                </a:cubicBezTo>
                <a:lnTo>
                  <a:pt x="2633662" y="1466845"/>
                </a:lnTo>
                <a:cubicBezTo>
                  <a:pt x="2633662" y="1484383"/>
                  <a:pt x="2619445" y="1498600"/>
                  <a:pt x="2601907" y="1498600"/>
                </a:cubicBezTo>
                <a:lnTo>
                  <a:pt x="31755" y="1498600"/>
                </a:lnTo>
                <a:cubicBezTo>
                  <a:pt x="14217" y="1498600"/>
                  <a:pt x="0" y="1484383"/>
                  <a:pt x="0" y="1466845"/>
                </a:cubicBezTo>
                <a:lnTo>
                  <a:pt x="0" y="31755"/>
                </a:lnTo>
                <a:cubicBezTo>
                  <a:pt x="0" y="14229"/>
                  <a:pt x="14229" y="0"/>
                  <a:pt x="31755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316288" y="5622928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Inconvénients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16288" y="5813428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Sensible aux outliers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16288" y="6003928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Unité au carré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5375" y="1143000"/>
            <a:ext cx="5699125" cy="2444750"/>
          </a:xfrm>
          <a:custGeom>
            <a:avLst/>
            <a:gdLst/>
            <a:ahLst/>
            <a:cxnLst/>
            <a:rect l="l" t="t" r="r" b="b"/>
            <a:pathLst>
              <a:path w="5699125" h="2444750">
                <a:moveTo>
                  <a:pt x="63490" y="0"/>
                </a:moveTo>
                <a:lnTo>
                  <a:pt x="5635635" y="0"/>
                </a:lnTo>
                <a:cubicBezTo>
                  <a:pt x="5670699" y="0"/>
                  <a:pt x="5699125" y="28426"/>
                  <a:pt x="5699125" y="63490"/>
                </a:cubicBezTo>
                <a:lnTo>
                  <a:pt x="5699125" y="2381260"/>
                </a:lnTo>
                <a:cubicBezTo>
                  <a:pt x="5699125" y="2416324"/>
                  <a:pt x="5670699" y="2444750"/>
                  <a:pt x="5635635" y="2444750"/>
                </a:cubicBezTo>
                <a:lnTo>
                  <a:pt x="63490" y="2444750"/>
                </a:lnTo>
                <a:cubicBezTo>
                  <a:pt x="28426" y="2444750"/>
                  <a:pt x="0" y="2416324"/>
                  <a:pt x="0" y="2381260"/>
                </a:cubicBezTo>
                <a:lnTo>
                  <a:pt x="0" y="63490"/>
                </a:lnTo>
                <a:cubicBezTo>
                  <a:pt x="0" y="28449"/>
                  <a:pt x="28449" y="0"/>
                  <a:pt x="634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344047" y="13335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7623" y="24216"/>
                </a:moveTo>
                <a:cubicBezTo>
                  <a:pt x="90103" y="15751"/>
                  <a:pt x="97854" y="9922"/>
                  <a:pt x="106660" y="9922"/>
                </a:cubicBezTo>
                <a:lnTo>
                  <a:pt x="168672" y="9922"/>
                </a:lnTo>
                <a:cubicBezTo>
                  <a:pt x="174160" y="9922"/>
                  <a:pt x="178594" y="14356"/>
                  <a:pt x="178594" y="19844"/>
                </a:cubicBezTo>
                <a:cubicBezTo>
                  <a:pt x="178594" y="25332"/>
                  <a:pt x="174160" y="29766"/>
                  <a:pt x="168672" y="29766"/>
                </a:cubicBezTo>
                <a:lnTo>
                  <a:pt x="106660" y="29766"/>
                </a:lnTo>
                <a:lnTo>
                  <a:pt x="74011" y="141697"/>
                </a:lnTo>
                <a:cubicBezTo>
                  <a:pt x="72895" y="145510"/>
                  <a:pt x="69639" y="148270"/>
                  <a:pt x="65701" y="148766"/>
                </a:cubicBezTo>
                <a:cubicBezTo>
                  <a:pt x="61764" y="149262"/>
                  <a:pt x="57919" y="147340"/>
                  <a:pt x="55935" y="143929"/>
                </a:cubicBezTo>
                <a:lnTo>
                  <a:pt x="24061" y="89297"/>
                </a:lnTo>
                <a:lnTo>
                  <a:pt x="9922" y="89297"/>
                </a:lnTo>
                <a:cubicBezTo>
                  <a:pt x="4434" y="89297"/>
                  <a:pt x="0" y="84863"/>
                  <a:pt x="0" y="79375"/>
                </a:cubicBezTo>
                <a:cubicBezTo>
                  <a:pt x="0" y="73887"/>
                  <a:pt x="4434" y="69453"/>
                  <a:pt x="9922" y="69453"/>
                </a:cubicBezTo>
                <a:lnTo>
                  <a:pt x="24061" y="69453"/>
                </a:lnTo>
                <a:cubicBezTo>
                  <a:pt x="31130" y="69453"/>
                  <a:pt x="37641" y="73205"/>
                  <a:pt x="41207" y="79313"/>
                </a:cubicBezTo>
                <a:lnTo>
                  <a:pt x="61423" y="113978"/>
                </a:lnTo>
                <a:lnTo>
                  <a:pt x="87592" y="24216"/>
                </a:lnTo>
                <a:close/>
                <a:moveTo>
                  <a:pt x="121977" y="72368"/>
                </a:moveTo>
                <a:cubicBezTo>
                  <a:pt x="125853" y="68492"/>
                  <a:pt x="132147" y="68492"/>
                  <a:pt x="136023" y="72368"/>
                </a:cubicBezTo>
                <a:lnTo>
                  <a:pt x="148859" y="85204"/>
                </a:lnTo>
                <a:lnTo>
                  <a:pt x="161696" y="72368"/>
                </a:lnTo>
                <a:cubicBezTo>
                  <a:pt x="165571" y="68492"/>
                  <a:pt x="171865" y="68492"/>
                  <a:pt x="175741" y="72368"/>
                </a:cubicBezTo>
                <a:cubicBezTo>
                  <a:pt x="179617" y="76243"/>
                  <a:pt x="179617" y="82538"/>
                  <a:pt x="175741" y="86413"/>
                </a:cubicBezTo>
                <a:lnTo>
                  <a:pt x="162905" y="99250"/>
                </a:lnTo>
                <a:lnTo>
                  <a:pt x="175741" y="112086"/>
                </a:lnTo>
                <a:cubicBezTo>
                  <a:pt x="179617" y="115962"/>
                  <a:pt x="179617" y="122256"/>
                  <a:pt x="175741" y="126132"/>
                </a:cubicBezTo>
                <a:cubicBezTo>
                  <a:pt x="171865" y="130008"/>
                  <a:pt x="165571" y="130008"/>
                  <a:pt x="161696" y="126132"/>
                </a:cubicBezTo>
                <a:lnTo>
                  <a:pt x="148859" y="113295"/>
                </a:lnTo>
                <a:lnTo>
                  <a:pt x="136023" y="126132"/>
                </a:lnTo>
                <a:cubicBezTo>
                  <a:pt x="132147" y="130008"/>
                  <a:pt x="125853" y="130008"/>
                  <a:pt x="121977" y="126132"/>
                </a:cubicBezTo>
                <a:cubicBezTo>
                  <a:pt x="118101" y="122256"/>
                  <a:pt x="118101" y="115962"/>
                  <a:pt x="121977" y="112086"/>
                </a:cubicBezTo>
                <a:lnTo>
                  <a:pt x="134813" y="99250"/>
                </a:lnTo>
                <a:lnTo>
                  <a:pt x="121977" y="86413"/>
                </a:lnTo>
                <a:cubicBezTo>
                  <a:pt x="118101" y="82538"/>
                  <a:pt x="118101" y="76243"/>
                  <a:pt x="121977" y="72368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532563" y="130175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Root Mean Squared Error (RMSE)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4125" y="1619250"/>
            <a:ext cx="5381625" cy="396875"/>
          </a:xfrm>
          <a:custGeom>
            <a:avLst/>
            <a:gdLst/>
            <a:ahLst/>
            <a:cxnLst/>
            <a:rect l="l" t="t" r="r" b="b"/>
            <a:pathLst>
              <a:path w="5381625" h="396875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333375"/>
                </a:lnTo>
                <a:cubicBezTo>
                  <a:pt x="5381625" y="368422"/>
                  <a:pt x="5353172" y="396875"/>
                  <a:pt x="5318125" y="396875"/>
                </a:cubicBezTo>
                <a:lnTo>
                  <a:pt x="63500" y="396875"/>
                </a:lnTo>
                <a:cubicBezTo>
                  <a:pt x="28453" y="396875"/>
                  <a:pt x="0" y="368422"/>
                  <a:pt x="0" y="333375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429375" y="1714500"/>
            <a:ext cx="5254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Racine carrée du MSE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Ramène l'erreur dans les unités originales de la variable cible.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34125" y="2111375"/>
            <a:ext cx="5381625" cy="412750"/>
          </a:xfrm>
          <a:custGeom>
            <a:avLst/>
            <a:gdLst/>
            <a:ahLst/>
            <a:cxnLst/>
            <a:rect l="l" t="t" r="r" b="b"/>
            <a:pathLst>
              <a:path w="5381625" h="412750">
                <a:moveTo>
                  <a:pt x="63502" y="0"/>
                </a:moveTo>
                <a:lnTo>
                  <a:pt x="5318123" y="0"/>
                </a:lnTo>
                <a:cubicBezTo>
                  <a:pt x="5353194" y="0"/>
                  <a:pt x="5381625" y="28431"/>
                  <a:pt x="5381625" y="63502"/>
                </a:cubicBezTo>
                <a:lnTo>
                  <a:pt x="5381625" y="349248"/>
                </a:lnTo>
                <a:cubicBezTo>
                  <a:pt x="5381625" y="384319"/>
                  <a:pt x="5353194" y="412750"/>
                  <a:pt x="53181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393656" y="2206625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 = √MSE = √[(1/n) × Σ(yᵢ - ŷᵢ)²]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7300" y="2622550"/>
            <a:ext cx="5372100" cy="800100"/>
          </a:xfrm>
          <a:custGeom>
            <a:avLst/>
            <a:gdLst/>
            <a:ahLst/>
            <a:cxnLst/>
            <a:rect l="l" t="t" r="r" b="b"/>
            <a:pathLst>
              <a:path w="5372100" h="800100">
                <a:moveTo>
                  <a:pt x="63504" y="0"/>
                </a:moveTo>
                <a:lnTo>
                  <a:pt x="5308596" y="0"/>
                </a:lnTo>
                <a:cubicBezTo>
                  <a:pt x="5343668" y="0"/>
                  <a:pt x="5372100" y="28432"/>
                  <a:pt x="5372100" y="63504"/>
                </a:cubicBezTo>
                <a:lnTo>
                  <a:pt x="5372100" y="736596"/>
                </a:lnTo>
                <a:cubicBezTo>
                  <a:pt x="5372100" y="771668"/>
                  <a:pt x="5343668" y="800100"/>
                  <a:pt x="5308596" y="800100"/>
                </a:cubicBezTo>
                <a:lnTo>
                  <a:pt x="63504" y="800100"/>
                </a:lnTo>
                <a:cubicBezTo>
                  <a:pt x="28432" y="800100"/>
                  <a:pt x="0" y="771668"/>
                  <a:pt x="0" y="73659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EFF6FF"/>
          </a:solidFill>
          <a:ln w="10160">
            <a:solidFill>
              <a:srgbClr val="BEDB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435725" y="2720977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93C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💡 Quand l'utiliser ?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35725" y="2943227"/>
            <a:ext cx="523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Quand les </a:t>
            </a: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grandes erreurs sont particulièrement indésirables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doivent être fortement pénalisées.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5375" y="3711576"/>
            <a:ext cx="5699125" cy="3476625"/>
          </a:xfrm>
          <a:custGeom>
            <a:avLst/>
            <a:gdLst/>
            <a:ahLst/>
            <a:cxnLst/>
            <a:rect l="l" t="t" r="r" b="b"/>
            <a:pathLst>
              <a:path w="5699125" h="3476625">
                <a:moveTo>
                  <a:pt x="63483" y="0"/>
                </a:moveTo>
                <a:lnTo>
                  <a:pt x="5635642" y="0"/>
                </a:lnTo>
                <a:cubicBezTo>
                  <a:pt x="5670703" y="0"/>
                  <a:pt x="5699125" y="28422"/>
                  <a:pt x="5699125" y="63483"/>
                </a:cubicBezTo>
                <a:lnTo>
                  <a:pt x="5699125" y="3413142"/>
                </a:lnTo>
                <a:cubicBezTo>
                  <a:pt x="5699125" y="3448203"/>
                  <a:pt x="5670703" y="3476625"/>
                  <a:pt x="5635642" y="3476625"/>
                </a:cubicBezTo>
                <a:lnTo>
                  <a:pt x="63483" y="3476625"/>
                </a:lnTo>
                <a:cubicBezTo>
                  <a:pt x="28422" y="3476625"/>
                  <a:pt x="0" y="3448203"/>
                  <a:pt x="0" y="3413142"/>
                </a:cubicBezTo>
                <a:lnTo>
                  <a:pt x="0" y="63483"/>
                </a:lnTo>
                <a:cubicBezTo>
                  <a:pt x="0" y="28446"/>
                  <a:pt x="28446" y="0"/>
                  <a:pt x="6348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363891" y="3902076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59531" y="39688"/>
                </a:moveTo>
                <a:cubicBezTo>
                  <a:pt x="59531" y="23259"/>
                  <a:pt x="46194" y="9922"/>
                  <a:pt x="29766" y="9922"/>
                </a:cubicBezTo>
                <a:cubicBezTo>
                  <a:pt x="13338" y="9922"/>
                  <a:pt x="0" y="23259"/>
                  <a:pt x="0" y="39688"/>
                </a:cubicBezTo>
                <a:cubicBezTo>
                  <a:pt x="0" y="56116"/>
                  <a:pt x="13338" y="69453"/>
                  <a:pt x="29766" y="69453"/>
                </a:cubicBezTo>
                <a:cubicBezTo>
                  <a:pt x="46194" y="69453"/>
                  <a:pt x="59531" y="56116"/>
                  <a:pt x="59531" y="39688"/>
                </a:cubicBezTo>
                <a:close/>
                <a:moveTo>
                  <a:pt x="138906" y="119062"/>
                </a:moveTo>
                <a:cubicBezTo>
                  <a:pt x="138906" y="102634"/>
                  <a:pt x="125569" y="89297"/>
                  <a:pt x="109141" y="89297"/>
                </a:cubicBezTo>
                <a:cubicBezTo>
                  <a:pt x="92713" y="89297"/>
                  <a:pt x="79375" y="102634"/>
                  <a:pt x="79375" y="119062"/>
                </a:cubicBezTo>
                <a:cubicBezTo>
                  <a:pt x="79375" y="135491"/>
                  <a:pt x="92713" y="148828"/>
                  <a:pt x="109141" y="148828"/>
                </a:cubicBezTo>
                <a:cubicBezTo>
                  <a:pt x="125569" y="148828"/>
                  <a:pt x="138906" y="135491"/>
                  <a:pt x="138906" y="119062"/>
                </a:cubicBezTo>
                <a:close/>
                <a:moveTo>
                  <a:pt x="135992" y="26851"/>
                </a:moveTo>
                <a:cubicBezTo>
                  <a:pt x="139867" y="22975"/>
                  <a:pt x="139867" y="16681"/>
                  <a:pt x="135992" y="12805"/>
                </a:cubicBezTo>
                <a:cubicBezTo>
                  <a:pt x="132116" y="8930"/>
                  <a:pt x="125822" y="8930"/>
                  <a:pt x="121946" y="12805"/>
                </a:cubicBezTo>
                <a:lnTo>
                  <a:pt x="2884" y="131868"/>
                </a:lnTo>
                <a:cubicBezTo>
                  <a:pt x="-992" y="135744"/>
                  <a:pt x="-992" y="142038"/>
                  <a:pt x="2884" y="145914"/>
                </a:cubicBezTo>
                <a:cubicBezTo>
                  <a:pt x="6759" y="149789"/>
                  <a:pt x="13053" y="149789"/>
                  <a:pt x="16929" y="145914"/>
                </a:cubicBezTo>
                <a:lnTo>
                  <a:pt x="135992" y="26851"/>
                </a:ln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532563" y="3870326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Coefficient de Détermination (R²)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34125" y="4187826"/>
            <a:ext cx="5381625" cy="603250"/>
          </a:xfrm>
          <a:custGeom>
            <a:avLst/>
            <a:gdLst/>
            <a:ahLst/>
            <a:cxnLst/>
            <a:rect l="l" t="t" r="r" b="b"/>
            <a:pathLst>
              <a:path w="5381625" h="603250">
                <a:moveTo>
                  <a:pt x="63498" y="0"/>
                </a:moveTo>
                <a:lnTo>
                  <a:pt x="5318127" y="0"/>
                </a:lnTo>
                <a:cubicBezTo>
                  <a:pt x="5353196" y="0"/>
                  <a:pt x="5381625" y="28429"/>
                  <a:pt x="5381625" y="63498"/>
                </a:cubicBezTo>
                <a:lnTo>
                  <a:pt x="5381625" y="539752"/>
                </a:lnTo>
                <a:cubicBezTo>
                  <a:pt x="5381625" y="574821"/>
                  <a:pt x="5353196" y="603250"/>
                  <a:pt x="531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6429375" y="4283076"/>
            <a:ext cx="5254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Proportion de la </a:t>
            </a: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variance expliquée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 le modèle. Indique à quel point le modèle s'ajuste aux données.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4125" y="4886326"/>
            <a:ext cx="5381625" cy="412750"/>
          </a:xfrm>
          <a:custGeom>
            <a:avLst/>
            <a:gdLst/>
            <a:ahLst/>
            <a:cxnLst/>
            <a:rect l="l" t="t" r="r" b="b"/>
            <a:pathLst>
              <a:path w="5381625" h="412750">
                <a:moveTo>
                  <a:pt x="63502" y="0"/>
                </a:moveTo>
                <a:lnTo>
                  <a:pt x="5318123" y="0"/>
                </a:lnTo>
                <a:cubicBezTo>
                  <a:pt x="5353194" y="0"/>
                  <a:pt x="5381625" y="28431"/>
                  <a:pt x="5381625" y="63502"/>
                </a:cubicBezTo>
                <a:lnTo>
                  <a:pt x="5381625" y="349248"/>
                </a:lnTo>
                <a:cubicBezTo>
                  <a:pt x="5381625" y="384319"/>
                  <a:pt x="5353194" y="412750"/>
                  <a:pt x="53181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6393656" y="4981576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R² = 1 - (SS</a:t>
            </a:r>
            <a:r>
              <a:rPr lang="en-US" sz="84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</a:t>
            </a:r>
            <a:r>
              <a:rPr lang="en-US" sz="1125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SS</a:t>
            </a:r>
            <a:r>
              <a:rPr lang="en-US" sz="84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</a:t>
            </a:r>
            <a:r>
              <a:rPr lang="en-US" sz="1125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34125" y="5394326"/>
            <a:ext cx="5381625" cy="381000"/>
          </a:xfrm>
          <a:custGeom>
            <a:avLst/>
            <a:gdLst/>
            <a:ahLst/>
            <a:cxnLst/>
            <a:rect l="l" t="t" r="r" b="b"/>
            <a:pathLst>
              <a:path w="5381625" h="381000">
                <a:moveTo>
                  <a:pt x="31749" y="0"/>
                </a:moveTo>
                <a:lnTo>
                  <a:pt x="5349876" y="0"/>
                </a:lnTo>
                <a:cubicBezTo>
                  <a:pt x="5367411" y="0"/>
                  <a:pt x="5381625" y="14214"/>
                  <a:pt x="5381625" y="31749"/>
                </a:cubicBezTo>
                <a:lnTo>
                  <a:pt x="5381625" y="349251"/>
                </a:lnTo>
                <a:cubicBezTo>
                  <a:pt x="5381625" y="366786"/>
                  <a:pt x="5367411" y="381000"/>
                  <a:pt x="5349876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397625" y="545782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6369844" y="5457826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46875" y="5505451"/>
            <a:ext cx="127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= 1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Ajustement parfait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34125" y="5838830"/>
            <a:ext cx="5381625" cy="381000"/>
          </a:xfrm>
          <a:custGeom>
            <a:avLst/>
            <a:gdLst/>
            <a:ahLst/>
            <a:cxnLst/>
            <a:rect l="l" t="t" r="r" b="b"/>
            <a:pathLst>
              <a:path w="5381625" h="381000">
                <a:moveTo>
                  <a:pt x="31749" y="0"/>
                </a:moveTo>
                <a:lnTo>
                  <a:pt x="5349876" y="0"/>
                </a:lnTo>
                <a:cubicBezTo>
                  <a:pt x="5367411" y="0"/>
                  <a:pt x="5381625" y="14214"/>
                  <a:pt x="5381625" y="31749"/>
                </a:cubicBezTo>
                <a:lnTo>
                  <a:pt x="5381625" y="349251"/>
                </a:lnTo>
                <a:cubicBezTo>
                  <a:pt x="5381625" y="366786"/>
                  <a:pt x="5367411" y="381000"/>
                  <a:pt x="5349876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EFC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6397625" y="590233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6369844" y="590233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46875" y="5949955"/>
            <a:ext cx="159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= 0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Équivalent à la moyenne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34125" y="6283330"/>
            <a:ext cx="5381625" cy="381000"/>
          </a:xfrm>
          <a:custGeom>
            <a:avLst/>
            <a:gdLst/>
            <a:ahLst/>
            <a:cxnLst/>
            <a:rect l="l" t="t" r="r" b="b"/>
            <a:pathLst>
              <a:path w="5381625" h="381000">
                <a:moveTo>
                  <a:pt x="31749" y="0"/>
                </a:moveTo>
                <a:lnTo>
                  <a:pt x="5349876" y="0"/>
                </a:lnTo>
                <a:cubicBezTo>
                  <a:pt x="5367411" y="0"/>
                  <a:pt x="5381625" y="14214"/>
                  <a:pt x="5381625" y="31749"/>
                </a:cubicBezTo>
                <a:lnTo>
                  <a:pt x="5381625" y="349251"/>
                </a:lnTo>
                <a:cubicBezTo>
                  <a:pt x="5381625" y="366786"/>
                  <a:pt x="5367411" y="381000"/>
                  <a:pt x="5349876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6397625" y="634683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6369844" y="634683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&lt;0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46875" y="6394455"/>
            <a:ext cx="139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&lt; 0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Pire que la moyenne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37300" y="6762755"/>
            <a:ext cx="5372100" cy="260350"/>
          </a:xfrm>
          <a:custGeom>
            <a:avLst/>
            <a:gdLst/>
            <a:ahLst/>
            <a:cxnLst/>
            <a:rect l="l" t="t" r="r" b="b"/>
            <a:pathLst>
              <a:path w="5372100" h="260350">
                <a:moveTo>
                  <a:pt x="31750" y="0"/>
                </a:moveTo>
                <a:lnTo>
                  <a:pt x="5340350" y="0"/>
                </a:lnTo>
                <a:cubicBezTo>
                  <a:pt x="5357885" y="0"/>
                  <a:pt x="5372100" y="14215"/>
                  <a:pt x="5372100" y="31750"/>
                </a:cubicBezTo>
                <a:lnTo>
                  <a:pt x="5372100" y="228600"/>
                </a:lnTo>
                <a:cubicBezTo>
                  <a:pt x="5372100" y="246135"/>
                  <a:pt x="5357885" y="260350"/>
                  <a:pt x="5340350" y="260350"/>
                </a:cubicBezTo>
                <a:lnTo>
                  <a:pt x="31750" y="260350"/>
                </a:lnTo>
                <a:cubicBezTo>
                  <a:pt x="14215" y="260350"/>
                  <a:pt x="0" y="246135"/>
                  <a:pt x="0" y="2286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6403975" y="6829428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R² peut augmenter artificiellement en ajoutant des features. Utiliser R² ajusté pour comparaison.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889000" cy="222250"/>
          </a:xfrm>
          <a:custGeom>
            <a:avLst/>
            <a:gdLst/>
            <a:ahLst/>
            <a:cxnLst/>
            <a:rect l="l" t="t" r="r" b="b"/>
            <a:pathLst>
              <a:path w="889000" h="222250">
                <a:moveTo>
                  <a:pt x="0" y="0"/>
                </a:moveTo>
                <a:lnTo>
                  <a:pt x="889000" y="0"/>
                </a:lnTo>
                <a:lnTo>
                  <a:pt x="889000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17500" y="317500"/>
            <a:ext cx="944563" cy="222250"/>
          </a:xfrm>
          <a:prstGeom prst="rect">
            <a:avLst/>
          </a:prstGeom>
          <a:noFill/>
          <a:ln/>
        </p:spPr>
        <p:txBody>
          <a:bodyPr wrap="square" lIns="127000" tIns="31750" rIns="1270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032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Biais, Variance et Compromis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17500" y="1143000"/>
            <a:ext cx="6881813" cy="2762250"/>
          </a:xfrm>
          <a:custGeom>
            <a:avLst/>
            <a:gdLst/>
            <a:ahLst/>
            <a:cxnLst/>
            <a:rect l="l" t="t" r="r" b="b"/>
            <a:pathLst>
              <a:path w="6881813" h="2762250">
                <a:moveTo>
                  <a:pt x="63504" y="0"/>
                </a:moveTo>
                <a:lnTo>
                  <a:pt x="6818308" y="0"/>
                </a:lnTo>
                <a:cubicBezTo>
                  <a:pt x="6853381" y="0"/>
                  <a:pt x="6881813" y="28432"/>
                  <a:pt x="6881813" y="63504"/>
                </a:cubicBezTo>
                <a:lnTo>
                  <a:pt x="6881813" y="2698746"/>
                </a:lnTo>
                <a:cubicBezTo>
                  <a:pt x="6881813" y="2733818"/>
                  <a:pt x="6853381" y="2762250"/>
                  <a:pt x="6818308" y="2762250"/>
                </a:cubicBezTo>
                <a:lnTo>
                  <a:pt x="63504" y="2762250"/>
                </a:lnTo>
                <a:cubicBezTo>
                  <a:pt x="28432" y="2762250"/>
                  <a:pt x="0" y="2733818"/>
                  <a:pt x="0" y="26987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86172" y="13335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-4961"/>
                </a:moveTo>
                <a:cubicBezTo>
                  <a:pt x="94785" y="-4961"/>
                  <a:pt x="99219" y="-527"/>
                  <a:pt x="99219" y="4961"/>
                </a:cubicBezTo>
                <a:lnTo>
                  <a:pt x="99219" y="10635"/>
                </a:lnTo>
                <a:cubicBezTo>
                  <a:pt x="129635" y="14976"/>
                  <a:pt x="153696" y="39036"/>
                  <a:pt x="158037" y="69453"/>
                </a:cubicBezTo>
                <a:lnTo>
                  <a:pt x="163711" y="69453"/>
                </a:lnTo>
                <a:cubicBezTo>
                  <a:pt x="169199" y="69453"/>
                  <a:pt x="173633" y="73887"/>
                  <a:pt x="173633" y="79375"/>
                </a:cubicBezTo>
                <a:cubicBezTo>
                  <a:pt x="173633" y="84863"/>
                  <a:pt x="169199" y="89297"/>
                  <a:pt x="163711" y="89297"/>
                </a:cubicBezTo>
                <a:lnTo>
                  <a:pt x="158037" y="89297"/>
                </a:lnTo>
                <a:cubicBezTo>
                  <a:pt x="153696" y="119714"/>
                  <a:pt x="129635" y="143774"/>
                  <a:pt x="99219" y="148115"/>
                </a:cubicBezTo>
                <a:lnTo>
                  <a:pt x="99219" y="153789"/>
                </a:lnTo>
                <a:cubicBezTo>
                  <a:pt x="99219" y="159277"/>
                  <a:pt x="94785" y="163711"/>
                  <a:pt x="89297" y="163711"/>
                </a:cubicBezTo>
                <a:cubicBezTo>
                  <a:pt x="83809" y="163711"/>
                  <a:pt x="79375" y="159277"/>
                  <a:pt x="79375" y="153789"/>
                </a:cubicBezTo>
                <a:lnTo>
                  <a:pt x="79375" y="148115"/>
                </a:lnTo>
                <a:cubicBezTo>
                  <a:pt x="48958" y="143774"/>
                  <a:pt x="24898" y="119714"/>
                  <a:pt x="20557" y="89297"/>
                </a:cubicBezTo>
                <a:lnTo>
                  <a:pt x="14883" y="89297"/>
                </a:lnTo>
                <a:cubicBezTo>
                  <a:pt x="9395" y="89297"/>
                  <a:pt x="4961" y="84863"/>
                  <a:pt x="4961" y="79375"/>
                </a:cubicBezTo>
                <a:cubicBezTo>
                  <a:pt x="4961" y="73887"/>
                  <a:pt x="9395" y="69453"/>
                  <a:pt x="14883" y="69453"/>
                </a:cubicBezTo>
                <a:lnTo>
                  <a:pt x="20557" y="69453"/>
                </a:lnTo>
                <a:cubicBezTo>
                  <a:pt x="24898" y="39036"/>
                  <a:pt x="48958" y="14976"/>
                  <a:pt x="79375" y="10635"/>
                </a:cubicBezTo>
                <a:lnTo>
                  <a:pt x="79375" y="4961"/>
                </a:lnTo>
                <a:cubicBezTo>
                  <a:pt x="79375" y="-527"/>
                  <a:pt x="83809" y="-4961"/>
                  <a:pt x="89297" y="-4961"/>
                </a:cubicBezTo>
                <a:close/>
                <a:moveTo>
                  <a:pt x="40680" y="89297"/>
                </a:moveTo>
                <a:cubicBezTo>
                  <a:pt x="44617" y="108738"/>
                  <a:pt x="59934" y="124054"/>
                  <a:pt x="79375" y="127992"/>
                </a:cubicBezTo>
                <a:lnTo>
                  <a:pt x="79375" y="124023"/>
                </a:lnTo>
                <a:cubicBezTo>
                  <a:pt x="79375" y="118535"/>
                  <a:pt x="83809" y="114102"/>
                  <a:pt x="89297" y="114102"/>
                </a:cubicBezTo>
                <a:cubicBezTo>
                  <a:pt x="94785" y="114102"/>
                  <a:pt x="99219" y="118535"/>
                  <a:pt x="99219" y="124023"/>
                </a:cubicBezTo>
                <a:lnTo>
                  <a:pt x="99219" y="127992"/>
                </a:lnTo>
                <a:cubicBezTo>
                  <a:pt x="118659" y="124054"/>
                  <a:pt x="133976" y="108738"/>
                  <a:pt x="137914" y="89297"/>
                </a:cubicBezTo>
                <a:lnTo>
                  <a:pt x="133945" y="89297"/>
                </a:lnTo>
                <a:cubicBezTo>
                  <a:pt x="128457" y="89297"/>
                  <a:pt x="124023" y="84863"/>
                  <a:pt x="124023" y="79375"/>
                </a:cubicBezTo>
                <a:cubicBezTo>
                  <a:pt x="124023" y="73887"/>
                  <a:pt x="128457" y="69453"/>
                  <a:pt x="133945" y="69453"/>
                </a:cubicBezTo>
                <a:lnTo>
                  <a:pt x="137914" y="69453"/>
                </a:lnTo>
                <a:cubicBezTo>
                  <a:pt x="133976" y="50012"/>
                  <a:pt x="118659" y="34696"/>
                  <a:pt x="99219" y="30758"/>
                </a:cubicBezTo>
                <a:lnTo>
                  <a:pt x="99219" y="34727"/>
                </a:lnTo>
                <a:cubicBezTo>
                  <a:pt x="99219" y="40215"/>
                  <a:pt x="94785" y="44648"/>
                  <a:pt x="89297" y="44648"/>
                </a:cubicBezTo>
                <a:cubicBezTo>
                  <a:pt x="83809" y="44648"/>
                  <a:pt x="79375" y="40215"/>
                  <a:pt x="79375" y="34727"/>
                </a:cubicBezTo>
                <a:lnTo>
                  <a:pt x="79375" y="30758"/>
                </a:lnTo>
                <a:cubicBezTo>
                  <a:pt x="59934" y="34696"/>
                  <a:pt x="44617" y="50012"/>
                  <a:pt x="40680" y="69453"/>
                </a:cubicBezTo>
                <a:lnTo>
                  <a:pt x="44648" y="69453"/>
                </a:lnTo>
                <a:cubicBezTo>
                  <a:pt x="50136" y="69453"/>
                  <a:pt x="54570" y="73887"/>
                  <a:pt x="54570" y="79375"/>
                </a:cubicBezTo>
                <a:cubicBezTo>
                  <a:pt x="54570" y="84863"/>
                  <a:pt x="50136" y="89297"/>
                  <a:pt x="44648" y="89297"/>
                </a:cubicBezTo>
                <a:lnTo>
                  <a:pt x="40680" y="89297"/>
                </a:lnTo>
                <a:close/>
                <a:moveTo>
                  <a:pt x="89297" y="64492"/>
                </a:moveTo>
                <a:cubicBezTo>
                  <a:pt x="97511" y="64492"/>
                  <a:pt x="104180" y="71161"/>
                  <a:pt x="104180" y="79375"/>
                </a:cubicBezTo>
                <a:cubicBezTo>
                  <a:pt x="104180" y="87589"/>
                  <a:pt x="97511" y="94258"/>
                  <a:pt x="89297" y="94258"/>
                </a:cubicBezTo>
                <a:cubicBezTo>
                  <a:pt x="81083" y="94258"/>
                  <a:pt x="74414" y="87589"/>
                  <a:pt x="74414" y="79375"/>
                </a:cubicBezTo>
                <a:cubicBezTo>
                  <a:pt x="74414" y="71161"/>
                  <a:pt x="81083" y="64492"/>
                  <a:pt x="89297" y="64492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74688" y="1301750"/>
            <a:ext cx="644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Comprendre le Compromis Biais-Variance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1619250"/>
            <a:ext cx="3222625" cy="1428750"/>
          </a:xfrm>
          <a:custGeom>
            <a:avLst/>
            <a:gdLst/>
            <a:ahLst/>
            <a:cxnLst/>
            <a:rect l="l" t="t" r="r" b="b"/>
            <a:pathLst>
              <a:path w="3222625" h="1428750">
                <a:moveTo>
                  <a:pt x="63494" y="0"/>
                </a:moveTo>
                <a:lnTo>
                  <a:pt x="3159131" y="0"/>
                </a:lnTo>
                <a:cubicBezTo>
                  <a:pt x="3194198" y="0"/>
                  <a:pt x="3222625" y="28427"/>
                  <a:pt x="3222625" y="63494"/>
                </a:cubicBezTo>
                <a:lnTo>
                  <a:pt x="3222625" y="1365256"/>
                </a:lnTo>
                <a:cubicBezTo>
                  <a:pt x="3222625" y="1400323"/>
                  <a:pt x="3194198" y="1428750"/>
                  <a:pt x="3159131" y="1428750"/>
                </a:cubicBezTo>
                <a:lnTo>
                  <a:pt x="63494" y="1428750"/>
                </a:lnTo>
                <a:cubicBezTo>
                  <a:pt x="28427" y="1428750"/>
                  <a:pt x="0" y="1400323"/>
                  <a:pt x="0" y="13652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03250" y="1746250"/>
            <a:ext cx="304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Biais (Bias)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" y="2032000"/>
            <a:ext cx="3032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Erreur due à des </a:t>
            </a: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hypothèses simplistes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Le modèle manque les patterns réels.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250" y="2476500"/>
            <a:ext cx="2968625" cy="444500"/>
          </a:xfrm>
          <a:custGeom>
            <a:avLst/>
            <a:gdLst/>
            <a:ahLst/>
            <a:cxnLst/>
            <a:rect l="l" t="t" r="r" b="b"/>
            <a:pathLst>
              <a:path w="2968625" h="444500">
                <a:moveTo>
                  <a:pt x="31751" y="0"/>
                </a:moveTo>
                <a:lnTo>
                  <a:pt x="2936874" y="0"/>
                </a:lnTo>
                <a:cubicBezTo>
                  <a:pt x="2954410" y="0"/>
                  <a:pt x="2968625" y="14215"/>
                  <a:pt x="2968625" y="31751"/>
                </a:cubicBezTo>
                <a:lnTo>
                  <a:pt x="2968625" y="412749"/>
                </a:lnTo>
                <a:cubicBezTo>
                  <a:pt x="2968625" y="430285"/>
                  <a:pt x="2954410" y="444500"/>
                  <a:pt x="2936874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66750" y="2540000"/>
            <a:ext cx="289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Cause :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Modèle trop simple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6750" y="2698750"/>
            <a:ext cx="289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Symptôme :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Mauvais sur train ET test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22700" y="1619250"/>
            <a:ext cx="3222625" cy="1428750"/>
          </a:xfrm>
          <a:custGeom>
            <a:avLst/>
            <a:gdLst/>
            <a:ahLst/>
            <a:cxnLst/>
            <a:rect l="l" t="t" r="r" b="b"/>
            <a:pathLst>
              <a:path w="3222625" h="1428750">
                <a:moveTo>
                  <a:pt x="63494" y="0"/>
                </a:moveTo>
                <a:lnTo>
                  <a:pt x="3159131" y="0"/>
                </a:lnTo>
                <a:cubicBezTo>
                  <a:pt x="3194198" y="0"/>
                  <a:pt x="3222625" y="28427"/>
                  <a:pt x="3222625" y="63494"/>
                </a:cubicBezTo>
                <a:lnTo>
                  <a:pt x="3222625" y="1365256"/>
                </a:lnTo>
                <a:cubicBezTo>
                  <a:pt x="3222625" y="1400323"/>
                  <a:pt x="3194198" y="1428750"/>
                  <a:pt x="3159131" y="1428750"/>
                </a:cubicBezTo>
                <a:lnTo>
                  <a:pt x="63494" y="1428750"/>
                </a:lnTo>
                <a:cubicBezTo>
                  <a:pt x="28427" y="1428750"/>
                  <a:pt x="0" y="1400323"/>
                  <a:pt x="0" y="13652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949700" y="1746250"/>
            <a:ext cx="304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49700" y="2032000"/>
            <a:ext cx="3032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Erreur due à la </a:t>
            </a:r>
            <a:r>
              <a:rPr lang="en-US" sz="1000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sensibilité aux fluctuations</a:t>
            </a:r>
            <a:r>
              <a:rPr lang="en-US" sz="1000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données d'entraînement.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49700" y="2476500"/>
            <a:ext cx="2968625" cy="444500"/>
          </a:xfrm>
          <a:custGeom>
            <a:avLst/>
            <a:gdLst/>
            <a:ahLst/>
            <a:cxnLst/>
            <a:rect l="l" t="t" r="r" b="b"/>
            <a:pathLst>
              <a:path w="2968625" h="444500">
                <a:moveTo>
                  <a:pt x="31751" y="0"/>
                </a:moveTo>
                <a:lnTo>
                  <a:pt x="2936874" y="0"/>
                </a:lnTo>
                <a:cubicBezTo>
                  <a:pt x="2954410" y="0"/>
                  <a:pt x="2968625" y="14215"/>
                  <a:pt x="2968625" y="31751"/>
                </a:cubicBezTo>
                <a:lnTo>
                  <a:pt x="2968625" y="412749"/>
                </a:lnTo>
                <a:cubicBezTo>
                  <a:pt x="2968625" y="430285"/>
                  <a:pt x="2954410" y="444500"/>
                  <a:pt x="2936874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013200" y="2540000"/>
            <a:ext cx="289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Cause :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Modèle trop complexe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13200" y="2698750"/>
            <a:ext cx="289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Symptôme :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Bon sur train, mauvais sur test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6250" y="3143250"/>
            <a:ext cx="6564313" cy="603250"/>
          </a:xfrm>
          <a:custGeom>
            <a:avLst/>
            <a:gdLst/>
            <a:ahLst/>
            <a:cxnLst/>
            <a:rect l="l" t="t" r="r" b="b"/>
            <a:pathLst>
              <a:path w="6564313" h="603250">
                <a:moveTo>
                  <a:pt x="63498" y="0"/>
                </a:moveTo>
                <a:lnTo>
                  <a:pt x="6500814" y="0"/>
                </a:lnTo>
                <a:cubicBezTo>
                  <a:pt x="6535883" y="0"/>
                  <a:pt x="6564313" y="28429"/>
                  <a:pt x="6564313" y="63498"/>
                </a:cubicBezTo>
                <a:lnTo>
                  <a:pt x="6564313" y="539752"/>
                </a:lnTo>
                <a:cubicBezTo>
                  <a:pt x="6564313" y="574821"/>
                  <a:pt x="6535883" y="603250"/>
                  <a:pt x="6500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278063" y="3238500"/>
            <a:ext cx="296217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Erreur Totale = Biais² + Variance + Erreur Irréductible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3719" y="3492500"/>
            <a:ext cx="642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L'objectif est de minimiser Biais² + Variance pour trouver le bon équilibre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7500" y="4032250"/>
            <a:ext cx="6881813" cy="2614088"/>
          </a:xfrm>
          <a:custGeom>
            <a:avLst/>
            <a:gdLst/>
            <a:ahLst/>
            <a:cxnLst/>
            <a:rect l="l" t="t" r="r" b="b"/>
            <a:pathLst>
              <a:path w="6881813" h="3714750">
                <a:moveTo>
                  <a:pt x="63485" y="0"/>
                </a:moveTo>
                <a:lnTo>
                  <a:pt x="6818327" y="0"/>
                </a:lnTo>
                <a:cubicBezTo>
                  <a:pt x="6853389" y="0"/>
                  <a:pt x="6881813" y="28423"/>
                  <a:pt x="6881813" y="63485"/>
                </a:cubicBezTo>
                <a:lnTo>
                  <a:pt x="6881813" y="3651265"/>
                </a:lnTo>
                <a:cubicBezTo>
                  <a:pt x="6881813" y="3686327"/>
                  <a:pt x="6853389" y="3714750"/>
                  <a:pt x="6818327" y="3714750"/>
                </a:cubicBezTo>
                <a:lnTo>
                  <a:pt x="63485" y="3714750"/>
                </a:lnTo>
                <a:cubicBezTo>
                  <a:pt x="28423" y="3714750"/>
                  <a:pt x="0" y="3686327"/>
                  <a:pt x="0" y="3651265"/>
                </a:cubicBezTo>
                <a:lnTo>
                  <a:pt x="0" y="63485"/>
                </a:lnTo>
                <a:cubicBezTo>
                  <a:pt x="0" y="28447"/>
                  <a:pt x="28447" y="0"/>
                  <a:pt x="634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96094" y="4222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74688" y="4191000"/>
            <a:ext cx="644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Courbe du Compromis</a:t>
            </a:r>
            <a:endParaRPr lang="en-US" sz="1600" dirty="0"/>
          </a:p>
        </p:txBody>
      </p:sp>
      <p:pic>
        <p:nvPicPr>
          <p:cNvPr id="27" name="Image 0" descr="https://kimi-web-img.moonshot.cn/img/miro.medium.com/ae90b6065394d533267d1cfe9573153254242c66.png"/>
          <p:cNvPicPr>
            <a:picLocks noChangeAspect="1"/>
          </p:cNvPicPr>
          <p:nvPr/>
        </p:nvPicPr>
        <p:blipFill>
          <a:blip r:embed="rId3"/>
          <a:srcRect l="15" r="15"/>
          <a:stretch/>
        </p:blipFill>
        <p:spPr>
          <a:xfrm>
            <a:off x="2626254" y="4542375"/>
            <a:ext cx="2392892" cy="1994077"/>
          </a:xfrm>
          <a:prstGeom prst="roundRect">
            <a:avLst>
              <a:gd name="adj" fmla="val 4000"/>
            </a:avLst>
          </a:prstGeom>
        </p:spPr>
      </p:pic>
      <p:sp>
        <p:nvSpPr>
          <p:cNvPr id="28" name="Text 25"/>
          <p:cNvSpPr/>
          <p:nvPr/>
        </p:nvSpPr>
        <p:spPr>
          <a:xfrm>
            <a:off x="448468" y="4201589"/>
            <a:ext cx="661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complexité optimale minimise l'erreur totale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327900" y="169338"/>
            <a:ext cx="4548188" cy="3873500"/>
          </a:xfrm>
          <a:custGeom>
            <a:avLst/>
            <a:gdLst/>
            <a:ahLst/>
            <a:cxnLst/>
            <a:rect l="l" t="t" r="r" b="b"/>
            <a:pathLst>
              <a:path w="4548188" h="3873500">
                <a:moveTo>
                  <a:pt x="63487" y="0"/>
                </a:moveTo>
                <a:lnTo>
                  <a:pt x="4484701" y="0"/>
                </a:lnTo>
                <a:cubicBezTo>
                  <a:pt x="4519764" y="0"/>
                  <a:pt x="4548188" y="28424"/>
                  <a:pt x="4548188" y="63487"/>
                </a:cubicBezTo>
                <a:lnTo>
                  <a:pt x="4548188" y="3810013"/>
                </a:lnTo>
                <a:cubicBezTo>
                  <a:pt x="4548187" y="3845076"/>
                  <a:pt x="4519764" y="3873500"/>
                  <a:pt x="4484701" y="3873500"/>
                </a:cubicBezTo>
                <a:lnTo>
                  <a:pt x="63487" y="3873500"/>
                </a:lnTo>
                <a:cubicBezTo>
                  <a:pt x="28424" y="3873500"/>
                  <a:pt x="0" y="3845076"/>
                  <a:pt x="0" y="3810013"/>
                </a:cubicBezTo>
                <a:lnTo>
                  <a:pt x="0" y="63487"/>
                </a:lnTo>
                <a:cubicBezTo>
                  <a:pt x="0" y="28447"/>
                  <a:pt x="28447" y="0"/>
                  <a:pt x="634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7454900" y="296338"/>
            <a:ext cx="436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Surapprentissage vs Sous-apprentissage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470775" y="613838"/>
            <a:ext cx="4278313" cy="1682750"/>
          </a:xfrm>
          <a:custGeom>
            <a:avLst/>
            <a:gdLst/>
            <a:ahLst/>
            <a:cxnLst/>
            <a:rect l="l" t="t" r="r" b="b"/>
            <a:pathLst>
              <a:path w="4278313" h="1682750">
                <a:moveTo>
                  <a:pt x="31750" y="0"/>
                </a:moveTo>
                <a:lnTo>
                  <a:pt x="4214806" y="0"/>
                </a:lnTo>
                <a:cubicBezTo>
                  <a:pt x="4249879" y="0"/>
                  <a:pt x="4278313" y="28433"/>
                  <a:pt x="4278313" y="63507"/>
                </a:cubicBezTo>
                <a:lnTo>
                  <a:pt x="4278313" y="1619243"/>
                </a:lnTo>
                <a:cubicBezTo>
                  <a:pt x="4278313" y="1654317"/>
                  <a:pt x="4249879" y="1682750"/>
                  <a:pt x="4214806" y="1682750"/>
                </a:cubicBezTo>
                <a:lnTo>
                  <a:pt x="31750" y="1682750"/>
                </a:lnTo>
                <a:cubicBezTo>
                  <a:pt x="14215" y="1682750"/>
                  <a:pt x="0" y="1668535"/>
                  <a:pt x="0" y="165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7470775" y="613838"/>
            <a:ext cx="31750" cy="1682750"/>
          </a:xfrm>
          <a:custGeom>
            <a:avLst/>
            <a:gdLst/>
            <a:ahLst/>
            <a:cxnLst/>
            <a:rect l="l" t="t" r="r" b="b"/>
            <a:pathLst>
              <a:path w="31750" h="1682750">
                <a:moveTo>
                  <a:pt x="31750" y="0"/>
                </a:moveTo>
                <a:lnTo>
                  <a:pt x="31750" y="0"/>
                </a:lnTo>
                <a:lnTo>
                  <a:pt x="31750" y="1682750"/>
                </a:lnTo>
                <a:lnTo>
                  <a:pt x="31750" y="1682750"/>
                </a:lnTo>
                <a:cubicBezTo>
                  <a:pt x="14227" y="1682750"/>
                  <a:pt x="0" y="1668523"/>
                  <a:pt x="0" y="165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7597775" y="7408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9F071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7740650" y="709088"/>
            <a:ext cx="3976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Surapprentissage (Overfitting)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581900" y="963088"/>
            <a:ext cx="412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modèle </a:t>
            </a: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mémorise le bruit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données d'entraînement au lieu d'apprendre les patterns généraux.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81900" y="1344088"/>
            <a:ext cx="4071938" cy="857250"/>
          </a:xfrm>
          <a:custGeom>
            <a:avLst/>
            <a:gdLst/>
            <a:ahLst/>
            <a:cxnLst/>
            <a:rect l="l" t="t" r="r" b="b"/>
            <a:pathLst>
              <a:path w="4071938" h="857250">
                <a:moveTo>
                  <a:pt x="31753" y="0"/>
                </a:moveTo>
                <a:lnTo>
                  <a:pt x="4040185" y="0"/>
                </a:lnTo>
                <a:cubicBezTo>
                  <a:pt x="4057721" y="0"/>
                  <a:pt x="4071938" y="14216"/>
                  <a:pt x="4071938" y="31753"/>
                </a:cubicBezTo>
                <a:lnTo>
                  <a:pt x="4071938" y="825497"/>
                </a:lnTo>
                <a:cubicBezTo>
                  <a:pt x="4071938" y="843034"/>
                  <a:pt x="4057721" y="857250"/>
                  <a:pt x="4040185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7645400" y="1420293"/>
            <a:ext cx="41949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Signes :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645400" y="1598088"/>
            <a:ext cx="400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Excellente performance sur train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645400" y="1788588"/>
            <a:ext cx="400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Mauvaise performance sur test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645400" y="1979088"/>
            <a:ext cx="400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Écart important train/test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470775" y="2391838"/>
            <a:ext cx="4278313" cy="1524000"/>
          </a:xfrm>
          <a:custGeom>
            <a:avLst/>
            <a:gdLst/>
            <a:ahLst/>
            <a:cxnLst/>
            <a:rect l="l" t="t" r="r" b="b"/>
            <a:pathLst>
              <a:path w="4278313" h="1524000">
                <a:moveTo>
                  <a:pt x="31750" y="0"/>
                </a:moveTo>
                <a:lnTo>
                  <a:pt x="4214807" y="0"/>
                </a:lnTo>
                <a:cubicBezTo>
                  <a:pt x="4249880" y="0"/>
                  <a:pt x="4278313" y="28432"/>
                  <a:pt x="4278313" y="63505"/>
                </a:cubicBezTo>
                <a:lnTo>
                  <a:pt x="4278313" y="1460495"/>
                </a:lnTo>
                <a:cubicBezTo>
                  <a:pt x="4278313" y="1495568"/>
                  <a:pt x="4249880" y="1524000"/>
                  <a:pt x="4214807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C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7470775" y="2391838"/>
            <a:ext cx="31750" cy="1524000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7597775" y="25188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672" y="57547"/>
                </a:moveTo>
                <a:lnTo>
                  <a:pt x="85328" y="57547"/>
                </a:lnTo>
                <a:cubicBezTo>
                  <a:pt x="88627" y="57547"/>
                  <a:pt x="91281" y="60201"/>
                  <a:pt x="91281" y="63500"/>
                </a:cubicBezTo>
                <a:cubicBezTo>
                  <a:pt x="91281" y="66799"/>
                  <a:pt x="88627" y="69453"/>
                  <a:pt x="85328" y="69453"/>
                </a:cubicBezTo>
                <a:lnTo>
                  <a:pt x="41672" y="69453"/>
                </a:lnTo>
                <a:cubicBezTo>
                  <a:pt x="38373" y="69453"/>
                  <a:pt x="35719" y="66799"/>
                  <a:pt x="35719" y="63500"/>
                </a:cubicBezTo>
                <a:cubicBezTo>
                  <a:pt x="35719" y="60201"/>
                  <a:pt x="38373" y="57547"/>
                  <a:pt x="41672" y="57547"/>
                </a:cubicBezTo>
                <a:close/>
              </a:path>
            </a:pathLst>
          </a:custGeom>
          <a:solidFill>
            <a:srgbClr val="894B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7740650" y="2487088"/>
            <a:ext cx="3976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94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Sous-apprentissage (Underfitting)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581900" y="2741088"/>
            <a:ext cx="412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modèle est </a:t>
            </a: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trop simple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capturer les patterns dans les données.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581900" y="2963338"/>
            <a:ext cx="4071938" cy="857250"/>
          </a:xfrm>
          <a:custGeom>
            <a:avLst/>
            <a:gdLst/>
            <a:ahLst/>
            <a:cxnLst/>
            <a:rect l="l" t="t" r="r" b="b"/>
            <a:pathLst>
              <a:path w="4071938" h="857250">
                <a:moveTo>
                  <a:pt x="31753" y="0"/>
                </a:moveTo>
                <a:lnTo>
                  <a:pt x="4040185" y="0"/>
                </a:lnTo>
                <a:cubicBezTo>
                  <a:pt x="4057721" y="0"/>
                  <a:pt x="4071938" y="14216"/>
                  <a:pt x="4071938" y="31753"/>
                </a:cubicBezTo>
                <a:lnTo>
                  <a:pt x="4071938" y="825497"/>
                </a:lnTo>
                <a:cubicBezTo>
                  <a:pt x="4071938" y="843034"/>
                  <a:pt x="4057721" y="857250"/>
                  <a:pt x="4040185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7645400" y="3039543"/>
            <a:ext cx="41949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Signes :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7645400" y="3217338"/>
            <a:ext cx="400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Mauvaise performance sur train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645400" y="3407838"/>
            <a:ext cx="400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Mauvaise performance sur test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645400" y="3598338"/>
            <a:ext cx="400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Modèle trop simpliste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327900" y="4169838"/>
            <a:ext cx="4548188" cy="2603500"/>
          </a:xfrm>
          <a:custGeom>
            <a:avLst/>
            <a:gdLst/>
            <a:ahLst/>
            <a:cxnLst/>
            <a:rect l="l" t="t" r="r" b="b"/>
            <a:pathLst>
              <a:path w="4548188" h="2603500">
                <a:moveTo>
                  <a:pt x="63499" y="0"/>
                </a:moveTo>
                <a:lnTo>
                  <a:pt x="4484688" y="0"/>
                </a:lnTo>
                <a:cubicBezTo>
                  <a:pt x="4519758" y="0"/>
                  <a:pt x="4548188" y="28430"/>
                  <a:pt x="4548188" y="63499"/>
                </a:cubicBezTo>
                <a:lnTo>
                  <a:pt x="4548188" y="2540001"/>
                </a:lnTo>
                <a:cubicBezTo>
                  <a:pt x="4548188" y="2575070"/>
                  <a:pt x="4519758" y="2603500"/>
                  <a:pt x="4484688" y="2603500"/>
                </a:cubicBezTo>
                <a:lnTo>
                  <a:pt x="63499" y="2603500"/>
                </a:lnTo>
                <a:cubicBezTo>
                  <a:pt x="28430" y="2603500"/>
                  <a:pt x="0" y="2575070"/>
                  <a:pt x="0" y="2540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7465814" y="4336526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62536" y="27096"/>
                </a:moveTo>
                <a:lnTo>
                  <a:pt x="62536" y="40937"/>
                </a:lnTo>
                <a:lnTo>
                  <a:pt x="62675" y="41077"/>
                </a:lnTo>
                <a:cubicBezTo>
                  <a:pt x="64489" y="18083"/>
                  <a:pt x="83716" y="0"/>
                  <a:pt x="107184" y="0"/>
                </a:cubicBezTo>
                <a:cubicBezTo>
                  <a:pt x="112793" y="0"/>
                  <a:pt x="118179" y="1032"/>
                  <a:pt x="123118" y="2930"/>
                </a:cubicBezTo>
                <a:cubicBezTo>
                  <a:pt x="125909" y="3990"/>
                  <a:pt x="126411" y="7534"/>
                  <a:pt x="124318" y="9655"/>
                </a:cubicBezTo>
                <a:lnTo>
                  <a:pt x="99566" y="34407"/>
                </a:lnTo>
                <a:cubicBezTo>
                  <a:pt x="98729" y="35244"/>
                  <a:pt x="98254" y="36388"/>
                  <a:pt x="98254" y="37560"/>
                </a:cubicBezTo>
                <a:lnTo>
                  <a:pt x="98254" y="49113"/>
                </a:lnTo>
                <a:cubicBezTo>
                  <a:pt x="98254" y="51569"/>
                  <a:pt x="100264" y="53578"/>
                  <a:pt x="102719" y="53578"/>
                </a:cubicBezTo>
                <a:lnTo>
                  <a:pt x="114272" y="53578"/>
                </a:lnTo>
                <a:cubicBezTo>
                  <a:pt x="115444" y="53578"/>
                  <a:pt x="116588" y="53104"/>
                  <a:pt x="117425" y="52267"/>
                </a:cubicBezTo>
                <a:lnTo>
                  <a:pt x="142177" y="27515"/>
                </a:lnTo>
                <a:cubicBezTo>
                  <a:pt x="144298" y="25394"/>
                  <a:pt x="147842" y="25924"/>
                  <a:pt x="148903" y="28715"/>
                </a:cubicBezTo>
                <a:cubicBezTo>
                  <a:pt x="150800" y="33654"/>
                  <a:pt x="151833" y="39039"/>
                  <a:pt x="151833" y="44648"/>
                </a:cubicBezTo>
                <a:cubicBezTo>
                  <a:pt x="151833" y="61559"/>
                  <a:pt x="142429" y="76293"/>
                  <a:pt x="128532" y="83855"/>
                </a:cubicBezTo>
                <a:lnTo>
                  <a:pt x="151274" y="106598"/>
                </a:lnTo>
                <a:cubicBezTo>
                  <a:pt x="156493" y="111816"/>
                  <a:pt x="156493" y="120300"/>
                  <a:pt x="151274" y="125546"/>
                </a:cubicBezTo>
                <a:lnTo>
                  <a:pt x="134503" y="142317"/>
                </a:lnTo>
                <a:cubicBezTo>
                  <a:pt x="129285" y="147535"/>
                  <a:pt x="120802" y="147535"/>
                  <a:pt x="115556" y="142317"/>
                </a:cubicBezTo>
                <a:lnTo>
                  <a:pt x="80395" y="107156"/>
                </a:lnTo>
                <a:cubicBezTo>
                  <a:pt x="72749" y="99510"/>
                  <a:pt x="71019" y="88209"/>
                  <a:pt x="75233" y="78888"/>
                </a:cubicBezTo>
                <a:lnTo>
                  <a:pt x="49923" y="53578"/>
                </a:lnTo>
                <a:lnTo>
                  <a:pt x="36082" y="53578"/>
                </a:lnTo>
                <a:cubicBezTo>
                  <a:pt x="33096" y="53578"/>
                  <a:pt x="30305" y="52099"/>
                  <a:pt x="28659" y="49616"/>
                </a:cubicBezTo>
                <a:lnTo>
                  <a:pt x="6530" y="16436"/>
                </a:lnTo>
                <a:cubicBezTo>
                  <a:pt x="5358" y="14678"/>
                  <a:pt x="5581" y="12306"/>
                  <a:pt x="7088" y="10799"/>
                </a:cubicBezTo>
                <a:lnTo>
                  <a:pt x="19757" y="-1870"/>
                </a:lnTo>
                <a:cubicBezTo>
                  <a:pt x="21264" y="-3377"/>
                  <a:pt x="23608" y="-3600"/>
                  <a:pt x="25394" y="-2428"/>
                </a:cubicBezTo>
                <a:lnTo>
                  <a:pt x="58573" y="19673"/>
                </a:lnTo>
                <a:cubicBezTo>
                  <a:pt x="61057" y="21320"/>
                  <a:pt x="62536" y="24110"/>
                  <a:pt x="62536" y="27096"/>
                </a:cubicBezTo>
                <a:close/>
                <a:moveTo>
                  <a:pt x="60164" y="82767"/>
                </a:moveTo>
                <a:cubicBezTo>
                  <a:pt x="58406" y="93092"/>
                  <a:pt x="60833" y="104003"/>
                  <a:pt x="67531" y="112737"/>
                </a:cubicBezTo>
                <a:lnTo>
                  <a:pt x="41021" y="139219"/>
                </a:lnTo>
                <a:cubicBezTo>
                  <a:pt x="33179" y="147061"/>
                  <a:pt x="20455" y="147061"/>
                  <a:pt x="12613" y="139219"/>
                </a:cubicBezTo>
                <a:cubicBezTo>
                  <a:pt x="4772" y="131378"/>
                  <a:pt x="4772" y="118653"/>
                  <a:pt x="12613" y="110812"/>
                </a:cubicBezTo>
                <a:lnTo>
                  <a:pt x="50397" y="73028"/>
                </a:lnTo>
                <a:lnTo>
                  <a:pt x="60164" y="82795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7637463" y="4296838"/>
            <a:ext cx="418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Stratégies d'Équilibrage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454900" y="4614338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Réduire le Surapprentissage :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454900" y="4773088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Plus de données d'entraînement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7454900" y="4963588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Régularisation (L1, L2)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454900" y="5154088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Réduire la complexité du modèle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7454900" y="5344588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Early stopping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7454900" y="5535088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Dropout (réseaux de neurones)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7454900" y="5757338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6A0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Réduire le Sous-apprentissage :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7454900" y="5916088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Augmenter la complexité du modèle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7454900" y="6106588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Ajouter des features pertinentes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7454900" y="6297088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Réduire la régularisation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7454900" y="6487588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Plus d'epochs d'entraînement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20198-632D-ADAA-C8D0-2D8140BF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B62031-AFCD-AAB2-8202-10657980309C}"/>
              </a:ext>
            </a:extLst>
          </p:cNvPr>
          <p:cNvSpPr/>
          <p:nvPr/>
        </p:nvSpPr>
        <p:spPr>
          <a:xfrm>
            <a:off x="317500" y="317500"/>
            <a:ext cx="881063" cy="222250"/>
          </a:xfrm>
          <a:custGeom>
            <a:avLst/>
            <a:gdLst/>
            <a:ahLst/>
            <a:cxnLst/>
            <a:rect l="l" t="t" r="r" b="b"/>
            <a:pathLst>
              <a:path w="881063" h="222250">
                <a:moveTo>
                  <a:pt x="0" y="0"/>
                </a:moveTo>
                <a:lnTo>
                  <a:pt x="881063" y="0"/>
                </a:lnTo>
                <a:lnTo>
                  <a:pt x="881063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32BF12-9B0D-296C-14A5-700D0417788F}"/>
              </a:ext>
            </a:extLst>
          </p:cNvPr>
          <p:cNvSpPr/>
          <p:nvPr/>
        </p:nvSpPr>
        <p:spPr>
          <a:xfrm>
            <a:off x="317500" y="317500"/>
            <a:ext cx="936625" cy="222250"/>
          </a:xfrm>
          <a:prstGeom prst="rect">
            <a:avLst/>
          </a:prstGeom>
          <a:noFill/>
          <a:ln/>
        </p:spPr>
        <p:txBody>
          <a:bodyPr wrap="square" lIns="127000" tIns="31750" rIns="1270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 7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813AC4-C2FD-D9A6-6F33-35E76D696741}"/>
              </a:ext>
            </a:extLst>
          </p:cNvPr>
          <p:cNvSpPr/>
          <p:nvPr/>
        </p:nvSpPr>
        <p:spPr>
          <a:xfrm>
            <a:off x="317500" y="6032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Guide de Choix : Quand Utiliser Quelle Méthode ?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CA6CF55-DBE5-879A-7738-5373CB98AB31}"/>
              </a:ext>
            </a:extLst>
          </p:cNvPr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63A8C54-A963-5186-646F-1B06D121FE92}"/>
              </a:ext>
            </a:extLst>
          </p:cNvPr>
          <p:cNvSpPr/>
          <p:nvPr/>
        </p:nvSpPr>
        <p:spPr>
          <a:xfrm>
            <a:off x="317500" y="1769537"/>
            <a:ext cx="5715000" cy="3111500"/>
          </a:xfrm>
          <a:custGeom>
            <a:avLst/>
            <a:gdLst/>
            <a:ahLst/>
            <a:cxnLst/>
            <a:rect l="l" t="t" r="r" b="b"/>
            <a:pathLst>
              <a:path w="5715000" h="3111500">
                <a:moveTo>
                  <a:pt x="63506" y="0"/>
                </a:moveTo>
                <a:lnTo>
                  <a:pt x="5651494" y="0"/>
                </a:lnTo>
                <a:cubicBezTo>
                  <a:pt x="5686568" y="0"/>
                  <a:pt x="5715000" y="28432"/>
                  <a:pt x="5715000" y="63506"/>
                </a:cubicBezTo>
                <a:lnTo>
                  <a:pt x="5715000" y="3047994"/>
                </a:lnTo>
                <a:cubicBezTo>
                  <a:pt x="5715000" y="3083068"/>
                  <a:pt x="5686568" y="3111500"/>
                  <a:pt x="5651494" y="3111500"/>
                </a:cubicBezTo>
                <a:lnTo>
                  <a:pt x="63506" y="3111500"/>
                </a:lnTo>
                <a:cubicBezTo>
                  <a:pt x="28432" y="3111500"/>
                  <a:pt x="0" y="3083068"/>
                  <a:pt x="0" y="304799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A50CC2A-4C5E-9E1E-6023-5A9F57AC37F0}"/>
              </a:ext>
            </a:extLst>
          </p:cNvPr>
          <p:cNvSpPr/>
          <p:nvPr/>
        </p:nvSpPr>
        <p:spPr>
          <a:xfrm>
            <a:off x="496094" y="196003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F9EEBE3-7665-EF16-1016-7092680C0A6A}"/>
              </a:ext>
            </a:extLst>
          </p:cNvPr>
          <p:cNvSpPr/>
          <p:nvPr/>
        </p:nvSpPr>
        <p:spPr>
          <a:xfrm>
            <a:off x="674688" y="1928287"/>
            <a:ext cx="527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Arbre de Décision : Classification vs Régression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F97A733-16CC-7DA5-0038-749CCA8E5570}"/>
              </a:ext>
            </a:extLst>
          </p:cNvPr>
          <p:cNvSpPr/>
          <p:nvPr/>
        </p:nvSpPr>
        <p:spPr>
          <a:xfrm>
            <a:off x="476250" y="2245787"/>
            <a:ext cx="5397500" cy="2063750"/>
          </a:xfrm>
          <a:custGeom>
            <a:avLst/>
            <a:gdLst/>
            <a:ahLst/>
            <a:cxnLst/>
            <a:rect l="l" t="t" r="r" b="b"/>
            <a:pathLst>
              <a:path w="5397500" h="2063750">
                <a:moveTo>
                  <a:pt x="63502" y="0"/>
                </a:moveTo>
                <a:lnTo>
                  <a:pt x="5333998" y="0"/>
                </a:lnTo>
                <a:cubicBezTo>
                  <a:pt x="5369069" y="0"/>
                  <a:pt x="5397500" y="28431"/>
                  <a:pt x="5397500" y="63502"/>
                </a:cubicBezTo>
                <a:lnTo>
                  <a:pt x="5397500" y="2000248"/>
                </a:lnTo>
                <a:cubicBezTo>
                  <a:pt x="5397500" y="2035319"/>
                  <a:pt x="5369069" y="2063750"/>
                  <a:pt x="5333998" y="2063750"/>
                </a:cubicBezTo>
                <a:lnTo>
                  <a:pt x="63502" y="2063750"/>
                </a:lnTo>
                <a:cubicBezTo>
                  <a:pt x="28431" y="2063750"/>
                  <a:pt x="0" y="2035319"/>
                  <a:pt x="0" y="2000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CE828EF-7AAB-91DC-9A54-4FDF91C77D2C}"/>
              </a:ext>
            </a:extLst>
          </p:cNvPr>
          <p:cNvSpPr/>
          <p:nvPr/>
        </p:nvSpPr>
        <p:spPr>
          <a:xfrm>
            <a:off x="603250" y="2372787"/>
            <a:ext cx="5143500" cy="317500"/>
          </a:xfrm>
          <a:custGeom>
            <a:avLst/>
            <a:gdLst/>
            <a:ahLst/>
            <a:cxnLst/>
            <a:rect l="l" t="t" r="r" b="b"/>
            <a:pathLst>
              <a:path w="5143500" h="317500">
                <a:moveTo>
                  <a:pt x="63500" y="0"/>
                </a:moveTo>
                <a:lnTo>
                  <a:pt x="5080000" y="0"/>
                </a:lnTo>
                <a:cubicBezTo>
                  <a:pt x="5115047" y="0"/>
                  <a:pt x="5143500" y="28453"/>
                  <a:pt x="5143500" y="63500"/>
                </a:cubicBezTo>
                <a:lnTo>
                  <a:pt x="5143500" y="254000"/>
                </a:lnTo>
                <a:cubicBezTo>
                  <a:pt x="5143500" y="289047"/>
                  <a:pt x="5115047" y="317500"/>
                  <a:pt x="5080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FDD6EBF-C1A7-81C0-84CD-104D3047B653}"/>
              </a:ext>
            </a:extLst>
          </p:cNvPr>
          <p:cNvSpPr/>
          <p:nvPr/>
        </p:nvSpPr>
        <p:spPr>
          <a:xfrm>
            <a:off x="698500" y="2436287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Quel est le type de votre variable cible ?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631C0E6-2AA0-3BAC-E2D9-74F9F8D90245}"/>
              </a:ext>
            </a:extLst>
          </p:cNvPr>
          <p:cNvSpPr/>
          <p:nvPr/>
        </p:nvSpPr>
        <p:spPr>
          <a:xfrm>
            <a:off x="1524000" y="2785537"/>
            <a:ext cx="1524000" cy="698500"/>
          </a:xfrm>
          <a:custGeom>
            <a:avLst/>
            <a:gdLst/>
            <a:ahLst/>
            <a:cxnLst/>
            <a:rect l="l" t="t" r="r" b="b"/>
            <a:pathLst>
              <a:path w="1524000" h="698500">
                <a:moveTo>
                  <a:pt x="63501" y="0"/>
                </a:moveTo>
                <a:lnTo>
                  <a:pt x="1460499" y="0"/>
                </a:lnTo>
                <a:cubicBezTo>
                  <a:pt x="1495570" y="0"/>
                  <a:pt x="1524000" y="28430"/>
                  <a:pt x="1524000" y="63501"/>
                </a:cubicBezTo>
                <a:lnTo>
                  <a:pt x="1524000" y="634999"/>
                </a:lnTo>
                <a:cubicBezTo>
                  <a:pt x="1524000" y="670070"/>
                  <a:pt x="1495570" y="698500"/>
                  <a:pt x="146049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C8285D8-2FBA-0173-53EA-18AFAA0FF121}"/>
              </a:ext>
            </a:extLst>
          </p:cNvPr>
          <p:cNvSpPr/>
          <p:nvPr/>
        </p:nvSpPr>
        <p:spPr>
          <a:xfrm>
            <a:off x="1619250" y="2880787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Catégorielle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AE552BD-9C5A-3E83-2DAD-5240C1DBB8BC}"/>
              </a:ext>
            </a:extLst>
          </p:cNvPr>
          <p:cNvSpPr/>
          <p:nvPr/>
        </p:nvSpPr>
        <p:spPr>
          <a:xfrm>
            <a:off x="1623219" y="3071287"/>
            <a:ext cx="13255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(Spam/Non-Spam, Classes)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218A3BA-0C70-2F99-8134-83294A5E147B}"/>
              </a:ext>
            </a:extLst>
          </p:cNvPr>
          <p:cNvSpPr/>
          <p:nvPr/>
        </p:nvSpPr>
        <p:spPr>
          <a:xfrm>
            <a:off x="2238375" y="3547537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022C515-031F-2F73-DA5B-02066DD30286}"/>
              </a:ext>
            </a:extLst>
          </p:cNvPr>
          <p:cNvSpPr/>
          <p:nvPr/>
        </p:nvSpPr>
        <p:spPr>
          <a:xfrm>
            <a:off x="1524000" y="3864936"/>
            <a:ext cx="1524000" cy="317500"/>
          </a:xfrm>
          <a:custGeom>
            <a:avLst/>
            <a:gdLst/>
            <a:ahLst/>
            <a:cxnLst/>
            <a:rect l="l" t="t" r="r" b="b"/>
            <a:pathLst>
              <a:path w="1524000" h="317500">
                <a:moveTo>
                  <a:pt x="63500" y="0"/>
                </a:moveTo>
                <a:lnTo>
                  <a:pt x="1460500" y="0"/>
                </a:lnTo>
                <a:cubicBezTo>
                  <a:pt x="1495547" y="0"/>
                  <a:pt x="1524000" y="28453"/>
                  <a:pt x="1524000" y="63500"/>
                </a:cubicBezTo>
                <a:lnTo>
                  <a:pt x="1524000" y="254000"/>
                </a:lnTo>
                <a:cubicBezTo>
                  <a:pt x="1524000" y="289047"/>
                  <a:pt x="1495547" y="317500"/>
                  <a:pt x="14605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272A658-8AE9-C865-0861-FBF90B5F47CF}"/>
              </a:ext>
            </a:extLst>
          </p:cNvPr>
          <p:cNvSpPr/>
          <p:nvPr/>
        </p:nvSpPr>
        <p:spPr>
          <a:xfrm>
            <a:off x="1619250" y="3928436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A65D695-B9BF-E234-1299-05B00B143077}"/>
              </a:ext>
            </a:extLst>
          </p:cNvPr>
          <p:cNvSpPr/>
          <p:nvPr/>
        </p:nvSpPr>
        <p:spPr>
          <a:xfrm>
            <a:off x="3302000" y="2785537"/>
            <a:ext cx="1524000" cy="539750"/>
          </a:xfrm>
          <a:custGeom>
            <a:avLst/>
            <a:gdLst/>
            <a:ahLst/>
            <a:cxnLst/>
            <a:rect l="l" t="t" r="r" b="b"/>
            <a:pathLst>
              <a:path w="1524000" h="539750">
                <a:moveTo>
                  <a:pt x="63502" y="0"/>
                </a:moveTo>
                <a:lnTo>
                  <a:pt x="1460498" y="0"/>
                </a:lnTo>
                <a:cubicBezTo>
                  <a:pt x="1495569" y="0"/>
                  <a:pt x="1524000" y="28431"/>
                  <a:pt x="1524000" y="63502"/>
                </a:cubicBezTo>
                <a:lnTo>
                  <a:pt x="1524000" y="476248"/>
                </a:lnTo>
                <a:cubicBezTo>
                  <a:pt x="1524000" y="511319"/>
                  <a:pt x="1495569" y="539750"/>
                  <a:pt x="1460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FA389D0-DFA0-276A-3D53-1BD0681BDEA5}"/>
              </a:ext>
            </a:extLst>
          </p:cNvPr>
          <p:cNvSpPr/>
          <p:nvPr/>
        </p:nvSpPr>
        <p:spPr>
          <a:xfrm>
            <a:off x="3397250" y="2880787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Numérique Continue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2AA2E3C-2D42-967D-C895-D9642E4219ED}"/>
              </a:ext>
            </a:extLst>
          </p:cNvPr>
          <p:cNvSpPr/>
          <p:nvPr/>
        </p:nvSpPr>
        <p:spPr>
          <a:xfrm>
            <a:off x="3401219" y="3071287"/>
            <a:ext cx="132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(Prix, Température)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5BE5C15-95AB-AE37-25DD-4CB6D5259251}"/>
              </a:ext>
            </a:extLst>
          </p:cNvPr>
          <p:cNvSpPr/>
          <p:nvPr/>
        </p:nvSpPr>
        <p:spPr>
          <a:xfrm>
            <a:off x="4016375" y="3388787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16A08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798B430-291C-D38B-B743-11F2D9624D5F}"/>
              </a:ext>
            </a:extLst>
          </p:cNvPr>
          <p:cNvSpPr/>
          <p:nvPr/>
        </p:nvSpPr>
        <p:spPr>
          <a:xfrm>
            <a:off x="3302000" y="3706186"/>
            <a:ext cx="1524000" cy="317500"/>
          </a:xfrm>
          <a:custGeom>
            <a:avLst/>
            <a:gdLst/>
            <a:ahLst/>
            <a:cxnLst/>
            <a:rect l="l" t="t" r="r" b="b"/>
            <a:pathLst>
              <a:path w="1524000" h="317500">
                <a:moveTo>
                  <a:pt x="63500" y="0"/>
                </a:moveTo>
                <a:lnTo>
                  <a:pt x="1460500" y="0"/>
                </a:lnTo>
                <a:cubicBezTo>
                  <a:pt x="1495547" y="0"/>
                  <a:pt x="1524000" y="28453"/>
                  <a:pt x="1524000" y="63500"/>
                </a:cubicBezTo>
                <a:lnTo>
                  <a:pt x="1524000" y="254000"/>
                </a:lnTo>
                <a:cubicBezTo>
                  <a:pt x="1524000" y="289047"/>
                  <a:pt x="1495547" y="317500"/>
                  <a:pt x="14605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31387A5-E339-FEAE-D62E-2B6BD32DC1DD}"/>
              </a:ext>
            </a:extLst>
          </p:cNvPr>
          <p:cNvSpPr/>
          <p:nvPr/>
        </p:nvSpPr>
        <p:spPr>
          <a:xfrm>
            <a:off x="3397250" y="3769686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</a:t>
            </a:r>
            <a:endParaRPr lang="en-US" sz="1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87C0EC3-59F9-4CC1-C585-D5FF39053CE2}"/>
              </a:ext>
            </a:extLst>
          </p:cNvPr>
          <p:cNvSpPr/>
          <p:nvPr/>
        </p:nvSpPr>
        <p:spPr>
          <a:xfrm>
            <a:off x="6159500" y="1769537"/>
            <a:ext cx="5715000" cy="3111500"/>
          </a:xfrm>
          <a:custGeom>
            <a:avLst/>
            <a:gdLst/>
            <a:ahLst/>
            <a:cxnLst/>
            <a:rect l="l" t="t" r="r" b="b"/>
            <a:pathLst>
              <a:path w="5715000" h="3111500">
                <a:moveTo>
                  <a:pt x="63506" y="0"/>
                </a:moveTo>
                <a:lnTo>
                  <a:pt x="5651494" y="0"/>
                </a:lnTo>
                <a:cubicBezTo>
                  <a:pt x="5686568" y="0"/>
                  <a:pt x="5715000" y="28432"/>
                  <a:pt x="5715000" y="63506"/>
                </a:cubicBezTo>
                <a:lnTo>
                  <a:pt x="5715000" y="3047994"/>
                </a:lnTo>
                <a:cubicBezTo>
                  <a:pt x="5715000" y="3083068"/>
                  <a:pt x="5686568" y="3111500"/>
                  <a:pt x="5651494" y="3111500"/>
                </a:cubicBezTo>
                <a:lnTo>
                  <a:pt x="63506" y="3111500"/>
                </a:lnTo>
                <a:cubicBezTo>
                  <a:pt x="28432" y="3111500"/>
                  <a:pt x="0" y="3083068"/>
                  <a:pt x="0" y="304799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99D610F-5422-490C-677C-C9728ECF959F}"/>
              </a:ext>
            </a:extLst>
          </p:cNvPr>
          <p:cNvSpPr/>
          <p:nvPr/>
        </p:nvSpPr>
        <p:spPr>
          <a:xfrm>
            <a:off x="6338094" y="196003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1486" y="11255"/>
                </a:moveTo>
                <a:cubicBezTo>
                  <a:pt x="44865" y="13612"/>
                  <a:pt x="45672" y="18262"/>
                  <a:pt x="43315" y="21611"/>
                </a:cubicBezTo>
                <a:lnTo>
                  <a:pt x="25952" y="46416"/>
                </a:lnTo>
                <a:cubicBezTo>
                  <a:pt x="24681" y="48214"/>
                  <a:pt x="22696" y="49361"/>
                  <a:pt x="20495" y="49547"/>
                </a:cubicBezTo>
                <a:cubicBezTo>
                  <a:pt x="18293" y="49733"/>
                  <a:pt x="16123" y="48989"/>
                  <a:pt x="14573" y="47439"/>
                </a:cubicBezTo>
                <a:lnTo>
                  <a:pt x="2170" y="35037"/>
                </a:lnTo>
                <a:cubicBezTo>
                  <a:pt x="-713" y="32122"/>
                  <a:pt x="-713" y="27409"/>
                  <a:pt x="2170" y="24495"/>
                </a:cubicBezTo>
                <a:cubicBezTo>
                  <a:pt x="5054" y="21580"/>
                  <a:pt x="9798" y="21611"/>
                  <a:pt x="12712" y="24495"/>
                </a:cubicBezTo>
                <a:lnTo>
                  <a:pt x="18852" y="30634"/>
                </a:lnTo>
                <a:lnTo>
                  <a:pt x="31130" y="13084"/>
                </a:lnTo>
                <a:cubicBezTo>
                  <a:pt x="33486" y="9705"/>
                  <a:pt x="38137" y="8899"/>
                  <a:pt x="41486" y="11255"/>
                </a:cubicBezTo>
                <a:close/>
                <a:moveTo>
                  <a:pt x="41486" y="60865"/>
                </a:moveTo>
                <a:cubicBezTo>
                  <a:pt x="44865" y="63221"/>
                  <a:pt x="45672" y="67872"/>
                  <a:pt x="43315" y="71220"/>
                </a:cubicBezTo>
                <a:lnTo>
                  <a:pt x="25952" y="96025"/>
                </a:lnTo>
                <a:cubicBezTo>
                  <a:pt x="24681" y="97823"/>
                  <a:pt x="22696" y="98971"/>
                  <a:pt x="20495" y="99157"/>
                </a:cubicBezTo>
                <a:cubicBezTo>
                  <a:pt x="18293" y="99343"/>
                  <a:pt x="16123" y="98599"/>
                  <a:pt x="14573" y="97048"/>
                </a:cubicBezTo>
                <a:lnTo>
                  <a:pt x="2170" y="84646"/>
                </a:lnTo>
                <a:cubicBezTo>
                  <a:pt x="-744" y="81731"/>
                  <a:pt x="-744" y="77019"/>
                  <a:pt x="2170" y="74135"/>
                </a:cubicBezTo>
                <a:cubicBezTo>
                  <a:pt x="5085" y="71251"/>
                  <a:pt x="9798" y="71220"/>
                  <a:pt x="12681" y="74135"/>
                </a:cubicBezTo>
                <a:lnTo>
                  <a:pt x="18821" y="80274"/>
                </a:lnTo>
                <a:lnTo>
                  <a:pt x="31099" y="62725"/>
                </a:lnTo>
                <a:cubicBezTo>
                  <a:pt x="33455" y="59345"/>
                  <a:pt x="38106" y="58539"/>
                  <a:pt x="41455" y="60896"/>
                </a:cubicBezTo>
                <a:close/>
                <a:moveTo>
                  <a:pt x="69453" y="29766"/>
                </a:moveTo>
                <a:cubicBezTo>
                  <a:pt x="69453" y="24278"/>
                  <a:pt x="73887" y="19844"/>
                  <a:pt x="79375" y="19844"/>
                </a:cubicBez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79375" y="39688"/>
                </a:lnTo>
                <a:cubicBezTo>
                  <a:pt x="73887" y="39688"/>
                  <a:pt x="69453" y="35254"/>
                  <a:pt x="69453" y="29766"/>
                </a:cubicBezTo>
                <a:close/>
                <a:moveTo>
                  <a:pt x="69453" y="79375"/>
                </a:moveTo>
                <a:cubicBezTo>
                  <a:pt x="69453" y="73887"/>
                  <a:pt x="73887" y="69453"/>
                  <a:pt x="79375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79375" y="89297"/>
                </a:lnTo>
                <a:cubicBezTo>
                  <a:pt x="73887" y="89297"/>
                  <a:pt x="69453" y="84863"/>
                  <a:pt x="69453" y="79375"/>
                </a:cubicBezTo>
                <a:close/>
                <a:moveTo>
                  <a:pt x="49609" y="128984"/>
                </a:moveTo>
                <a:cubicBezTo>
                  <a:pt x="49609" y="123496"/>
                  <a:pt x="54043" y="119062"/>
                  <a:pt x="59531" y="119062"/>
                </a:cubicBez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59531" y="138906"/>
                </a:lnTo>
                <a:cubicBezTo>
                  <a:pt x="54043" y="138906"/>
                  <a:pt x="49609" y="134472"/>
                  <a:pt x="49609" y="128984"/>
                </a:cubicBezTo>
                <a:close/>
                <a:moveTo>
                  <a:pt x="19844" y="116582"/>
                </a:moveTo>
                <a:cubicBezTo>
                  <a:pt x="26689" y="116582"/>
                  <a:pt x="32246" y="122139"/>
                  <a:pt x="32246" y="128984"/>
                </a:cubicBezTo>
                <a:cubicBezTo>
                  <a:pt x="32246" y="135829"/>
                  <a:pt x="26689" y="141387"/>
                  <a:pt x="19844" y="141387"/>
                </a:cubicBezTo>
                <a:cubicBezTo>
                  <a:pt x="12999" y="141387"/>
                  <a:pt x="7441" y="135829"/>
                  <a:pt x="7441" y="128984"/>
                </a:cubicBezTo>
                <a:cubicBezTo>
                  <a:pt x="7441" y="122139"/>
                  <a:pt x="12999" y="116582"/>
                  <a:pt x="19844" y="116582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B9D9D91-B6A6-418F-D28D-9DAA6DDB49F9}"/>
              </a:ext>
            </a:extLst>
          </p:cNvPr>
          <p:cNvSpPr/>
          <p:nvPr/>
        </p:nvSpPr>
        <p:spPr>
          <a:xfrm>
            <a:off x="6516688" y="1928287"/>
            <a:ext cx="527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Critères de Sélection d'Algorithmes</a:t>
            </a:r>
            <a:endParaRPr lang="en-US" sz="16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7E61017-16F6-A754-253F-AE7F034448C3}"/>
              </a:ext>
            </a:extLst>
          </p:cNvPr>
          <p:cNvSpPr/>
          <p:nvPr/>
        </p:nvSpPr>
        <p:spPr>
          <a:xfrm>
            <a:off x="6318250" y="2245787"/>
            <a:ext cx="5397500" cy="571500"/>
          </a:xfrm>
          <a:custGeom>
            <a:avLst/>
            <a:gdLst/>
            <a:ahLst/>
            <a:cxnLst/>
            <a:rect l="l" t="t" r="r" b="b"/>
            <a:pathLst>
              <a:path w="5397500" h="571500">
                <a:moveTo>
                  <a:pt x="63499" y="0"/>
                </a:moveTo>
                <a:lnTo>
                  <a:pt x="5334001" y="0"/>
                </a:lnTo>
                <a:cubicBezTo>
                  <a:pt x="5369070" y="0"/>
                  <a:pt x="5397500" y="28430"/>
                  <a:pt x="5397500" y="63499"/>
                </a:cubicBezTo>
                <a:lnTo>
                  <a:pt x="5397500" y="508001"/>
                </a:lnTo>
                <a:cubicBezTo>
                  <a:pt x="5397500" y="543070"/>
                  <a:pt x="5369070" y="571500"/>
                  <a:pt x="53340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BC0C20A-B8A9-1356-6B15-E27C0AFB4EB1}"/>
              </a:ext>
            </a:extLst>
          </p:cNvPr>
          <p:cNvSpPr/>
          <p:nvPr/>
        </p:nvSpPr>
        <p:spPr>
          <a:xfrm>
            <a:off x="6413500" y="2341037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Taille des Données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059072F-0BF7-E2B2-E35E-47EA92CC6E44}"/>
              </a:ext>
            </a:extLst>
          </p:cNvPr>
          <p:cNvSpPr/>
          <p:nvPr/>
        </p:nvSpPr>
        <p:spPr>
          <a:xfrm>
            <a:off x="6413500" y="2563287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Petit dataset :</a:t>
            </a:r>
            <a:r>
              <a:rPr lang="en-US" sz="875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SVM, Naive Bayes | </a:t>
            </a:r>
            <a:r>
              <a:rPr lang="en-US" sz="875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Grand dataset :</a:t>
            </a:r>
            <a:r>
              <a:rPr lang="en-US" sz="875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 Forest, Gradient Boosting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5E48F7C-C32E-0C40-8A01-1839E4B64CD5}"/>
              </a:ext>
            </a:extLst>
          </p:cNvPr>
          <p:cNvSpPr/>
          <p:nvPr/>
        </p:nvSpPr>
        <p:spPr>
          <a:xfrm>
            <a:off x="6318250" y="2880787"/>
            <a:ext cx="5397500" cy="571500"/>
          </a:xfrm>
          <a:custGeom>
            <a:avLst/>
            <a:gdLst/>
            <a:ahLst/>
            <a:cxnLst/>
            <a:rect l="l" t="t" r="r" b="b"/>
            <a:pathLst>
              <a:path w="5397500" h="571500">
                <a:moveTo>
                  <a:pt x="63499" y="0"/>
                </a:moveTo>
                <a:lnTo>
                  <a:pt x="5334001" y="0"/>
                </a:lnTo>
                <a:cubicBezTo>
                  <a:pt x="5369070" y="0"/>
                  <a:pt x="5397500" y="28430"/>
                  <a:pt x="5397500" y="63499"/>
                </a:cubicBezTo>
                <a:lnTo>
                  <a:pt x="5397500" y="508001"/>
                </a:lnTo>
                <a:cubicBezTo>
                  <a:pt x="5397500" y="543070"/>
                  <a:pt x="5369070" y="571500"/>
                  <a:pt x="53340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2860752-F2FC-55C0-4730-C6A59DA7B15E}"/>
              </a:ext>
            </a:extLst>
          </p:cNvPr>
          <p:cNvSpPr/>
          <p:nvPr/>
        </p:nvSpPr>
        <p:spPr>
          <a:xfrm>
            <a:off x="6413500" y="2976037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Linéarité des Relations</a:t>
            </a:r>
            <a:endParaRPr lang="en-US" sz="16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00C04C2-0B40-5BA7-550A-8E725FA02CD8}"/>
              </a:ext>
            </a:extLst>
          </p:cNvPr>
          <p:cNvSpPr/>
          <p:nvPr/>
        </p:nvSpPr>
        <p:spPr>
          <a:xfrm>
            <a:off x="6413500" y="3198287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Linéaire :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Régression Logistique, SVM linéaire | </a:t>
            </a: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Non-linéaire :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Arbres, SVM RBF, Réseaux</a:t>
            </a:r>
            <a:endParaRPr lang="en-US" sz="16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E4BC1B4-AF09-AEE4-4EB8-CE686B935487}"/>
              </a:ext>
            </a:extLst>
          </p:cNvPr>
          <p:cNvSpPr/>
          <p:nvPr/>
        </p:nvSpPr>
        <p:spPr>
          <a:xfrm>
            <a:off x="6318250" y="3515787"/>
            <a:ext cx="5397500" cy="571500"/>
          </a:xfrm>
          <a:custGeom>
            <a:avLst/>
            <a:gdLst/>
            <a:ahLst/>
            <a:cxnLst/>
            <a:rect l="l" t="t" r="r" b="b"/>
            <a:pathLst>
              <a:path w="5397500" h="571500">
                <a:moveTo>
                  <a:pt x="63499" y="0"/>
                </a:moveTo>
                <a:lnTo>
                  <a:pt x="5334001" y="0"/>
                </a:lnTo>
                <a:cubicBezTo>
                  <a:pt x="5369070" y="0"/>
                  <a:pt x="5397500" y="28430"/>
                  <a:pt x="5397500" y="63499"/>
                </a:cubicBezTo>
                <a:lnTo>
                  <a:pt x="5397500" y="508001"/>
                </a:lnTo>
                <a:cubicBezTo>
                  <a:pt x="5397500" y="543070"/>
                  <a:pt x="5369070" y="571500"/>
                  <a:pt x="53340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6883062-1E81-EE98-8BC4-14D7F8818085}"/>
              </a:ext>
            </a:extLst>
          </p:cNvPr>
          <p:cNvSpPr/>
          <p:nvPr/>
        </p:nvSpPr>
        <p:spPr>
          <a:xfrm>
            <a:off x="6413500" y="3611037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Besoin d'Interprétabilité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69CDC9A-0EA6-89C4-7153-7A14E762EC12}"/>
              </a:ext>
            </a:extLst>
          </p:cNvPr>
          <p:cNvSpPr/>
          <p:nvPr/>
        </p:nvSpPr>
        <p:spPr>
          <a:xfrm>
            <a:off x="6413500" y="3833287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Haute :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Régression Logistique, Arbres | </a:t>
            </a:r>
            <a:r>
              <a:rPr lang="en-US" sz="875" b="1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Faible :</a:t>
            </a:r>
            <a:r>
              <a:rPr lang="en-US" sz="875" dirty="0">
                <a:solidFill>
                  <a:srgbClr val="344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 Forest, SVM, Réseaux</a:t>
            </a:r>
            <a:endParaRPr lang="en-US" sz="16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941277A-681E-BFC3-1C14-81C7354D0CFF}"/>
              </a:ext>
            </a:extLst>
          </p:cNvPr>
          <p:cNvSpPr/>
          <p:nvPr/>
        </p:nvSpPr>
        <p:spPr>
          <a:xfrm>
            <a:off x="6318250" y="4150787"/>
            <a:ext cx="5397500" cy="571500"/>
          </a:xfrm>
          <a:custGeom>
            <a:avLst/>
            <a:gdLst/>
            <a:ahLst/>
            <a:cxnLst/>
            <a:rect l="l" t="t" r="r" b="b"/>
            <a:pathLst>
              <a:path w="5397500" h="571500">
                <a:moveTo>
                  <a:pt x="63499" y="0"/>
                </a:moveTo>
                <a:lnTo>
                  <a:pt x="5334001" y="0"/>
                </a:lnTo>
                <a:cubicBezTo>
                  <a:pt x="5369070" y="0"/>
                  <a:pt x="5397500" y="28430"/>
                  <a:pt x="5397500" y="63499"/>
                </a:cubicBezTo>
                <a:lnTo>
                  <a:pt x="5397500" y="508001"/>
                </a:lnTo>
                <a:cubicBezTo>
                  <a:pt x="5397500" y="543070"/>
                  <a:pt x="5369070" y="571500"/>
                  <a:pt x="53340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E79C5A4-D904-757F-6393-BBF6E8955117}"/>
              </a:ext>
            </a:extLst>
          </p:cNvPr>
          <p:cNvSpPr/>
          <p:nvPr/>
        </p:nvSpPr>
        <p:spPr>
          <a:xfrm>
            <a:off x="6413500" y="4246037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Contraintes Computationnelles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871EA18-5BF6-AC73-AA9C-C0689B3BA991}"/>
              </a:ext>
            </a:extLst>
          </p:cNvPr>
          <p:cNvSpPr/>
          <p:nvPr/>
        </p:nvSpPr>
        <p:spPr>
          <a:xfrm>
            <a:off x="6413500" y="4468287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Rapide :</a:t>
            </a:r>
            <a:r>
              <a:rPr lang="en-US" sz="875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Naive Bayes, Régression Logistique | </a:t>
            </a:r>
            <a:r>
              <a:rPr lang="en-US" sz="875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Précision :</a:t>
            </a:r>
            <a:r>
              <a:rPr lang="en-US" sz="875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 Forest, XGBoost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881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881063" cy="222250"/>
          </a:xfrm>
          <a:custGeom>
            <a:avLst/>
            <a:gdLst/>
            <a:ahLst/>
            <a:cxnLst/>
            <a:rect l="l" t="t" r="r" b="b"/>
            <a:pathLst>
              <a:path w="881063" h="222250">
                <a:moveTo>
                  <a:pt x="0" y="0"/>
                </a:moveTo>
                <a:lnTo>
                  <a:pt x="881063" y="0"/>
                </a:lnTo>
                <a:lnTo>
                  <a:pt x="881063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17500" y="317500"/>
            <a:ext cx="936625" cy="222250"/>
          </a:xfrm>
          <a:prstGeom prst="rect">
            <a:avLst/>
          </a:prstGeom>
          <a:noFill/>
          <a:ln/>
        </p:spPr>
        <p:txBody>
          <a:bodyPr wrap="square" lIns="127000" tIns="31750" rIns="1270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032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Guide de Choix : Quand Utiliser Quelle Méthode 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327025" y="1787522"/>
            <a:ext cx="11557000" cy="4191000"/>
          </a:xfrm>
          <a:custGeom>
            <a:avLst/>
            <a:gdLst/>
            <a:ahLst/>
            <a:cxnLst/>
            <a:rect l="l" t="t" r="r" b="b"/>
            <a:pathLst>
              <a:path w="11557000" h="4191000">
                <a:moveTo>
                  <a:pt x="63494" y="0"/>
                </a:moveTo>
                <a:lnTo>
                  <a:pt x="11493506" y="0"/>
                </a:lnTo>
                <a:cubicBezTo>
                  <a:pt x="11528573" y="0"/>
                  <a:pt x="11557000" y="28427"/>
                  <a:pt x="11557000" y="63494"/>
                </a:cubicBezTo>
                <a:lnTo>
                  <a:pt x="11557000" y="4127506"/>
                </a:lnTo>
                <a:cubicBezTo>
                  <a:pt x="11557000" y="4162573"/>
                  <a:pt x="11528573" y="4191000"/>
                  <a:pt x="11493506" y="4191000"/>
                </a:cubicBezTo>
                <a:lnTo>
                  <a:pt x="63494" y="4191000"/>
                </a:lnTo>
                <a:cubicBezTo>
                  <a:pt x="28427" y="4191000"/>
                  <a:pt x="0" y="4162573"/>
                  <a:pt x="0" y="4127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515541" y="1978022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9375" y="49609"/>
                </a:moveTo>
                <a:lnTo>
                  <a:pt x="79375" y="79375"/>
                </a:lnTo>
                <a:lnTo>
                  <a:pt x="119062" y="79375"/>
                </a:lnTo>
                <a:lnTo>
                  <a:pt x="119062" y="49609"/>
                </a:lnTo>
                <a:lnTo>
                  <a:pt x="79375" y="49609"/>
                </a:lnTo>
                <a:close/>
                <a:moveTo>
                  <a:pt x="59531" y="49609"/>
                </a:moveTo>
                <a:lnTo>
                  <a:pt x="19844" y="49609"/>
                </a:lnTo>
                <a:lnTo>
                  <a:pt x="19844" y="79375"/>
                </a:lnTo>
                <a:lnTo>
                  <a:pt x="59531" y="79375"/>
                </a:lnTo>
                <a:lnTo>
                  <a:pt x="59531" y="49609"/>
                </a:lnTo>
                <a:close/>
                <a:moveTo>
                  <a:pt x="0" y="99219"/>
                </a:move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99219"/>
                </a:lnTo>
                <a:close/>
                <a:moveTo>
                  <a:pt x="119062" y="99219"/>
                </a:moveTo>
                <a:lnTo>
                  <a:pt x="79375" y="99219"/>
                </a:lnTo>
                <a:lnTo>
                  <a:pt x="79375" y="128984"/>
                </a:lnTo>
                <a:lnTo>
                  <a:pt x="119062" y="128984"/>
                </a:lnTo>
                <a:lnTo>
                  <a:pt x="119062" y="99219"/>
                </a:lnTo>
                <a:close/>
                <a:moveTo>
                  <a:pt x="59531" y="128984"/>
                </a:moveTo>
                <a:lnTo>
                  <a:pt x="59531" y="99219"/>
                </a:lnTo>
                <a:lnTo>
                  <a:pt x="19844" y="99219"/>
                </a:lnTo>
                <a:lnTo>
                  <a:pt x="19844" y="128984"/>
                </a:lnTo>
                <a:lnTo>
                  <a:pt x="59531" y="128984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84213" y="1946272"/>
            <a:ext cx="11120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Tableau Récapitulatif des Algorithmes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88950" y="2266947"/>
            <a:ext cx="11229975" cy="3546475"/>
          </a:xfrm>
          <a:custGeom>
            <a:avLst/>
            <a:gdLst/>
            <a:ahLst/>
            <a:cxnLst/>
            <a:rect l="l" t="t" r="r" b="b"/>
            <a:pathLst>
              <a:path w="11229975" h="3546475">
                <a:moveTo>
                  <a:pt x="63517" y="0"/>
                </a:moveTo>
                <a:lnTo>
                  <a:pt x="11166458" y="0"/>
                </a:lnTo>
                <a:cubicBezTo>
                  <a:pt x="11201537" y="0"/>
                  <a:pt x="11229975" y="28438"/>
                  <a:pt x="11229975" y="63517"/>
                </a:cubicBezTo>
                <a:lnTo>
                  <a:pt x="11229975" y="3482958"/>
                </a:lnTo>
                <a:cubicBezTo>
                  <a:pt x="11229975" y="3518037"/>
                  <a:pt x="11201537" y="3546475"/>
                  <a:pt x="11166458" y="3546475"/>
                </a:cubicBezTo>
                <a:lnTo>
                  <a:pt x="63517" y="3546475"/>
                </a:lnTo>
                <a:cubicBezTo>
                  <a:pt x="28438" y="3546475"/>
                  <a:pt x="0" y="3518037"/>
                  <a:pt x="0" y="3482958"/>
                </a:cubicBezTo>
                <a:lnTo>
                  <a:pt x="0" y="63517"/>
                </a:lnTo>
                <a:cubicBezTo>
                  <a:pt x="0" y="28438"/>
                  <a:pt x="28438" y="0"/>
                  <a:pt x="635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425472"/>
              </p:ext>
            </p:extLst>
          </p:nvPr>
        </p:nvGraphicFramePr>
        <p:xfrm>
          <a:off x="492125" y="2270120"/>
          <a:ext cx="11223625" cy="3540130"/>
        </p:xfrm>
        <a:graphic>
          <a:graphicData uri="http://schemas.openxmlformats.org/drawingml/2006/table">
            <a:tbl>
              <a:tblPr/>
              <a:tblGrid>
                <a:gridCol w="251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013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Algorithme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Meilleur Pour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Évitez Si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Régression Logistique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Classification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Relations linéaires, interprétabilité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Données non-linéaires complexes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Les deux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Haute dimension, marges claires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Très grands datasets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Arbres de Décision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Les deux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Interprétabilité, features mixtes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Besoin de stabilité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 Forest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Les deux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Précision, feature importance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Interprétabilité critique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KNN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Les deux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Petits datasets, frontières irrégulières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Grands datasets, haute dimension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Naive Bayes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Classification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Texte, classification rapide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Features fortement corrélées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Régression Linéaire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Régression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Relations linéaires simples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Relations non-linéaires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Régression Polynomiale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Régression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Relations non-linéaires connues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Surapprentissage (degré élevé)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Ridge/Lasso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Régression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Multicolinéarité, sélection features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3449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Relations clairement linéaires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2" r="6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5324713" y="120021"/>
            <a:ext cx="1543050" cy="342900"/>
          </a:xfrm>
          <a:custGeom>
            <a:avLst/>
            <a:gdLst/>
            <a:ahLst/>
            <a:cxnLst/>
            <a:rect l="l" t="t" r="r" b="b"/>
            <a:pathLst>
              <a:path w="1543050" h="342900">
                <a:moveTo>
                  <a:pt x="0" y="0"/>
                </a:moveTo>
                <a:lnTo>
                  <a:pt x="1543050" y="0"/>
                </a:lnTo>
                <a:lnTo>
                  <a:pt x="15430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5291376" y="120021"/>
            <a:ext cx="1609725" cy="3429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10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RÉCAPITULATIF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66700" y="615321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CF0F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Points Clés à Retenir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1224921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1223010" y="1495431"/>
            <a:ext cx="4789170" cy="1722120"/>
          </a:xfrm>
          <a:custGeom>
            <a:avLst/>
            <a:gdLst/>
            <a:ahLst/>
            <a:cxnLst/>
            <a:rect l="l" t="t" r="r" b="b"/>
            <a:pathLst>
              <a:path w="4789170" h="1722120">
                <a:moveTo>
                  <a:pt x="76204" y="0"/>
                </a:moveTo>
                <a:lnTo>
                  <a:pt x="4712966" y="0"/>
                </a:lnTo>
                <a:cubicBezTo>
                  <a:pt x="4755052" y="0"/>
                  <a:pt x="4789170" y="34118"/>
                  <a:pt x="4789170" y="76204"/>
                </a:cubicBezTo>
                <a:lnTo>
                  <a:pt x="4789170" y="1645916"/>
                </a:lnTo>
                <a:cubicBezTo>
                  <a:pt x="4789170" y="1688002"/>
                  <a:pt x="4755052" y="1722120"/>
                  <a:pt x="4712966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417320" y="16897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369695" y="168973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026920" y="1689739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Apprentissage Supervisé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26920" y="2032639"/>
            <a:ext cx="38671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Apprend à partir de </a:t>
            </a: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données étiquetées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faire des prédictions sur de nouvelles données. Le modèle apprend une fonction de mapping entre entrées et sorties connues.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6010" y="1495431"/>
            <a:ext cx="4789170" cy="1722120"/>
          </a:xfrm>
          <a:custGeom>
            <a:avLst/>
            <a:gdLst/>
            <a:ahLst/>
            <a:cxnLst/>
            <a:rect l="l" t="t" r="r" b="b"/>
            <a:pathLst>
              <a:path w="4789170" h="1722120">
                <a:moveTo>
                  <a:pt x="76204" y="0"/>
                </a:moveTo>
                <a:lnTo>
                  <a:pt x="4712966" y="0"/>
                </a:lnTo>
                <a:cubicBezTo>
                  <a:pt x="4755052" y="0"/>
                  <a:pt x="4789170" y="34118"/>
                  <a:pt x="4789170" y="76204"/>
                </a:cubicBezTo>
                <a:lnTo>
                  <a:pt x="4789170" y="1645916"/>
                </a:lnTo>
                <a:cubicBezTo>
                  <a:pt x="4789170" y="1688002"/>
                  <a:pt x="4755052" y="1722120"/>
                  <a:pt x="4712966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6370320" y="16897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322695" y="168973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79920" y="1689739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Classification vs Régression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79920" y="2032639"/>
            <a:ext cx="3867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prédit des catégories discrètes (spam/non-spam). </a:t>
            </a: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prédit des valeurs continues (prix, température). Le choix dépend du type de variable cible.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223010" y="3377567"/>
            <a:ext cx="4789170" cy="1474470"/>
          </a:xfrm>
          <a:custGeom>
            <a:avLst/>
            <a:gdLst/>
            <a:ahLst/>
            <a:cxnLst/>
            <a:rect l="l" t="t" r="r" b="b"/>
            <a:pathLst>
              <a:path w="4789170" h="1474470">
                <a:moveTo>
                  <a:pt x="76201" y="0"/>
                </a:moveTo>
                <a:lnTo>
                  <a:pt x="4712969" y="0"/>
                </a:lnTo>
                <a:cubicBezTo>
                  <a:pt x="4755054" y="0"/>
                  <a:pt x="4789170" y="34116"/>
                  <a:pt x="4789170" y="76201"/>
                </a:cubicBezTo>
                <a:lnTo>
                  <a:pt x="4789170" y="1398269"/>
                </a:lnTo>
                <a:cubicBezTo>
                  <a:pt x="4789170" y="1440354"/>
                  <a:pt x="4755054" y="1474470"/>
                  <a:pt x="4712969" y="1474470"/>
                </a:cubicBezTo>
                <a:lnTo>
                  <a:pt x="76201" y="1474470"/>
                </a:lnTo>
                <a:cubicBezTo>
                  <a:pt x="34116" y="1474470"/>
                  <a:pt x="0" y="1440354"/>
                  <a:pt x="0" y="139826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1417320" y="3571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1369695" y="35718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026920" y="357187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Choix de l'Algorithme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026920" y="3914775"/>
            <a:ext cx="3867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Dépend du </a:t>
            </a: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problème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 la </a:t>
            </a: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taille des données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 la </a:t>
            </a: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linéarité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relations, du besoin d'</a:t>
            </a: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interprétabilité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des </a:t>
            </a: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contraintes computationnelles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76010" y="3377567"/>
            <a:ext cx="4789170" cy="1474470"/>
          </a:xfrm>
          <a:custGeom>
            <a:avLst/>
            <a:gdLst/>
            <a:ahLst/>
            <a:cxnLst/>
            <a:rect l="l" t="t" r="r" b="b"/>
            <a:pathLst>
              <a:path w="4789170" h="1474470">
                <a:moveTo>
                  <a:pt x="76201" y="0"/>
                </a:moveTo>
                <a:lnTo>
                  <a:pt x="4712969" y="0"/>
                </a:lnTo>
                <a:cubicBezTo>
                  <a:pt x="4755054" y="0"/>
                  <a:pt x="4789170" y="34116"/>
                  <a:pt x="4789170" y="76201"/>
                </a:cubicBezTo>
                <a:lnTo>
                  <a:pt x="4789170" y="1398269"/>
                </a:lnTo>
                <a:cubicBezTo>
                  <a:pt x="4789170" y="1440354"/>
                  <a:pt x="4755054" y="1474470"/>
                  <a:pt x="4712969" y="1474470"/>
                </a:cubicBezTo>
                <a:lnTo>
                  <a:pt x="76201" y="1474470"/>
                </a:lnTo>
                <a:cubicBezTo>
                  <a:pt x="34116" y="1474470"/>
                  <a:pt x="0" y="1440354"/>
                  <a:pt x="0" y="139826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6370320" y="3571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6A0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322695" y="35718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979920" y="357187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Compromis Biais-Variance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79920" y="3914775"/>
            <a:ext cx="3867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Essentiel pour équilibrer entre </a:t>
            </a: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sous-apprentissage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(biais élevé) et </a:t>
            </a: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surapprentissage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(variance élevée). Trouver la complexité optimale pour une bonne généralisation.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223010" y="5012053"/>
            <a:ext cx="9742170" cy="1226820"/>
          </a:xfrm>
          <a:custGeom>
            <a:avLst/>
            <a:gdLst/>
            <a:ahLst/>
            <a:cxnLst/>
            <a:rect l="l" t="t" r="r" b="b"/>
            <a:pathLst>
              <a:path w="9742170" h="1226820">
                <a:moveTo>
                  <a:pt x="76198" y="0"/>
                </a:moveTo>
                <a:lnTo>
                  <a:pt x="9665972" y="0"/>
                </a:lnTo>
                <a:cubicBezTo>
                  <a:pt x="9708055" y="0"/>
                  <a:pt x="9742170" y="34115"/>
                  <a:pt x="9742170" y="76198"/>
                </a:cubicBezTo>
                <a:lnTo>
                  <a:pt x="9742170" y="1150622"/>
                </a:lnTo>
                <a:cubicBezTo>
                  <a:pt x="9742170" y="1192705"/>
                  <a:pt x="9708055" y="1226820"/>
                  <a:pt x="9665972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1417320" y="52063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67E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1369695" y="520637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026920" y="5206371"/>
            <a:ext cx="883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Métriques d'Évaluation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026920" y="5549271"/>
            <a:ext cx="8820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: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Accuracy, Precision, Recall, F1-Score, ROC-AUC. </a:t>
            </a: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 :</a:t>
            </a: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MAE, MSE, RMSE, R². Choisir les métriques appropriées selon le contexte métier et les coûts des erreurs.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33375" y="6471289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CF0F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"L'apprentissage supervisé est le fondement de l'IA moderne. Maîtriser ces concepts est essentiel pour tout data scientist."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2460</Words>
  <Application>Microsoft Office PowerPoint</Application>
  <PresentationFormat>Widescreen</PresentationFormat>
  <Paragraphs>476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微软雅黑</vt:lpstr>
      <vt:lpstr>Liter</vt:lpstr>
      <vt:lpstr>Arial</vt:lpstr>
      <vt:lpstr>Quattrocento Sans</vt:lpstr>
      <vt:lpstr>Oranienbaum</vt:lpstr>
      <vt:lpstr>Unna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Apprentissage Supervisé : Classification et Régression</dc:title>
  <dc:subject>Apprentissage Supervisé : Classification et Régression</dc:subject>
  <dc:creator>Kimi</dc:creator>
  <cp:lastModifiedBy>Mohamed Aziz BEN HAHA</cp:lastModifiedBy>
  <cp:revision>8</cp:revision>
  <dcterms:created xsi:type="dcterms:W3CDTF">2026-02-27T07:23:42Z</dcterms:created>
  <dcterms:modified xsi:type="dcterms:W3CDTF">2026-02-27T07:33:03Z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{"Label":"Apprentissage Supervisé : Classification et Régression","ContentProducer":"001191110108MACG2KBH8F10000","ProduceID":"19c9df50-aad2-8ce4-8000-0000881b588e","ReservedCode1":"","ContentPropagator":"001191110108MACG2KBH8F20000","PropagateID":"19c9df50-aad2-8ce4-8000-0000881b588e","ReservedCode2":""}</vt:lpwstr>
  </property>
</Properties>
</file>