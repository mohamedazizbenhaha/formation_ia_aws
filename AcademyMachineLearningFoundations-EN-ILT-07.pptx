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heme/theme2.xml" ContentType="application/vnd.openxmlformats-officedocument.theme+xml"/>
  <Override PartName="/ppt/tags/tag57.xml" ContentType="application/vnd.openxmlformats-officedocument.presentationml.tags+xml"/>
  <Override PartName="/ppt/notesSlides/notesSlide1.xml" ContentType="application/vnd.openxmlformats-officedocument.presentationml.notesSlide+xml"/>
  <Override PartName="/ppt/tags/tag58.xml" ContentType="application/vnd.openxmlformats-officedocument.presentationml.tags+xml"/>
  <Override PartName="/ppt/notesSlides/notesSlide2.xml" ContentType="application/vnd.openxmlformats-officedocument.presentationml.notesSlide+xml"/>
  <Override PartName="/ppt/tags/tag59.xml" ContentType="application/vnd.openxmlformats-officedocument.presentationml.tags+xml"/>
  <Override PartName="/ppt/notesSlides/notesSlide3.xml" ContentType="application/vnd.openxmlformats-officedocument.presentationml.notesSlide+xml"/>
  <Override PartName="/ppt/tags/tag60.xml" ContentType="application/vnd.openxmlformats-officedocument.presentationml.tags+xml"/>
  <Override PartName="/ppt/notesSlides/notesSlide4.xml" ContentType="application/vnd.openxmlformats-officedocument.presentationml.notesSlide+xml"/>
  <Override PartName="/ppt/tags/tag61.xml" ContentType="application/vnd.openxmlformats-officedocument.presentationml.tags+xml"/>
  <Override PartName="/ppt/notesSlides/notesSlide5.xml" ContentType="application/vnd.openxmlformats-officedocument.presentationml.notesSlide+xml"/>
  <Override PartName="/ppt/tags/tag62.xml" ContentType="application/vnd.openxmlformats-officedocument.presentationml.tags+xml"/>
  <Override PartName="/ppt/notesSlides/notesSlide6.xml" ContentType="application/vnd.openxmlformats-officedocument.presentationml.notesSlide+xml"/>
  <Override PartName="/ppt/tags/tag63.xml" ContentType="application/vnd.openxmlformats-officedocument.presentationml.tags+xml"/>
  <Override PartName="/ppt/notesSlides/notesSlide7.xml" ContentType="application/vnd.openxmlformats-officedocument.presentationml.notesSlide+xml"/>
  <Override PartName="/ppt/tags/tag64.xml" ContentType="application/vnd.openxmlformats-officedocument.presentationml.tags+xml"/>
  <Override PartName="/ppt/notesSlides/notesSlide8.xml" ContentType="application/vnd.openxmlformats-officedocument.presentationml.notesSlide+xml"/>
  <Override PartName="/ppt/tags/tag65.xml" ContentType="application/vnd.openxmlformats-officedocument.presentationml.tags+xml"/>
  <Override PartName="/ppt/notesSlides/notesSlide9.xml" ContentType="application/vnd.openxmlformats-officedocument.presentationml.notesSlide+xml"/>
  <Override PartName="/ppt/tags/tag66.xml" ContentType="application/vnd.openxmlformats-officedocument.presentationml.tags+xml"/>
  <Override PartName="/ppt/notesSlides/notesSlide10.xml" ContentType="application/vnd.openxmlformats-officedocument.presentationml.notesSlide+xml"/>
  <Override PartName="/ppt/tags/tag67.xml" ContentType="application/vnd.openxmlformats-officedocument.presentationml.tags+xml"/>
  <Override PartName="/ppt/notesSlides/notesSlide11.xml" ContentType="application/vnd.openxmlformats-officedocument.presentationml.notesSlide+xml"/>
  <Override PartName="/ppt/tags/tag68.xml" ContentType="application/vnd.openxmlformats-officedocument.presentationml.tags+xml"/>
  <Override PartName="/ppt/notesSlides/notesSlide12.xml" ContentType="application/vnd.openxmlformats-officedocument.presentationml.notesSlide+xml"/>
  <Override PartName="/ppt/tags/tag69.xml" ContentType="application/vnd.openxmlformats-officedocument.presentationml.tags+xml"/>
  <Override PartName="/ppt/notesSlides/notesSlide13.xml" ContentType="application/vnd.openxmlformats-officedocument.presentationml.notesSlide+xml"/>
  <Override PartName="/ppt/tags/tag70.xml" ContentType="application/vnd.openxmlformats-officedocument.presentationml.tags+xml"/>
  <Override PartName="/ppt/notesSlides/notesSlide14.xml" ContentType="application/vnd.openxmlformats-officedocument.presentationml.notesSlide+xml"/>
  <Override PartName="/ppt/tags/tag71.xml" ContentType="application/vnd.openxmlformats-officedocument.presentationml.tags+xml"/>
  <Override PartName="/ppt/notesSlides/notesSlide15.xml" ContentType="application/vnd.openxmlformats-officedocument.presentationml.notesSlide+xml"/>
  <Override PartName="/ppt/tags/tag72.xml" ContentType="application/vnd.openxmlformats-officedocument.presentationml.tags+xml"/>
  <Override PartName="/ppt/notesSlides/notesSlide16.xml" ContentType="application/vnd.openxmlformats-officedocument.presentationml.notesSlide+xml"/>
  <Override PartName="/ppt/tags/tag73.xml" ContentType="application/vnd.openxmlformats-officedocument.presentationml.tags+xml"/>
  <Override PartName="/ppt/notesSlides/notesSlide17.xml" ContentType="application/vnd.openxmlformats-officedocument.presentationml.notesSlide+xml"/>
  <Override PartName="/ppt/tags/tag74.xml" ContentType="application/vnd.openxmlformats-officedocument.presentationml.tags+xml"/>
  <Override PartName="/ppt/notesSlides/notesSlide18.xml" ContentType="application/vnd.openxmlformats-officedocument.presentationml.notesSlide+xml"/>
  <Override PartName="/ppt/tags/tag75.xml" ContentType="application/vnd.openxmlformats-officedocument.presentationml.tags+xml"/>
  <Override PartName="/ppt/notesSlides/notesSlide19.xml" ContentType="application/vnd.openxmlformats-officedocument.presentationml.notesSlide+xml"/>
  <Override PartName="/ppt/tags/tag76.xml" ContentType="application/vnd.openxmlformats-officedocument.presentationml.tags+xml"/>
  <Override PartName="/ppt/notesSlides/notesSlide20.xml" ContentType="application/vnd.openxmlformats-officedocument.presentationml.notesSlide+xml"/>
  <Override PartName="/ppt/tags/tag77.xml" ContentType="application/vnd.openxmlformats-officedocument.presentationml.tags+xml"/>
  <Override PartName="/ppt/notesSlides/notesSlide21.xml" ContentType="application/vnd.openxmlformats-officedocument.presentationml.notesSlide+xml"/>
  <Override PartName="/ppt/tags/tag78.xml" ContentType="application/vnd.openxmlformats-officedocument.presentationml.tags+xml"/>
  <Override PartName="/ppt/notesSlides/notesSlide22.xml" ContentType="application/vnd.openxmlformats-officedocument.presentationml.notesSlide+xml"/>
  <Override PartName="/ppt/tags/tag79.xml" ContentType="application/vnd.openxmlformats-officedocument.presentationml.tags+xml"/>
  <Override PartName="/ppt/notesSlides/notesSlide23.xml" ContentType="application/vnd.openxmlformats-officedocument.presentationml.notesSlide+xml"/>
  <Override PartName="/ppt/tags/tag80.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81.xml" ContentType="application/vnd.openxmlformats-officedocument.presentationml.tags+xml"/>
  <Override PartName="/ppt/notesSlides/notesSlide26.xml" ContentType="application/vnd.openxmlformats-officedocument.presentationml.notesSlide+xml"/>
  <Override PartName="/ppt/tags/tag82.xml" ContentType="application/vnd.openxmlformats-officedocument.presentationml.tags+xml"/>
  <Override PartName="/ppt/notesSlides/notesSlide27.xml" ContentType="application/vnd.openxmlformats-officedocument.presentationml.notesSlide+xml"/>
  <Override PartName="/ppt/tags/tag83.xml" ContentType="application/vnd.openxmlformats-officedocument.presentationml.tags+xml"/>
  <Override PartName="/ppt/notesSlides/notesSlide28.xml" ContentType="application/vnd.openxmlformats-officedocument.presentationml.notesSlide+xml"/>
  <Override PartName="/ppt/tags/tag84.xml" ContentType="application/vnd.openxmlformats-officedocument.presentationml.tags+xml"/>
  <Override PartName="/ppt/notesSlides/notesSlide29.xml" ContentType="application/vnd.openxmlformats-officedocument.presentationml.notesSlide+xml"/>
  <Override PartName="/ppt/tags/tag85.xml" ContentType="application/vnd.openxmlformats-officedocument.presentationml.tags+xml"/>
  <Override PartName="/ppt/notesSlides/notesSlide30.xml" ContentType="application/vnd.openxmlformats-officedocument.presentationml.notesSlide+xml"/>
  <Override PartName="/ppt/tags/tag86.xml" ContentType="application/vnd.openxmlformats-officedocument.presentationml.tags+xml"/>
  <Override PartName="/ppt/notesSlides/notesSlide31.xml" ContentType="application/vnd.openxmlformats-officedocument.presentationml.notesSlide+xml"/>
  <Override PartName="/ppt/tags/tag87.xml" ContentType="application/vnd.openxmlformats-officedocument.presentationml.tags+xml"/>
  <Override PartName="/ppt/notesSlides/notesSlide32.xml" ContentType="application/vnd.openxmlformats-officedocument.presentationml.notesSlide+xml"/>
  <Override PartName="/ppt/tags/tag88.xml" ContentType="application/vnd.openxmlformats-officedocument.presentationml.tags+xml"/>
  <Override PartName="/ppt/notesSlides/notesSlide33.xml" ContentType="application/vnd.openxmlformats-officedocument.presentationml.notesSlide+xml"/>
  <Override PartName="/ppt/tags/tag89.xml" ContentType="application/vnd.openxmlformats-officedocument.presentationml.tags+xml"/>
  <Override PartName="/ppt/notesSlides/notesSlide34.xml" ContentType="application/vnd.openxmlformats-officedocument.presentationml.notesSlide+xml"/>
  <Override PartName="/ppt/tags/tag90.xml" ContentType="application/vnd.openxmlformats-officedocument.presentationml.tags+xml"/>
  <Override PartName="/ppt/notesSlides/notesSlide35.xml" ContentType="application/vnd.openxmlformats-officedocument.presentationml.notesSlide+xml"/>
  <Override PartName="/ppt/tags/tag91.xml" ContentType="application/vnd.openxmlformats-officedocument.presentationml.tags+xml"/>
  <Override PartName="/ppt/notesSlides/notesSlide36.xml" ContentType="application/vnd.openxmlformats-officedocument.presentationml.notesSlide+xml"/>
  <Override PartName="/ppt/tags/tag92.xml" ContentType="application/vnd.openxmlformats-officedocument.presentationml.tags+xml"/>
  <Override PartName="/ppt/notesSlides/notesSlide37.xml" ContentType="application/vnd.openxmlformats-officedocument.presentationml.notesSlide+xml"/>
  <Override PartName="/ppt/tags/tag93.xml" ContentType="application/vnd.openxmlformats-officedocument.presentationml.tags+xml"/>
  <Override PartName="/ppt/notesSlides/notesSlide38.xml" ContentType="application/vnd.openxmlformats-officedocument.presentationml.notesSlide+xml"/>
  <Override PartName="/ppt/tags/tag94.xml" ContentType="application/vnd.openxmlformats-officedocument.presentationml.tags+xml"/>
  <Override PartName="/ppt/notesSlides/notesSlide39.xml" ContentType="application/vnd.openxmlformats-officedocument.presentationml.notesSlide+xml"/>
  <Override PartName="/ppt/tags/tag95.xml" ContentType="application/vnd.openxmlformats-officedocument.presentationml.tags+xml"/>
  <Override PartName="/ppt/notesSlides/notesSlide40.xml" ContentType="application/vnd.openxmlformats-officedocument.presentationml.notesSlide+xml"/>
  <Override PartName="/ppt/tags/tag96.xml" ContentType="application/vnd.openxmlformats-officedocument.presentationml.tags+xml"/>
  <Override PartName="/ppt/notesSlides/notesSlide41.xml" ContentType="application/vnd.openxmlformats-officedocument.presentationml.notesSlide+xml"/>
  <Override PartName="/ppt/tags/tag97.xml" ContentType="application/vnd.openxmlformats-officedocument.presentationml.tags+xml"/>
  <Override PartName="/ppt/notesSlides/notesSlide42.xml" ContentType="application/vnd.openxmlformats-officedocument.presentationml.notesSlide+xml"/>
  <Override PartName="/ppt/tags/tag98.xml" ContentType="application/vnd.openxmlformats-officedocument.presentationml.tags+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58" r:id="rId4"/>
  </p:sldMasterIdLst>
  <p:notesMasterIdLst>
    <p:notesMasterId r:id="rId48"/>
  </p:notesMasterIdLst>
  <p:sldIdLst>
    <p:sldId id="258" r:id="rId5"/>
    <p:sldId id="1751" r:id="rId6"/>
    <p:sldId id="1759" r:id="rId7"/>
    <p:sldId id="1750" r:id="rId8"/>
    <p:sldId id="1754" r:id="rId9"/>
    <p:sldId id="1760" r:id="rId10"/>
    <p:sldId id="1762" r:id="rId11"/>
    <p:sldId id="1752" r:id="rId12"/>
    <p:sldId id="1812" r:id="rId13"/>
    <p:sldId id="1763" r:id="rId14"/>
    <p:sldId id="1764" r:id="rId15"/>
    <p:sldId id="1859" r:id="rId16"/>
    <p:sldId id="1765" r:id="rId17"/>
    <p:sldId id="1771" r:id="rId18"/>
    <p:sldId id="1767" r:id="rId19"/>
    <p:sldId id="1858" r:id="rId20"/>
    <p:sldId id="1776" r:id="rId21"/>
    <p:sldId id="1769" r:id="rId22"/>
    <p:sldId id="1753" r:id="rId23"/>
    <p:sldId id="1770" r:id="rId24"/>
    <p:sldId id="1761" r:id="rId25"/>
    <p:sldId id="1777" r:id="rId26"/>
    <p:sldId id="1778" r:id="rId27"/>
    <p:sldId id="1862" r:id="rId28"/>
    <p:sldId id="3718" r:id="rId29"/>
    <p:sldId id="790" r:id="rId30"/>
    <p:sldId id="1844" r:id="rId31"/>
    <p:sldId id="1860" r:id="rId32"/>
    <p:sldId id="1798" r:id="rId33"/>
    <p:sldId id="1861" r:id="rId34"/>
    <p:sldId id="1795" r:id="rId35"/>
    <p:sldId id="1796" r:id="rId36"/>
    <p:sldId id="1678" r:id="rId37"/>
    <p:sldId id="1850" r:id="rId38"/>
    <p:sldId id="1857" r:id="rId39"/>
    <p:sldId id="1851" r:id="rId40"/>
    <p:sldId id="1852" r:id="rId41"/>
    <p:sldId id="1853" r:id="rId42"/>
    <p:sldId id="1854" r:id="rId43"/>
    <p:sldId id="1855" r:id="rId44"/>
    <p:sldId id="1856" r:id="rId45"/>
    <p:sldId id="1849" r:id="rId46"/>
    <p:sldId id="1848" r:id="rId47"/>
  </p:sldIdLst>
  <p:sldSz cx="12192000" cy="6858000"/>
  <p:notesSz cx="7772400" cy="1005840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7: Course Wrap-up" id="{4435AA00-829A-40C3-8DCB-FB9ACA7400F3}">
          <p14:sldIdLst>
            <p14:sldId id="258"/>
          </p14:sldIdLst>
        </p14:section>
        <p14:section name="Introduction" id="{76B5C9E1-C14E-4F0D-9DDE-62043A2E240B}">
          <p14:sldIdLst>
            <p14:sldId id="1751"/>
            <p14:sldId id="1759"/>
          </p14:sldIdLst>
        </p14:section>
        <p14:section name="Section 1: What is generative AI?" id="{F6ADBA28-EC45-4FF4-82D0-BCF611628D52}">
          <p14:sldIdLst>
            <p14:sldId id="1750"/>
            <p14:sldId id="1754"/>
            <p14:sldId id="1760"/>
            <p14:sldId id="1762"/>
          </p14:sldIdLst>
        </p14:section>
        <p14:section name="Section 2: How does generative AI work?" id="{736A38A2-4BEA-49F7-91FD-568868425907}">
          <p14:sldIdLst>
            <p14:sldId id="1752"/>
            <p14:sldId id="1812"/>
            <p14:sldId id="1763"/>
            <p14:sldId id="1764"/>
            <p14:sldId id="1859"/>
            <p14:sldId id="1765"/>
            <p14:sldId id="1771"/>
            <p14:sldId id="1767"/>
            <p14:sldId id="1858"/>
            <p14:sldId id="1776"/>
            <p14:sldId id="1769"/>
          </p14:sldIdLst>
        </p14:section>
        <p14:section name="Section 3: AWS generative AI offerings" id="{914530AA-A489-4F88-9BE8-DC9ADBE61001}">
          <p14:sldIdLst>
            <p14:sldId id="1753"/>
            <p14:sldId id="1770"/>
            <p14:sldId id="1761"/>
            <p14:sldId id="1777"/>
          </p14:sldIdLst>
        </p14:section>
        <p14:section name="Section 4: Amazon CodeWhisperer" id="{FF92FF6D-5C4A-427B-8471-87D9F1C15538}">
          <p14:sldIdLst>
            <p14:sldId id="1778"/>
            <p14:sldId id="1862"/>
            <p14:sldId id="3718"/>
            <p14:sldId id="790"/>
            <p14:sldId id="1844"/>
          </p14:sldIdLst>
        </p14:section>
        <p14:section name="Module wrap-up" id="{E93E4797-BEDF-471A-BEF5-45FF797B2145}">
          <p14:sldIdLst>
            <p14:sldId id="1860"/>
            <p14:sldId id="1798"/>
            <p14:sldId id="1861"/>
            <p14:sldId id="1795"/>
            <p14:sldId id="1796"/>
            <p14:sldId id="1678"/>
            <p14:sldId id="1850"/>
            <p14:sldId id="1857"/>
            <p14:sldId id="1851"/>
            <p14:sldId id="1852"/>
            <p14:sldId id="1853"/>
            <p14:sldId id="1854"/>
            <p14:sldId id="1855"/>
            <p14:sldId id="1856"/>
            <p14:sldId id="1849"/>
            <p14:sldId id="184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Bryan, Kellie" initials="BK [2]" lastIdx="1" clrIdx="6">
    <p:extLst>
      <p:ext uri="{19B8F6BF-5375-455C-9EA6-DF929625EA0E}">
        <p15:presenceInfo xmlns:p15="http://schemas.microsoft.com/office/powerpoint/2012/main" userId="S-1-5-21-1407069837-2091007605-538272213-34905485" providerId="AD"/>
      </p:ext>
    </p:extLst>
  </p:cmAuthor>
  <p:cmAuthor id="1" name="Stading, Katrina" initials="SK" lastIdx="60" clrIdx="0">
    <p:extLst>
      <p:ext uri="{19B8F6BF-5375-455C-9EA6-DF929625EA0E}">
        <p15:presenceInfo xmlns:p15="http://schemas.microsoft.com/office/powerpoint/2012/main" userId="S-1-5-21-1407069837-2091007605-538272213-31813507" providerId="AD"/>
      </p:ext>
    </p:extLst>
  </p:cmAuthor>
  <p:cmAuthor id="8" name="Adams, Allison" initials="AA" lastIdx="1" clrIdx="7">
    <p:extLst>
      <p:ext uri="{19B8F6BF-5375-455C-9EA6-DF929625EA0E}">
        <p15:presenceInfo xmlns:p15="http://schemas.microsoft.com/office/powerpoint/2012/main" userId="S-1-5-21-1407069837-2091007605-538272213-32017101" providerId="AD"/>
      </p:ext>
    </p:extLst>
  </p:cmAuthor>
  <p:cmAuthor id="2" name="Matt Scheffler" initials="MS" lastIdx="1" clrIdx="1">
    <p:extLst>
      <p:ext uri="{19B8F6BF-5375-455C-9EA6-DF929625EA0E}">
        <p15:presenceInfo xmlns:p15="http://schemas.microsoft.com/office/powerpoint/2012/main" userId="Matt Scheffler" providerId="None"/>
      </p:ext>
    </p:extLst>
  </p:cmAuthor>
  <p:cmAuthor id="3" name="Ortega, Cyntianna" initials="OC" lastIdx="26" clrIdx="2">
    <p:extLst>
      <p:ext uri="{19B8F6BF-5375-455C-9EA6-DF929625EA0E}">
        <p15:presenceInfo xmlns:p15="http://schemas.microsoft.com/office/powerpoint/2012/main" userId="S-1-5-21-1407069837-2091007605-538272213-30308715" providerId="AD"/>
      </p:ext>
    </p:extLst>
  </p:cmAuthor>
  <p:cmAuthor id="4" name="Treadwell, Jacqueline" initials="TJ" lastIdx="65" clrIdx="3">
    <p:extLst>
      <p:ext uri="{19B8F6BF-5375-455C-9EA6-DF929625EA0E}">
        <p15:presenceInfo xmlns:p15="http://schemas.microsoft.com/office/powerpoint/2012/main" userId="S-1-5-21-1407069837-2091007605-538272213-42886191" providerId="AD"/>
      </p:ext>
    </p:extLst>
  </p:cmAuthor>
  <p:cmAuthor id="5" name="Daswani, Monisha" initials="DM" lastIdx="59" clrIdx="4">
    <p:extLst>
      <p:ext uri="{19B8F6BF-5375-455C-9EA6-DF929625EA0E}">
        <p15:presenceInfo xmlns:p15="http://schemas.microsoft.com/office/powerpoint/2012/main" userId="S-1-5-21-1407069837-2091007605-538272213-41758195" providerId="AD"/>
      </p:ext>
    </p:extLst>
  </p:cmAuthor>
  <p:cmAuthor id="6" name="Kameron Ghaffari" initials="KG" lastIdx="16" clrIdx="5">
    <p:extLst>
      <p:ext uri="{19B8F6BF-5375-455C-9EA6-DF929625EA0E}">
        <p15:presenceInfo xmlns:p15="http://schemas.microsoft.com/office/powerpoint/2012/main" userId="S::kameron.ghaffari@pulselearning.com::8fa5dab2-361d-4265-a255-b5035b00118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893A"/>
    <a:srgbClr val="D05E0D"/>
    <a:srgbClr val="8261ED"/>
    <a:srgbClr val="9578F0"/>
    <a:srgbClr val="A790F3"/>
    <a:srgbClr val="1857A0"/>
    <a:srgbClr val="FEFEFE"/>
    <a:srgbClr val="197956"/>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67465" autoAdjust="0"/>
  </p:normalViewPr>
  <p:slideViewPr>
    <p:cSldViewPr snapToGrid="0">
      <p:cViewPr varScale="1">
        <p:scale>
          <a:sx n="52" d="100"/>
          <a:sy n="52" d="100"/>
        </p:scale>
        <p:origin x="1096" y="52"/>
      </p:cViewPr>
      <p:guideLst/>
    </p:cSldViewPr>
  </p:slideViewPr>
  <p:notesTextViewPr>
    <p:cViewPr>
      <p:scale>
        <a:sx n="1" d="1"/>
        <a:sy n="1" d="1"/>
      </p:scale>
      <p:origin x="0" y="0"/>
    </p:cViewPr>
  </p:notesTextViewPr>
  <p:sorterViewPr>
    <p:cViewPr>
      <p:scale>
        <a:sx n="100" d="100"/>
        <a:sy n="100" d="100"/>
      </p:scale>
      <p:origin x="0" y="-11742"/>
    </p:cViewPr>
  </p:sorterViewPr>
  <p:notesViewPr>
    <p:cSldViewPr snapToGrid="0">
      <p:cViewPr>
        <p:scale>
          <a:sx n="100" d="100"/>
          <a:sy n="100" d="100"/>
        </p:scale>
        <p:origin x="1340" y="-14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35000"/>
            <a:ext cx="5486400" cy="3086822"/>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7500" y="3810000"/>
            <a:ext cx="7112000" cy="5588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5890323"/>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0"/>
      </a:spcBef>
      <a:spcAft>
        <a:spcPts val="0"/>
      </a:spcAft>
      <a:defRPr sz="1200" kern="1200">
        <a:solidFill>
          <a:schemeClr val="tx1"/>
        </a:solidFill>
        <a:latin typeface="+mn-lt"/>
        <a:ea typeface="+mn-ea"/>
        <a:cs typeface="+mn-cs"/>
      </a:defRPr>
    </a:lvl1pPr>
    <a:lvl2pPr marL="457200" algn="l" defTabSz="914400" rtl="0" eaLnBrk="1" latinLnBrk="0" hangingPunct="1">
      <a:spcBef>
        <a:spcPts val="0"/>
      </a:spcBef>
      <a:spcAft>
        <a:spcPts val="0"/>
      </a:spcAft>
      <a:defRPr sz="1200" kern="1200">
        <a:solidFill>
          <a:schemeClr val="tx1"/>
        </a:solidFill>
        <a:latin typeface="+mn-lt"/>
        <a:ea typeface="+mn-ea"/>
        <a:cs typeface="+mn-cs"/>
      </a:defRPr>
    </a:lvl2pPr>
    <a:lvl3pPr marL="914400" algn="l" defTabSz="914400" rtl="0" eaLnBrk="1" latinLnBrk="0" hangingPunct="1">
      <a:spcBef>
        <a:spcPts val="0"/>
      </a:spcBef>
      <a:spcAft>
        <a:spcPts val="0"/>
      </a:spcAft>
      <a:defRPr sz="1200" kern="1200">
        <a:solidFill>
          <a:schemeClr val="tx1"/>
        </a:solidFill>
        <a:latin typeface="+mn-lt"/>
        <a:ea typeface="+mn-ea"/>
        <a:cs typeface="+mn-cs"/>
      </a:defRPr>
    </a:lvl3pPr>
    <a:lvl4pPr marL="1371600" algn="l" defTabSz="914400" rtl="0" eaLnBrk="1" latinLnBrk="0" hangingPunct="1">
      <a:spcBef>
        <a:spcPts val="0"/>
      </a:spcBef>
      <a:spcAft>
        <a:spcPts val="0"/>
      </a:spcAft>
      <a:defRPr sz="1200" kern="1200">
        <a:solidFill>
          <a:schemeClr val="tx1"/>
        </a:solidFill>
        <a:latin typeface="+mn-lt"/>
        <a:ea typeface="+mn-ea"/>
        <a:cs typeface="+mn-cs"/>
      </a:defRPr>
    </a:lvl4pPr>
    <a:lvl5pPr marL="1828800" algn="l" defTabSz="914400" rtl="0" eaLnBrk="1" latinLnBrk="0" hangingPunct="1">
      <a:spcBef>
        <a:spcPts val="0"/>
      </a:spcBef>
      <a:spcAft>
        <a:spcPts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aws.amazon.com/what-is/foundation-model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docs.aws.amazon.com/amazonq/latest/qdeveloper-ug/q-language-ide-support.html"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aws.amazon.com/blogs/devops/accelerate-your-software-development-lifecycle-with-amazon-q/"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aws.amazon.com/q/developer/" TargetMode="External"/><Relationship Id="rId7" Type="http://schemas.openxmlformats.org/officeDocument/2006/relationships/hyperlink" Target="https://aws.amazon.com/machine-learning/trainium" TargetMode="External"/><Relationship Id="rId2" Type="http://schemas.openxmlformats.org/officeDocument/2006/relationships/slide" Target="../slides/slide32.xml"/><Relationship Id="rId1" Type="http://schemas.openxmlformats.org/officeDocument/2006/relationships/notesMaster" Target="../notesMasters/notesMaster1.xml"/><Relationship Id="rId6" Type="http://schemas.openxmlformats.org/officeDocument/2006/relationships/hyperlink" Target="https://aws.amazon.com/machine-learning/inferentia" TargetMode="External"/><Relationship Id="rId5" Type="http://schemas.openxmlformats.org/officeDocument/2006/relationships/hyperlink" Target="https://aws.amazon.com/pm/sagemaker" TargetMode="External"/><Relationship Id="rId4" Type="http://schemas.openxmlformats.org/officeDocument/2006/relationships/hyperlink" Target="https://aws.amazon.com/bedrock" TargetMode="Externa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lang="en-US" dirty="0">
                <a:latin typeface="Calibri" panose="020F0502020204030204" pitchFamily="34" charset="0"/>
              </a:rPr>
              <a:t>Welcome to Module 7: Introduction to Generative AI.</a:t>
            </a:r>
          </a:p>
        </p:txBody>
      </p:sp>
    </p:spTree>
    <p:extLst>
      <p:ext uri="{BB962C8B-B14F-4D97-AF65-F5344CB8AC3E}">
        <p14:creationId xmlns:p14="http://schemas.microsoft.com/office/powerpoint/2010/main" val="1171446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This module introduces generative AI. The following topics are covered in this module:</a:t>
            </a:r>
          </a:p>
          <a:p>
            <a:pPr marL="171450" indent="-171450">
              <a:buFont typeface="Arial" panose="020B0604020202020204" pitchFamily="34" charset="0"/>
              <a:buChar char="•"/>
              <a:defRPr/>
            </a:pPr>
            <a:r>
              <a:rPr lang="en-US" kern="1200" dirty="0">
                <a:solidFill>
                  <a:schemeClr val="tx1"/>
                </a:solidFill>
                <a:effectLst/>
                <a:latin typeface="Calibri" panose="020F0502020204030204" pitchFamily="34" charset="0"/>
                <a:ea typeface="+mn-ea"/>
                <a:cs typeface="+mn-cs"/>
              </a:rPr>
              <a:t>What is generative AI?</a:t>
            </a:r>
          </a:p>
          <a:p>
            <a:pPr marL="171450" indent="-171450">
              <a:buFont typeface="Arial" panose="020B0604020202020204" pitchFamily="34" charset="0"/>
              <a:buChar char="•"/>
              <a:defRPr/>
            </a:pPr>
            <a:r>
              <a:rPr lang="en-US" kern="1200" dirty="0">
                <a:solidFill>
                  <a:schemeClr val="tx1"/>
                </a:solidFill>
                <a:effectLst/>
                <a:latin typeface="Calibri" panose="020F0502020204030204" pitchFamily="34" charset="0"/>
                <a:ea typeface="+mn-ea"/>
                <a:cs typeface="+mn-cs"/>
              </a:rPr>
              <a:t>How does generative AI work?</a:t>
            </a:r>
          </a:p>
          <a:p>
            <a:pPr marL="171450" indent="-171450">
              <a:buFont typeface="Arial" panose="020B0604020202020204" pitchFamily="34" charset="0"/>
              <a:buChar char="•"/>
              <a:defRPr/>
            </a:pPr>
            <a:r>
              <a:rPr lang="en-US" kern="1200" dirty="0">
                <a:solidFill>
                  <a:schemeClr val="tx1"/>
                </a:solidFill>
                <a:effectLst/>
                <a:latin typeface="Calibri" panose="020F0502020204030204" pitchFamily="34" charset="0"/>
                <a:ea typeface="+mn-ea"/>
                <a:cs typeface="+mn-cs"/>
              </a:rPr>
              <a:t>AWS generative AI offerings</a:t>
            </a:r>
          </a:p>
          <a:p>
            <a:pPr marL="171450" indent="-171450">
              <a:buFont typeface="Arial" panose="020B0604020202020204" pitchFamily="34" charset="0"/>
              <a:buChar char="•"/>
              <a:defRPr/>
            </a:pPr>
            <a:r>
              <a:rPr lang="en-US" kern="1200" dirty="0">
                <a:solidFill>
                  <a:schemeClr val="tx1"/>
                </a:solidFill>
                <a:effectLst/>
                <a:latin typeface="Calibri" panose="020F0502020204030204" pitchFamily="34" charset="0"/>
                <a:ea typeface="+mn-ea"/>
                <a:cs typeface="+mn-cs"/>
              </a:rPr>
              <a:t>Amazon Q Developer</a:t>
            </a: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You will be asked to complete a knowledge check that will test your understanding of key concepts covered in this module.</a:t>
            </a:r>
          </a:p>
          <a:p>
            <a:endParaRPr lang="en-US" b="0" dirty="0"/>
          </a:p>
        </p:txBody>
      </p:sp>
    </p:spTree>
    <p:extLst>
      <p:ext uri="{BB962C8B-B14F-4D97-AF65-F5344CB8AC3E}">
        <p14:creationId xmlns:p14="http://schemas.microsoft.com/office/powerpoint/2010/main" val="80243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At the end of this module, you should be able to do the following:</a:t>
            </a:r>
          </a:p>
          <a:p>
            <a:pPr marL="171450" indent="-171450">
              <a:buFont typeface="Arial" panose="020B0604020202020204" pitchFamily="34" charset="0"/>
              <a:buChar char="•"/>
            </a:pPr>
            <a:r>
              <a:rPr lang="en-US" dirty="0">
                <a:latin typeface="Calibri" panose="020F0502020204030204" pitchFamily="34" charset="0"/>
              </a:rPr>
              <a:t>Define generative artificial intelligence (AI).</a:t>
            </a:r>
          </a:p>
          <a:p>
            <a:pPr marL="171450" indent="-171450">
              <a:buFont typeface="Arial" panose="020B0604020202020204" pitchFamily="34" charset="0"/>
              <a:buChar char="•"/>
            </a:pPr>
            <a:r>
              <a:rPr lang="en-US" dirty="0">
                <a:latin typeface="Calibri" panose="020F0502020204030204" pitchFamily="34" charset="0"/>
              </a:rPr>
              <a:t>Differentiate between traditional machine learning (ML) and generative AI.</a:t>
            </a:r>
          </a:p>
          <a:p>
            <a:pPr marL="171450" indent="-171450">
              <a:buFont typeface="Arial" panose="020B0604020202020204" pitchFamily="34" charset="0"/>
              <a:buChar char="•"/>
            </a:pPr>
            <a:r>
              <a:rPr lang="en-US" dirty="0">
                <a:latin typeface="Calibri" panose="020F0502020204030204" pitchFamily="34" charset="0"/>
              </a:rPr>
              <a:t>Use a foundation model (FM) in a Jupyter notebook to generate an image from text.</a:t>
            </a:r>
          </a:p>
          <a:p>
            <a:pPr marL="171450" indent="-171450">
              <a:buFont typeface="Arial" panose="020B0604020202020204" pitchFamily="34" charset="0"/>
              <a:buChar char="•"/>
            </a:pPr>
            <a:r>
              <a:rPr lang="en-US" dirty="0">
                <a:latin typeface="Calibri" panose="020F0502020204030204" pitchFamily="34" charset="0"/>
              </a:rPr>
              <a:t>Identify the benefits of Amazon Q Developer.</a:t>
            </a:r>
          </a:p>
          <a:p>
            <a:pPr marL="171450" indent="-171450">
              <a:buFont typeface="Arial" panose="020B0604020202020204" pitchFamily="34" charset="0"/>
              <a:buChar char="•"/>
            </a:pPr>
            <a:r>
              <a:rPr lang="en-US" dirty="0">
                <a:latin typeface="Calibri" panose="020F0502020204030204" pitchFamily="34" charset="0"/>
              </a:rPr>
              <a:t>Explain how Amazon Q Developer works with Amazon SageMaker to speed up development of your ML application.</a:t>
            </a:r>
          </a:p>
          <a:p>
            <a:endParaRPr lang="en-US" dirty="0"/>
          </a:p>
        </p:txBody>
      </p:sp>
    </p:spTree>
    <p:extLst>
      <p:ext uri="{BB962C8B-B14F-4D97-AF65-F5344CB8AC3E}">
        <p14:creationId xmlns:p14="http://schemas.microsoft.com/office/powerpoint/2010/main" val="40957070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dirty="0">
                <a:latin typeface="Calibri" panose="020F0502020204030204" pitchFamily="34" charset="0"/>
              </a:rPr>
              <a:t>Introducing Section 1: What is generative AI?</a:t>
            </a:r>
            <a:endParaRPr lang="en-US" b="0" dirty="0">
              <a:latin typeface="Calibri" panose="020F0502020204030204" pitchFamily="34" charset="0"/>
            </a:endParaRPr>
          </a:p>
        </p:txBody>
      </p:sp>
    </p:spTree>
    <p:extLst>
      <p:ext uri="{BB962C8B-B14F-4D97-AF65-F5344CB8AC3E}">
        <p14:creationId xmlns:p14="http://schemas.microsoft.com/office/powerpoint/2010/main" val="3395222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4573219"/>
          </a:xfrm>
        </p:spPr>
        <p:txBody>
          <a:bodyPr/>
          <a:lstStyle/>
          <a:p>
            <a:r>
              <a:rPr lang="en-US" dirty="0">
                <a:latin typeface="Calibri" panose="020F0502020204030204" pitchFamily="34" charset="0"/>
              </a:rPr>
              <a:t>Generative AI is a type of artificial intelligence that can create new content and ideas, including conversations, stories, images, videos, and music. AI generators are powered by pretrained machine learning models called foundation models (FMs). These models are capable of producing content, so you don’t have to. This AI-generated content can be edited, so you can make the necessary modifications that meet your needs.</a:t>
            </a:r>
          </a:p>
        </p:txBody>
      </p:sp>
    </p:spTree>
    <p:extLst>
      <p:ext uri="{BB962C8B-B14F-4D97-AF65-F5344CB8AC3E}">
        <p14:creationId xmlns:p14="http://schemas.microsoft.com/office/powerpoint/2010/main" val="1279478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Generative AI can be applied for a broad range of use cases. </a:t>
            </a:r>
          </a:p>
          <a:p>
            <a:endParaRPr lang="en-US" dirty="0">
              <a:latin typeface="Calibri" panose="020F0502020204030204" pitchFamily="34" charset="0"/>
            </a:endParaRPr>
          </a:p>
          <a:p>
            <a:r>
              <a:rPr lang="en-US" b="1" dirty="0">
                <a:latin typeface="Calibri" panose="020F0502020204030204" pitchFamily="34" charset="0"/>
              </a:rPr>
              <a:t>Enhance customer experiences: </a:t>
            </a:r>
            <a:r>
              <a:rPr lang="en-US" dirty="0">
                <a:latin typeface="Calibri" panose="020F0502020204030204" pitchFamily="34" charset="0"/>
              </a:rPr>
              <a:t>Chatbots and virtual assistants can enhance customer service experiences by streamlining customer self-service and reducing operational costs. Generative AI can also help with summarizing and analyzing customer conversations and creating better personalized customer experiences.</a:t>
            </a:r>
          </a:p>
          <a:p>
            <a:endParaRPr lang="en-US" dirty="0">
              <a:latin typeface="Calibri" panose="020F0502020204030204" pitchFamily="34" charset="0"/>
            </a:endParaRPr>
          </a:p>
          <a:p>
            <a:r>
              <a:rPr lang="en-US" b="1" dirty="0">
                <a:latin typeface="Calibri" panose="020F0502020204030204" pitchFamily="34" charset="0"/>
              </a:rPr>
              <a:t>Boost employee productivity: </a:t>
            </a:r>
            <a:r>
              <a:rPr lang="en-US" dirty="0">
                <a:latin typeface="Calibri" panose="020F0502020204030204" pitchFamily="34" charset="0"/>
              </a:rPr>
              <a:t>Generative AI can help boost employee productivity by accelerating application development, automating report generation, and improving content searches through a conversational interface.</a:t>
            </a:r>
          </a:p>
          <a:p>
            <a:endParaRPr lang="en-US" dirty="0">
              <a:latin typeface="Calibri" panose="020F0502020204030204" pitchFamily="34" charset="0"/>
            </a:endParaRPr>
          </a:p>
          <a:p>
            <a:r>
              <a:rPr lang="en-US" b="1" dirty="0">
                <a:latin typeface="Calibri" panose="020F0502020204030204" pitchFamily="34" charset="0"/>
              </a:rPr>
              <a:t>Optimize processes: </a:t>
            </a:r>
            <a:r>
              <a:rPr lang="en-US" dirty="0">
                <a:latin typeface="Calibri" panose="020F0502020204030204" pitchFamily="34" charset="0"/>
              </a:rPr>
              <a:t>Business operations can be optimized by using intelligent document processing that extracts and summarizes data through generative AI-powered questions and answers. Generative AI can also help improve supply chain logistics and augment data by generating synthetic data to train ML models. </a:t>
            </a:r>
          </a:p>
          <a:p>
            <a:endParaRPr lang="en-US" dirty="0">
              <a:latin typeface="Calibri" panose="020F0502020204030204" pitchFamily="34" charset="0"/>
            </a:endParaRPr>
          </a:p>
          <a:p>
            <a:r>
              <a:rPr lang="en-US" b="1" dirty="0">
                <a:latin typeface="Calibri" panose="020F0502020204030204" pitchFamily="34" charset="0"/>
              </a:rPr>
              <a:t>Enhance creativity and content creation: </a:t>
            </a:r>
            <a:r>
              <a:rPr lang="en-US" dirty="0">
                <a:latin typeface="Calibri" panose="020F0502020204030204" pitchFamily="34" charset="0"/>
              </a:rPr>
              <a:t>AI-generated media can enhance creativity and content creation. Marketing content created using generative AI, such as blog posts or social media updates, can save time and resources. Sales content, guidance, and enablement can also be generated to match a prospect’s profile and behavior, thereby improving response rates. Product developers can use generative AI to generate multiple design prototypes based on certain inputs and constraints, which speeds up the ideation phase.</a:t>
            </a:r>
          </a:p>
        </p:txBody>
      </p:sp>
    </p:spTree>
    <p:extLst>
      <p:ext uri="{BB962C8B-B14F-4D97-AF65-F5344CB8AC3E}">
        <p14:creationId xmlns:p14="http://schemas.microsoft.com/office/powerpoint/2010/main" val="3138821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Some key takeaways from this section of the module include the following:</a:t>
            </a:r>
          </a:p>
          <a:p>
            <a:pPr marL="171450" indent="-171450">
              <a:buFont typeface="Arial" panose="020B0604020202020204" pitchFamily="34" charset="0"/>
              <a:buChar char="•"/>
            </a:pPr>
            <a:r>
              <a:rPr lang="en-US" dirty="0">
                <a:latin typeface="Calibri" panose="020F0502020204030204" pitchFamily="34" charset="0"/>
              </a:rPr>
              <a:t>Generative AI is a type of artificial intelligence that can create new content and ideas, including conversations, stories, images, videos, and music.</a:t>
            </a:r>
          </a:p>
          <a:p>
            <a:pPr marL="171450" indent="-171450">
              <a:buFont typeface="Arial" panose="020B0604020202020204" pitchFamily="34" charset="0"/>
              <a:buChar char="•"/>
            </a:pPr>
            <a:r>
              <a:rPr lang="en-US" dirty="0">
                <a:latin typeface="Calibri" panose="020F0502020204030204" pitchFamily="34" charset="0"/>
              </a:rPr>
              <a:t>Generative AI is powered by large models called FMs.</a:t>
            </a:r>
          </a:p>
          <a:p>
            <a:pPr marL="171450" indent="-171450">
              <a:buFont typeface="Arial" panose="020B0604020202020204" pitchFamily="34" charset="0"/>
              <a:buChar char="•"/>
            </a:pPr>
            <a:r>
              <a:rPr lang="en-US" dirty="0">
                <a:latin typeface="Calibri" panose="020F0502020204030204" pitchFamily="34" charset="0"/>
              </a:rPr>
              <a:t>Generative AI can be applied for a broad range of purposes.</a:t>
            </a:r>
          </a:p>
          <a:p>
            <a:endParaRPr lang="en-US" dirty="0"/>
          </a:p>
        </p:txBody>
      </p:sp>
    </p:spTree>
    <p:extLst>
      <p:ext uri="{BB962C8B-B14F-4D97-AF65-F5344CB8AC3E}">
        <p14:creationId xmlns:p14="http://schemas.microsoft.com/office/powerpoint/2010/main" val="859809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dirty="0">
                <a:latin typeface="Calibri" panose="020F0502020204030204" pitchFamily="34" charset="0"/>
              </a:rPr>
              <a:t>Introducing Section 2: How does generative AI work?</a:t>
            </a:r>
            <a:endParaRPr lang="en-US" b="0" dirty="0">
              <a:latin typeface="Calibri" panose="020F0502020204030204" pitchFamily="34" charset="0"/>
            </a:endParaRPr>
          </a:p>
        </p:txBody>
      </p:sp>
    </p:spTree>
    <p:extLst>
      <p:ext uri="{BB962C8B-B14F-4D97-AF65-F5344CB8AC3E}">
        <p14:creationId xmlns:p14="http://schemas.microsoft.com/office/powerpoint/2010/main" val="2654503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0" dirty="0">
                <a:latin typeface="Calibri" panose="020F0502020204030204" pitchFamily="34" charset="0"/>
              </a:rPr>
              <a:t>This graphic is an introduction to machine learning (ML), and it shows where generative AI fits in with the larger picture of artificial intelligence (AI).</a:t>
            </a:r>
          </a:p>
          <a:p>
            <a:r>
              <a:rPr lang="en-US" b="0" dirty="0">
                <a:latin typeface="Calibri" panose="020F0502020204030204" pitchFamily="34" charset="0"/>
              </a:rPr>
              <a:t> </a:t>
            </a:r>
          </a:p>
          <a:p>
            <a:r>
              <a:rPr lang="en-US" b="0" dirty="0">
                <a:latin typeface="Calibri" panose="020F0502020204030204" pitchFamily="34" charset="0"/>
              </a:rPr>
              <a:t>Generative AI is a subset of machine learning. </a:t>
            </a:r>
            <a:r>
              <a:rPr lang="en-US" b="0" i="0" kern="1200" dirty="0">
                <a:solidFill>
                  <a:schemeClr val="tx1"/>
                </a:solidFill>
                <a:effectLst/>
                <a:latin typeface="Calibri" panose="020F0502020204030204" pitchFamily="34" charset="0"/>
                <a:ea typeface="+mn-ea"/>
                <a:cs typeface="+mn-cs"/>
              </a:rPr>
              <a:t>Generative AI is powered by models called foundation models that make use of deep learning techniques such as neural networks.</a:t>
            </a:r>
            <a:endParaRPr lang="en-US" b="0" dirty="0">
              <a:latin typeface="Calibri" panose="020F0502020204030204" pitchFamily="34" charset="0"/>
            </a:endParaRPr>
          </a:p>
          <a:p>
            <a:endParaRPr lang="en-US" b="0" dirty="0"/>
          </a:p>
        </p:txBody>
      </p:sp>
    </p:spTree>
    <p:extLst>
      <p:ext uri="{BB962C8B-B14F-4D97-AF65-F5344CB8AC3E}">
        <p14:creationId xmlns:p14="http://schemas.microsoft.com/office/powerpoint/2010/main" val="8982885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0" dirty="0">
                <a:latin typeface="Calibri" panose="020F0502020204030204" pitchFamily="34" charset="0"/>
              </a:rPr>
              <a:t>At the core of every AI generator is a foundation model. Foundation models are a class of powerful machine learning models that are differentiated by their ability to be pretrained on vast amounts of data to perform a wide range of downstream tasks. These tasks include text generation, data summarization, information extraction, question and answer responses, and chatbot interactions. They can also generate images, music, videos, or code. In contrast, traditional ML models are trained to perform a specific task from a data set.</a:t>
            </a:r>
          </a:p>
        </p:txBody>
      </p:sp>
    </p:spTree>
    <p:extLst>
      <p:ext uri="{BB962C8B-B14F-4D97-AF65-F5344CB8AC3E}">
        <p14:creationId xmlns:p14="http://schemas.microsoft.com/office/powerpoint/2010/main" val="889531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Let’s review some key differences between traditional machine learning models and foundation models. </a:t>
            </a:r>
          </a:p>
          <a:p>
            <a:endParaRPr lang="en-US" dirty="0">
              <a:latin typeface="Calibri" panose="020F0502020204030204" pitchFamily="34" charset="0"/>
            </a:endParaRPr>
          </a:p>
          <a:p>
            <a:r>
              <a:rPr lang="en-US" dirty="0">
                <a:latin typeface="Calibri" panose="020F0502020204030204" pitchFamily="34" charset="0"/>
              </a:rPr>
              <a:t>Traditional ML models are typically siloed to perform specific tasks, like analyzing text for sentiment, classifying images, and forecasting trends. To accomplish each task, customers need to gather labeled data, train a model, and deploy that model. </a:t>
            </a:r>
          </a:p>
          <a:p>
            <a:endParaRPr lang="en-US" dirty="0">
              <a:latin typeface="Calibri" panose="020F0502020204030204" pitchFamily="34" charset="0"/>
            </a:endParaRPr>
          </a:p>
          <a:p>
            <a:r>
              <a:rPr lang="en-US" dirty="0">
                <a:latin typeface="Calibri" panose="020F0502020204030204" pitchFamily="34" charset="0"/>
              </a:rPr>
              <a:t>The size and general-purpose nature of foundation models make them very different from traditional ML models. </a:t>
            </a:r>
          </a:p>
          <a:p>
            <a:endParaRPr lang="en-US" dirty="0">
              <a:latin typeface="Calibri" panose="020F0502020204030204" pitchFamily="34" charset="0"/>
            </a:endParaRPr>
          </a:p>
          <a:p>
            <a:r>
              <a:rPr lang="en-US" dirty="0">
                <a:latin typeface="Calibri" panose="020F0502020204030204" pitchFamily="34" charset="0"/>
              </a:rPr>
              <a:t>With foundation models, instead of gathering labeled data and training multiple models, you use the same pretrained foundation model to adapt several tasks. Foundation models can also be customized to perform domain-specific functions that are differentiating to their businesses. This uses only a small fraction of the data and compute required to train a model from scratch.</a:t>
            </a:r>
          </a:p>
        </p:txBody>
      </p:sp>
    </p:spTree>
    <p:extLst>
      <p:ext uri="{BB962C8B-B14F-4D97-AF65-F5344CB8AC3E}">
        <p14:creationId xmlns:p14="http://schemas.microsoft.com/office/powerpoint/2010/main" val="1761764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Image Placeholder 2">
            <a:extLst>
              <a:ext uri="{FF2B5EF4-FFF2-40B4-BE49-F238E27FC236}">
                <a16:creationId xmlns:a16="http://schemas.microsoft.com/office/drawing/2014/main" id="{53ACBBA3-8980-4C85-8A4F-BB5EC7C0BF53}"/>
              </a:ext>
            </a:extLst>
          </p:cNvPr>
          <p:cNvSpPr>
            <a:spLocks noGrp="1" noRot="1" noChangeAspect="1"/>
          </p:cNvSpPr>
          <p:nvPr>
            <p:ph type="sldImg"/>
          </p:nvPr>
        </p:nvSpPr>
        <p:spPr>
          <a:xfrm>
            <a:off x="1143000" y="635000"/>
            <a:ext cx="5486400" cy="3086100"/>
          </a:xfrm>
        </p:spPr>
      </p:sp>
      <p:sp>
        <p:nvSpPr>
          <p:cNvPr id="2" name="Notes Placeholder 1">
            <a:extLst>
              <a:ext uri="{FF2B5EF4-FFF2-40B4-BE49-F238E27FC236}">
                <a16:creationId xmlns:a16="http://schemas.microsoft.com/office/drawing/2014/main" id="{932B1DA0-03CF-4E4D-941B-8484AA62C683}"/>
              </a:ext>
            </a:extLst>
          </p:cNvPr>
          <p:cNvSpPr>
            <a:spLocks noGrp="1"/>
          </p:cNvSpPr>
          <p:nvPr>
            <p:ph type="body" idx="1"/>
          </p:nvPr>
        </p:nvSpPr>
        <p:spPr/>
        <p:txBody>
          <a:bodyPr/>
          <a:lstStyle/>
          <a:p>
            <a:pPr marL="0" marR="0" lvl="0" indent="0" defTabSz="914400" rtl="0" eaLnBrk="1" fontAlgn="auto" latinLnBrk="0" hangingPunct="1">
              <a:buClrTx/>
              <a:buSzTx/>
              <a:buFontTx/>
              <a:buNone/>
              <a:tabLst/>
              <a:defRPr/>
            </a:pPr>
            <a:r>
              <a:rPr lang="en-US" dirty="0">
                <a:latin typeface="Calibri" panose="020F0502020204030204" pitchFamily="34" charset="0"/>
              </a:rPr>
              <a:t>There are multiple tasks that FMs can perform. A few examples include language processing, visual comprehension, and code generation.</a:t>
            </a:r>
            <a:r>
              <a:rPr lang="en-US" b="0" dirty="0">
                <a:latin typeface="Calibri" panose="020F0502020204030204" pitchFamily="34" charset="0"/>
              </a:rPr>
              <a:t> An example of an FM that can perform language processing on natural language tasks is Amazon Titan. And Stable Diffusion is an example of an FM that can perform visual comprehension tasks. </a:t>
            </a:r>
          </a:p>
          <a:p>
            <a:pPr marL="0" marR="0" lvl="0" indent="0" defTabSz="914400" rtl="0" eaLnBrk="1" fontAlgn="auto" latinLnBrk="0" hangingPunct="1">
              <a:buClrTx/>
              <a:buSzTx/>
              <a:buFontTx/>
              <a:buNone/>
              <a:tabLst/>
              <a:defRPr/>
            </a:pPr>
            <a:endParaRPr lang="en-US" b="0" dirty="0">
              <a:latin typeface="Calibri" panose="020F0502020204030204" pitchFamily="34" charset="0"/>
            </a:endParaRP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For more information about what FMs can do and examples of other FMs, see </a:t>
            </a:r>
            <a:r>
              <a:rPr lang="en-US" i="1" kern="1200" dirty="0">
                <a:solidFill>
                  <a:schemeClr val="tx1"/>
                </a:solidFill>
                <a:effectLst/>
                <a:latin typeface="Calibri" panose="020F0502020204030204" pitchFamily="34" charset="0"/>
                <a:ea typeface="+mn-ea"/>
                <a:cs typeface="+mn-cs"/>
              </a:rPr>
              <a:t>What are Foundation Models?</a:t>
            </a:r>
            <a:r>
              <a:rPr lang="en-US" kern="1200" dirty="0">
                <a:solidFill>
                  <a:schemeClr val="tx1"/>
                </a:solidFill>
                <a:effectLst/>
                <a:latin typeface="Calibri" panose="020F0502020204030204" pitchFamily="34" charset="0"/>
                <a:ea typeface="+mn-ea"/>
                <a:cs typeface="+mn-cs"/>
              </a:rPr>
              <a:t> at </a:t>
            </a:r>
            <a:r>
              <a:rPr lang="en-US" kern="1200" dirty="0">
                <a:solidFill>
                  <a:schemeClr val="tx1"/>
                </a:solidFill>
                <a:effectLst/>
                <a:latin typeface="Calibri" panose="020F0502020204030204" pitchFamily="34" charset="0"/>
                <a:ea typeface="+mn-ea"/>
                <a:cs typeface="+mn-cs"/>
                <a:hlinkClick r:id="rId3"/>
              </a:rPr>
              <a:t>https://aws.amazon.com/what-is/foundation-models/</a:t>
            </a:r>
            <a:r>
              <a:rPr lang="en-US" kern="1200" dirty="0">
                <a:solidFill>
                  <a:schemeClr val="tx1"/>
                </a:solidFill>
                <a:effectLst/>
                <a:latin typeface="Calibri" panose="020F050202020403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A subset of FMs, called large language models (LLMs), are trained on trillions of words across many natural language tasks. </a:t>
            </a:r>
          </a:p>
          <a:p>
            <a:endParaRPr lang="en-US" dirty="0">
              <a:latin typeface="Calibri" panose="020F0502020204030204" pitchFamily="34" charset="0"/>
            </a:endParaRPr>
          </a:p>
          <a:p>
            <a:r>
              <a:rPr lang="en-US" dirty="0">
                <a:latin typeface="Calibri" panose="020F0502020204030204" pitchFamily="34" charset="0"/>
              </a:rPr>
              <a:t>These LLMs can understand, learn, and generate text that’s nearly indistinguishable from text produced by humans.</a:t>
            </a:r>
          </a:p>
          <a:p>
            <a:endParaRPr lang="en-US" dirty="0">
              <a:latin typeface="Calibri" panose="020F0502020204030204" pitchFamily="34" charset="0"/>
            </a:endParaRPr>
          </a:p>
          <a:p>
            <a:r>
              <a:rPr lang="en-US" dirty="0">
                <a:latin typeface="Calibri" panose="020F0502020204030204" pitchFamily="34" charset="0"/>
              </a:rPr>
              <a:t>With LLMs, instead of gathering labeled data for each model and training multiple models, customers can use the same pretrained LLM to adapt various tasks such as text generation, summarization, or sentiment analysis. LLMs can be customized to add domain-specific knowledge such as internal documents for a particular business.</a:t>
            </a:r>
          </a:p>
        </p:txBody>
      </p:sp>
    </p:spTree>
    <p:extLst>
      <p:ext uri="{BB962C8B-B14F-4D97-AF65-F5344CB8AC3E}">
        <p14:creationId xmlns:p14="http://schemas.microsoft.com/office/powerpoint/2010/main" val="2459497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Generative AI architectures use prompt engineering to initiate an action from a foundation model. Prompt engineering is the process of designing and refining the prompts or input stimuli for a language model to generate specific types of output. Prompt engineering involves selecting appropriate keywords, providing context, and shaping the input in a way that encourages the model to produce the desired response. It is a vital technique to actively shape the behavior and output of foundation models.</a:t>
            </a:r>
          </a:p>
        </p:txBody>
      </p:sp>
    </p:spTree>
    <p:extLst>
      <p:ext uri="{BB962C8B-B14F-4D97-AF65-F5344CB8AC3E}">
        <p14:creationId xmlns:p14="http://schemas.microsoft.com/office/powerpoint/2010/main" val="33689548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A prompt is the text that you input into the model. The model then generates a response to the prompt. This is known as inference. The result of the inference is displayed as the output. In this example, your prompt is, “Where is Japan located?” The model’s inference on the prompt returns an output that says, “Japan is located in the northwest Pacific Ocean.”</a:t>
            </a:r>
          </a:p>
        </p:txBody>
      </p:sp>
    </p:spTree>
    <p:extLst>
      <p:ext uri="{BB962C8B-B14F-4D97-AF65-F5344CB8AC3E}">
        <p14:creationId xmlns:p14="http://schemas.microsoft.com/office/powerpoint/2010/main" val="21639191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0" dirty="0">
                <a:latin typeface="Calibri" panose="020F0502020204030204" pitchFamily="34" charset="0"/>
              </a:rPr>
              <a:t>The structure of a prompt depends on the task that you want the model to perform.</a:t>
            </a:r>
          </a:p>
          <a:p>
            <a:endParaRPr lang="en-US" b="0" dirty="0">
              <a:latin typeface="Calibri" panose="020F0502020204030204" pitchFamily="34" charset="0"/>
            </a:endParaRPr>
          </a:p>
          <a:p>
            <a:r>
              <a:rPr lang="en-US" dirty="0">
                <a:latin typeface="Calibri" panose="020F0502020204030204" pitchFamily="34" charset="0"/>
              </a:rPr>
              <a:t>A prompt is composed of the following:</a:t>
            </a:r>
          </a:p>
          <a:p>
            <a:endParaRPr lang="en-US" b="0" dirty="0">
              <a:latin typeface="Calibri" panose="020F0502020204030204" pitchFamily="34" charset="0"/>
            </a:endParaRPr>
          </a:p>
          <a:p>
            <a:pPr marL="171450" indent="-171450">
              <a:buFont typeface="Arial" panose="020B0604020202020204" pitchFamily="34" charset="0"/>
              <a:buChar char="•"/>
            </a:pPr>
            <a:r>
              <a:rPr lang="en-US" b="0" dirty="0">
                <a:latin typeface="Calibri" panose="020F0502020204030204" pitchFamily="34" charset="0"/>
              </a:rPr>
              <a:t>Instructions: This is a task for the large language model to do. It provides a task description or instruction for how the model will perform.</a:t>
            </a:r>
          </a:p>
          <a:p>
            <a:pPr marL="171450" lvl="0" indent="-171450">
              <a:buFont typeface="Arial" panose="020B0604020202020204" pitchFamily="34" charset="0"/>
              <a:buChar char="•"/>
            </a:pPr>
            <a:r>
              <a:rPr lang="en-US" b="0" dirty="0">
                <a:latin typeface="Calibri" panose="020F0502020204030204" pitchFamily="34" charset="0"/>
              </a:rPr>
              <a:t>Context: </a:t>
            </a:r>
            <a:r>
              <a:rPr lang="en-US" dirty="0">
                <a:latin typeface="Calibri" panose="020F0502020204030204" pitchFamily="34" charset="0"/>
              </a:rPr>
              <a:t>This is external information to guide the model. </a:t>
            </a:r>
          </a:p>
          <a:p>
            <a:pPr marL="171450" lvl="0" indent="-171450">
              <a:buFont typeface="Arial" panose="020B0604020202020204" pitchFamily="34" charset="0"/>
              <a:buChar char="•"/>
            </a:pPr>
            <a:r>
              <a:rPr lang="en-US" b="0" dirty="0">
                <a:latin typeface="Calibri" panose="020F0502020204030204" pitchFamily="34" charset="0"/>
              </a:rPr>
              <a:t>Input data: </a:t>
            </a:r>
            <a:r>
              <a:rPr lang="en-US" dirty="0">
                <a:latin typeface="Calibri" panose="020F0502020204030204" pitchFamily="34" charset="0"/>
              </a:rPr>
              <a:t>This is the input for which you want a response. </a:t>
            </a:r>
          </a:p>
          <a:p>
            <a:pPr marL="171450" lvl="0" indent="-171450">
              <a:buFont typeface="Arial" panose="020B0604020202020204" pitchFamily="34" charset="0"/>
              <a:buChar char="•"/>
            </a:pPr>
            <a:endParaRPr lang="en-US" dirty="0">
              <a:latin typeface="Calibri" panose="020F0502020204030204" pitchFamily="34" charset="0"/>
            </a:endParaRPr>
          </a:p>
          <a:p>
            <a:pPr marL="0" lvl="0" indent="0">
              <a:buFont typeface="Arial" panose="020B0604020202020204" pitchFamily="34" charset="0"/>
              <a:buNone/>
            </a:pPr>
            <a:r>
              <a:rPr lang="en-US" dirty="0">
                <a:latin typeface="Calibri" panose="020F0502020204030204" pitchFamily="34" charset="0"/>
              </a:rPr>
              <a:t>The model will then generate an output. </a:t>
            </a:r>
          </a:p>
          <a:p>
            <a:pPr marL="0" lvl="0" indent="0">
              <a:buFont typeface="Arial" panose="020B0604020202020204" pitchFamily="34" charset="0"/>
              <a:buNone/>
            </a:pPr>
            <a:endParaRPr lang="en-US" b="0" dirty="0">
              <a:latin typeface="Calibri" panose="020F0502020204030204" pitchFamily="34" charset="0"/>
            </a:endParaRPr>
          </a:p>
          <a:p>
            <a:pPr marL="171450" indent="-171450">
              <a:buFont typeface="Arial" panose="020B0604020202020204" pitchFamily="34" charset="0"/>
              <a:buChar char="•"/>
            </a:pPr>
            <a:r>
              <a:rPr lang="en-US" b="0" dirty="0">
                <a:effectLst/>
                <a:latin typeface="Calibri" panose="020F0502020204030204" pitchFamily="34" charset="0"/>
              </a:rPr>
              <a:t>Output: </a:t>
            </a:r>
            <a:r>
              <a:rPr lang="en-US" dirty="0">
                <a:effectLst/>
                <a:latin typeface="Calibri" panose="020F0502020204030204" pitchFamily="34" charset="0"/>
              </a:rPr>
              <a:t>This is the output type or format. </a:t>
            </a:r>
          </a:p>
          <a:p>
            <a:pPr marL="171450" lvl="0" indent="-171450">
              <a:buFont typeface="Arial" panose="020B0604020202020204" pitchFamily="34" charset="0"/>
              <a:buChar char="•"/>
            </a:pPr>
            <a:endParaRPr lang="en-US" dirty="0">
              <a:effectLst/>
              <a:latin typeface="Calibri" panose="020F0502020204030204" pitchFamily="34" charset="0"/>
            </a:endParaRPr>
          </a:p>
          <a:p>
            <a:r>
              <a:rPr lang="en-US" dirty="0">
                <a:latin typeface="Calibri" panose="020F0502020204030204" pitchFamily="34" charset="0"/>
              </a:rPr>
              <a:t>If the model does not give you the output that you want, you need to alter the prompt or provide the model with examples of the tasks in the prompt. This is called prompt engineering.</a:t>
            </a:r>
          </a:p>
          <a:p>
            <a:endParaRPr lang="en-US" b="0" dirty="0">
              <a:latin typeface="Calibri" panose="020F0502020204030204" pitchFamily="34" charset="0"/>
            </a:endParaRPr>
          </a:p>
          <a:p>
            <a:pPr marL="0" lvl="0" indent="0">
              <a:buFont typeface="Arial" panose="020B0604020202020204" pitchFamily="34" charset="0"/>
              <a:buNone/>
            </a:pPr>
            <a:endParaRPr lang="en-US" dirty="0">
              <a:effectLst/>
              <a:latin typeface="Calibri" panose="020F0502020204030204" pitchFamily="34" charset="0"/>
            </a:endParaRPr>
          </a:p>
          <a:p>
            <a:endParaRPr lang="en-US" dirty="0"/>
          </a:p>
        </p:txBody>
      </p:sp>
    </p:spTree>
    <p:extLst>
      <p:ext uri="{BB962C8B-B14F-4D97-AF65-F5344CB8AC3E}">
        <p14:creationId xmlns:p14="http://schemas.microsoft.com/office/powerpoint/2010/main" val="31920741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This demonstration explores foundation models in Amazon SageMaker Studio. This demonstration also highlights how to use generative AI to create images from text prompts.</a:t>
            </a:r>
          </a:p>
          <a:p>
            <a:endParaRPr lang="en-US" dirty="0"/>
          </a:p>
        </p:txBody>
      </p:sp>
    </p:spTree>
    <p:extLst>
      <p:ext uri="{BB962C8B-B14F-4D97-AF65-F5344CB8AC3E}">
        <p14:creationId xmlns:p14="http://schemas.microsoft.com/office/powerpoint/2010/main" val="1026766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Some key takeaways from this section of the module include the following:</a:t>
            </a:r>
          </a:p>
          <a:p>
            <a:pPr marL="171450" indent="-171450">
              <a:buFont typeface="Arial" panose="020B0604020202020204" pitchFamily="34" charset="0"/>
              <a:buChar char="•"/>
            </a:pPr>
            <a:r>
              <a:rPr lang="en-US" dirty="0">
                <a:latin typeface="Calibri" panose="020F0502020204030204" pitchFamily="34" charset="0"/>
              </a:rPr>
              <a:t>Foundation models (FMs) are pretrained on vast amount of data and perform many tasks.</a:t>
            </a:r>
          </a:p>
          <a:p>
            <a:pPr marL="171450" indent="-171450">
              <a:buFont typeface="Arial" panose="020B0604020202020204" pitchFamily="34" charset="0"/>
              <a:buChar char="•"/>
            </a:pPr>
            <a:r>
              <a:rPr lang="en-US" dirty="0">
                <a:latin typeface="Calibri" panose="020F0502020204030204" pitchFamily="34" charset="0"/>
              </a:rPr>
              <a:t>Some examples of tasks that an FM can do are language processing, visual comprehension, and code generation.</a:t>
            </a:r>
          </a:p>
          <a:p>
            <a:pPr marL="171450" indent="-171450">
              <a:buFont typeface="Arial" panose="020B0604020202020204" pitchFamily="34" charset="0"/>
              <a:buChar char="•"/>
            </a:pPr>
            <a:r>
              <a:rPr lang="en-US" dirty="0">
                <a:latin typeface="Calibri" panose="020F0502020204030204" pitchFamily="34" charset="0"/>
              </a:rPr>
              <a:t>A subset of FMs, large language models (LLMs), are trained on trillions of words across many natural-language tasks. </a:t>
            </a:r>
          </a:p>
          <a:p>
            <a:pPr marL="171450" indent="-171450">
              <a:buFont typeface="Arial" panose="020B0604020202020204" pitchFamily="34" charset="0"/>
              <a:buChar char="•"/>
            </a:pPr>
            <a:r>
              <a:rPr lang="en-US" dirty="0">
                <a:latin typeface="Calibri" panose="020F0502020204030204" pitchFamily="34" charset="0"/>
              </a:rPr>
              <a:t>Prompt engineering is the process of designing and refining the prompts or input stimuli for a language model to generate specific types of output.</a:t>
            </a:r>
          </a:p>
          <a:p>
            <a:endParaRPr lang="en-US" dirty="0">
              <a:latin typeface="Calibri" panose="020F0502020204030204" pitchFamily="34" charset="0"/>
            </a:endParaRPr>
          </a:p>
          <a:p>
            <a:endParaRPr lang="en-US" dirty="0"/>
          </a:p>
        </p:txBody>
      </p:sp>
    </p:spTree>
    <p:extLst>
      <p:ext uri="{BB962C8B-B14F-4D97-AF65-F5344CB8AC3E}">
        <p14:creationId xmlns:p14="http://schemas.microsoft.com/office/powerpoint/2010/main" val="28606978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dirty="0">
                <a:latin typeface="Calibri" panose="020F0502020204030204" pitchFamily="34" charset="0"/>
              </a:rPr>
              <a:t>Introducing Section 3: AWS generative AI offerings</a:t>
            </a:r>
            <a:endParaRPr lang="en-US" b="0" dirty="0">
              <a:latin typeface="Calibri" panose="020F0502020204030204" pitchFamily="34" charset="0"/>
            </a:endParaRPr>
          </a:p>
        </p:txBody>
      </p:sp>
    </p:spTree>
    <p:extLst>
      <p:ext uri="{BB962C8B-B14F-4D97-AF65-F5344CB8AC3E}">
        <p14:creationId xmlns:p14="http://schemas.microsoft.com/office/powerpoint/2010/main" val="5230034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latin typeface="Calibri" panose="020F0502020204030204" pitchFamily="34" charset="0"/>
              </a:rPr>
              <a:t>AWS offers several generative AI offerings, including the following: </a:t>
            </a:r>
            <a:br>
              <a:rPr lang="en-US" dirty="0">
                <a:latin typeface="Calibri" panose="020F0502020204030204" pitchFamily="34" charset="0"/>
              </a:rPr>
            </a:br>
            <a:endParaRPr lang="en-US"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Amazon Q Developer is a coding companion that integrates with your integrated development environment (IDE). </a:t>
            </a:r>
          </a:p>
          <a:p>
            <a:pPr marL="171450" indent="-171450">
              <a:buFont typeface="Arial" panose="020B0604020202020204" pitchFamily="34" charset="0"/>
              <a:buChar char="•"/>
            </a:pPr>
            <a:endParaRPr lang="en-US"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Amazon Bedrock is a fully managed service that makes FMs from AWS and leading AI startups available through an API. This means that you can choose from various FMs to find the model that's best suited for your use case. Amazon Bedrock helps developers create generative AI applications that can deliver up-to-date answers based on proprietary knowledge sources.</a:t>
            </a:r>
          </a:p>
          <a:p>
            <a:pPr marL="171450" indent="-171450">
              <a:buFont typeface="Arial" panose="020B0604020202020204" pitchFamily="34" charset="0"/>
              <a:buChar char="•"/>
            </a:pPr>
            <a:endParaRPr lang="en-US"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Amazon SageMaker JumpStart helps you quickly get started with ML. It provides a set of solutions for the most common use cases that can be deployed readily in just a few steps. The solutions are fully customizable and showcase the use of AWS CloudFormation templates and reference architectures so you can accelerate your ML journey.</a:t>
            </a:r>
            <a:br>
              <a:rPr lang="en-US" dirty="0">
                <a:latin typeface="Calibri" panose="020F0502020204030204" pitchFamily="34" charset="0"/>
              </a:rPr>
            </a:br>
            <a:endParaRPr lang="en-US"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AWS </a:t>
            </a:r>
            <a:r>
              <a:rPr lang="en-US" dirty="0" err="1">
                <a:latin typeface="Calibri" panose="020F0502020204030204" pitchFamily="34" charset="0"/>
              </a:rPr>
              <a:t>Trainium</a:t>
            </a:r>
            <a:r>
              <a:rPr lang="en-US" dirty="0">
                <a:latin typeface="Calibri" panose="020F0502020204030204" pitchFamily="34" charset="0"/>
              </a:rPr>
              <a:t> is the second-generation ML accelerator that AWS purpose built for deep learning training of over 100 billion parameter models. </a:t>
            </a:r>
          </a:p>
          <a:p>
            <a:pPr marL="171450" indent="-171450">
              <a:buFont typeface="Arial" panose="020B0604020202020204" pitchFamily="34" charset="0"/>
              <a:buChar char="•"/>
            </a:pPr>
            <a:endParaRPr lang="en-US"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AWS Inferentia is a custom ML chip designed by AWS that you can use for high-performance inference predictions.  To use the chips, set up an Amazon Elastic Compute Cloud (Amazon EC2) instance and use the AWS Neuron SDK to invoke the Inferentia or Trainium chip. </a:t>
            </a:r>
          </a:p>
          <a:p>
            <a:endParaRPr lang="en-US" dirty="0">
              <a:latin typeface="Calibri" panose="020F0502020204030204" pitchFamily="34" charset="0"/>
            </a:endParaRPr>
          </a:p>
          <a:p>
            <a:r>
              <a:rPr lang="en-US" dirty="0">
                <a:latin typeface="Calibri" panose="020F0502020204030204" pitchFamily="34" charset="0"/>
              </a:rPr>
              <a:t>For more information on other generative AI offerings at AWS, see the </a:t>
            </a:r>
            <a:r>
              <a:rPr lang="en-US" b="1" dirty="0">
                <a:latin typeface="Calibri" panose="020F0502020204030204" pitchFamily="34" charset="0"/>
              </a:rPr>
              <a:t>Additional resources</a:t>
            </a:r>
            <a:r>
              <a:rPr lang="en-US" dirty="0">
                <a:latin typeface="Calibri" panose="020F0502020204030204" pitchFamily="34" charset="0"/>
              </a:rPr>
              <a:t> slide of this module.</a:t>
            </a:r>
          </a:p>
        </p:txBody>
      </p:sp>
    </p:spTree>
    <p:extLst>
      <p:ext uri="{BB962C8B-B14F-4D97-AF65-F5344CB8AC3E}">
        <p14:creationId xmlns:p14="http://schemas.microsoft.com/office/powerpoint/2010/main" val="20168495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There are several benefits of using AWS for your generative AI needs.</a:t>
            </a:r>
          </a:p>
          <a:p>
            <a:endParaRPr lang="en-US" dirty="0">
              <a:latin typeface="Calibri" panose="020F0502020204030204" pitchFamily="34" charset="0"/>
            </a:endParaRPr>
          </a:p>
          <a:p>
            <a:r>
              <a:rPr lang="en-US" dirty="0">
                <a:latin typeface="Calibri" panose="020F0502020204030204" pitchFamily="34" charset="0"/>
              </a:rPr>
              <a:t>AWS offers flexibility. Customers need a straightforward way to find and access high-performing FMs that are best suited for their business. AWS offers a wide selection of FMs built by Amazon and top AI startups, including AI21 Labs, Anthropic, and Stability AI.</a:t>
            </a:r>
          </a:p>
          <a:p>
            <a:endParaRPr lang="en-US" dirty="0">
              <a:latin typeface="Calibri" panose="020F0502020204030204" pitchFamily="34" charset="0"/>
            </a:endParaRPr>
          </a:p>
          <a:p>
            <a:r>
              <a:rPr lang="en-US" dirty="0">
                <a:latin typeface="Calibri" panose="020F0502020204030204" pitchFamily="34" charset="0"/>
              </a:rPr>
              <a:t>Another benefit is secure customization. Customers want to build differentiated applications using their own data. They need their data to stay completely protected, secure, and private. Using Amazon Bedrock, customers can fine tune models for a particular task without having to annotate large volumes of data (as few as 20 examples is enough). No customer data is used to train the underlying models. All data is encrypted and stays within the customer's virtual private cloud (VPC).</a:t>
            </a:r>
          </a:p>
          <a:p>
            <a:endParaRPr lang="en-US" dirty="0">
              <a:latin typeface="Calibri" panose="020F0502020204030204" pitchFamily="34" charset="0"/>
            </a:endParaRPr>
          </a:p>
          <a:p>
            <a:r>
              <a:rPr lang="en-US" dirty="0">
                <a:latin typeface="Calibri" panose="020F0502020204030204" pitchFamily="34" charset="0"/>
              </a:rPr>
              <a:t>Customers want to fully use FMs in a high-performing and cost-effective infrastructure purpose-built for ML. AWS offers the best price performance for generative AI with infrastructure powered by AWS designed ML chips and NVIDIA GPUs. With AWS, customers can cost-effectively scale infrastructure to train and run FMs containing hundreds of billions of parameters.</a:t>
            </a:r>
          </a:p>
          <a:p>
            <a:endParaRPr lang="en-US" dirty="0">
              <a:latin typeface="Calibri" panose="020F0502020204030204" pitchFamily="34" charset="0"/>
            </a:endParaRPr>
          </a:p>
          <a:p>
            <a:r>
              <a:rPr lang="en-US" dirty="0">
                <a:latin typeface="Calibri" panose="020F0502020204030204" pitchFamily="34" charset="0"/>
              </a:rPr>
              <a:t>AWS offerings are builder friendly. Customers want to quickly integrate and deploy FMs into their applications and workloads running on AWS. Using AWS generative AI capabilities, customers don't need to send their data to the model. Instead, they can bring the model to their data using familiar controls and integrations and services such as Amazon SageMaker and Amazon Simple Storage Service (Amazon S3).</a:t>
            </a:r>
          </a:p>
          <a:p>
            <a:endParaRPr lang="en-US" dirty="0">
              <a:latin typeface="Calibri" panose="020F0502020204030204" pitchFamily="34" charset="0"/>
            </a:endParaRPr>
          </a:p>
          <a:p>
            <a:r>
              <a:rPr lang="en-US" dirty="0">
                <a:latin typeface="Calibri" panose="020F0502020204030204" pitchFamily="34" charset="0"/>
              </a:rPr>
              <a:t>AWS services offer customers generative AI solutions to help improve productivity while seamlessly interacting with applications and systems. With generative AI built in, services such as Amazon Q Developer can help customers improve productivity. Customers can also deploy generative AI solutions, such as call summarization and question answering, that combine AWS AI services with leading FMs.</a:t>
            </a:r>
          </a:p>
          <a:p>
            <a:endParaRPr lang="en-US" dirty="0"/>
          </a:p>
        </p:txBody>
      </p:sp>
    </p:spTree>
    <p:extLst>
      <p:ext uri="{BB962C8B-B14F-4D97-AF65-F5344CB8AC3E}">
        <p14:creationId xmlns:p14="http://schemas.microsoft.com/office/powerpoint/2010/main" val="17515801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AWS offers several generative AI offerings: Amazon Bedrock, AWS Inferentia, AWS </a:t>
            </a:r>
            <a:r>
              <a:rPr lang="en-US" dirty="0" err="1">
                <a:latin typeface="Calibri" panose="020F0502020204030204" pitchFamily="34" charset="0"/>
              </a:rPr>
              <a:t>Trainium</a:t>
            </a:r>
            <a:r>
              <a:rPr lang="en-US" dirty="0">
                <a:latin typeface="Calibri" panose="020F0502020204030204" pitchFamily="34" charset="0"/>
              </a:rPr>
              <a:t>, and Amazon SageMaker JumpStart.</a:t>
            </a:r>
          </a:p>
          <a:p>
            <a:endParaRPr lang="en-US" dirty="0"/>
          </a:p>
        </p:txBody>
      </p:sp>
    </p:spTree>
    <p:extLst>
      <p:ext uri="{BB962C8B-B14F-4D97-AF65-F5344CB8AC3E}">
        <p14:creationId xmlns:p14="http://schemas.microsoft.com/office/powerpoint/2010/main" val="32730199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dirty="0">
                <a:latin typeface="Calibri" panose="020F0502020204030204" pitchFamily="34" charset="0"/>
              </a:rPr>
              <a:t>Introducing Section 4: Amazon Q Developer</a:t>
            </a:r>
            <a:endParaRPr lang="en-US" b="0" dirty="0">
              <a:latin typeface="Calibri" panose="020F0502020204030204" pitchFamily="34" charset="0"/>
            </a:endParaRPr>
          </a:p>
        </p:txBody>
      </p:sp>
    </p:spTree>
    <p:extLst>
      <p:ext uri="{BB962C8B-B14F-4D97-AF65-F5344CB8AC3E}">
        <p14:creationId xmlns:p14="http://schemas.microsoft.com/office/powerpoint/2010/main" val="6164740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lang="en-US">
                <a:latin typeface="Calibri" panose="020F0502020204030204" pitchFamily="34" charset="0"/>
              </a:rPr>
              <a:t>To </a:t>
            </a:r>
            <a:r>
              <a:rPr lang="en-US" dirty="0">
                <a:latin typeface="Calibri" panose="020F0502020204030204" pitchFamily="34" charset="0"/>
              </a:rPr>
              <a:t>alleviate some of the challenges with writing code, AWS introduced Amazon Q Developer. Amazon Q Developer is a coding assistant that those without extensive experience can use</a:t>
            </a:r>
            <a:r>
              <a:rPr lang="en-US" b="0" dirty="0">
                <a:solidFill>
                  <a:srgbClr val="000000"/>
                </a:solidFill>
                <a:latin typeface="Calibri" panose="020F0502020204030204" pitchFamily="34" charset="0"/>
              </a:rPr>
              <a:t>. It is trained on years of </a:t>
            </a:r>
            <a:r>
              <a:rPr lang="en-US" b="0" i="0" kern="1200" dirty="0">
                <a:solidFill>
                  <a:schemeClr val="tx1"/>
                </a:solidFill>
                <a:effectLst/>
                <a:latin typeface="Calibri" panose="020F0502020204030204" pitchFamily="34" charset="0"/>
                <a:ea typeface="+mn-ea"/>
                <a:cs typeface="+mn-cs"/>
              </a:rPr>
              <a:t>high-quality AWS examples and documentation</a:t>
            </a:r>
            <a:r>
              <a:rPr lang="en-US" b="0" dirty="0">
                <a:solidFill>
                  <a:srgbClr val="000000"/>
                </a:solidFill>
                <a:latin typeface="Calibri" panose="020F0502020204030204" pitchFamily="34" charset="0"/>
              </a:rPr>
              <a:t>. It can also be trained on your company’s code and systems. </a:t>
            </a:r>
            <a:r>
              <a:rPr lang="en-US" dirty="0">
                <a:solidFill>
                  <a:srgbClr val="000000"/>
                </a:solidFill>
                <a:latin typeface="Calibri" panose="020F0502020204030204" pitchFamily="34" charset="0"/>
              </a:rPr>
              <a:t>Amazon Q Developer can chat about code, provide in-line code completions, generate new code, and scan your code for security vulnerabilities. It can also make code upgrades and improvements, such as language updates, debugging, and optimizations. With Amazon Q Developer, you can describe the application you want to create in natural language, and Amazon Q Developer will generate and suggest code for the application. You can build applications without needing to write all code yourself. The no-code approach of Amazon Q Developer can be particularly useful for creating simple web applications, automating business processes, or building prototypes and proofs of concept.</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 </a:t>
            </a:r>
          </a:p>
          <a:p>
            <a:pPr marL="0" marR="0" lvl="0" indent="0" defTabSz="914400" rtl="0" eaLnBrk="1" fontAlgn="auto" latinLnBrk="0" hangingPunct="1">
              <a:buClrTx/>
              <a:buSzTx/>
              <a:buFontTx/>
              <a:buNone/>
              <a:tabLst/>
              <a:defRPr/>
            </a:pPr>
            <a:r>
              <a:rPr lang="en-US" b="0" i="0" kern="1200" dirty="0">
                <a:effectLst/>
                <a:latin typeface="Calibri" panose="020F0502020204030204" pitchFamily="34" charset="0"/>
                <a:ea typeface="+mn-ea"/>
                <a:cs typeface="+mn-cs"/>
              </a:rPr>
              <a:t>For more information, see “</a:t>
            </a:r>
            <a:r>
              <a:rPr lang="en-US" dirty="0">
                <a:latin typeface="Calibri" panose="020F0502020204030204" pitchFamily="34" charset="0"/>
              </a:rPr>
              <a:t>Getting Started” in the </a:t>
            </a:r>
            <a:r>
              <a:rPr lang="en-US" i="1" dirty="0">
                <a:latin typeface="Calibri" panose="020F0502020204030204" pitchFamily="34" charset="0"/>
              </a:rPr>
              <a:t>AWS Amazon Q Developer User Guide</a:t>
            </a:r>
            <a:r>
              <a:rPr lang="en-US" i="0" dirty="0">
                <a:latin typeface="Calibri" panose="020F0502020204030204" pitchFamily="34" charset="0"/>
              </a:rPr>
              <a:t> </a:t>
            </a:r>
            <a:r>
              <a:rPr lang="en-US" b="0" i="0" kern="1200" dirty="0">
                <a:effectLst/>
                <a:latin typeface="Calibri" panose="020F0502020204030204" pitchFamily="34" charset="0"/>
              </a:rPr>
              <a:t>on the content resources page of your online course.</a:t>
            </a:r>
            <a:endParaRPr lang="en-US" dirty="0">
              <a:latin typeface="Calibri" panose="020F0502020204030204" pitchFamily="34" charset="0"/>
            </a:endParaRPr>
          </a:p>
        </p:txBody>
      </p:sp>
    </p:spTree>
    <p:extLst>
      <p:ext uri="{BB962C8B-B14F-4D97-AF65-F5344CB8AC3E}">
        <p14:creationId xmlns:p14="http://schemas.microsoft.com/office/powerpoint/2010/main" val="20826122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7688"/>
          </a:xfrm>
        </p:spPr>
      </p:sp>
      <p:sp>
        <p:nvSpPr>
          <p:cNvPr id="3" name="Notes Placeholder 2"/>
          <p:cNvSpPr>
            <a:spLocks noGrp="1"/>
          </p:cNvSpPr>
          <p:nvPr>
            <p:ph type="body" idx="1"/>
          </p:nvPr>
        </p:nvSpPr>
        <p:spPr>
          <a:xfrm>
            <a:off x="317500" y="3810000"/>
            <a:ext cx="7112000" cy="4773168"/>
          </a:xfrm>
        </p:spPr>
        <p:txBody>
          <a:bodyPr/>
          <a:lstStyle/>
          <a:p>
            <a:r>
              <a:rPr lang="en-US" b="0" i="0">
                <a:solidFill>
                  <a:srgbClr val="000000"/>
                </a:solidFill>
                <a:effectLst/>
                <a:latin typeface="Calibri" panose="020F0502020204030204" pitchFamily="34" charset="0"/>
              </a:rPr>
              <a:t>Amazon </a:t>
            </a:r>
            <a:r>
              <a:rPr lang="en-US" b="0" i="0" dirty="0">
                <a:solidFill>
                  <a:srgbClr val="000000"/>
                </a:solidFill>
                <a:effectLst/>
                <a:latin typeface="Calibri" panose="020F0502020204030204" pitchFamily="34" charset="0"/>
              </a:rPr>
              <a:t>Q supports developers across the software development lifecycle (SDLC) phases in several ways.</a:t>
            </a:r>
          </a:p>
          <a:p>
            <a:pPr marL="171450" indent="-171450">
              <a:buFont typeface="Arial" panose="020B0604020202020204" pitchFamily="34" charset="0"/>
              <a:buChar char="•"/>
            </a:pPr>
            <a:r>
              <a:rPr lang="en-US" b="1" i="0" dirty="0">
                <a:solidFill>
                  <a:srgbClr val="000000"/>
                </a:solidFill>
                <a:effectLst/>
                <a:latin typeface="Calibri" panose="020F0502020204030204" pitchFamily="34" charset="0"/>
              </a:rPr>
              <a:t>Plan</a:t>
            </a:r>
            <a:r>
              <a:rPr lang="en-US" b="0" i="0" dirty="0">
                <a:solidFill>
                  <a:srgbClr val="000000"/>
                </a:solidFill>
                <a:effectLst/>
                <a:latin typeface="Calibri" panose="020F0502020204030204" pitchFamily="34" charset="0"/>
              </a:rPr>
              <a:t>: You can use Amazon Q in the AWS Management Console to ask questions, receive best practices and recommendations, optimize Amazon Elastic Cloud Compute (EC2) instances, and learn more about the Well-Architected Framework. In the integrated development environment (IDE), Amazon Q can help you understand your code base and get up to speed on projects.</a:t>
            </a:r>
          </a:p>
          <a:p>
            <a:pPr marL="171450" marR="0" lvl="0" indent="-171450" defTabSz="914400" rtl="0" eaLnBrk="1" fontAlgn="auto" latinLnBrk="0" hangingPunct="1">
              <a:buClrTx/>
              <a:buSzTx/>
              <a:buFont typeface="Arial" panose="020B0604020202020204" pitchFamily="34" charset="0"/>
              <a:buChar char="•"/>
              <a:tabLst/>
              <a:defRPr/>
            </a:pPr>
            <a:r>
              <a:rPr lang="en-US" b="1" i="0" dirty="0">
                <a:solidFill>
                  <a:srgbClr val="000000"/>
                </a:solidFill>
                <a:effectLst/>
                <a:latin typeface="Calibri" panose="020F0502020204030204" pitchFamily="34" charset="0"/>
              </a:rPr>
              <a:t>Create</a:t>
            </a:r>
            <a:r>
              <a:rPr lang="en-US" b="0" i="0" dirty="0">
                <a:solidFill>
                  <a:srgbClr val="000000"/>
                </a:solidFill>
                <a:effectLst/>
                <a:latin typeface="Calibri" panose="020F0502020204030204" pitchFamily="34" charset="0"/>
              </a:rPr>
              <a:t>: Amazon Q helps improve development productivity through in-line c</a:t>
            </a:r>
            <a:r>
              <a:rPr lang="en-US" dirty="0">
                <a:latin typeface="Calibri" panose="020F0502020204030204" pitchFamily="34" charset="0"/>
              </a:rPr>
              <a:t>ode recommendations </a:t>
            </a:r>
            <a:r>
              <a:rPr lang="en-US" b="0" i="0" dirty="0">
                <a:solidFill>
                  <a:srgbClr val="000000"/>
                </a:solidFill>
                <a:effectLst/>
                <a:latin typeface="Calibri" panose="020F0502020204030204" pitchFamily="34" charset="0"/>
              </a:rPr>
              <a:t>directly in your IDE or command line interface (CLI), using natural language to generate new features. You can ask Amazon Q questions without leaving the IDE. The in-line c</a:t>
            </a:r>
            <a:r>
              <a:rPr lang="en-US" dirty="0">
                <a:latin typeface="Calibri" panose="020F0502020204030204" pitchFamily="34" charset="0"/>
              </a:rPr>
              <a:t>ode recommendations </a:t>
            </a:r>
            <a:r>
              <a:rPr lang="en-US" b="0" i="0" dirty="0">
                <a:solidFill>
                  <a:srgbClr val="000000"/>
                </a:solidFill>
                <a:effectLst/>
                <a:latin typeface="Calibri" panose="020F0502020204030204" pitchFamily="34" charset="0"/>
              </a:rPr>
              <a:t>are available for multiple coding languages. For more information, see “Supported languages for Amazon Q Developer in the IDE” at </a:t>
            </a:r>
            <a:r>
              <a:rPr lang="en-US" dirty="0">
                <a:solidFill>
                  <a:srgbClr val="000000"/>
                </a:solidFill>
                <a:latin typeface="Calibri" panose="020F0502020204030204" pitchFamily="34" charset="0"/>
                <a:hlinkClick r:id="rId3"/>
              </a:rPr>
              <a:t>https://docs.aws.amazon.com/amazonq/latest/qdeveloper-ug/q-language-ide-support.html</a:t>
            </a:r>
            <a:r>
              <a:rPr lang="en-US" dirty="0">
                <a:solidFill>
                  <a:srgbClr val="000000"/>
                </a:solidFill>
                <a:latin typeface="Calibri" panose="020F0502020204030204" pitchFamily="34" charset="0"/>
              </a:rPr>
              <a:t>.</a:t>
            </a:r>
            <a:endParaRPr lang="en-US" b="0" i="0" dirty="0">
              <a:solidFill>
                <a:srgbClr val="000000"/>
              </a:solidFill>
              <a:effectLst/>
              <a:latin typeface="Calibri" panose="020F0502020204030204" pitchFamily="34" charset="0"/>
            </a:endParaRPr>
          </a:p>
          <a:p>
            <a:pPr marL="171450" marR="0" lvl="0" indent="-171450" defTabSz="914400" rtl="0" eaLnBrk="1" fontAlgn="auto" latinLnBrk="0" hangingPunct="1">
              <a:buClrTx/>
              <a:buSzTx/>
              <a:buFont typeface="Arial" panose="020B0604020202020204" pitchFamily="34" charset="0"/>
              <a:buChar char="•"/>
              <a:tabLst/>
              <a:defRPr/>
            </a:pPr>
            <a:r>
              <a:rPr lang="en-US" b="1" i="0" dirty="0">
                <a:solidFill>
                  <a:srgbClr val="000000"/>
                </a:solidFill>
                <a:effectLst/>
                <a:latin typeface="Calibri" panose="020F0502020204030204" pitchFamily="34" charset="0"/>
              </a:rPr>
              <a:t>Test and secure</a:t>
            </a:r>
            <a:r>
              <a:rPr lang="en-US" b="0" i="0" dirty="0">
                <a:solidFill>
                  <a:srgbClr val="000000"/>
                </a:solidFill>
                <a:effectLst/>
                <a:latin typeface="Calibri" panose="020F0502020204030204" pitchFamily="34" charset="0"/>
              </a:rPr>
              <a:t>:</a:t>
            </a:r>
            <a:r>
              <a:rPr lang="en-US" b="1" i="0" dirty="0">
                <a:solidFill>
                  <a:srgbClr val="000000"/>
                </a:solidFill>
                <a:effectLst/>
                <a:latin typeface="Calibri" panose="020F0502020204030204" pitchFamily="34" charset="0"/>
              </a:rPr>
              <a:t> </a:t>
            </a:r>
            <a:r>
              <a:rPr lang="en-US" b="0" i="0" dirty="0">
                <a:solidFill>
                  <a:srgbClr val="000000"/>
                </a:solidFill>
                <a:effectLst/>
                <a:latin typeface="Calibri" panose="020F0502020204030204" pitchFamily="34" charset="0"/>
              </a:rPr>
              <a:t>Amazon Q helps you confirm that your code is working and secure through unit test assistance. It helps you to find and fix security vulnerabilities earlier in the development cycle.</a:t>
            </a:r>
          </a:p>
          <a:p>
            <a:pPr marL="171450" indent="-171450">
              <a:buFont typeface="Arial" panose="020B0604020202020204" pitchFamily="34" charset="0"/>
              <a:buChar char="•"/>
            </a:pPr>
            <a:r>
              <a:rPr lang="en-US" b="1" i="0" dirty="0">
                <a:solidFill>
                  <a:srgbClr val="000000"/>
                </a:solidFill>
                <a:effectLst/>
                <a:latin typeface="Calibri" panose="020F0502020204030204" pitchFamily="34" charset="0"/>
              </a:rPr>
              <a:t>Operate</a:t>
            </a:r>
            <a:r>
              <a:rPr lang="en-US" b="0" i="0" dirty="0">
                <a:solidFill>
                  <a:srgbClr val="000000"/>
                </a:solidFill>
                <a:effectLst/>
                <a:latin typeface="Calibri" panose="020F0502020204030204" pitchFamily="34" charset="0"/>
              </a:rPr>
              <a:t>: Amazon Q can help troubleshoot errors, for example, in </a:t>
            </a:r>
            <a:r>
              <a:rPr lang="en-US" dirty="0">
                <a:solidFill>
                  <a:srgbClr val="000000"/>
                </a:solidFill>
                <a:latin typeface="Calibri" panose="020F0502020204030204" pitchFamily="34" charset="0"/>
              </a:rPr>
              <a:t>AWS Lambda, Amazon EC2, and Amazon Elastic Container Service (Amazon ECS). You can </a:t>
            </a:r>
            <a:r>
              <a:rPr lang="en-US" b="0" i="0" dirty="0">
                <a:solidFill>
                  <a:srgbClr val="000000"/>
                </a:solidFill>
                <a:effectLst/>
                <a:latin typeface="Calibri" panose="020F0502020204030204" pitchFamily="34" charset="0"/>
              </a:rPr>
              <a:t>analyze your VPC reachability and get better debug and optimization tips. </a:t>
            </a:r>
          </a:p>
          <a:p>
            <a:pPr marL="171450" indent="-171450">
              <a:buFont typeface="Arial" panose="020B0604020202020204" pitchFamily="34" charset="0"/>
              <a:buChar char="•"/>
            </a:pPr>
            <a:r>
              <a:rPr lang="en-US" b="1" i="0" dirty="0">
                <a:solidFill>
                  <a:srgbClr val="000000"/>
                </a:solidFill>
                <a:effectLst/>
                <a:latin typeface="Calibri" panose="020F0502020204030204" pitchFamily="34" charset="0"/>
              </a:rPr>
              <a:t>Maintain and modernize</a:t>
            </a:r>
            <a:r>
              <a:rPr lang="en-US" b="0" i="0" dirty="0">
                <a:solidFill>
                  <a:srgbClr val="000000"/>
                </a:solidFill>
                <a:effectLst/>
                <a:latin typeface="Calibri" panose="020F0502020204030204" pitchFamily="34" charset="0"/>
              </a:rPr>
              <a:t>:</a:t>
            </a:r>
            <a:r>
              <a:rPr lang="en-US" b="1" i="0" dirty="0">
                <a:solidFill>
                  <a:srgbClr val="000000"/>
                </a:solidFill>
                <a:effectLst/>
                <a:latin typeface="Calibri" panose="020F0502020204030204" pitchFamily="34" charset="0"/>
              </a:rPr>
              <a:t> </a:t>
            </a:r>
            <a:r>
              <a:rPr lang="en-US" b="0" i="0" dirty="0">
                <a:solidFill>
                  <a:srgbClr val="000000"/>
                </a:solidFill>
                <a:effectLst/>
                <a:latin typeface="Calibri" panose="020F0502020204030204" pitchFamily="34" charset="0"/>
              </a:rPr>
              <a:t>Amazon Q Developer Agent for code transformation helps you maintain and modernize code by upgrading projects to more up-to-date language versions. </a:t>
            </a:r>
          </a:p>
          <a:p>
            <a:pPr>
              <a:defRPr/>
            </a:pPr>
            <a:endParaRPr lang="en-US" dirty="0">
              <a:solidFill>
                <a:srgbClr val="000000"/>
              </a:solidFill>
              <a:latin typeface="Calibri" panose="020F0502020204030204" pitchFamily="34" charset="0"/>
            </a:endParaRPr>
          </a:p>
          <a:p>
            <a:pPr>
              <a:defRPr/>
            </a:pPr>
            <a:r>
              <a:rPr lang="en-US" dirty="0">
                <a:solidFill>
                  <a:srgbClr val="000000"/>
                </a:solidFill>
                <a:latin typeface="Calibri" panose="020F0502020204030204" pitchFamily="34" charset="0"/>
              </a:rPr>
              <a:t>For more information, see “Accelerate your Software Development Lifecycle with Amazon Q” in the </a:t>
            </a:r>
            <a:r>
              <a:rPr lang="en-US" i="1" dirty="0">
                <a:solidFill>
                  <a:srgbClr val="000000"/>
                </a:solidFill>
                <a:latin typeface="Calibri" panose="020F0502020204030204" pitchFamily="34" charset="0"/>
              </a:rPr>
              <a:t>AWS DevOps Blog</a:t>
            </a:r>
            <a:r>
              <a:rPr lang="en-US" b="1" dirty="0">
                <a:solidFill>
                  <a:srgbClr val="000000"/>
                </a:solidFill>
                <a:latin typeface="Calibri" panose="020F0502020204030204" pitchFamily="34" charset="0"/>
              </a:rPr>
              <a:t> </a:t>
            </a:r>
            <a:r>
              <a:rPr lang="en-US" dirty="0">
                <a:solidFill>
                  <a:srgbClr val="000000"/>
                </a:solidFill>
                <a:latin typeface="Calibri" panose="020F0502020204030204" pitchFamily="34" charset="0"/>
              </a:rPr>
              <a:t>at </a:t>
            </a:r>
            <a:r>
              <a:rPr lang="en-US" dirty="0">
                <a:solidFill>
                  <a:srgbClr val="000000"/>
                </a:solidFill>
                <a:latin typeface="Calibri" panose="020F0502020204030204" pitchFamily="34" charset="0"/>
                <a:hlinkClick r:id="rId4"/>
              </a:rPr>
              <a:t>https://aws.amazon.com/blogs/devops/accelerate-your-software-development-lifecycle-with-amazon-q/</a:t>
            </a:r>
            <a:r>
              <a:rPr lang="en-US" dirty="0">
                <a:solidFill>
                  <a:srgbClr val="000000"/>
                </a:solidFill>
                <a:latin typeface="Calibri" panose="020F0502020204030204" pitchFamily="34" charset="0"/>
              </a:rPr>
              <a:t>.</a:t>
            </a:r>
          </a:p>
        </p:txBody>
      </p:sp>
    </p:spTree>
    <p:extLst>
      <p:ext uri="{BB962C8B-B14F-4D97-AF65-F5344CB8AC3E}">
        <p14:creationId xmlns:p14="http://schemas.microsoft.com/office/powerpoint/2010/main" val="4000022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kern="1200" dirty="0">
                <a:solidFill>
                  <a:schemeClr val="tx1"/>
                </a:solidFill>
                <a:effectLst/>
                <a:latin typeface="Calibri" panose="020F0502020204030204" pitchFamily="34" charset="0"/>
                <a:ea typeface="+mn-ea"/>
                <a:cs typeface="+mn-cs"/>
              </a:rPr>
              <a:t>This demonstration highlights how Amazon Q Developer increases developer productivity by suggesting code comments and suggestions in Jupyter notebooks.</a:t>
            </a:r>
            <a:endParaRPr lang="en-US" dirty="0">
              <a:latin typeface="Calibri" panose="020F0502020204030204" pitchFamily="34" charset="0"/>
            </a:endParaRPr>
          </a:p>
        </p:txBody>
      </p:sp>
    </p:spTree>
    <p:extLst>
      <p:ext uri="{BB962C8B-B14F-4D97-AF65-F5344CB8AC3E}">
        <p14:creationId xmlns:p14="http://schemas.microsoft.com/office/powerpoint/2010/main" val="16846574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Amazon Q Developer is a generative AI tool that will help you develop your application faster.</a:t>
            </a:r>
          </a:p>
          <a:p>
            <a:endParaRPr lang="en-US" dirty="0">
              <a:latin typeface="Calibri" panose="020F0502020204030204" pitchFamily="34" charset="0"/>
            </a:endParaRPr>
          </a:p>
          <a:p>
            <a:r>
              <a:rPr lang="en-US" dirty="0">
                <a:latin typeface="Calibri" panose="020F0502020204030204" pitchFamily="34" charset="0"/>
              </a:rPr>
              <a:t>Amazon Q Developer also has a security scanner that helps mitigate security vulnerabilities, thus safeguarding the integrity of the codebase.</a:t>
            </a:r>
          </a:p>
          <a:p>
            <a:endParaRPr lang="en-US" dirty="0">
              <a:latin typeface="Calibri" panose="020F0502020204030204" pitchFamily="34" charset="0"/>
            </a:endParaRPr>
          </a:p>
          <a:p>
            <a:r>
              <a:rPr lang="en-US" dirty="0">
                <a:latin typeface="Calibri" panose="020F0502020204030204" pitchFamily="34" charset="0"/>
              </a:rPr>
              <a:t>Amazon Q Developer supports developers across the software development life cycle (SDLC). </a:t>
            </a:r>
          </a:p>
        </p:txBody>
      </p:sp>
    </p:spTree>
    <p:extLst>
      <p:ext uri="{BB962C8B-B14F-4D97-AF65-F5344CB8AC3E}">
        <p14:creationId xmlns:p14="http://schemas.microsoft.com/office/powerpoint/2010/main" val="17805232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p:txBody>
      </p:sp>
    </p:spTree>
    <p:extLst>
      <p:ext uri="{BB962C8B-B14F-4D97-AF65-F5344CB8AC3E}">
        <p14:creationId xmlns:p14="http://schemas.microsoft.com/office/powerpoint/2010/main" val="4699342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Some key takeaways from this section of the module include:</a:t>
            </a:r>
          </a:p>
          <a:p>
            <a:pPr marL="171450" indent="-171450" defTabSz="914400" rtl="0" eaLnBrk="1" latinLnBrk="0" hangingPunct="1">
              <a:buFont typeface="Arial" panose="020B0604020202020204" pitchFamily="34" charset="0"/>
              <a:buChar char="•"/>
            </a:pPr>
            <a:r>
              <a:rPr lang="en-US" kern="1200" dirty="0">
                <a:solidFill>
                  <a:schemeClr val="tx1"/>
                </a:solidFill>
                <a:latin typeface="Calibri" panose="020F0502020204030204" pitchFamily="34" charset="0"/>
                <a:ea typeface="+mn-ea"/>
                <a:cs typeface="+mn-cs"/>
              </a:rPr>
              <a:t>Generative AI is a type of artificial intelligence that can create new content and ideas, including conversations, stories, images, videos, and music.</a:t>
            </a:r>
          </a:p>
          <a:p>
            <a:pPr marL="171450" indent="-171450" defTabSz="914400" rtl="0" eaLnBrk="1" latinLnBrk="0" hangingPunct="1">
              <a:buFont typeface="Arial" panose="020B0604020202020204" pitchFamily="34" charset="0"/>
              <a:buChar char="•"/>
            </a:pPr>
            <a:r>
              <a:rPr lang="en-US" kern="1200" dirty="0">
                <a:solidFill>
                  <a:schemeClr val="tx1"/>
                </a:solidFill>
                <a:latin typeface="Calibri" panose="020F0502020204030204" pitchFamily="34" charset="0"/>
                <a:ea typeface="+mn-ea"/>
                <a:cs typeface="+mn-cs"/>
              </a:rPr>
              <a:t>Generative AI is powered by large models called FMs.</a:t>
            </a:r>
          </a:p>
          <a:p>
            <a:pPr marL="171450" indent="-171450" defTabSz="914400" rtl="0" eaLnBrk="1" latinLnBrk="0" hangingPunct="1">
              <a:buFont typeface="Arial" panose="020B0604020202020204" pitchFamily="34" charset="0"/>
              <a:buChar char="•"/>
            </a:pPr>
            <a:r>
              <a:rPr lang="en-US" kern="1200" dirty="0">
                <a:solidFill>
                  <a:schemeClr val="tx1"/>
                </a:solidFill>
                <a:latin typeface="Calibri" panose="020F0502020204030204" pitchFamily="34" charset="0"/>
                <a:ea typeface="+mn-ea"/>
                <a:cs typeface="+mn-cs"/>
              </a:rPr>
              <a:t>Foundation models (FMs) are pretrained on vast amount of data and perform many tasks.</a:t>
            </a:r>
          </a:p>
          <a:p>
            <a:pPr marL="171450" indent="-171450" defTabSz="914400" rtl="0" eaLnBrk="1" latinLnBrk="0" hangingPunct="1">
              <a:buFont typeface="Arial" panose="020B0604020202020204" pitchFamily="34" charset="0"/>
              <a:buChar char="•"/>
            </a:pPr>
            <a:r>
              <a:rPr lang="en-US" kern="1200" dirty="0">
                <a:solidFill>
                  <a:schemeClr val="tx1"/>
                </a:solidFill>
                <a:latin typeface="Calibri" panose="020F0502020204030204" pitchFamily="34" charset="0"/>
                <a:ea typeface="+mn-ea"/>
                <a:cs typeface="+mn-cs"/>
              </a:rPr>
              <a:t>Prompt engineering is the process of designing and refining the prompts or input stimuli for a language model to generate specific types of output.</a:t>
            </a:r>
          </a:p>
          <a:p>
            <a:pPr marL="171450" indent="-171450" defTabSz="914400" rtl="0" eaLnBrk="1" latinLnBrk="0" hangingPunct="1">
              <a:buFont typeface="Arial" panose="020B0604020202020204" pitchFamily="34" charset="0"/>
              <a:buChar char="•"/>
            </a:pPr>
            <a:r>
              <a:rPr lang="en-US" kern="1200" dirty="0">
                <a:solidFill>
                  <a:schemeClr val="tx1"/>
                </a:solidFill>
                <a:latin typeface="Calibri" panose="020F0502020204030204" pitchFamily="34" charset="0"/>
                <a:ea typeface="+mn-ea"/>
                <a:cs typeface="+mn-cs"/>
              </a:rPr>
              <a:t>AWS offers several generative AI offerings: Amazon Bedrock, AWS </a:t>
            </a:r>
            <a:r>
              <a:rPr lang="en-US" kern="1200" dirty="0" err="1">
                <a:solidFill>
                  <a:schemeClr val="tx1"/>
                </a:solidFill>
                <a:latin typeface="Calibri" panose="020F0502020204030204" pitchFamily="34" charset="0"/>
                <a:ea typeface="+mn-ea"/>
                <a:cs typeface="+mn-cs"/>
              </a:rPr>
              <a:t>Inferentia</a:t>
            </a:r>
            <a:r>
              <a:rPr lang="en-US" kern="1200" dirty="0">
                <a:solidFill>
                  <a:schemeClr val="tx1"/>
                </a:solidFill>
                <a:latin typeface="Calibri" panose="020F0502020204030204" pitchFamily="34" charset="0"/>
                <a:ea typeface="+mn-ea"/>
                <a:cs typeface="+mn-cs"/>
              </a:rPr>
              <a:t>, AWS </a:t>
            </a:r>
            <a:r>
              <a:rPr lang="en-US" kern="1200" dirty="0" err="1">
                <a:solidFill>
                  <a:schemeClr val="tx1"/>
                </a:solidFill>
                <a:latin typeface="Calibri" panose="020F0502020204030204" pitchFamily="34" charset="0"/>
                <a:ea typeface="+mn-ea"/>
                <a:cs typeface="+mn-cs"/>
              </a:rPr>
              <a:t>Trainium</a:t>
            </a:r>
            <a:r>
              <a:rPr lang="en-US" kern="1200" dirty="0">
                <a:solidFill>
                  <a:schemeClr val="tx1"/>
                </a:solidFill>
                <a:latin typeface="Calibri" panose="020F0502020204030204" pitchFamily="34" charset="0"/>
                <a:ea typeface="+mn-ea"/>
                <a:cs typeface="+mn-cs"/>
              </a:rPr>
              <a:t>, and Amazon </a:t>
            </a:r>
            <a:r>
              <a:rPr lang="en-US" kern="1200" dirty="0" err="1">
                <a:solidFill>
                  <a:schemeClr val="tx1"/>
                </a:solidFill>
                <a:latin typeface="Calibri" panose="020F0502020204030204" pitchFamily="34" charset="0"/>
                <a:ea typeface="+mn-ea"/>
                <a:cs typeface="+mn-cs"/>
              </a:rPr>
              <a:t>SageMaker</a:t>
            </a:r>
            <a:r>
              <a:rPr lang="en-US" kern="1200" dirty="0">
                <a:solidFill>
                  <a:schemeClr val="tx1"/>
                </a:solidFill>
                <a:latin typeface="Calibri" panose="020F0502020204030204" pitchFamily="34" charset="0"/>
                <a:ea typeface="+mn-ea"/>
                <a:cs typeface="+mn-cs"/>
              </a:rPr>
              <a:t> JumpStart.</a:t>
            </a:r>
          </a:p>
          <a:p>
            <a:pPr marL="171450" indent="-171450" defTabSz="914400" rtl="0" eaLnBrk="1" latinLnBrk="0" hangingPunct="1">
              <a:buFont typeface="Arial" panose="020B0604020202020204" pitchFamily="34" charset="0"/>
              <a:buChar char="•"/>
            </a:pPr>
            <a:r>
              <a:rPr lang="en-US" kern="1200" dirty="0">
                <a:solidFill>
                  <a:schemeClr val="tx1"/>
                </a:solidFill>
                <a:latin typeface="Calibri" panose="020F0502020204030204" pitchFamily="34" charset="0"/>
                <a:ea typeface="+mn-ea"/>
                <a:cs typeface="+mn-cs"/>
              </a:rPr>
              <a:t>Amazon Q Developer is a generative AI tool that will integrate with your IDE and help you develop your application faster.</a:t>
            </a:r>
          </a:p>
          <a:p>
            <a:endParaRPr lang="en-US" dirty="0"/>
          </a:p>
        </p:txBody>
      </p:sp>
    </p:spTree>
    <p:extLst>
      <p:ext uri="{BB962C8B-B14F-4D97-AF65-F5344CB8AC3E}">
        <p14:creationId xmlns:p14="http://schemas.microsoft.com/office/powerpoint/2010/main" val="19807645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In summary, in this you learnt how to:</a:t>
            </a:r>
          </a:p>
          <a:p>
            <a:pPr marL="171450" indent="-171450">
              <a:buFont typeface="Arial" panose="020B0604020202020204" pitchFamily="34" charset="0"/>
              <a:buChar char="•"/>
            </a:pPr>
            <a:r>
              <a:rPr lang="en-US" dirty="0">
                <a:latin typeface="Calibri" panose="020F0502020204030204" pitchFamily="34" charset="0"/>
              </a:rPr>
              <a:t>Define generative artificial intelligence (AI).</a:t>
            </a:r>
          </a:p>
          <a:p>
            <a:pPr marL="171450" indent="-171450">
              <a:buFont typeface="Arial" panose="020B0604020202020204" pitchFamily="34" charset="0"/>
              <a:buChar char="•"/>
            </a:pPr>
            <a:r>
              <a:rPr lang="en-US" dirty="0">
                <a:latin typeface="Calibri" panose="020F0502020204030204" pitchFamily="34" charset="0"/>
              </a:rPr>
              <a:t>Differentiate between traditional machine learning (ML) and generative AI.</a:t>
            </a:r>
          </a:p>
          <a:p>
            <a:pPr marL="171450" indent="-171450">
              <a:buFont typeface="Arial" panose="020B0604020202020204" pitchFamily="34" charset="0"/>
              <a:buChar char="•"/>
            </a:pPr>
            <a:r>
              <a:rPr lang="en-US" dirty="0">
                <a:latin typeface="Calibri" panose="020F0502020204030204" pitchFamily="34" charset="0"/>
              </a:rPr>
              <a:t>Use a foundation model (FM) in a Jupyter notebook to generate an image from text.</a:t>
            </a:r>
          </a:p>
          <a:p>
            <a:pPr marL="171450" indent="-171450">
              <a:buFont typeface="Arial" panose="020B0604020202020204" pitchFamily="34" charset="0"/>
              <a:buChar char="•"/>
            </a:pPr>
            <a:r>
              <a:rPr lang="en-US" dirty="0">
                <a:latin typeface="Calibri" panose="020F0502020204030204" pitchFamily="34" charset="0"/>
              </a:rPr>
              <a:t>Identify the benefits of Amazon Q Developer.</a:t>
            </a:r>
          </a:p>
          <a:p>
            <a:pPr marL="171450" indent="-171450">
              <a:buFont typeface="Arial" panose="020B0604020202020204" pitchFamily="34" charset="0"/>
              <a:buChar char="•"/>
            </a:pPr>
            <a:r>
              <a:rPr lang="en-US" dirty="0">
                <a:latin typeface="Calibri" panose="020F0502020204030204" pitchFamily="34" charset="0"/>
              </a:rPr>
              <a:t>Explain how Amazon Q Developer works with Amazon SageMaker to speed up development of your ML application.</a:t>
            </a:r>
          </a:p>
          <a:p>
            <a:endParaRPr lang="en-US" dirty="0"/>
          </a:p>
        </p:txBody>
      </p:sp>
    </p:spTree>
    <p:extLst>
      <p:ext uri="{BB962C8B-B14F-4D97-AF65-F5344CB8AC3E}">
        <p14:creationId xmlns:p14="http://schemas.microsoft.com/office/powerpoint/2010/main" val="10714222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0" dirty="0">
                <a:latin typeface="Calibri" panose="020F0502020204030204" pitchFamily="34" charset="0"/>
              </a:rPr>
              <a:t>It is now time to complete the knowledge check for this module.</a:t>
            </a:r>
          </a:p>
        </p:txBody>
      </p:sp>
    </p:spTree>
    <p:extLst>
      <p:ext uri="{BB962C8B-B14F-4D97-AF65-F5344CB8AC3E}">
        <p14:creationId xmlns:p14="http://schemas.microsoft.com/office/powerpoint/2010/main" val="20233910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0" dirty="0">
                <a:latin typeface="Calibri" panose="020F0502020204030204" pitchFamily="34" charset="0"/>
              </a:rPr>
              <a:t>For information about generative AI, see the following:</a:t>
            </a:r>
          </a:p>
          <a:p>
            <a:pPr marL="171450" indent="-171450">
              <a:buFont typeface="Arial" panose="020B0604020202020204" pitchFamily="34" charset="0"/>
              <a:buChar char="•"/>
            </a:pPr>
            <a:r>
              <a:rPr lang="en-US" b="0" i="1" u="none" dirty="0">
                <a:latin typeface="Calibri" panose="020F0502020204030204" pitchFamily="34" charset="0"/>
              </a:rPr>
              <a:t>Amazon Q Developer</a:t>
            </a:r>
            <a:r>
              <a:rPr lang="en-US" b="0" u="none" dirty="0">
                <a:latin typeface="Calibri" panose="020F0502020204030204" pitchFamily="34" charset="0"/>
              </a:rPr>
              <a:t> at </a:t>
            </a:r>
            <a:r>
              <a:rPr lang="en-US" dirty="0">
                <a:solidFill>
                  <a:schemeClr val="accent6"/>
                </a:solidFill>
                <a:latin typeface="Calibri" panose="020F0502020204030204" pitchFamily="34" charset="0"/>
                <a:hlinkClick r:id="rId3"/>
              </a:rPr>
              <a:t>https://aws.amazon.com/q/developer/</a:t>
            </a:r>
            <a:endParaRPr lang="en-US" dirty="0">
              <a:solidFill>
                <a:schemeClr val="accent6"/>
              </a:solidFill>
              <a:latin typeface="Calibri" panose="020F0502020204030204" pitchFamily="34" charset="0"/>
            </a:endParaRPr>
          </a:p>
          <a:p>
            <a:pPr marL="171450" indent="-171450">
              <a:buFont typeface="Arial" panose="020B0604020202020204" pitchFamily="34" charset="0"/>
              <a:buChar char="•"/>
            </a:pPr>
            <a:r>
              <a:rPr lang="en-US" b="0" i="1" u="none" dirty="0">
                <a:latin typeface="Calibri" panose="020F0502020204030204" pitchFamily="34" charset="0"/>
              </a:rPr>
              <a:t>Amazon Bedrock </a:t>
            </a:r>
            <a:r>
              <a:rPr lang="en-US" b="0" u="none" dirty="0">
                <a:latin typeface="Calibri" panose="020F0502020204030204" pitchFamily="34" charset="0"/>
              </a:rPr>
              <a:t>at </a:t>
            </a:r>
            <a:r>
              <a:rPr lang="en-US" b="0" u="none" dirty="0">
                <a:solidFill>
                  <a:srgbClr val="19594E"/>
                </a:solidFill>
                <a:latin typeface="Calibri" panose="020F0502020204030204" pitchFamily="34" charset="0"/>
                <a:hlinkClick r:id="rId4"/>
              </a:rPr>
              <a:t>https://aws.amazon.com/bedrock</a:t>
            </a:r>
            <a:r>
              <a:rPr lang="en-US" b="0" u="none" dirty="0">
                <a:solidFill>
                  <a:srgbClr val="19594E"/>
                </a:solidFill>
                <a:latin typeface="Calibri" panose="020F0502020204030204" pitchFamily="34" charset="0"/>
              </a:rPr>
              <a:t> </a:t>
            </a:r>
          </a:p>
          <a:p>
            <a:pPr marL="171450" indent="-171450">
              <a:buFont typeface="Arial" panose="020B0604020202020204" pitchFamily="34" charset="0"/>
              <a:buChar char="•"/>
            </a:pPr>
            <a:r>
              <a:rPr lang="en-US" b="0" i="1" u="none" dirty="0">
                <a:latin typeface="Calibri" panose="020F0502020204030204" pitchFamily="34" charset="0"/>
              </a:rPr>
              <a:t>Amazon SageMaker JumpStart</a:t>
            </a:r>
            <a:r>
              <a:rPr lang="en-US" b="0" u="none" dirty="0">
                <a:latin typeface="Calibri" panose="020F0502020204030204" pitchFamily="34" charset="0"/>
              </a:rPr>
              <a:t> at </a:t>
            </a:r>
            <a:r>
              <a:rPr lang="en-US" b="0" u="none" dirty="0">
                <a:solidFill>
                  <a:srgbClr val="19594E"/>
                </a:solidFill>
                <a:latin typeface="Calibri" panose="020F0502020204030204" pitchFamily="34" charset="0"/>
                <a:hlinkClick r:id="rId5"/>
              </a:rPr>
              <a:t>https://aws.amazon.com/pm/sagemaker</a:t>
            </a:r>
            <a:r>
              <a:rPr lang="en-US" b="0" u="none" dirty="0">
                <a:solidFill>
                  <a:srgbClr val="19594E"/>
                </a:solidFill>
                <a:latin typeface="Calibri" panose="020F0502020204030204" pitchFamily="34" charset="0"/>
              </a:rPr>
              <a:t> </a:t>
            </a:r>
          </a:p>
          <a:p>
            <a:pPr marL="171450" indent="-171450">
              <a:buFont typeface="Arial" panose="020B0604020202020204" pitchFamily="34" charset="0"/>
              <a:buChar char="•"/>
            </a:pPr>
            <a:r>
              <a:rPr lang="en-US" b="0" i="1" u="none" dirty="0">
                <a:latin typeface="Calibri" panose="020F0502020204030204" pitchFamily="34" charset="0"/>
              </a:rPr>
              <a:t>AWS Inferentia</a:t>
            </a:r>
            <a:r>
              <a:rPr lang="en-US" b="0" u="none" dirty="0">
                <a:latin typeface="Calibri" panose="020F0502020204030204" pitchFamily="34" charset="0"/>
              </a:rPr>
              <a:t> at </a:t>
            </a:r>
            <a:r>
              <a:rPr lang="en-US" b="0" u="none" dirty="0">
                <a:solidFill>
                  <a:srgbClr val="19594E"/>
                </a:solidFill>
                <a:latin typeface="Calibri" panose="020F0502020204030204" pitchFamily="34" charset="0"/>
                <a:hlinkClick r:id="rId6"/>
              </a:rPr>
              <a:t>https://aws.amazon.com/machine-learning/inferentia</a:t>
            </a:r>
            <a:r>
              <a:rPr lang="en-US" b="0" u="none" dirty="0">
                <a:solidFill>
                  <a:srgbClr val="19594E"/>
                </a:solidFill>
                <a:latin typeface="Calibri" panose="020F0502020204030204" pitchFamily="34" charset="0"/>
              </a:rPr>
              <a:t> </a:t>
            </a:r>
          </a:p>
          <a:p>
            <a:pPr marL="171450" indent="-171450">
              <a:buFont typeface="Arial" panose="020B0604020202020204" pitchFamily="34" charset="0"/>
              <a:buChar char="•"/>
            </a:pPr>
            <a:r>
              <a:rPr lang="en-US" b="0" i="1" u="none" dirty="0">
                <a:latin typeface="Calibri" panose="020F0502020204030204" pitchFamily="34" charset="0"/>
              </a:rPr>
              <a:t>AWS </a:t>
            </a:r>
            <a:r>
              <a:rPr lang="en-US" b="0" i="1" u="none" dirty="0" err="1">
                <a:latin typeface="Calibri" panose="020F0502020204030204" pitchFamily="34" charset="0"/>
              </a:rPr>
              <a:t>Trainium</a:t>
            </a:r>
            <a:r>
              <a:rPr lang="en-US" b="0" u="none" dirty="0">
                <a:latin typeface="Calibri" panose="020F0502020204030204" pitchFamily="34" charset="0"/>
              </a:rPr>
              <a:t> at </a:t>
            </a:r>
            <a:r>
              <a:rPr lang="en-US" b="0" u="none" dirty="0">
                <a:solidFill>
                  <a:srgbClr val="19594E"/>
                </a:solidFill>
                <a:latin typeface="Calibri" panose="020F0502020204030204" pitchFamily="34" charset="0"/>
                <a:hlinkClick r:id="rId7"/>
              </a:rPr>
              <a:t>https://aws.amazon.com/machine-learning/trainium</a:t>
            </a:r>
            <a:r>
              <a:rPr lang="en-US" b="0" u="none" dirty="0">
                <a:solidFill>
                  <a:srgbClr val="19594E"/>
                </a:solidFill>
                <a:latin typeface="Calibri" panose="020F0502020204030204" pitchFamily="34" charset="0"/>
              </a:rPr>
              <a:t> </a:t>
            </a:r>
          </a:p>
        </p:txBody>
      </p:sp>
    </p:spTree>
    <p:extLst>
      <p:ext uri="{BB962C8B-B14F-4D97-AF65-F5344CB8AC3E}">
        <p14:creationId xmlns:p14="http://schemas.microsoft.com/office/powerpoint/2010/main" val="2839691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lang="en-US" dirty="0">
                <a:latin typeface="Calibri" panose="020F0502020204030204" pitchFamily="34" charset="0"/>
              </a:rPr>
              <a:t>Thank you for completing this module.</a:t>
            </a:r>
          </a:p>
          <a:p>
            <a:endParaRPr lang="en-US" b="0" dirty="0"/>
          </a:p>
        </p:txBody>
      </p:sp>
    </p:spTree>
    <p:extLst>
      <p:ext uri="{BB962C8B-B14F-4D97-AF65-F5344CB8AC3E}">
        <p14:creationId xmlns:p14="http://schemas.microsoft.com/office/powerpoint/2010/main" val="35068125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4573219"/>
          </a:xfrm>
        </p:spPr>
        <p:txBody>
          <a:bodyPr/>
          <a:lstStyle/>
          <a:p>
            <a:r>
              <a:rPr lang="en-US" dirty="0">
                <a:latin typeface="Calibri" panose="020F0502020204030204" pitchFamily="34" charset="0"/>
              </a:rPr>
              <a:t>Generative AI is a type of artificial intelligence that can create new content and ideas, including conversations, stories, images, videos, and music. AI generators are powered by pretrained machine learning models called foundation models (FMs). These models are capable of producing content, so you don’t have to. This AI-generated content can be edited, so you can make the necessary modifications that meet your needs.</a:t>
            </a:r>
          </a:p>
        </p:txBody>
      </p:sp>
    </p:spTree>
    <p:extLst>
      <p:ext uri="{BB962C8B-B14F-4D97-AF65-F5344CB8AC3E}">
        <p14:creationId xmlns:p14="http://schemas.microsoft.com/office/powerpoint/2010/main" val="8985133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Generative AI can be applied for a broad range of use cases. </a:t>
            </a:r>
          </a:p>
          <a:p>
            <a:endParaRPr lang="en-US" dirty="0">
              <a:latin typeface="Calibri" panose="020F0502020204030204" pitchFamily="34" charset="0"/>
            </a:endParaRPr>
          </a:p>
          <a:p>
            <a:r>
              <a:rPr lang="en-US" b="1" dirty="0">
                <a:latin typeface="Calibri" panose="020F0502020204030204" pitchFamily="34" charset="0"/>
              </a:rPr>
              <a:t>Enhance customer experiences: </a:t>
            </a:r>
            <a:r>
              <a:rPr lang="en-US" dirty="0">
                <a:latin typeface="Calibri" panose="020F0502020204030204" pitchFamily="34" charset="0"/>
              </a:rPr>
              <a:t>Chatbots and virtual assistants can enhance customer service experiences by streamlining customer self-service and reducing operational costs. Generative AI can also help with summarizing and analyzing customer conversations and creating better personalized customer experiences.</a:t>
            </a:r>
          </a:p>
          <a:p>
            <a:endParaRPr lang="en-US" dirty="0">
              <a:latin typeface="Calibri" panose="020F0502020204030204" pitchFamily="34" charset="0"/>
            </a:endParaRPr>
          </a:p>
          <a:p>
            <a:r>
              <a:rPr lang="en-US" b="1" dirty="0">
                <a:latin typeface="Calibri" panose="020F0502020204030204" pitchFamily="34" charset="0"/>
              </a:rPr>
              <a:t>Boost employee productivity: </a:t>
            </a:r>
            <a:r>
              <a:rPr lang="en-US" dirty="0">
                <a:latin typeface="Calibri" panose="020F0502020204030204" pitchFamily="34" charset="0"/>
              </a:rPr>
              <a:t>Generative AI can help boost employee productivity by accelerating application development, automating report generation, and improving content searches through a conversational interface.</a:t>
            </a:r>
          </a:p>
          <a:p>
            <a:endParaRPr lang="en-US" dirty="0">
              <a:latin typeface="Calibri" panose="020F0502020204030204" pitchFamily="34" charset="0"/>
            </a:endParaRPr>
          </a:p>
          <a:p>
            <a:r>
              <a:rPr lang="en-US" b="1" dirty="0">
                <a:latin typeface="Calibri" panose="020F0502020204030204" pitchFamily="34" charset="0"/>
              </a:rPr>
              <a:t>Optimize processes: </a:t>
            </a:r>
            <a:r>
              <a:rPr lang="en-US" dirty="0">
                <a:latin typeface="Calibri" panose="020F0502020204030204" pitchFamily="34" charset="0"/>
              </a:rPr>
              <a:t>Business operations can be optimized by using intelligent document processing that extracts and summarizes data through generative AI-powered questions and answers. Generative AI can also help improve supply chain logistics and augment data by generating synthetic data to train ML models. </a:t>
            </a:r>
          </a:p>
          <a:p>
            <a:endParaRPr lang="en-US" dirty="0">
              <a:latin typeface="Calibri" panose="020F0502020204030204" pitchFamily="34" charset="0"/>
            </a:endParaRPr>
          </a:p>
          <a:p>
            <a:r>
              <a:rPr lang="en-US" b="1" dirty="0">
                <a:latin typeface="Calibri" panose="020F0502020204030204" pitchFamily="34" charset="0"/>
              </a:rPr>
              <a:t>Enhance creativity and content creation: </a:t>
            </a:r>
            <a:r>
              <a:rPr lang="en-US" dirty="0">
                <a:latin typeface="Calibri" panose="020F0502020204030204" pitchFamily="34" charset="0"/>
              </a:rPr>
              <a:t>AI-generated media can enhance creativity and content creation. Marketing content created using generative AI, such as blog posts or social media updates, can save time and resources. Sales content, guidance, and enablement can also be generated to match a prospect’s profile and behavior, thereby improving response rates. Product developers can use generative AI to generate multiple design prototypes based on certain inputs and constraints, which speeds up the ideation phase.</a:t>
            </a:r>
          </a:p>
        </p:txBody>
      </p:sp>
    </p:spTree>
    <p:extLst>
      <p:ext uri="{BB962C8B-B14F-4D97-AF65-F5344CB8AC3E}">
        <p14:creationId xmlns:p14="http://schemas.microsoft.com/office/powerpoint/2010/main" val="41796739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There are several benefits of using AWS for your generative AI needs.</a:t>
            </a:r>
          </a:p>
          <a:p>
            <a:endParaRPr lang="en-US" dirty="0">
              <a:latin typeface="Calibri" panose="020F0502020204030204" pitchFamily="34" charset="0"/>
            </a:endParaRPr>
          </a:p>
          <a:p>
            <a:r>
              <a:rPr lang="en-US" dirty="0">
                <a:latin typeface="Calibri" panose="020F0502020204030204" pitchFamily="34" charset="0"/>
              </a:rPr>
              <a:t>AWS offers flexibility. Customers need a straightforward way to find and access high-performing FMs that are best suited for their business. AWS offers a wide selection of FMs built by Amazon and top AI startups, including AI21 Labs, Anthropic, and Stability AI.</a:t>
            </a:r>
          </a:p>
          <a:p>
            <a:endParaRPr lang="en-US" dirty="0">
              <a:latin typeface="Calibri" panose="020F0502020204030204" pitchFamily="34" charset="0"/>
            </a:endParaRPr>
          </a:p>
          <a:p>
            <a:r>
              <a:rPr lang="en-US" dirty="0">
                <a:latin typeface="Calibri" panose="020F0502020204030204" pitchFamily="34" charset="0"/>
              </a:rPr>
              <a:t>Another benefit is secure customization. Customers want to build differentiated applications using their own data. They need their data to stay completely protected, secure, and private. Using Amazon Bedrock, customers can fine tune models for a particular task without having to annotate large volumes of data (as few as 20 examples is enough). No customer data is used to train the underlying models. All data is encrypted and stays within the customer's virtual private cloud (VPC).</a:t>
            </a:r>
          </a:p>
          <a:p>
            <a:endParaRPr lang="en-US" dirty="0">
              <a:latin typeface="Calibri" panose="020F0502020204030204" pitchFamily="34" charset="0"/>
            </a:endParaRPr>
          </a:p>
          <a:p>
            <a:r>
              <a:rPr lang="en-US" dirty="0">
                <a:latin typeface="Calibri" panose="020F0502020204030204" pitchFamily="34" charset="0"/>
              </a:rPr>
              <a:t>Customers want to fully use FMs in a high-performing and cost-effective infrastructure purpose-built for ML. AWS offers the best price performance for generative AI with infrastructure powered by AWS designed ML chips and NVIDIA GPUs. With AWS, customers can cost-effectively scale infrastructure to train and run FMs containing hundreds of billions of parameters.</a:t>
            </a:r>
          </a:p>
          <a:p>
            <a:endParaRPr lang="en-US" dirty="0">
              <a:latin typeface="Calibri" panose="020F0502020204030204" pitchFamily="34" charset="0"/>
            </a:endParaRPr>
          </a:p>
          <a:p>
            <a:r>
              <a:rPr lang="en-US" dirty="0">
                <a:latin typeface="Calibri" panose="020F0502020204030204" pitchFamily="34" charset="0"/>
              </a:rPr>
              <a:t>AWS offerings are builder friendly. Customers want to quickly integrate and deploy FMs into their applications and workloads running on AWS. Using AWS generative AI capabilities, customers don't need to send their data to the model. Instead, they can bring the model to their data using familiar controls and integrations and services such as Amazon </a:t>
            </a:r>
            <a:r>
              <a:rPr lang="en-US" dirty="0" err="1">
                <a:latin typeface="Calibri" panose="020F0502020204030204" pitchFamily="34" charset="0"/>
              </a:rPr>
              <a:t>SageMaker</a:t>
            </a:r>
            <a:r>
              <a:rPr lang="en-US" dirty="0">
                <a:latin typeface="Calibri" panose="020F0502020204030204" pitchFamily="34" charset="0"/>
              </a:rPr>
              <a:t> and Amazon Simple Storage Service (Amazon S3).</a:t>
            </a:r>
          </a:p>
          <a:p>
            <a:endParaRPr lang="en-US" dirty="0">
              <a:latin typeface="Calibri" panose="020F0502020204030204" pitchFamily="34" charset="0"/>
            </a:endParaRPr>
          </a:p>
          <a:p>
            <a:r>
              <a:rPr lang="en-US" dirty="0">
                <a:latin typeface="Calibri" panose="020F0502020204030204" pitchFamily="34" charset="0"/>
              </a:rPr>
              <a:t>AWS services offer customers generative AI solutions to help improve productivity while seamlessly interacting with applications and systems. With generative AI built in, services such as Amazon </a:t>
            </a:r>
            <a:r>
              <a:rPr lang="en-US">
                <a:latin typeface="Calibri" panose="020F0502020204030204" pitchFamily="34" charset="0"/>
              </a:rPr>
              <a:t>Q Developer </a:t>
            </a:r>
            <a:r>
              <a:rPr lang="en-US" dirty="0">
                <a:latin typeface="Calibri" panose="020F0502020204030204" pitchFamily="34" charset="0"/>
              </a:rPr>
              <a:t>can help customers improve productivity. Customers can also deploy generative AI solutions, such as call summarization and question answering, that combine AWS AI services with leading FMs.</a:t>
            </a:r>
          </a:p>
          <a:p>
            <a:endParaRPr lang="en-US" dirty="0">
              <a:latin typeface="Calibri" panose="020F0502020204030204" pitchFamily="34" charset="0"/>
            </a:endParaRPr>
          </a:p>
          <a:p>
            <a:endParaRPr lang="en-US" dirty="0"/>
          </a:p>
        </p:txBody>
      </p:sp>
    </p:spTree>
    <p:extLst>
      <p:ext uri="{BB962C8B-B14F-4D97-AF65-F5344CB8AC3E}">
        <p14:creationId xmlns:p14="http://schemas.microsoft.com/office/powerpoint/2010/main" val="2654291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0" dirty="0">
                <a:latin typeface="Calibri" panose="020F0502020204030204" pitchFamily="34" charset="0"/>
              </a:rPr>
              <a:t>At the core of every AI generator is a foundation model. Foundation models are a class of powerful machine learning models that are differentiated by their ability to be pretrained on vast amounts of data to perform a wide range of downstream tasks. These tasks include text generation, data summarization, information extraction, question and answer responses, and chatbot interactions. They can also generate images, music, videos, or code. In contrast, traditional ML models are trained to perform a specific task from a data set.</a:t>
            </a:r>
          </a:p>
        </p:txBody>
      </p:sp>
    </p:spTree>
    <p:extLst>
      <p:ext uri="{BB962C8B-B14F-4D97-AF65-F5344CB8AC3E}">
        <p14:creationId xmlns:p14="http://schemas.microsoft.com/office/powerpoint/2010/main" val="3699339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Let’s review some key differences between traditional machine learning models and foundation models. </a:t>
            </a:r>
          </a:p>
          <a:p>
            <a:endParaRPr lang="en-US" dirty="0">
              <a:latin typeface="Calibri" panose="020F0502020204030204" pitchFamily="34" charset="0"/>
            </a:endParaRPr>
          </a:p>
          <a:p>
            <a:r>
              <a:rPr lang="en-US" dirty="0">
                <a:latin typeface="Calibri" panose="020F0502020204030204" pitchFamily="34" charset="0"/>
              </a:rPr>
              <a:t>Traditional ML models are typically siloed to perform specific tasks, like analyzing text for sentiment, classifying images, and forecasting trends. To accomplish each task, customers need to gather labeled data, train a model, and deploy that model. </a:t>
            </a:r>
          </a:p>
          <a:p>
            <a:endParaRPr lang="en-US" dirty="0">
              <a:latin typeface="Calibri" panose="020F0502020204030204" pitchFamily="34" charset="0"/>
            </a:endParaRPr>
          </a:p>
          <a:p>
            <a:r>
              <a:rPr lang="en-US" dirty="0">
                <a:latin typeface="Calibri" panose="020F0502020204030204" pitchFamily="34" charset="0"/>
              </a:rPr>
              <a:t>The size and general-purpose nature of foundation models make them very different from traditional ML models. </a:t>
            </a:r>
          </a:p>
          <a:p>
            <a:endParaRPr lang="en-US" dirty="0">
              <a:latin typeface="Calibri" panose="020F0502020204030204" pitchFamily="34" charset="0"/>
            </a:endParaRPr>
          </a:p>
          <a:p>
            <a:r>
              <a:rPr lang="en-US" dirty="0">
                <a:latin typeface="Calibri" panose="020F0502020204030204" pitchFamily="34" charset="0"/>
              </a:rPr>
              <a:t>With foundation models, instead of gathering labeled data and training multiple models, you use the same pretrained foundation model to adapt several tasks. Foundation models can also be customized to perform domain-specific functions that are differentiating to their businesses. This uses only a small fraction of the data and compute required to train a model from scratch.</a:t>
            </a:r>
          </a:p>
        </p:txBody>
      </p:sp>
    </p:spTree>
    <p:extLst>
      <p:ext uri="{BB962C8B-B14F-4D97-AF65-F5344CB8AC3E}">
        <p14:creationId xmlns:p14="http://schemas.microsoft.com/office/powerpoint/2010/main" val="14002322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kern="1200" dirty="0">
                <a:solidFill>
                  <a:schemeClr val="tx1"/>
                </a:solidFill>
                <a:effectLst/>
                <a:latin typeface="Calibri" panose="020F0502020204030204" pitchFamily="34" charset="0"/>
                <a:ea typeface="+mn-ea"/>
                <a:cs typeface="+mn-cs"/>
              </a:rPr>
              <a:t>When you build your application, it’s important to choose the right type of foundation model. Review each model type to learn more about different types of foundation models.</a:t>
            </a:r>
          </a:p>
          <a:p>
            <a:r>
              <a:rPr lang="en-US" b="1" kern="1200" dirty="0">
                <a:solidFill>
                  <a:schemeClr val="tx1"/>
                </a:solidFill>
                <a:effectLst/>
                <a:latin typeface="Calibri" panose="020F0502020204030204" pitchFamily="34" charset="0"/>
                <a:ea typeface="+mn-ea"/>
                <a:cs typeface="+mn-cs"/>
              </a:rPr>
              <a:t> </a:t>
            </a:r>
            <a:endParaRPr lang="en-US" kern="1200" dirty="0">
              <a:solidFill>
                <a:schemeClr val="tx1"/>
              </a:solidFill>
              <a:effectLst/>
              <a:latin typeface="Calibri" panose="020F0502020204030204" pitchFamily="34" charset="0"/>
              <a:ea typeface="+mn-ea"/>
              <a:cs typeface="+mn-cs"/>
            </a:endParaRPr>
          </a:p>
          <a:p>
            <a:pPr lvl="0"/>
            <a:r>
              <a:rPr lang="en-US" b="1" u="none" kern="1200" dirty="0">
                <a:solidFill>
                  <a:schemeClr val="tx1"/>
                </a:solidFill>
                <a:effectLst/>
                <a:latin typeface="Calibri" panose="020F0502020204030204" pitchFamily="34" charset="0"/>
                <a:ea typeface="+mn-ea"/>
                <a:cs typeface="+mn-cs"/>
              </a:rPr>
              <a:t>Text-to-text: </a:t>
            </a:r>
            <a:r>
              <a:rPr lang="en-US" kern="1200" dirty="0">
                <a:solidFill>
                  <a:schemeClr val="tx1"/>
                </a:solidFill>
                <a:effectLst/>
                <a:latin typeface="Calibri" panose="020F0502020204030204" pitchFamily="34" charset="0"/>
                <a:ea typeface="+mn-ea"/>
                <a:cs typeface="+mn-cs"/>
              </a:rPr>
              <a:t>Text-to-text foundation models (FMs) are built for natural language processing tasks that are developed by the ML research community, startups, and established companies. Many organizations have had a chance to experiment with generative large language models (LLMs) that can do things like summarize text, extract information, respond to questions, and create content. These models take a user’s input text and extend it with new, generated text (for example, sentence auto-completion).</a:t>
            </a:r>
          </a:p>
          <a:p>
            <a:r>
              <a:rPr lang="en-US" b="1" kern="1200" dirty="0">
                <a:solidFill>
                  <a:schemeClr val="tx1"/>
                </a:solidFill>
                <a:effectLst/>
                <a:latin typeface="Calibri" panose="020F0502020204030204" pitchFamily="34" charset="0"/>
                <a:ea typeface="+mn-ea"/>
                <a:cs typeface="+mn-cs"/>
              </a:rPr>
              <a:t> </a:t>
            </a:r>
            <a:endParaRPr lang="en-US" kern="1200" dirty="0">
              <a:solidFill>
                <a:schemeClr val="tx1"/>
              </a:solidFill>
              <a:effectLst/>
              <a:latin typeface="Calibri" panose="020F0502020204030204" pitchFamily="34" charset="0"/>
              <a:ea typeface="+mn-ea"/>
              <a:cs typeface="+mn-cs"/>
            </a:endParaRPr>
          </a:p>
          <a:p>
            <a:pPr lvl="0"/>
            <a:r>
              <a:rPr lang="en-US" b="1" u="none" kern="1200" dirty="0">
                <a:solidFill>
                  <a:schemeClr val="tx1"/>
                </a:solidFill>
                <a:effectLst/>
                <a:latin typeface="Calibri" panose="020F0502020204030204" pitchFamily="34" charset="0"/>
                <a:ea typeface="+mn-ea"/>
                <a:cs typeface="+mn-cs"/>
              </a:rPr>
              <a:t>Text-to-embeddings: </a:t>
            </a:r>
            <a:r>
              <a:rPr lang="en-US" kern="1200" dirty="0">
                <a:solidFill>
                  <a:schemeClr val="tx1"/>
                </a:solidFill>
                <a:effectLst/>
                <a:latin typeface="Calibri" panose="020F0502020204030204" pitchFamily="34" charset="0"/>
                <a:ea typeface="+mn-ea"/>
                <a:cs typeface="+mn-cs"/>
              </a:rPr>
              <a:t>Text-to-embeddings FMs are another type of LLM that can compare pieces of text (inputs), like what a user types into a search bar with indexed data, and makes a connection between the two. Amazon’s product search uses this type of LLM to compare a user’s ask with catalog data and present the user with more accurate and relevant results.</a:t>
            </a:r>
          </a:p>
          <a:p>
            <a:r>
              <a:rPr lang="en-US" kern="1200" dirty="0">
                <a:solidFill>
                  <a:schemeClr val="tx1"/>
                </a:solidFill>
                <a:effectLst/>
                <a:latin typeface="Calibri" panose="020F0502020204030204" pitchFamily="34" charset="0"/>
                <a:ea typeface="+mn-ea"/>
                <a:cs typeface="+mn-cs"/>
              </a:rPr>
              <a:t> </a:t>
            </a:r>
          </a:p>
          <a:p>
            <a:pPr lvl="0"/>
            <a:r>
              <a:rPr lang="en-US" b="1" u="none" kern="1200" dirty="0">
                <a:solidFill>
                  <a:schemeClr val="tx1"/>
                </a:solidFill>
                <a:effectLst/>
                <a:latin typeface="Calibri" panose="020F0502020204030204" pitchFamily="34" charset="0"/>
                <a:ea typeface="+mn-ea"/>
                <a:cs typeface="+mn-cs"/>
              </a:rPr>
              <a:t>Multimodal: </a:t>
            </a:r>
            <a:r>
              <a:rPr lang="en-US" kern="1200" dirty="0">
                <a:solidFill>
                  <a:schemeClr val="tx1"/>
                </a:solidFill>
                <a:effectLst/>
                <a:latin typeface="Calibri" panose="020F0502020204030204" pitchFamily="34" charset="0"/>
                <a:ea typeface="+mn-ea"/>
                <a:cs typeface="+mn-cs"/>
              </a:rPr>
              <a:t>Multimodal FMs can understand and generate different formats, such as text and images. An example of this is Stable Diffusion.</a:t>
            </a:r>
          </a:p>
        </p:txBody>
      </p:sp>
    </p:spTree>
    <p:extLst>
      <p:ext uri="{BB962C8B-B14F-4D97-AF65-F5344CB8AC3E}">
        <p14:creationId xmlns:p14="http://schemas.microsoft.com/office/powerpoint/2010/main" val="21968417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Generative AI architectures use prompt engineering to initiate an action from a foundation model. Prompt engineering is the process of designing and refining the prompts or input stimuli for a language model to generate specific types of output. Prompt engineering involves selecting appropriate keywords, providing context, and shaping the input in a way that encourages the model to produce the desired response. It is a vital technique to actively shape the behavior and output of foundation models.</a:t>
            </a:r>
          </a:p>
        </p:txBody>
      </p:sp>
    </p:spTree>
    <p:extLst>
      <p:ext uri="{BB962C8B-B14F-4D97-AF65-F5344CB8AC3E}">
        <p14:creationId xmlns:p14="http://schemas.microsoft.com/office/powerpoint/2010/main" val="19368516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latin typeface="Calibri" panose="020F0502020204030204" pitchFamily="34" charset="0"/>
              </a:rPr>
              <a:t>A prompt is the text that you input into the model. The model then generates a response to the prompt. This is known as inference. The result of the inference is displayed as the output. In this example, your prompt is, “Where is Japan located?” The model’s inference on the prompt returns an output that says, “Japan is located in the northwest Pacific Ocean.”</a:t>
            </a:r>
          </a:p>
        </p:txBody>
      </p:sp>
    </p:spTree>
    <p:extLst>
      <p:ext uri="{BB962C8B-B14F-4D97-AF65-F5344CB8AC3E}">
        <p14:creationId xmlns:p14="http://schemas.microsoft.com/office/powerpoint/2010/main" val="30723457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0" dirty="0">
                <a:latin typeface="Calibri" panose="020F0502020204030204" pitchFamily="34" charset="0"/>
              </a:rPr>
              <a:t>A prompt's form depends on the task you are giving to a model. </a:t>
            </a:r>
          </a:p>
          <a:p>
            <a:endParaRPr lang="en-US" b="0" dirty="0">
              <a:latin typeface="Calibri" panose="020F0502020204030204" pitchFamily="34" charset="0"/>
            </a:endParaRPr>
          </a:p>
          <a:p>
            <a:r>
              <a:rPr lang="en-US" b="0" dirty="0">
                <a:latin typeface="Calibri" panose="020F0502020204030204" pitchFamily="34" charset="0"/>
              </a:rPr>
              <a:t>Instructions: </a:t>
            </a:r>
          </a:p>
          <a:p>
            <a:pPr marL="171450" lvl="0" indent="-171450">
              <a:buFont typeface="Arial" panose="020B0604020202020204" pitchFamily="34" charset="0"/>
              <a:buChar char="•"/>
            </a:pPr>
            <a:r>
              <a:rPr lang="en-US" b="0" dirty="0">
                <a:latin typeface="Calibri" panose="020F0502020204030204" pitchFamily="34" charset="0"/>
              </a:rPr>
              <a:t>This is a task for the large language model to do. It provides a task description or instruction for how the model should perform.</a:t>
            </a:r>
          </a:p>
          <a:p>
            <a:endParaRPr lang="en-US" b="0" dirty="0">
              <a:latin typeface="Calibri" panose="020F0502020204030204" pitchFamily="34" charset="0"/>
            </a:endParaRPr>
          </a:p>
          <a:p>
            <a:r>
              <a:rPr lang="en-US" b="0" dirty="0">
                <a:latin typeface="Calibri" panose="020F0502020204030204" pitchFamily="34" charset="0"/>
              </a:rPr>
              <a:t>Context: </a:t>
            </a:r>
          </a:p>
          <a:p>
            <a:pPr marL="171450" lvl="0" indent="-171450">
              <a:buFont typeface="Arial" panose="020B0604020202020204" pitchFamily="34" charset="0"/>
              <a:buChar char="•"/>
            </a:pPr>
            <a:r>
              <a:rPr lang="en-US" dirty="0">
                <a:latin typeface="Calibri" panose="020F0502020204030204" pitchFamily="34" charset="0"/>
              </a:rPr>
              <a:t>This is external information to guide the model. </a:t>
            </a:r>
          </a:p>
          <a:p>
            <a:endParaRPr lang="en-US" b="0" dirty="0">
              <a:latin typeface="Calibri" panose="020F0502020204030204" pitchFamily="34" charset="0"/>
            </a:endParaRPr>
          </a:p>
          <a:p>
            <a:r>
              <a:rPr lang="en-US" b="0" dirty="0">
                <a:latin typeface="Calibri" panose="020F0502020204030204" pitchFamily="34" charset="0"/>
              </a:rPr>
              <a:t>Input data: </a:t>
            </a:r>
          </a:p>
          <a:p>
            <a:pPr marL="171450" lvl="0" indent="-171450">
              <a:buFont typeface="Arial" panose="020B0604020202020204" pitchFamily="34" charset="0"/>
              <a:buChar char="•"/>
            </a:pPr>
            <a:r>
              <a:rPr lang="en-US" dirty="0">
                <a:latin typeface="Calibri" panose="020F0502020204030204" pitchFamily="34" charset="0"/>
              </a:rPr>
              <a:t>This is the input for which you want a response. </a:t>
            </a:r>
          </a:p>
          <a:p>
            <a:pPr marL="0" lvl="0" indent="0">
              <a:buFont typeface="Arial" panose="020B0604020202020204" pitchFamily="34" charset="0"/>
              <a:buNone/>
            </a:pPr>
            <a:endParaRPr lang="en-US" b="0" dirty="0">
              <a:latin typeface="Calibri" panose="020F0502020204030204" pitchFamily="34" charset="0"/>
            </a:endParaRPr>
          </a:p>
          <a:p>
            <a:r>
              <a:rPr lang="en-US" b="0" dirty="0">
                <a:effectLst/>
                <a:latin typeface="Calibri" panose="020F0502020204030204" pitchFamily="34" charset="0"/>
              </a:rPr>
              <a:t>Output indicator: </a:t>
            </a:r>
          </a:p>
          <a:p>
            <a:pPr marL="171450" lvl="0" indent="-171450">
              <a:buFont typeface="Arial" panose="020B0604020202020204" pitchFamily="34" charset="0"/>
              <a:buChar char="•"/>
            </a:pPr>
            <a:r>
              <a:rPr lang="en-US" dirty="0">
                <a:effectLst/>
                <a:latin typeface="Calibri" panose="020F0502020204030204" pitchFamily="34" charset="0"/>
              </a:rPr>
              <a:t>This is the output type or format. </a:t>
            </a:r>
            <a:endParaRPr lang="en-US" dirty="0">
              <a:latin typeface="Calibri" panose="020F0502020204030204" pitchFamily="34" charset="0"/>
            </a:endParaRPr>
          </a:p>
          <a:p>
            <a:endParaRPr lang="en-US" dirty="0"/>
          </a:p>
        </p:txBody>
      </p:sp>
    </p:spTree>
    <p:extLst>
      <p:ext uri="{BB962C8B-B14F-4D97-AF65-F5344CB8AC3E}">
        <p14:creationId xmlns:p14="http://schemas.microsoft.com/office/powerpoint/2010/main" val="38480493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latin typeface="Calibri" panose="020F0502020204030204" pitchFamily="34" charset="0"/>
              </a:rPr>
              <a:t>AWS offers several generative AI offerings, including the following: </a:t>
            </a:r>
            <a:br>
              <a:rPr lang="en-US" dirty="0">
                <a:latin typeface="Calibri" panose="020F0502020204030204" pitchFamily="34" charset="0"/>
              </a:rPr>
            </a:br>
            <a:endParaRPr lang="en-US"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Amazon Q Developer is a coding companion that integrates with your integrated development environment (IDE). </a:t>
            </a:r>
            <a:br>
              <a:rPr lang="en-US" dirty="0">
                <a:latin typeface="Calibri" panose="020F0502020204030204" pitchFamily="34" charset="0"/>
              </a:rPr>
            </a:br>
            <a:endParaRPr lang="en-US"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Amazon Bedrock is a fully managed service that makes FMs from AWS and leading AI startups available through an API. This means that you can choose from various FMs to find the model that's best suited for your use case. Amazon Bedrock helps developers create generative AI applications that can deliver up-to-date answers based on proprietary knowledge sources.</a:t>
            </a:r>
          </a:p>
          <a:p>
            <a:pPr marL="171450" indent="-171450">
              <a:buFont typeface="Arial" panose="020B0604020202020204" pitchFamily="34" charset="0"/>
              <a:buChar char="•"/>
            </a:pPr>
            <a:endParaRPr lang="en-US"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Amazon </a:t>
            </a:r>
            <a:r>
              <a:rPr lang="en-US" dirty="0" err="1">
                <a:latin typeface="Calibri" panose="020F0502020204030204" pitchFamily="34" charset="0"/>
              </a:rPr>
              <a:t>SageMaker</a:t>
            </a:r>
            <a:r>
              <a:rPr lang="en-US" dirty="0">
                <a:latin typeface="Calibri" panose="020F0502020204030204" pitchFamily="34" charset="0"/>
              </a:rPr>
              <a:t> JumpStart helps you quickly get started with ML. It provides a set of solutions for the most common use cases that can be deployed readily in just a few steps. The solutions are fully customizable and showcase the use of AWS CloudFormation templates and reference architectures so you can accelerate your ML journey.</a:t>
            </a:r>
            <a:br>
              <a:rPr lang="en-US" dirty="0">
                <a:latin typeface="Calibri" panose="020F0502020204030204" pitchFamily="34" charset="0"/>
              </a:rPr>
            </a:br>
            <a:endParaRPr lang="en-US"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AWS </a:t>
            </a:r>
            <a:r>
              <a:rPr lang="en-US" dirty="0" err="1">
                <a:latin typeface="Calibri" panose="020F0502020204030204" pitchFamily="34" charset="0"/>
              </a:rPr>
              <a:t>Trainium</a:t>
            </a:r>
            <a:r>
              <a:rPr lang="en-US" dirty="0">
                <a:latin typeface="Calibri" panose="020F0502020204030204" pitchFamily="34" charset="0"/>
              </a:rPr>
              <a:t> is the second-generation ML accelerator that AWS purpose built for deep learning training of over 100 billion parameter models. </a:t>
            </a:r>
          </a:p>
          <a:p>
            <a:pPr marL="171450" indent="-171450">
              <a:buFont typeface="Arial" panose="020B0604020202020204" pitchFamily="34" charset="0"/>
              <a:buChar char="•"/>
            </a:pPr>
            <a:endParaRPr lang="en-US"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AWS </a:t>
            </a:r>
            <a:r>
              <a:rPr lang="en-US" dirty="0" err="1">
                <a:latin typeface="Calibri" panose="020F0502020204030204" pitchFamily="34" charset="0"/>
              </a:rPr>
              <a:t>Inferentia</a:t>
            </a:r>
            <a:r>
              <a:rPr lang="en-US" dirty="0">
                <a:latin typeface="Calibri" panose="020F0502020204030204" pitchFamily="34" charset="0"/>
              </a:rPr>
              <a:t> is a custom ML chip designed by AWS that you can use for high-performance inference predictions.  To use the chips, set up an Amazon Elastic Compute Cloud (Amazon EC2) instance and use the AWS Neuron SDK to invoke the </a:t>
            </a:r>
            <a:r>
              <a:rPr lang="en-US" dirty="0" err="1">
                <a:latin typeface="Calibri" panose="020F0502020204030204" pitchFamily="34" charset="0"/>
              </a:rPr>
              <a:t>Inferentia</a:t>
            </a:r>
            <a:r>
              <a:rPr lang="en-US" dirty="0">
                <a:latin typeface="Calibri" panose="020F0502020204030204" pitchFamily="34" charset="0"/>
              </a:rPr>
              <a:t> or </a:t>
            </a:r>
            <a:r>
              <a:rPr lang="en-US" dirty="0" err="1">
                <a:latin typeface="Calibri" panose="020F0502020204030204" pitchFamily="34" charset="0"/>
              </a:rPr>
              <a:t>Trainium</a:t>
            </a:r>
            <a:r>
              <a:rPr lang="en-US" dirty="0">
                <a:latin typeface="Calibri" panose="020F0502020204030204" pitchFamily="34" charset="0"/>
              </a:rPr>
              <a:t> chip. </a:t>
            </a:r>
          </a:p>
          <a:p>
            <a:endParaRPr lang="en-US" dirty="0">
              <a:latin typeface="Calibri" panose="020F0502020204030204" pitchFamily="34" charset="0"/>
            </a:endParaRPr>
          </a:p>
          <a:p>
            <a:r>
              <a:rPr lang="en-US" dirty="0">
                <a:latin typeface="Calibri" panose="020F0502020204030204" pitchFamily="34" charset="0"/>
              </a:rPr>
              <a:t>For more information on other generative AI offerings at AWS, see the </a:t>
            </a:r>
            <a:r>
              <a:rPr lang="en-US" b="1" dirty="0">
                <a:latin typeface="Calibri" panose="020F0502020204030204" pitchFamily="34" charset="0"/>
              </a:rPr>
              <a:t>Additional resources</a:t>
            </a:r>
            <a:r>
              <a:rPr lang="en-US" dirty="0">
                <a:latin typeface="Calibri" panose="020F0502020204030204" pitchFamily="34" charset="0"/>
              </a:rPr>
              <a:t> slide of this module.</a:t>
            </a:r>
          </a:p>
          <a:p>
            <a:endParaRPr lang="en-US" dirty="0"/>
          </a:p>
        </p:txBody>
      </p:sp>
    </p:spTree>
    <p:extLst>
      <p:ext uri="{BB962C8B-B14F-4D97-AF65-F5344CB8AC3E}">
        <p14:creationId xmlns:p14="http://schemas.microsoft.com/office/powerpoint/2010/main" val="259062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17.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11.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1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Master" Target="../slideMasters/slideMaster1.xml"/><Relationship Id="rId1" Type="http://schemas.openxmlformats.org/officeDocument/2006/relationships/tags" Target="../tags/tag46.xml"/><Relationship Id="rId4" Type="http://schemas.openxmlformats.org/officeDocument/2006/relationships/image" Target="../media/image11.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11.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52.xml"/><Relationship Id="rId4"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slideMaster" Target="../slideMasters/slideMaster1.xml"/><Relationship Id="rId1" Type="http://schemas.openxmlformats.org/officeDocument/2006/relationships/tags" Target="../tags/tag55.xml"/><Relationship Id="rId4" Type="http://schemas.openxmlformats.org/officeDocument/2006/relationships/image" Target="../media/image27.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Master" Target="../slideMasters/slideMaster1.xml"/><Relationship Id="rId1" Type="http://schemas.openxmlformats.org/officeDocument/2006/relationships/tags" Target="../tags/tag56.xml"/><Relationship Id="rId4" Type="http://schemas.openxmlformats.org/officeDocument/2006/relationships/image" Target="../media/image29.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1051560"/>
            <a:ext cx="11375136"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2772920"/>
            <a:ext cx="5500255" cy="175564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A2C3C3E5-7849-41DF-885A-361FFB68A8BE}"/>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extLst>
      <p:ext uri="{BB962C8B-B14F-4D97-AF65-F5344CB8AC3E}">
        <p14:creationId xmlns:p14="http://schemas.microsoft.com/office/powerpoint/2010/main" val="3460319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03472"/>
            <a:ext cx="8946292"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4224832"/>
            <a:ext cx="8946292"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D92B13EB-841E-4A00-B345-D5601EDE0664}"/>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extLst>
      <p:ext uri="{BB962C8B-B14F-4D97-AF65-F5344CB8AC3E}">
        <p14:creationId xmlns:p14="http://schemas.microsoft.com/office/powerpoint/2010/main" val="283696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6456405"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5040376"/>
            <a:ext cx="6456405"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2">
            <a:extLst>
              <a:ext uri="{FF2B5EF4-FFF2-40B4-BE49-F238E27FC236}">
                <a16:creationId xmlns:a16="http://schemas.microsoft.com/office/drawing/2014/main" id="{0D082EC7-0F32-4BFC-8B4A-CF754ECE0188}"/>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151752" y="6468531"/>
            <a:ext cx="4610100" cy="267127"/>
          </a:xfrm>
          <a:prstGeom prst="rect">
            <a:avLst/>
          </a:prstGeom>
        </p:spPr>
      </p:pic>
    </p:spTree>
    <p:extLst>
      <p:ext uri="{BB962C8B-B14F-4D97-AF65-F5344CB8AC3E}">
        <p14:creationId xmlns:p14="http://schemas.microsoft.com/office/powerpoint/2010/main" val="2242025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11375136"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subTitle" idx="2" hasCustomPrompt="1"/>
          </p:nvPr>
        </p:nvSpPr>
        <p:spPr>
          <a:xfrm>
            <a:off x="457200" y="5040376"/>
            <a:ext cx="11375136"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1">
            <a:extLst>
              <a:ext uri="{FF2B5EF4-FFF2-40B4-BE49-F238E27FC236}">
                <a16:creationId xmlns:a16="http://schemas.microsoft.com/office/drawing/2014/main" id="{778EE4E8-00C6-48DD-8835-1470B6038F0A}"/>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extLst>
      <p:ext uri="{BB962C8B-B14F-4D97-AF65-F5344CB8AC3E}">
        <p14:creationId xmlns:p14="http://schemas.microsoft.com/office/powerpoint/2010/main" val="148626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Module Out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ABD6F48-2C14-445B-9FF5-34BB44186A53}"/>
              </a:ext>
            </a:extLst>
          </p:cNvPr>
          <p:cNvSpPr>
            <a:spLocks noGrp="1"/>
          </p:cNvSpPr>
          <p:nvPr>
            <p:ph type="sldNum" idx="97"/>
          </p:nvPr>
        </p:nvSpPr>
        <p:spPr>
          <a:xfrm>
            <a:off x="11347704" y="6446520"/>
            <a:ext cx="484632" cy="228600"/>
          </a:xfrm>
        </p:spPr>
        <p:txBody>
          <a:bodyPr/>
          <a:lstStyle>
            <a:lvl1pPr>
              <a:defRPr>
                <a:solidFill>
                  <a:srgbClr val="232F3E"/>
                </a:solidFill>
                <a:latin typeface="+mn-lt"/>
              </a:defRPr>
            </a:lvl1pPr>
          </a:lstStyle>
          <a:p>
            <a:fld id="{4037B1B0-0345-4E15-985A-6BECCDBE474F}" type="slidenum">
              <a:rPr lang="en-US" smtClean="0"/>
              <a:pPr/>
              <a:t>‹#›</a:t>
            </a:fld>
            <a:endParaRPr lang="en-US" dirty="0"/>
          </a:p>
        </p:txBody>
      </p:sp>
      <p:sp>
        <p:nvSpPr>
          <p:cNvPr id="2" name="Modul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chor="ctr" anchorCtr="0">
            <a:noAutofit/>
          </a:bodyPr>
          <a:lstStyle>
            <a:lvl1pPr marL="0" indent="0">
              <a:spcBef>
                <a:spcPts val="0"/>
              </a:spcBef>
              <a:spcAft>
                <a:spcPts val="0"/>
              </a:spcAft>
              <a:buNone/>
              <a:defRPr sz="2000">
                <a:solidFill>
                  <a:schemeClr val="bg1"/>
                </a:solidFill>
                <a:latin typeface="+mn-lt"/>
              </a:defRPr>
            </a:lvl1pPr>
          </a:lstStyle>
          <a:p>
            <a:pPr lvl="0"/>
            <a:r>
              <a:rPr lang="en-US" dirty="0"/>
              <a:t>Enter Module Title</a:t>
            </a:r>
          </a:p>
        </p:txBody>
      </p:sp>
      <p:sp>
        <p:nvSpPr>
          <p:cNvPr id="4" name="Section Title">
            <a:extLst>
              <a:ext uri="{FF2B5EF4-FFF2-40B4-BE49-F238E27FC236}">
                <a16:creationId xmlns:a16="http://schemas.microsoft.com/office/drawing/2014/main" id="{44A0A5D8-940C-44D0-9D06-4C68FEF7413D}"/>
              </a:ext>
            </a:extLst>
          </p:cNvPr>
          <p:cNvSpPr>
            <a:spLocks noGrp="1"/>
          </p:cNvSpPr>
          <p:nvPr>
            <p:ph type="title" idx="1" hasCustomPrompt="1"/>
          </p:nvPr>
        </p:nvSpPr>
        <p:spPr>
          <a:xfrm>
            <a:off x="365760" y="1541983"/>
            <a:ext cx="8547012" cy="1188720"/>
          </a:xfrm>
        </p:spPr>
        <p:txBody>
          <a:bodyPr/>
          <a:lstStyle>
            <a:lvl1pPr>
              <a:spcBef>
                <a:spcPts val="0"/>
              </a:spcBef>
              <a:spcAft>
                <a:spcPts val="0"/>
              </a:spcAft>
              <a:defRPr>
                <a:solidFill>
                  <a:schemeClr val="bg1"/>
                </a:solidFill>
                <a:latin typeface="Amazon Ember Display Heavy"/>
              </a:defRPr>
            </a:lvl1pPr>
          </a:lstStyle>
          <a:p>
            <a:r>
              <a:rPr lang="en-US" dirty="0"/>
              <a:t>Enter section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914400" y="2743200"/>
            <a:ext cx="7998372" cy="3657600"/>
          </a:xfrm>
        </p:spPr>
        <p:txBody>
          <a:bodyPr/>
          <a:lstStyle>
            <a:lvl1pPr marL="0" indent="0">
              <a:spcBef>
                <a:spcPts val="0"/>
              </a:spcBef>
              <a:spcAft>
                <a:spcPts val="600"/>
              </a:spcAft>
              <a:buNone/>
              <a:defRPr>
                <a:solidFill>
                  <a:schemeClr val="bg1"/>
                </a:solidFill>
                <a:latin typeface="+mn-lt"/>
              </a:defRPr>
            </a:lvl1pPr>
          </a:lstStyle>
          <a:p>
            <a:pPr lvl="0"/>
            <a:r>
              <a:rPr lang="en-US" dirty="0"/>
              <a:t>Enter topic list</a:t>
            </a:r>
          </a:p>
        </p:txBody>
      </p:sp>
      <p:pic>
        <p:nvPicPr>
          <p:cNvPr id="7" name="Copyright1">
            <a:extLst>
              <a:ext uri="{FF2B5EF4-FFF2-40B4-BE49-F238E27FC236}">
                <a16:creationId xmlns:a16="http://schemas.microsoft.com/office/drawing/2014/main" id="{90A2DFBB-3003-4080-87A9-825455A89862}"/>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19"/>
            <a:ext cx="4610100" cy="311150"/>
          </a:xfrm>
          <a:prstGeom prst="rect">
            <a:avLst/>
          </a:prstGeom>
        </p:spPr>
      </p:pic>
    </p:spTree>
    <p:extLst>
      <p:ext uri="{BB962C8B-B14F-4D97-AF65-F5344CB8AC3E}">
        <p14:creationId xmlns:p14="http://schemas.microsoft.com/office/powerpoint/2010/main" val="526271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1709738"/>
            <a:ext cx="11472013" cy="3609846"/>
          </a:xfrm>
        </p:spPr>
        <p:txBody>
          <a:bodyPr anchor="ctr">
            <a:normAutofit/>
          </a:bodyPr>
          <a:lstStyle>
            <a:lvl1pPr>
              <a:spcBef>
                <a:spcPts val="0"/>
              </a:spcBef>
              <a:spcAft>
                <a:spcPts val="0"/>
              </a:spcAft>
              <a:defRPr sz="4000">
                <a:solidFill>
                  <a:schemeClr val="bg1"/>
                </a:solidFill>
                <a:latin typeface="Amazon Ember Display Heavy"/>
              </a:defRPr>
            </a:lvl1pPr>
          </a:lstStyle>
          <a:p>
            <a:r>
              <a:rPr lang="en-US" dirty="0"/>
              <a:t>“Enter quote”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365760" y="5319584"/>
            <a:ext cx="11472013" cy="770066"/>
          </a:xfrm>
        </p:spPr>
        <p:txBody>
          <a:bodyPr/>
          <a:lstStyle>
            <a:lvl1pPr marL="0" indent="0">
              <a:spcBef>
                <a:spcPts val="0"/>
              </a:spcBef>
              <a:spcAft>
                <a:spcPts val="0"/>
              </a:spcAft>
              <a:buNone/>
              <a:defRPr sz="2800">
                <a:solidFill>
                  <a:schemeClr val="bg1"/>
                </a:solidFill>
              </a:defRPr>
            </a:lvl1pPr>
          </a:lstStyle>
          <a:p>
            <a:r>
              <a:rPr lang="en-US" dirty="0"/>
              <a:t>Attribution</a:t>
            </a:r>
          </a:p>
        </p:txBody>
      </p:sp>
      <p:pic>
        <p:nvPicPr>
          <p:cNvPr id="6" name="Copyright2">
            <a:extLst>
              <a:ext uri="{FF2B5EF4-FFF2-40B4-BE49-F238E27FC236}">
                <a16:creationId xmlns:a16="http://schemas.microsoft.com/office/drawing/2014/main" id="{7D4186D3-C2B3-4D1D-8DF1-801C1A413D21}"/>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121861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opic Introdu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content</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6" name="Copyright1">
            <a:extLst>
              <a:ext uri="{FF2B5EF4-FFF2-40B4-BE49-F238E27FC236}">
                <a16:creationId xmlns:a16="http://schemas.microsoft.com/office/drawing/2014/main" id="{0BBBF875-E0E3-4837-9CCC-88E0DAFE277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68531"/>
            <a:ext cx="4610100" cy="267127"/>
          </a:xfrm>
          <a:prstGeom prst="rect">
            <a:avLst/>
          </a:prstGeom>
        </p:spPr>
      </p:pic>
    </p:spTree>
    <p:custDataLst>
      <p:tags r:id="rId1"/>
    </p:custDataLst>
    <p:extLst>
      <p:ext uri="{BB962C8B-B14F-4D97-AF65-F5344CB8AC3E}">
        <p14:creationId xmlns:p14="http://schemas.microsoft.com/office/powerpoint/2010/main" val="2526479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E52B1449-9D22-45E9-8E29-DD9653749C2D}"/>
              </a:ext>
            </a:extLst>
          </p:cNvPr>
          <p:cNvSpPr>
            <a:spLocks noGrp="1"/>
          </p:cNvSpPr>
          <p:nvPr>
            <p:ph type="title" idx="1" hasCustomPrompt="1"/>
          </p:nvPr>
        </p:nvSpPr>
        <p:spPr>
          <a:xfrm>
            <a:off x="457200" y="1256247"/>
            <a:ext cx="7998031" cy="4049824"/>
          </a:xfrm>
        </p:spPr>
        <p:txBody>
          <a:bodyPr anchor="ctr">
            <a:noAutofit/>
          </a:bodyPr>
          <a:lstStyle>
            <a:lvl1pPr>
              <a:lnSpc>
                <a:spcPct val="100000"/>
              </a:lnSpc>
              <a:spcBef>
                <a:spcPts val="0"/>
              </a:spcBef>
              <a:defRPr sz="4400">
                <a:solidFill>
                  <a:schemeClr val="bg1"/>
                </a:solidFill>
                <a:latin typeface="Amazon Ember Display Heavy"/>
              </a:defRPr>
            </a:lvl1pPr>
          </a:lstStyle>
          <a:p>
            <a:r>
              <a:rPr lang="en-US" dirty="0"/>
              <a:t>Thank you text</a:t>
            </a:r>
          </a:p>
        </p:txBody>
      </p:sp>
      <p:sp>
        <p:nvSpPr>
          <p:cNvPr id="2" name="Corrections text">
            <a:extLst>
              <a:ext uri="{FF2B5EF4-FFF2-40B4-BE49-F238E27FC236}">
                <a16:creationId xmlns:a16="http://schemas.microsoft.com/office/drawing/2014/main" id="{6A373FD5-C6D5-4BB3-B1C2-AF88C1A95E05}"/>
              </a:ext>
            </a:extLst>
          </p:cNvPr>
          <p:cNvSpPr>
            <a:spLocks noGrp="1"/>
          </p:cNvSpPr>
          <p:nvPr>
            <p:ph type="body" idx="2" hasCustomPrompt="1"/>
          </p:nvPr>
        </p:nvSpPr>
        <p:spPr>
          <a:xfrm>
            <a:off x="457200" y="5305425"/>
            <a:ext cx="7997825" cy="1141413"/>
          </a:xfrm>
        </p:spPr>
        <p:txBody>
          <a:bodyPr>
            <a:noAutofit/>
          </a:bodyPr>
          <a:lstStyle>
            <a:lvl1pPr marL="0" indent="0">
              <a:lnSpc>
                <a:spcPct val="100000"/>
              </a:lnSpc>
              <a:spcBef>
                <a:spcPts val="0"/>
              </a:spcBef>
              <a:spcAft>
                <a:spcPts val="0"/>
              </a:spcAft>
              <a:buClrTx/>
              <a:buSzTx/>
              <a:buFontTx/>
              <a:buNone/>
              <a:tabLst/>
              <a:defRPr lang="en-US" b="0" cap="none" spc="0" baseline="0">
                <a:ln>
                  <a:noFill/>
                </a:ln>
                <a:solidFill>
                  <a:schemeClr val="bg1"/>
                </a:solidFill>
                <a:effectLst/>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pPr marL="0" indent="0">
              <a:lnSpc>
                <a:spcPct val="100000"/>
              </a:lnSpc>
              <a:spcBef>
                <a:spcPts val="0"/>
              </a:spcBef>
              <a:spcAft>
                <a:spcPts val="0"/>
              </a:spcAft>
              <a:buClrTx/>
              <a:buSzTx/>
              <a:buFontTx/>
              <a:buNone/>
              <a:tabLst/>
              <a:defRPr/>
            </a:pPr>
            <a:r>
              <a:rPr lang="en-US" sz="1800" dirty="0">
                <a:solidFill>
                  <a:srgbClr val="F1F3F3"/>
                </a:solidFill>
              </a:rPr>
              <a:t>Type: Corrections, feedback, or other questions? </a:t>
            </a:r>
            <a:br>
              <a:rPr lang="en-US" sz="1800" dirty="0">
                <a:solidFill>
                  <a:srgbClr val="F1F3F3"/>
                </a:solidFill>
              </a:rPr>
            </a:br>
            <a:r>
              <a:rPr lang="en-US" sz="1800" dirty="0">
                <a:solidFill>
                  <a:srgbClr val="F1F3F3"/>
                </a:solidFill>
              </a:rPr>
              <a:t>Contact us at https://support.aws.amazon.com/#/contacts/aws-academy.</a:t>
            </a:r>
          </a:p>
        </p:txBody>
      </p:sp>
      <p:pic>
        <p:nvPicPr>
          <p:cNvPr id="6" name="Copyright1">
            <a:extLst>
              <a:ext uri="{FF2B5EF4-FFF2-40B4-BE49-F238E27FC236}">
                <a16:creationId xmlns:a16="http://schemas.microsoft.com/office/drawing/2014/main" id="{872813F7-982A-459F-982C-723833FAAEAB}"/>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custDataLst>
      <p:tags r:id="rId1"/>
    </p:custDataLst>
    <p:extLst>
      <p:ext uri="{BB962C8B-B14F-4D97-AF65-F5344CB8AC3E}">
        <p14:creationId xmlns:p14="http://schemas.microsoft.com/office/powerpoint/2010/main" val="4183191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lnSpc>
                <a:spcPct val="90000"/>
              </a:lnSpc>
              <a:spcAft>
                <a:spcPts val="0"/>
              </a:spcAft>
              <a:defRPr>
                <a:solidFill>
                  <a:srgbClr val="232F3E"/>
                </a:solidFill>
                <a:latin typeface="Amazon Ember Display Heavy"/>
              </a:defRPr>
            </a:lvl1pPr>
          </a:lstStyle>
          <a:p>
            <a:r>
              <a:rPr lang="en-US" dirty="0"/>
              <a:t>Title and text column</a:t>
            </a:r>
          </a:p>
        </p:txBody>
      </p:sp>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rm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65017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and code</a:t>
            </a:r>
          </a:p>
        </p:txBody>
      </p:sp>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11466576" cy="5330952"/>
          </a:xfrm>
        </p:spPr>
        <p:txBody>
          <a:bodyPr>
            <a:noAutofit/>
          </a:bodyPr>
          <a:lstStyle>
            <a:lvl1pPr marL="0" indent="0" defTabSz="228600">
              <a:lnSpc>
                <a:spcPct val="100000"/>
              </a:lnSpc>
              <a:spcBef>
                <a:spcPts val="0"/>
              </a:spcBef>
              <a:spcAft>
                <a:spcPts val="0"/>
              </a:spcAft>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160625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418244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310634-6D6F-45BA-96BC-E6E4225BB2B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2712" y="301752"/>
            <a:ext cx="11466576" cy="731318"/>
          </a:xfrm>
        </p:spPr>
        <p:txBody>
          <a:bodyPr/>
          <a:lstStyle>
            <a:lvl1pPr>
              <a:defRPr>
                <a:solidFill>
                  <a:srgbClr val="232F3E"/>
                </a:solidFill>
                <a:latin typeface="Amazon Ember Display Heavy"/>
              </a:defRPr>
            </a:lvl1pPr>
          </a:lstStyle>
          <a:p>
            <a:r>
              <a:rPr lang="en-US" dirty="0"/>
              <a:t>Title, header, text, and picture</a:t>
            </a:r>
          </a:p>
        </p:txBody>
      </p:sp>
      <p:pic>
        <p:nvPicPr>
          <p:cNvPr id="99" name="Background">
            <a:extLst>
              <a:ext uri="{FF2B5EF4-FFF2-40B4-BE49-F238E27FC236}">
                <a16:creationId xmlns:a16="http://schemas.microsoft.com/office/drawing/2014/main" id="{FFFF9C37-F39B-42A9-BBBE-57586150257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12" name="Content 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7644384" cy="487375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072378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Service Introduction Option 1">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6567437-E18D-4274-8EB3-54B9DE902BBD}"/>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 name="Divider H">
              <a:extLst>
                <a:ext uri="{FF2B5EF4-FFF2-40B4-BE49-F238E27FC236}">
                  <a16:creationId xmlns:a16="http://schemas.microsoft.com/office/drawing/2014/main" id="{50B9701F-77A8-41C6-92EB-864571F194D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11" name="Divider V">
              <a:extLst>
                <a:ext uri="{FF2B5EF4-FFF2-40B4-BE49-F238E27FC236}">
                  <a16:creationId xmlns:a16="http://schemas.microsoft.com/office/drawing/2014/main" id="{39B7DF57-C231-4CAA-9959-A12A3D22402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845B9C66-42EC-414D-A8B0-97B2C6F572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Service introduction slide – Option 1</a:t>
            </a:r>
          </a:p>
        </p:txBody>
      </p:sp>
      <p:sp>
        <p:nvSpPr>
          <p:cNvPr id="3" name="Service Image">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5EE453FC-29B3-4823-BA8D-E5D7343F2858}"/>
              </a:ext>
            </a:extLst>
          </p:cNvPr>
          <p:cNvSpPr>
            <a:spLocks noGrp="1"/>
          </p:cNvSpPr>
          <p:nvPr>
            <p:ph type="body" idx="4" hasCustomPrompt="1"/>
          </p:nvPr>
        </p:nvSpPr>
        <p:spPr>
          <a:xfrm>
            <a:off x="531884" y="4508261"/>
            <a:ext cx="2286001" cy="914400"/>
          </a:xfrm>
        </p:spPr>
        <p:txBody>
          <a:bodyPr>
            <a:noAutofit/>
          </a:bodyPr>
          <a:lstStyle>
            <a:lvl1pPr algn="ctr">
              <a:spcAft>
                <a:spcPts val="0"/>
              </a:spcAft>
              <a:buNone/>
              <a:defRPr sz="2000">
                <a:solidFill>
                  <a:srgbClr val="232F3E"/>
                </a:solidFill>
                <a:latin typeface="Amazon Ember Display"/>
              </a:defRPr>
            </a:lvl1pPr>
          </a:lstStyle>
          <a:p>
            <a:pPr lvl="0"/>
            <a:r>
              <a:rPr lang="en-US" dirty="0"/>
              <a:t>Enter service name</a:t>
            </a:r>
          </a:p>
        </p:txBody>
      </p:sp>
      <p:sp>
        <p:nvSpPr>
          <p:cNvPr id="2" name="Content">
            <a:extLst>
              <a:ext uri="{FF2B5EF4-FFF2-40B4-BE49-F238E27FC236}">
                <a16:creationId xmlns:a16="http://schemas.microsoft.com/office/drawing/2014/main" id="{951E617C-D9F7-4098-883E-6A048DBCF862}"/>
              </a:ext>
            </a:extLst>
          </p:cNvPr>
          <p:cNvSpPr>
            <a:spLocks noGrp="1"/>
          </p:cNvSpPr>
          <p:nvPr>
            <p:ph idx="2" hasCustomPrompt="1"/>
          </p:nvPr>
        </p:nvSpPr>
        <p:spPr>
          <a:xfrm>
            <a:off x="3118104" y="1097280"/>
            <a:ext cx="8714232" cy="5330952"/>
          </a:xfrm>
        </p:spPr>
        <p:txBody>
          <a:bodyPr anchor="ctr">
            <a:normAutofit/>
          </a:bodyPr>
          <a:lstStyle>
            <a:lvl1pPr>
              <a:lnSpc>
                <a:spcPct val="100000"/>
              </a:lnSpc>
              <a:spcAft>
                <a:spcPts val="1200"/>
              </a:spcAft>
              <a:defRPr sz="3200">
                <a:solidFill>
                  <a:srgbClr val="232F3E"/>
                </a:solidFill>
              </a:defRPr>
            </a:lvl1pPr>
            <a:lvl2pPr marL="457200" indent="-228600">
              <a:lnSpc>
                <a:spcPct val="100000"/>
              </a:lnSpc>
              <a:spcAft>
                <a:spcPts val="1200"/>
              </a:spcAft>
              <a:defRPr sz="2800">
                <a:solidFill>
                  <a:srgbClr val="232F3E"/>
                </a:solidFill>
              </a:defRPr>
            </a:lvl2pPr>
            <a:lvl3pPr marL="684213" indent="-228600">
              <a:lnSpc>
                <a:spcPct val="100000"/>
              </a:lnSpc>
              <a:spcAft>
                <a:spcPts val="1200"/>
              </a:spcAft>
              <a:defRPr sz="2400">
                <a:solidFill>
                  <a:srgbClr val="232F3E"/>
                </a:solidFill>
              </a:defRPr>
            </a:lvl3pPr>
            <a:lvl4pPr marL="914400" indent="-228600">
              <a:lnSpc>
                <a:spcPct val="100000"/>
              </a:lnSpc>
              <a:spcAft>
                <a:spcPts val="1200"/>
              </a:spcAft>
              <a:defRPr sz="2000">
                <a:solidFill>
                  <a:srgbClr val="232F3E"/>
                </a:solidFill>
              </a:defRPr>
            </a:lvl4pPr>
            <a:lvl5pPr marL="1144588" indent="-228600">
              <a:lnSpc>
                <a:spcPct val="100000"/>
              </a:lnSpc>
              <a:spcAft>
                <a:spcPts val="1200"/>
              </a:spcAft>
              <a:defRPr sz="20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2322782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rvice Introduction Option 2">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47407828-5EAD-4B51-9E63-A3BCA2C02C10}"/>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6" name="Divider H">
              <a:extLst>
                <a:ext uri="{FF2B5EF4-FFF2-40B4-BE49-F238E27FC236}">
                  <a16:creationId xmlns:a16="http://schemas.microsoft.com/office/drawing/2014/main" id="{86EB8EF7-E12A-4724-8CD0-BCD419CC1D7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Divider V">
              <a:extLst>
                <a:ext uri="{FF2B5EF4-FFF2-40B4-BE49-F238E27FC236}">
                  <a16:creationId xmlns:a16="http://schemas.microsoft.com/office/drawing/2014/main" id="{A98871DD-BA51-4D2E-B73C-B53E0040D84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11"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latin typeface="Amazon Ember Display Heavy" panose="04020705040A02060702" pitchFamily="82" charset="0"/>
              </a:rPr>
              <a:t>Service introduction slide – Option 2</a:t>
            </a:r>
          </a:p>
        </p:txBody>
      </p:sp>
      <p:sp>
        <p:nvSpPr>
          <p:cNvPr id="3" name="Service image">
            <a:extLst>
              <a:ext uri="{FF2B5EF4-FFF2-40B4-BE49-F238E27FC236}">
                <a16:creationId xmlns:a16="http://schemas.microsoft.com/office/drawing/2014/main" id="{A8750EE2-55D6-4668-9C14-21FA8D6643EA}"/>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ED5D782A-3E94-4C16-BD1E-13F939926C06}"/>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dirty="0"/>
              <a:t>Enter service name</a:t>
            </a:r>
          </a:p>
        </p:txBody>
      </p:sp>
      <p:sp>
        <p:nvSpPr>
          <p:cNvPr id="2" name="Service description">
            <a:extLst>
              <a:ext uri="{FF2B5EF4-FFF2-40B4-BE49-F238E27FC236}">
                <a16:creationId xmlns:a16="http://schemas.microsoft.com/office/drawing/2014/main" id="{125C2183-0325-4A52-BF1F-38F8AAFA8B4A}"/>
              </a:ext>
            </a:extLst>
          </p:cNvPr>
          <p:cNvSpPr>
            <a:spLocks noGrp="1"/>
          </p:cNvSpPr>
          <p:nvPr>
            <p:ph type="body" idx="2" hasCustomPrompt="1"/>
          </p:nvPr>
        </p:nvSpPr>
        <p:spPr>
          <a:xfrm>
            <a:off x="3118104" y="1097280"/>
            <a:ext cx="8714232" cy="1655064"/>
          </a:xfrm>
        </p:spPr>
        <p:txBody>
          <a:bodyPr tIns="45720" bIns="45720">
            <a:normAutofit/>
          </a:bodyPr>
          <a:lstStyle>
            <a:lvl1pPr marL="0" indent="0">
              <a:lnSpc>
                <a:spcPct val="100000"/>
              </a:lnSpc>
              <a:spcBef>
                <a:spcPts val="0"/>
              </a:spcBef>
              <a:spcAft>
                <a:spcPts val="300"/>
              </a:spcAft>
              <a:buNone/>
              <a:defRPr sz="2400">
                <a:solidFill>
                  <a:srgbClr val="232F3E"/>
                </a:solidFill>
                <a:latin typeface="Amazon Ember Display"/>
              </a:defRPr>
            </a:lvl1pPr>
            <a:lvl2pPr marL="457200" indent="0">
              <a:buNone/>
              <a:defRPr/>
            </a:lvl2pPr>
          </a:lstStyle>
          <a:p>
            <a:pPr lvl="0"/>
            <a:r>
              <a:rPr lang="en-US" dirty="0"/>
              <a:t>Enter service description from our website.</a:t>
            </a:r>
          </a:p>
        </p:txBody>
      </p:sp>
      <p:sp>
        <p:nvSpPr>
          <p:cNvPr id="8" name="Service Benefit 1">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8" hasCustomPrompt="1"/>
          </p:nvPr>
        </p:nvSpPr>
        <p:spPr>
          <a:xfrm>
            <a:off x="3483864"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5" name="Benefit 1 Description">
            <a:extLst>
              <a:ext uri="{FF2B5EF4-FFF2-40B4-BE49-F238E27FC236}">
                <a16:creationId xmlns:a16="http://schemas.microsoft.com/office/drawing/2014/main" id="{CEBB69C5-28A4-4F99-A9FE-572F9D53CF4E}"/>
              </a:ext>
            </a:extLst>
          </p:cNvPr>
          <p:cNvSpPr>
            <a:spLocks noGrp="1"/>
          </p:cNvSpPr>
          <p:nvPr>
            <p:ph type="body" idx="5" hasCustomPrompt="1"/>
          </p:nvPr>
        </p:nvSpPr>
        <p:spPr>
          <a:xfrm>
            <a:off x="3118104"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9" name="Service Benefit 2">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9" hasCustomPrompt="1"/>
          </p:nvPr>
        </p:nvSpPr>
        <p:spPr>
          <a:xfrm>
            <a:off x="6473952"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6" name="Benefit 2 Description">
            <a:extLst>
              <a:ext uri="{FF2B5EF4-FFF2-40B4-BE49-F238E27FC236}">
                <a16:creationId xmlns:a16="http://schemas.microsoft.com/office/drawing/2014/main" id="{04C41CFA-9BF9-474A-89A9-E22790A538E2}"/>
              </a:ext>
            </a:extLst>
          </p:cNvPr>
          <p:cNvSpPr>
            <a:spLocks noGrp="1"/>
          </p:cNvSpPr>
          <p:nvPr>
            <p:ph type="body" idx="6" hasCustomPrompt="1"/>
          </p:nvPr>
        </p:nvSpPr>
        <p:spPr>
          <a:xfrm>
            <a:off x="6108192"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10" name="Service Benefit 3">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10" hasCustomPrompt="1"/>
          </p:nvPr>
        </p:nvSpPr>
        <p:spPr>
          <a:xfrm>
            <a:off x="9454896"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7" name="Benefit 3 Description">
            <a:extLst>
              <a:ext uri="{FF2B5EF4-FFF2-40B4-BE49-F238E27FC236}">
                <a16:creationId xmlns:a16="http://schemas.microsoft.com/office/drawing/2014/main" id="{CF01F87A-DBEF-4657-8500-6A751FF3BC24}"/>
              </a:ext>
            </a:extLst>
          </p:cNvPr>
          <p:cNvSpPr>
            <a:spLocks noGrp="1"/>
          </p:cNvSpPr>
          <p:nvPr>
            <p:ph type="body" idx="7" hasCustomPrompt="1"/>
          </p:nvPr>
        </p:nvSpPr>
        <p:spPr>
          <a:xfrm>
            <a:off x="9089136"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Tree>
    <p:custDataLst>
      <p:tags r:id="rId1"/>
    </p:custDataLst>
    <p:extLst>
      <p:ext uri="{BB962C8B-B14F-4D97-AF65-F5344CB8AC3E}">
        <p14:creationId xmlns:p14="http://schemas.microsoft.com/office/powerpoint/2010/main" val="3548114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content columns</a:t>
            </a:r>
          </a:p>
        </p:txBody>
      </p:sp>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5205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Narrow, and Wi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narrow left, and wide right columns</a:t>
            </a:r>
          </a:p>
        </p:txBody>
      </p:sp>
      <p:pic>
        <p:nvPicPr>
          <p:cNvPr id="99" name="Divider">
            <a:extLst>
              <a:ext uri="{FF2B5EF4-FFF2-40B4-BE49-F238E27FC236}">
                <a16:creationId xmlns:a16="http://schemas.microsoft.com/office/drawing/2014/main" id="{436CF646-2D71-47F1-8550-51446EDEB81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657600"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4187952" y="1097280"/>
            <a:ext cx="7644384"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 or Click to add image</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97191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1314593-B97F-4159-BF1C-7D08727B798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code columns</a:t>
            </a:r>
          </a:p>
        </p:txBody>
      </p:sp>
      <p:pic>
        <p:nvPicPr>
          <p:cNvPr id="99" name="Divider">
            <a:extLst>
              <a:ext uri="{FF2B5EF4-FFF2-40B4-BE49-F238E27FC236}">
                <a16:creationId xmlns:a16="http://schemas.microsoft.com/office/drawing/2014/main" id="{25E540B6-8F1E-4977-BD60-59FB7D23F4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Left">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42090080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Header,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and 2 text columns</a:t>
            </a:r>
          </a:p>
        </p:txBody>
      </p:sp>
      <p:pic>
        <p:nvPicPr>
          <p:cNvPr id="99" name="Background">
            <a:extLst>
              <a:ext uri="{FF2B5EF4-FFF2-40B4-BE49-F238E27FC236}">
                <a16:creationId xmlns:a16="http://schemas.microsoft.com/office/drawing/2014/main" id="{B5282040-FA2B-4014-827F-F5B85DA6765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939533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Header, Content, Full Height Picture">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DEF6C79C-9D0E-41C2-AA50-8E21FCE741EA}"/>
              </a:ext>
              <a:ext uri="{C183D7F6-B498-43B3-948B-1728B52AA6E4}">
                <adec:decorative xmlns:adec="http://schemas.microsoft.com/office/drawing/2017/decorative" val="1"/>
              </a:ext>
            </a:extLst>
          </p:cNvPr>
          <p:cNvPicPr>
            <a:picLocks/>
          </p:cNvPicPr>
          <p:nvPr/>
        </p:nvPicPr>
        <p:blipFill rotWithShape="1">
          <a:blip r:embed="rId3">
            <a:extLst>
              <a:ext uri="{28A0092B-C50C-407E-A947-70E740481C1C}">
                <a14:useLocalDpi xmlns:a14="http://schemas.microsoft.com/office/drawing/2010/main" val="0"/>
              </a:ext>
            </a:extLst>
          </a:blip>
          <a:srcRect r="50690"/>
          <a:stretch/>
        </p:blipFill>
        <p:spPr>
          <a:xfrm>
            <a:off x="365761" y="1059966"/>
            <a:ext cx="5663184" cy="459972"/>
          </a:xfrm>
          <a:prstGeom prst="rect">
            <a:avLst/>
          </a:prstGeom>
        </p:spPr>
      </p:pic>
      <p:sp>
        <p:nvSpPr>
          <p:cNvPr id="97" name="Slide Number">
            <a:extLst>
              <a:ext uri="{FF2B5EF4-FFF2-40B4-BE49-F238E27FC236}">
                <a16:creationId xmlns:a16="http://schemas.microsoft.com/office/drawing/2014/main" id="{73F8E55C-0C56-481E-96C0-45506B8577F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content, and full height picture</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1" y="1051560"/>
            <a:ext cx="5669279"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EEA0232A-1E36-4B66-8855-7774205AD335}"/>
              </a:ext>
            </a:extLst>
          </p:cNvPr>
          <p:cNvSpPr>
            <a:spLocks noGrp="1"/>
          </p:cNvSpPr>
          <p:nvPr>
            <p:ph idx="2" hasCustomPrompt="1"/>
          </p:nvPr>
        </p:nvSpPr>
        <p:spPr>
          <a:xfrm>
            <a:off x="365760" y="1554480"/>
            <a:ext cx="5669280" cy="488174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type="pic" idx="22" hasCustomPrompt="1"/>
          </p:nvPr>
        </p:nvSpPr>
        <p:spPr>
          <a:xfrm>
            <a:off x="6163056" y="1046819"/>
            <a:ext cx="5669280" cy="5398103"/>
          </a:xfrm>
        </p:spPr>
        <p:txBody>
          <a:bodyPr anchor="t">
            <a:noAutofit/>
          </a:bodyPr>
          <a:lstStyle>
            <a:lvl1pPr marL="0" indent="0" algn="ctr">
              <a:buNone/>
              <a:defRPr sz="28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3688026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173D7629-1A9C-4345-AAF8-04B661B01BFF}"/>
              </a:ext>
              <a:ext uri="{C183D7F6-B498-43B3-948B-1728B52AA6E4}">
                <adec:decorative xmlns:adec="http://schemas.microsoft.com/office/drawing/2017/decorative" val="1"/>
              </a:ext>
            </a:extLst>
          </p:cNvPr>
          <p:cNvGrpSpPr/>
          <p:nvPr/>
        </p:nvGrpSpPr>
        <p:grpSpPr>
          <a:xfrm>
            <a:off x="365759" y="1028377"/>
            <a:ext cx="11484866" cy="2850096"/>
            <a:chOff x="365759" y="1028377"/>
            <a:chExt cx="11484866" cy="2850096"/>
          </a:xfrm>
        </p:grpSpPr>
        <p:pic>
          <p:nvPicPr>
            <p:cNvPr id="96" name="Background">
              <a:extLst>
                <a:ext uri="{FF2B5EF4-FFF2-40B4-BE49-F238E27FC236}">
                  <a16:creationId xmlns:a16="http://schemas.microsoft.com/office/drawing/2014/main" id="{7D5C187B-1A36-4731-9D73-181529A3640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38144"/>
              <a:ext cx="11460480" cy="440329"/>
            </a:xfrm>
            <a:prstGeom prst="rect">
              <a:avLst/>
            </a:prstGeom>
          </p:spPr>
        </p:pic>
        <p:pic>
          <p:nvPicPr>
            <p:cNvPr id="95" name="Divider">
              <a:extLst>
                <a:ext uri="{FF2B5EF4-FFF2-40B4-BE49-F238E27FC236}">
                  <a16:creationId xmlns:a16="http://schemas.microsoft.com/office/drawing/2014/main" id="{2BB9B5CB-6BB1-45BC-9AA7-38BB668B8A35}"/>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pictures, 2 headers, and 2 text columns</a:t>
            </a:r>
          </a:p>
        </p:txBody>
      </p:sp>
      <p:sp>
        <p:nvSpPr>
          <p:cNvPr id="22" name="Picture Left">
            <a:extLst>
              <a:ext uri="{FF2B5EF4-FFF2-40B4-BE49-F238E27FC236}">
                <a16:creationId xmlns:a16="http://schemas.microsoft.com/office/drawing/2014/main" id="{D20A7D1A-2EBE-48DA-AE10-ADAE1FC9C413}"/>
              </a:ext>
              <a:ext uri="{C183D7F6-B498-43B3-948B-1728B52AA6E4}">
                <adec:decorative xmlns:adec="http://schemas.microsoft.com/office/drawing/2017/decorative" val="1"/>
              </a:ext>
            </a:extLst>
          </p:cNvPr>
          <p:cNvSpPr>
            <a:spLocks noGrp="1"/>
          </p:cNvSpPr>
          <p:nvPr>
            <p:ph type="pic" idx="22" hasCustomPrompt="1"/>
          </p:nvPr>
        </p:nvSpPr>
        <p:spPr>
          <a:xfrm>
            <a:off x="205740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38144"/>
            <a:ext cx="56692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Left">
            <a:extLst>
              <a:ext uri="{FF2B5EF4-FFF2-40B4-BE49-F238E27FC236}">
                <a16:creationId xmlns:a16="http://schemas.microsoft.com/office/drawing/2014/main" id="{5ACBD598-6775-4223-B2AB-B169A112E3FF}"/>
              </a:ext>
            </a:extLst>
          </p:cNvPr>
          <p:cNvSpPr>
            <a:spLocks noGrp="1"/>
          </p:cNvSpPr>
          <p:nvPr>
            <p:ph idx="3" hasCustomPrompt="1"/>
          </p:nvPr>
        </p:nvSpPr>
        <p:spPr>
          <a:xfrm>
            <a:off x="365760"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Right">
            <a:extLst>
              <a:ext uri="{FF2B5EF4-FFF2-40B4-BE49-F238E27FC236}">
                <a16:creationId xmlns:a16="http://schemas.microsoft.com/office/drawing/2014/main" id="{0FC9A3C9-76CB-45ED-925D-DF04C6D528DC}"/>
              </a:ext>
              <a:ext uri="{C183D7F6-B498-43B3-948B-1728B52AA6E4}">
                <adec:decorative xmlns:adec="http://schemas.microsoft.com/office/drawing/2017/decorative" val="1"/>
              </a:ext>
            </a:extLst>
          </p:cNvPr>
          <p:cNvSpPr>
            <a:spLocks noGrp="1"/>
          </p:cNvSpPr>
          <p:nvPr>
            <p:ph type="pic" idx="23" hasCustomPrompt="1"/>
          </p:nvPr>
        </p:nvSpPr>
        <p:spPr>
          <a:xfrm>
            <a:off x="7891272"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3438144"/>
            <a:ext cx="5669280" cy="440329"/>
          </a:xfrm>
          <a:no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7F5B85B9-BABC-44F6-B2AE-99F02670D702}"/>
              </a:ext>
            </a:extLst>
          </p:cNvPr>
          <p:cNvSpPr>
            <a:spLocks noGrp="1"/>
          </p:cNvSpPr>
          <p:nvPr>
            <p:ph idx="4" hasCustomPrompt="1"/>
          </p:nvPr>
        </p:nvSpPr>
        <p:spPr>
          <a:xfrm>
            <a:off x="6163056"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832667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 and 3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62D2B2A-D218-4356-AEF2-F7FF405939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3 text columns</a:t>
            </a:r>
          </a:p>
        </p:txBody>
      </p:sp>
      <p:pic>
        <p:nvPicPr>
          <p:cNvPr id="99" name="Divider">
            <a:extLst>
              <a:ext uri="{FF2B5EF4-FFF2-40B4-BE49-F238E27FC236}">
                <a16:creationId xmlns:a16="http://schemas.microsoft.com/office/drawing/2014/main" id="{7EE2A4FF-27FC-4124-82F8-941EBFCC0E4F}"/>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Middle">
            <a:extLst>
              <a:ext uri="{FF2B5EF4-FFF2-40B4-BE49-F238E27FC236}">
                <a16:creationId xmlns:a16="http://schemas.microsoft.com/office/drawing/2014/main" id="{951E617C-D9F7-4098-883E-6A048DBCF862}"/>
              </a:ext>
            </a:extLst>
          </p:cNvPr>
          <p:cNvSpPr>
            <a:spLocks noGrp="1"/>
          </p:cNvSpPr>
          <p:nvPr>
            <p:ph idx="3" hasCustomPrompt="1"/>
          </p:nvPr>
        </p:nvSpPr>
        <p:spPr>
          <a:xfrm>
            <a:off x="4224528"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Right">
            <a:extLst>
              <a:ext uri="{FF2B5EF4-FFF2-40B4-BE49-F238E27FC236}">
                <a16:creationId xmlns:a16="http://schemas.microsoft.com/office/drawing/2014/main" id="{A8A7CEA5-195D-4DB0-B5A3-06CEEA93C108}"/>
              </a:ext>
            </a:extLst>
          </p:cNvPr>
          <p:cNvSpPr>
            <a:spLocks noGrp="1"/>
          </p:cNvSpPr>
          <p:nvPr>
            <p:ph idx="4" hasCustomPrompt="1"/>
          </p:nvPr>
        </p:nvSpPr>
        <p:spPr>
          <a:xfrm>
            <a:off x="8083296"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47102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 3 Headers, and 3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5E94278F-C163-4179-AC1B-35DE088D94AB}"/>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97" name="Slide Number">
            <a:extLst>
              <a:ext uri="{FF2B5EF4-FFF2-40B4-BE49-F238E27FC236}">
                <a16:creationId xmlns:a16="http://schemas.microsoft.com/office/drawing/2014/main" id="{D472F160-9C3B-4BD6-99BB-267BDD7DD31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headers, and 3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8083296"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8083296" y="1591056"/>
            <a:ext cx="3749040" cy="4843688"/>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5302598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3 Lg Pics, and 3 Header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60A92DB-4EDE-4A1F-9E58-683E66BD2485}"/>
              </a:ext>
              <a:ext uri="{C183D7F6-B498-43B3-948B-1728B52AA6E4}">
                <adec:decorative xmlns:adec="http://schemas.microsoft.com/office/drawing/2017/decorative" val="1"/>
              </a:ext>
            </a:extLst>
          </p:cNvPr>
          <p:cNvGrpSpPr/>
          <p:nvPr/>
        </p:nvGrpSpPr>
        <p:grpSpPr>
          <a:xfrm>
            <a:off x="353568" y="1028377"/>
            <a:ext cx="11497055" cy="4238575"/>
            <a:chOff x="353568" y="1028377"/>
            <a:chExt cx="11497055" cy="4238575"/>
          </a:xfrm>
        </p:grpSpPr>
        <p:pic>
          <p:nvPicPr>
            <p:cNvPr id="98" name="Background">
              <a:extLst>
                <a:ext uri="{FF2B5EF4-FFF2-40B4-BE49-F238E27FC236}">
                  <a16:creationId xmlns:a16="http://schemas.microsoft.com/office/drawing/2014/main" id="{0A39D91E-8E12-4EDA-A92E-1823DFEBDCA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568" y="4663440"/>
              <a:ext cx="11460480" cy="440329"/>
            </a:xfrm>
            <a:prstGeom prst="rect">
              <a:avLst/>
            </a:prstGeom>
          </p:spPr>
        </p:pic>
        <p:pic>
          <p:nvPicPr>
            <p:cNvPr id="96" name="Divider">
              <a:extLst>
                <a:ext uri="{FF2B5EF4-FFF2-40B4-BE49-F238E27FC236}">
                  <a16:creationId xmlns:a16="http://schemas.microsoft.com/office/drawing/2014/main" id="{07A34186-F2DF-4A02-80D8-2DCF8944E228}"/>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large pictures, and 3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22" hasCustomPrompt="1"/>
          </p:nvPr>
        </p:nvSpPr>
        <p:spPr>
          <a:xfrm>
            <a:off x="1097280"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Amazon Ember Display"/>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4956048"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24" hasCustomPrompt="1"/>
          </p:nvPr>
        </p:nvSpPr>
        <p:spPr>
          <a:xfrm>
            <a:off x="8814816"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083296"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27175455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le, 3 Picture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 and 3 text columns</a:t>
            </a:r>
          </a:p>
        </p:txBody>
      </p:sp>
      <p:pic>
        <p:nvPicPr>
          <p:cNvPr id="99" name="Divider">
            <a:extLst>
              <a:ext uri="{FF2B5EF4-FFF2-40B4-BE49-F238E27FC236}">
                <a16:creationId xmlns:a16="http://schemas.microsoft.com/office/drawing/2014/main" id="{6FD66F17-7724-455C-B925-81DD7A5F769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34278680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Header, 3 Pictures, and 3 Text Label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3 picture, and 3 labels</a:t>
            </a:r>
          </a:p>
        </p:txBody>
      </p:sp>
      <p:pic>
        <p:nvPicPr>
          <p:cNvPr id="99" name="Divider">
            <a:extLst>
              <a:ext uri="{FF2B5EF4-FFF2-40B4-BE49-F238E27FC236}">
                <a16:creationId xmlns:a16="http://schemas.microsoft.com/office/drawing/2014/main" id="{ED3BCD03-2F61-469D-A4B4-1B61BB21D3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Description">
            <a:extLst>
              <a:ext uri="{FF2B5EF4-FFF2-40B4-BE49-F238E27FC236}">
                <a16:creationId xmlns:a16="http://schemas.microsoft.com/office/drawing/2014/main" id="{125C2183-0325-4A52-BF1F-38F8AAFA8B4A}"/>
              </a:ext>
            </a:extLst>
          </p:cNvPr>
          <p:cNvSpPr>
            <a:spLocks noGrp="1"/>
          </p:cNvSpPr>
          <p:nvPr>
            <p:ph type="body" idx="2"/>
          </p:nvPr>
        </p:nvSpPr>
        <p:spPr>
          <a:xfrm>
            <a:off x="365125" y="1084263"/>
            <a:ext cx="11466576" cy="1158011"/>
          </a:xfrm>
        </p:spPr>
        <p:txBody>
          <a:bodyPr/>
          <a:lstStyle>
            <a:lvl1pPr marL="0" indent="0">
              <a:spcAft>
                <a:spcPts val="0"/>
              </a:spcAft>
              <a:buNone/>
              <a:defRPr>
                <a:solidFill>
                  <a:srgbClr val="232F3E"/>
                </a:solidFill>
                <a:latin typeface="+mn-lt"/>
              </a:defRPr>
            </a:lvl1pPr>
            <a:lvl2pPr marL="457200" indent="0">
              <a:buNone/>
              <a:defRPr/>
            </a:lvl2pPr>
          </a:lstStyle>
          <a:p>
            <a:pPr lvl="0"/>
            <a:r>
              <a:rPr lang="en-US"/>
              <a:t>Edit Master text styles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24426408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3 Pic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pictures, and 3 text columns</a:t>
            </a:r>
          </a:p>
        </p:txBody>
      </p:sp>
      <p:pic>
        <p:nvPicPr>
          <p:cNvPr id="99" name="Divider">
            <a:extLst>
              <a:ext uri="{FF2B5EF4-FFF2-40B4-BE49-F238E27FC236}">
                <a16:creationId xmlns:a16="http://schemas.microsoft.com/office/drawing/2014/main" id="{F8C81323-B9A7-416C-ADF9-5BE9CC234E8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3" hasCustomPrompt="1"/>
          </p:nvPr>
        </p:nvSpPr>
        <p:spPr>
          <a:xfrm>
            <a:off x="4956048"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644662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3 Pics, 3 Headers, and 3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B67500C0-6D58-4DF1-8F3C-58EFF359ECA6}"/>
              </a:ext>
              <a:ext uri="{C183D7F6-B498-43B3-948B-1728B52AA6E4}">
                <adec:decorative xmlns:adec="http://schemas.microsoft.com/office/drawing/2017/decorative" val="1"/>
              </a:ext>
            </a:extLst>
          </p:cNvPr>
          <p:cNvGrpSpPr/>
          <p:nvPr/>
        </p:nvGrpSpPr>
        <p:grpSpPr>
          <a:xfrm>
            <a:off x="365759" y="1028377"/>
            <a:ext cx="11484864" cy="2875792"/>
            <a:chOff x="365759" y="1028377"/>
            <a:chExt cx="11484864" cy="2875792"/>
          </a:xfrm>
        </p:grpSpPr>
        <p:pic>
          <p:nvPicPr>
            <p:cNvPr id="96" name="Background">
              <a:extLst>
                <a:ext uri="{FF2B5EF4-FFF2-40B4-BE49-F238E27FC236}">
                  <a16:creationId xmlns:a16="http://schemas.microsoft.com/office/drawing/2014/main" id="{7D9831B3-B423-413E-89D0-129775480B7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29000"/>
              <a:ext cx="11460480" cy="440329"/>
            </a:xfrm>
            <a:prstGeom prst="rect">
              <a:avLst/>
            </a:prstGeom>
          </p:spPr>
        </p:pic>
        <p:pic>
          <p:nvPicPr>
            <p:cNvPr id="95" name="Divider">
              <a:extLst>
                <a:ext uri="{FF2B5EF4-FFF2-40B4-BE49-F238E27FC236}">
                  <a16:creationId xmlns:a16="http://schemas.microsoft.com/office/drawing/2014/main" id="{747EDC26-917A-4143-823B-A7407C3FC37D}"/>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1" y="301752"/>
            <a:ext cx="11466576" cy="731318"/>
          </a:xfrm>
        </p:spPr>
        <p:txBody>
          <a:bodyPr/>
          <a:lstStyle>
            <a:lvl1pPr>
              <a:defRPr>
                <a:solidFill>
                  <a:srgbClr val="232F3E"/>
                </a:solidFill>
                <a:latin typeface="Amazon Ember Display Heavy"/>
              </a:defRPr>
            </a:lvl1pPr>
          </a:lstStyle>
          <a:p>
            <a:r>
              <a:rPr lang="en-US" dirty="0"/>
              <a:t>Title, 3 pictures , 3 headers,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4" name="Content Head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101583"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289100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Title, 3 images, and 3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images, and 3 text</a:t>
            </a:r>
          </a:p>
        </p:txBody>
      </p:sp>
      <p:pic>
        <p:nvPicPr>
          <p:cNvPr id="99" name="Divider">
            <a:extLst>
              <a:ext uri="{FF2B5EF4-FFF2-40B4-BE49-F238E27FC236}">
                <a16:creationId xmlns:a16="http://schemas.microsoft.com/office/drawing/2014/main" id="{4A7FD274-6B14-4547-8F81-35EB1030AF5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2" name="Conten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3" y="1147406"/>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3" name="Conten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3" y="291750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4" name="Conten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3" y="468467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10009680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Acronym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Acronym Slide</a:t>
            </a:r>
          </a:p>
        </p:txBody>
      </p:sp>
      <p:pic>
        <p:nvPicPr>
          <p:cNvPr id="99" name="Divider">
            <a:extLst>
              <a:ext uri="{FF2B5EF4-FFF2-40B4-BE49-F238E27FC236}">
                <a16:creationId xmlns:a16="http://schemas.microsoft.com/office/drawing/2014/main" id="{E75453ED-071C-4C2B-B7E5-A670D111A54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8" name="Acronym Left Top">
            <a:extLst>
              <a:ext uri="{FF2B5EF4-FFF2-40B4-BE49-F238E27FC236}">
                <a16:creationId xmlns:a16="http://schemas.microsoft.com/office/drawing/2014/main" id="{BFBAFEAE-54DC-4352-A240-FBA7A523B7F4}"/>
              </a:ext>
            </a:extLst>
          </p:cNvPr>
          <p:cNvSpPr>
            <a:spLocks noGrp="1"/>
          </p:cNvSpPr>
          <p:nvPr>
            <p:ph type="body" idx="8" hasCustomPrompt="1"/>
          </p:nvPr>
        </p:nvSpPr>
        <p:spPr>
          <a:xfrm>
            <a:off x="353060"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2" name="Content Lef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94163" y="1096963"/>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233363" indent="0">
              <a:lnSpc>
                <a:spcPct val="100000"/>
              </a:lnSpc>
              <a:spcBef>
                <a:spcPts val="300"/>
              </a:spcBef>
              <a:spcAft>
                <a:spcPts val="600"/>
              </a:spcAft>
              <a:buNone/>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9" name="Acronym Left Middle">
            <a:extLst>
              <a:ext uri="{FF2B5EF4-FFF2-40B4-BE49-F238E27FC236}">
                <a16:creationId xmlns:a16="http://schemas.microsoft.com/office/drawing/2014/main" id="{DF521447-4E72-4F87-B8F3-0A9998B3AC50}"/>
              </a:ext>
            </a:extLst>
          </p:cNvPr>
          <p:cNvSpPr>
            <a:spLocks noGrp="1"/>
          </p:cNvSpPr>
          <p:nvPr>
            <p:ph type="body" idx="9" hasCustomPrompt="1"/>
          </p:nvPr>
        </p:nvSpPr>
        <p:spPr>
          <a:xfrm>
            <a:off x="353060"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3" name="Content Lef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94163"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0" name="Acronym Left Bottom">
            <a:extLst>
              <a:ext uri="{FF2B5EF4-FFF2-40B4-BE49-F238E27FC236}">
                <a16:creationId xmlns:a16="http://schemas.microsoft.com/office/drawing/2014/main" id="{1A869D27-DAC1-4525-9F52-0E454C69A2CC}"/>
              </a:ext>
            </a:extLst>
          </p:cNvPr>
          <p:cNvSpPr>
            <a:spLocks noGrp="1"/>
          </p:cNvSpPr>
          <p:nvPr>
            <p:ph type="body" idx="10" hasCustomPrompt="1"/>
          </p:nvPr>
        </p:nvSpPr>
        <p:spPr>
          <a:xfrm>
            <a:off x="353060"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4" name="Content Lef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94163"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1" name="Acronym Right Top">
            <a:extLst>
              <a:ext uri="{FF2B5EF4-FFF2-40B4-BE49-F238E27FC236}">
                <a16:creationId xmlns:a16="http://schemas.microsoft.com/office/drawing/2014/main" id="{9837C0E6-DDD2-4E65-9314-88432234A7B2}"/>
              </a:ext>
            </a:extLst>
          </p:cNvPr>
          <p:cNvSpPr>
            <a:spLocks noGrp="1"/>
          </p:cNvSpPr>
          <p:nvPr>
            <p:ph type="body" idx="11" hasCustomPrompt="1"/>
          </p:nvPr>
        </p:nvSpPr>
        <p:spPr>
          <a:xfrm>
            <a:off x="6162412"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5" name="Content Right Top">
            <a:extLst>
              <a:ext uri="{FF2B5EF4-FFF2-40B4-BE49-F238E27FC236}">
                <a16:creationId xmlns:a16="http://schemas.microsoft.com/office/drawing/2014/main" id="{90BB8441-20A6-4797-B4CD-C5446F55BFC4}"/>
              </a:ext>
            </a:extLst>
          </p:cNvPr>
          <p:cNvSpPr>
            <a:spLocks noGrp="1"/>
          </p:cNvSpPr>
          <p:nvPr>
            <p:ph type="body" idx="5" hasCustomPrompt="1"/>
          </p:nvPr>
        </p:nvSpPr>
        <p:spPr>
          <a:xfrm>
            <a:off x="7991878" y="1096963"/>
            <a:ext cx="3840480" cy="1737360"/>
          </a:xfrm>
        </p:spPr>
        <p:txBody>
          <a:bodyPr anchor="ctr">
            <a:noAutofit/>
          </a:bodyPr>
          <a:lstStyle>
            <a:lvl1pPr marL="0" indent="0" algn="l" defTabSz="914400" rtl="0" eaLnBrk="1" latinLnBrk="0" hangingPunct="1">
              <a:lnSpc>
                <a:spcPct val="100000"/>
              </a:lnSpc>
              <a:spcBef>
                <a:spcPts val="0"/>
              </a:spcBef>
              <a:spcAft>
                <a:spcPts val="300"/>
              </a:spcAft>
              <a:buFont typeface="Amazon Ember Display"/>
              <a:buNone/>
              <a:defRPr lang="en-US" sz="2000" kern="1200" dirty="0">
                <a:solidFill>
                  <a:srgbClr val="232F3E"/>
                </a:solidFill>
                <a:latin typeface="Amazon Ember Display"/>
                <a:ea typeface="+mn-ea"/>
                <a:cs typeface="+mn-cs"/>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4" name="Acronym Right Middle">
            <a:extLst>
              <a:ext uri="{FF2B5EF4-FFF2-40B4-BE49-F238E27FC236}">
                <a16:creationId xmlns:a16="http://schemas.microsoft.com/office/drawing/2014/main" id="{92570328-F506-4FC2-AE2B-53186B9CA0BF}"/>
              </a:ext>
            </a:extLst>
          </p:cNvPr>
          <p:cNvSpPr>
            <a:spLocks noGrp="1"/>
          </p:cNvSpPr>
          <p:nvPr>
            <p:ph type="body" idx="12" hasCustomPrompt="1"/>
          </p:nvPr>
        </p:nvSpPr>
        <p:spPr>
          <a:xfrm>
            <a:off x="6162412"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6" name="Content Right Middle">
            <a:extLst>
              <a:ext uri="{FF2B5EF4-FFF2-40B4-BE49-F238E27FC236}">
                <a16:creationId xmlns:a16="http://schemas.microsoft.com/office/drawing/2014/main" id="{0FAE0B8A-BC98-4464-9C65-3A47B0A5EACB}"/>
              </a:ext>
            </a:extLst>
          </p:cNvPr>
          <p:cNvSpPr>
            <a:spLocks noGrp="1"/>
          </p:cNvSpPr>
          <p:nvPr>
            <p:ph type="body" idx="6" hasCustomPrompt="1"/>
          </p:nvPr>
        </p:nvSpPr>
        <p:spPr>
          <a:xfrm>
            <a:off x="7991878"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3" name="Acronym Right Bottom">
            <a:extLst>
              <a:ext uri="{FF2B5EF4-FFF2-40B4-BE49-F238E27FC236}">
                <a16:creationId xmlns:a16="http://schemas.microsoft.com/office/drawing/2014/main" id="{724B4804-F3F3-4B62-A0EC-A77D95C244CD}"/>
              </a:ext>
            </a:extLst>
          </p:cNvPr>
          <p:cNvSpPr>
            <a:spLocks noGrp="1"/>
          </p:cNvSpPr>
          <p:nvPr>
            <p:ph type="body" idx="13" hasCustomPrompt="1"/>
          </p:nvPr>
        </p:nvSpPr>
        <p:spPr>
          <a:xfrm>
            <a:off x="6162412"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7" name="Content Right Bottom">
            <a:extLst>
              <a:ext uri="{FF2B5EF4-FFF2-40B4-BE49-F238E27FC236}">
                <a16:creationId xmlns:a16="http://schemas.microsoft.com/office/drawing/2014/main" id="{30387F87-E08F-4DED-BCEC-437402769732}"/>
              </a:ext>
            </a:extLst>
          </p:cNvPr>
          <p:cNvSpPr>
            <a:spLocks noGrp="1"/>
          </p:cNvSpPr>
          <p:nvPr>
            <p:ph type="body" idx="7" hasCustomPrompt="1"/>
          </p:nvPr>
        </p:nvSpPr>
        <p:spPr>
          <a:xfrm>
            <a:off x="7991878"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Tree>
    <p:custDataLst>
      <p:tags r:id="rId1"/>
    </p:custDataLst>
    <p:extLst>
      <p:ext uri="{BB962C8B-B14F-4D97-AF65-F5344CB8AC3E}">
        <p14:creationId xmlns:p14="http://schemas.microsoft.com/office/powerpoint/2010/main" val="6257010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6 images, and 6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6 images, and 6 text boxes</a:t>
            </a:r>
          </a:p>
        </p:txBody>
      </p:sp>
      <p:pic>
        <p:nvPicPr>
          <p:cNvPr id="99" name="Divider">
            <a:extLst>
              <a:ext uri="{FF2B5EF4-FFF2-40B4-BE49-F238E27FC236}">
                <a16:creationId xmlns:a16="http://schemas.microsoft.com/office/drawing/2014/main" id="{D8CEDAC6-2953-4473-BCFC-2357BFF2845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2" name="Content L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4"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L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3" name="Content L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4"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L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4" name="Content L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4"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5" name="Picture R Top">
            <a:extLst>
              <a:ext uri="{FF2B5EF4-FFF2-40B4-BE49-F238E27FC236}">
                <a16:creationId xmlns:a16="http://schemas.microsoft.com/office/drawing/2014/main" id="{2537EBA4-2DD0-426E-A66E-7F0CC3C9A863}"/>
              </a:ext>
              <a:ext uri="{C183D7F6-B498-43B3-948B-1728B52AA6E4}">
                <adec:decorative xmlns:adec="http://schemas.microsoft.com/office/drawing/2017/decorative" val="1"/>
              </a:ext>
            </a:extLst>
          </p:cNvPr>
          <p:cNvSpPr>
            <a:spLocks noGrp="1"/>
          </p:cNvSpPr>
          <p:nvPr>
            <p:ph type="pic" idx="25" hasCustomPrompt="1"/>
          </p:nvPr>
        </p:nvSpPr>
        <p:spPr>
          <a:xfrm>
            <a:off x="6205152"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5" name="Content R Top">
            <a:extLst>
              <a:ext uri="{FF2B5EF4-FFF2-40B4-BE49-F238E27FC236}">
                <a16:creationId xmlns:a16="http://schemas.microsoft.com/office/drawing/2014/main" id="{3124324C-4E3B-473E-85DD-0988B7B4CD52}"/>
              </a:ext>
            </a:extLst>
          </p:cNvPr>
          <p:cNvSpPr>
            <a:spLocks noGrp="1"/>
          </p:cNvSpPr>
          <p:nvPr>
            <p:ph type="body" idx="5" hasCustomPrompt="1"/>
          </p:nvPr>
        </p:nvSpPr>
        <p:spPr>
          <a:xfrm>
            <a:off x="7884436"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6" name="Picture R Middle">
            <a:extLst>
              <a:ext uri="{FF2B5EF4-FFF2-40B4-BE49-F238E27FC236}">
                <a16:creationId xmlns:a16="http://schemas.microsoft.com/office/drawing/2014/main" id="{C2DF48EF-CB9B-4DEC-A978-BD4C5E8A371A}"/>
              </a:ext>
              <a:ext uri="{C183D7F6-B498-43B3-948B-1728B52AA6E4}">
                <adec:decorative xmlns:adec="http://schemas.microsoft.com/office/drawing/2017/decorative" val="1"/>
              </a:ext>
            </a:extLst>
          </p:cNvPr>
          <p:cNvSpPr>
            <a:spLocks noGrp="1"/>
          </p:cNvSpPr>
          <p:nvPr>
            <p:ph type="pic" idx="26" hasCustomPrompt="1"/>
          </p:nvPr>
        </p:nvSpPr>
        <p:spPr>
          <a:xfrm>
            <a:off x="6205152"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6" name="Content R Middle">
            <a:extLst>
              <a:ext uri="{FF2B5EF4-FFF2-40B4-BE49-F238E27FC236}">
                <a16:creationId xmlns:a16="http://schemas.microsoft.com/office/drawing/2014/main" id="{823555B5-F2D8-4708-8578-06784CA9E686}"/>
              </a:ext>
            </a:extLst>
          </p:cNvPr>
          <p:cNvSpPr>
            <a:spLocks noGrp="1"/>
          </p:cNvSpPr>
          <p:nvPr>
            <p:ph type="body" idx="6" hasCustomPrompt="1"/>
          </p:nvPr>
        </p:nvSpPr>
        <p:spPr>
          <a:xfrm>
            <a:off x="7884436"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7" name="Picture R Bottom">
            <a:extLst>
              <a:ext uri="{FF2B5EF4-FFF2-40B4-BE49-F238E27FC236}">
                <a16:creationId xmlns:a16="http://schemas.microsoft.com/office/drawing/2014/main" id="{F1E0B4C9-22CB-4378-B9DD-C97CC3CC37D3}"/>
              </a:ext>
              <a:ext uri="{C183D7F6-B498-43B3-948B-1728B52AA6E4}">
                <adec:decorative xmlns:adec="http://schemas.microsoft.com/office/drawing/2017/decorative" val="1"/>
              </a:ext>
            </a:extLst>
          </p:cNvPr>
          <p:cNvSpPr>
            <a:spLocks noGrp="1"/>
          </p:cNvSpPr>
          <p:nvPr>
            <p:ph type="pic" idx="27" hasCustomPrompt="1"/>
          </p:nvPr>
        </p:nvSpPr>
        <p:spPr>
          <a:xfrm>
            <a:off x="6205152"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7" name="Content R Bottom">
            <a:extLst>
              <a:ext uri="{FF2B5EF4-FFF2-40B4-BE49-F238E27FC236}">
                <a16:creationId xmlns:a16="http://schemas.microsoft.com/office/drawing/2014/main" id="{B8A01145-54CF-4ED7-86C7-2C5968A8E4E9}"/>
              </a:ext>
            </a:extLst>
          </p:cNvPr>
          <p:cNvSpPr>
            <a:spLocks noGrp="1"/>
          </p:cNvSpPr>
          <p:nvPr>
            <p:ph type="body" idx="7" hasCustomPrompt="1"/>
          </p:nvPr>
        </p:nvSpPr>
        <p:spPr>
          <a:xfrm>
            <a:off x="7884436"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35320743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5FE023F-03C4-484F-A300-E408B4FEB8E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4 content columns</a:t>
            </a:r>
          </a:p>
        </p:txBody>
      </p:sp>
      <p:pic>
        <p:nvPicPr>
          <p:cNvPr id="99" name="Divider">
            <a:extLst>
              <a:ext uri="{FF2B5EF4-FFF2-40B4-BE49-F238E27FC236}">
                <a16:creationId xmlns:a16="http://schemas.microsoft.com/office/drawing/2014/main" id="{DA5B3212-A91F-4308-A973-316F80A6A0B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type="body" idx="2" hasCustomPrompt="1"/>
          </p:nvPr>
        </p:nvSpPr>
        <p:spPr>
          <a:xfrm>
            <a:off x="365760"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Center Left">
            <a:extLst>
              <a:ext uri="{FF2B5EF4-FFF2-40B4-BE49-F238E27FC236}">
                <a16:creationId xmlns:a16="http://schemas.microsoft.com/office/drawing/2014/main" id="{951E617C-D9F7-4098-883E-6A048DBCF862}"/>
              </a:ext>
            </a:extLst>
          </p:cNvPr>
          <p:cNvSpPr>
            <a:spLocks noGrp="1"/>
          </p:cNvSpPr>
          <p:nvPr>
            <p:ph type="body" idx="3" hasCustomPrompt="1"/>
          </p:nvPr>
        </p:nvSpPr>
        <p:spPr>
          <a:xfrm>
            <a:off x="3258312"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Center Right">
            <a:extLst>
              <a:ext uri="{FF2B5EF4-FFF2-40B4-BE49-F238E27FC236}">
                <a16:creationId xmlns:a16="http://schemas.microsoft.com/office/drawing/2014/main" id="{A8A7CEA5-195D-4DB0-B5A3-06CEEA93C108}"/>
              </a:ext>
            </a:extLst>
          </p:cNvPr>
          <p:cNvSpPr>
            <a:spLocks noGrp="1"/>
          </p:cNvSpPr>
          <p:nvPr>
            <p:ph type="body" idx="4" hasCustomPrompt="1"/>
          </p:nvPr>
        </p:nvSpPr>
        <p:spPr>
          <a:xfrm>
            <a:off x="6150864"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Right">
            <a:extLst>
              <a:ext uri="{FF2B5EF4-FFF2-40B4-BE49-F238E27FC236}">
                <a16:creationId xmlns:a16="http://schemas.microsoft.com/office/drawing/2014/main" id="{BC11431A-8924-465C-98E0-6E4655C69AA7}"/>
              </a:ext>
            </a:extLst>
          </p:cNvPr>
          <p:cNvSpPr>
            <a:spLocks noGrp="1"/>
          </p:cNvSpPr>
          <p:nvPr>
            <p:ph type="body" idx="5" hasCustomPrompt="1"/>
          </p:nvPr>
        </p:nvSpPr>
        <p:spPr>
          <a:xfrm>
            <a:off x="9043416"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3985460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reserve="1">
  <p:cSld name="Title, 4 Headers, and 4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DFFC9D1B-8040-4CD3-B060-07560FFB49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1560"/>
            <a:ext cx="11484864" cy="457200"/>
          </a:xfrm>
          <a:prstGeom prst="rect">
            <a:avLst/>
          </a:prstGeom>
        </p:spPr>
      </p:pic>
      <p:sp>
        <p:nvSpPr>
          <p:cNvPr id="97" name="Slide Number">
            <a:extLst>
              <a:ext uri="{FF2B5EF4-FFF2-40B4-BE49-F238E27FC236}">
                <a16:creationId xmlns:a16="http://schemas.microsoft.com/office/drawing/2014/main" id="{801112C1-CB8D-4535-B2A1-5048E573106F}"/>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headers, and 4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4408"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Center Left">
            <a:extLst>
              <a:ext uri="{FF2B5EF4-FFF2-40B4-BE49-F238E27FC236}">
                <a16:creationId xmlns:a16="http://schemas.microsoft.com/office/drawing/2014/main" id="{7F5B85B9-BABC-44F6-B2AE-99F02670D702}"/>
              </a:ext>
            </a:extLst>
          </p:cNvPr>
          <p:cNvSpPr>
            <a:spLocks noGrp="1"/>
          </p:cNvSpPr>
          <p:nvPr>
            <p:ph type="body" idx="3" hasCustomPrompt="1"/>
          </p:nvPr>
        </p:nvSpPr>
        <p:spPr>
          <a:xfrm>
            <a:off x="3264408"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Cent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6163056"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6163056"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5" name="Content Header Right">
            <a:extLst>
              <a:ext uri="{FF2B5EF4-FFF2-40B4-BE49-F238E27FC236}">
                <a16:creationId xmlns:a16="http://schemas.microsoft.com/office/drawing/2014/main" id="{ED932AC6-C3A8-487A-A17E-48D0C368204C}"/>
              </a:ext>
            </a:extLst>
          </p:cNvPr>
          <p:cNvSpPr>
            <a:spLocks noGrp="1"/>
          </p:cNvSpPr>
          <p:nvPr>
            <p:ph type="body" idx="15" hasCustomPrompt="1"/>
          </p:nvPr>
        </p:nvSpPr>
        <p:spPr>
          <a:xfrm>
            <a:off x="9061704"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7CF59EA0-9039-4A19-8197-DA073A0DB52B}"/>
              </a:ext>
            </a:extLst>
          </p:cNvPr>
          <p:cNvSpPr>
            <a:spLocks noGrp="1"/>
          </p:cNvSpPr>
          <p:nvPr>
            <p:ph type="body" idx="5" hasCustomPrompt="1"/>
          </p:nvPr>
        </p:nvSpPr>
        <p:spPr>
          <a:xfrm>
            <a:off x="9061704"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501295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Header, 4 Lg Pic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7"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4 large pictures, and 4 labels</a:t>
            </a:r>
          </a:p>
        </p:txBody>
      </p:sp>
      <p:pic>
        <p:nvPicPr>
          <p:cNvPr id="99" name="Divider">
            <a:extLst>
              <a:ext uri="{FF2B5EF4-FFF2-40B4-BE49-F238E27FC236}">
                <a16:creationId xmlns:a16="http://schemas.microsoft.com/office/drawing/2014/main" id="{59FB098F-E843-4BDC-8C23-7C327B2DE964}"/>
              </a:ext>
              <a:ext uri="{C183D7F6-B498-43B3-948B-1728B52AA6E4}">
                <adec:decorative xmlns:adec="http://schemas.microsoft.com/office/drawing/2017/decorative" val="1"/>
              </a:ext>
            </a:extLst>
          </p:cNvPr>
          <p:cNvPicPr preferRelativeResize="0">
            <a:picLocks/>
          </p:cNvPicPr>
          <p:nvPr/>
        </p:nvPicPr>
        <p:blipFill rotWithShape="1">
          <a:blip r:embed="rId3">
            <a:extLst>
              <a:ext uri="{28A0092B-C50C-407E-A947-70E740481C1C}">
                <a14:useLocalDpi xmlns:a14="http://schemas.microsoft.com/office/drawing/2010/main" val="0"/>
              </a:ext>
            </a:extLst>
          </a:blip>
          <a:srcRect t="70015" r="1112" b="19988"/>
          <a:stretch/>
        </p:blipFill>
        <p:spPr>
          <a:xfrm>
            <a:off x="365760" y="1037751"/>
            <a:ext cx="11466576" cy="45719"/>
          </a:xfrm>
          <a:prstGeom prst="rect">
            <a:avLst/>
          </a:prstGeom>
        </p:spPr>
      </p:pic>
      <p:sp>
        <p:nvSpPr>
          <p:cNvPr id="2" name="Content Top">
            <a:extLst>
              <a:ext uri="{FF2B5EF4-FFF2-40B4-BE49-F238E27FC236}">
                <a16:creationId xmlns:a16="http://schemas.microsoft.com/office/drawing/2014/main" id="{CEBB69C5-28A4-4F99-A9FE-572F9D53CF4E}"/>
              </a:ext>
            </a:extLst>
          </p:cNvPr>
          <p:cNvSpPr>
            <a:spLocks noGrp="1"/>
          </p:cNvSpPr>
          <p:nvPr>
            <p:ph type="body" idx="2" hasCustomPrompt="1"/>
          </p:nvPr>
        </p:nvSpPr>
        <p:spPr>
          <a:xfrm>
            <a:off x="365760" y="1046879"/>
            <a:ext cx="11466576" cy="1099688"/>
          </a:xfrm>
          <a:noFill/>
          <a:ln>
            <a:noFill/>
          </a:ln>
        </p:spPr>
        <p:txBody>
          <a:bodyPr lIns="91440" anchor="ctr">
            <a:normAutofit/>
          </a:bodyPr>
          <a:lstStyle>
            <a:lvl1pPr marL="0" indent="0">
              <a:lnSpc>
                <a:spcPct val="100000"/>
              </a:lnSpc>
              <a:spcBef>
                <a:spcPts val="0"/>
              </a:spcBef>
              <a:spcAft>
                <a:spcPts val="0"/>
              </a:spcAft>
              <a:buNone/>
              <a:defRPr sz="28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38603"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5ACBD598-6775-4223-B2AB-B169A112E3FF}"/>
              </a:ext>
            </a:extLst>
          </p:cNvPr>
          <p:cNvSpPr>
            <a:spLocks noGrp="1"/>
          </p:cNvSpPr>
          <p:nvPr>
            <p:ph type="body" idx="3" hasCustomPrompt="1"/>
          </p:nvPr>
        </p:nvSpPr>
        <p:spPr>
          <a:xfrm>
            <a:off x="365760"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37251"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4" name="Content Center Left">
            <a:extLst>
              <a:ext uri="{FF2B5EF4-FFF2-40B4-BE49-F238E27FC236}">
                <a16:creationId xmlns:a16="http://schemas.microsoft.com/office/drawing/2014/main" id="{7F5B85B9-BABC-44F6-B2AE-99F02670D702}"/>
              </a:ext>
            </a:extLst>
          </p:cNvPr>
          <p:cNvSpPr>
            <a:spLocks noGrp="1"/>
          </p:cNvSpPr>
          <p:nvPr>
            <p:ph type="body" idx="4" hasCustomPrompt="1"/>
          </p:nvPr>
        </p:nvSpPr>
        <p:spPr>
          <a:xfrm>
            <a:off x="3264408"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35899"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5" name="Content Center Right">
            <a:extLst>
              <a:ext uri="{FF2B5EF4-FFF2-40B4-BE49-F238E27FC236}">
                <a16:creationId xmlns:a16="http://schemas.microsoft.com/office/drawing/2014/main" id="{FD28CF85-103D-4AC7-BF7A-D32715F9433A}"/>
              </a:ext>
            </a:extLst>
          </p:cNvPr>
          <p:cNvSpPr>
            <a:spLocks noGrp="1"/>
          </p:cNvSpPr>
          <p:nvPr>
            <p:ph type="body" idx="5" hasCustomPrompt="1"/>
          </p:nvPr>
        </p:nvSpPr>
        <p:spPr>
          <a:xfrm>
            <a:off x="616305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334547"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6" name="Content Right">
            <a:extLst>
              <a:ext uri="{FF2B5EF4-FFF2-40B4-BE49-F238E27FC236}">
                <a16:creationId xmlns:a16="http://schemas.microsoft.com/office/drawing/2014/main" id="{528A167E-DBEB-4BD8-B32A-B1DBF78AA248}"/>
              </a:ext>
            </a:extLst>
          </p:cNvPr>
          <p:cNvSpPr>
            <a:spLocks noGrp="1"/>
          </p:cNvSpPr>
          <p:nvPr>
            <p:ph type="body" idx="6" hasCustomPrompt="1"/>
          </p:nvPr>
        </p:nvSpPr>
        <p:spPr>
          <a:xfrm>
            <a:off x="904341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Tree>
    <p:custDataLst>
      <p:tags r:id="rId1"/>
    </p:custDataLst>
    <p:extLst>
      <p:ext uri="{BB962C8B-B14F-4D97-AF65-F5344CB8AC3E}">
        <p14:creationId xmlns:p14="http://schemas.microsoft.com/office/powerpoint/2010/main" val="16930579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4 Lg Pics, 4 Headers, and 4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0708DD83-40E9-4CDD-ADF1-464460D88C82}"/>
              </a:ext>
              <a:ext uri="{C183D7F6-B498-43B3-948B-1728B52AA6E4}">
                <adec:decorative xmlns:adec="http://schemas.microsoft.com/office/drawing/2017/decorative" val="1"/>
              </a:ext>
            </a:extLst>
          </p:cNvPr>
          <p:cNvGrpSpPr/>
          <p:nvPr/>
        </p:nvGrpSpPr>
        <p:grpSpPr>
          <a:xfrm>
            <a:off x="365759" y="1028377"/>
            <a:ext cx="11484865" cy="2877528"/>
            <a:chOff x="365759" y="1028377"/>
            <a:chExt cx="11484865" cy="2877528"/>
          </a:xfrm>
        </p:grpSpPr>
        <p:pic>
          <p:nvPicPr>
            <p:cNvPr id="96" name="Background">
              <a:extLst>
                <a:ext uri="{FF2B5EF4-FFF2-40B4-BE49-F238E27FC236}">
                  <a16:creationId xmlns:a16="http://schemas.microsoft.com/office/drawing/2014/main" id="{81AD1A9F-B900-4260-B582-AC445A80FAD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48705"/>
              <a:ext cx="11484864" cy="457200"/>
            </a:xfrm>
            <a:prstGeom prst="rect">
              <a:avLst/>
            </a:prstGeom>
          </p:spPr>
        </p:pic>
        <p:pic>
          <p:nvPicPr>
            <p:cNvPr id="95" name="Divider">
              <a:extLst>
                <a:ext uri="{FF2B5EF4-FFF2-40B4-BE49-F238E27FC236}">
                  <a16:creationId xmlns:a16="http://schemas.microsoft.com/office/drawing/2014/main" id="{B4D28540-5567-49EC-BB23-4B27A199DFB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pictures, 4 headers, and 4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172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128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1360"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Left Center">
            <a:extLst>
              <a:ext uri="{FF2B5EF4-FFF2-40B4-BE49-F238E27FC236}">
                <a16:creationId xmlns:a16="http://schemas.microsoft.com/office/drawing/2014/main" id="{8F2CF915-F007-4E72-A31F-37CC3AA65001}"/>
              </a:ext>
            </a:extLst>
          </p:cNvPr>
          <p:cNvSpPr>
            <a:spLocks noGrp="1"/>
          </p:cNvSpPr>
          <p:nvPr>
            <p:ph type="body" idx="3" hasCustomPrompt="1"/>
          </p:nvPr>
        </p:nvSpPr>
        <p:spPr>
          <a:xfrm>
            <a:off x="32613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145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63057"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6C78D37F-DE17-4FBA-A995-39FC21020DD5}"/>
              </a:ext>
            </a:extLst>
          </p:cNvPr>
          <p:cNvSpPr>
            <a:spLocks noGrp="1"/>
          </p:cNvSpPr>
          <p:nvPr>
            <p:ph type="body" idx="4" hasCustomPrompt="1"/>
          </p:nvPr>
        </p:nvSpPr>
        <p:spPr>
          <a:xfrm>
            <a:off x="6163057"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29487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B17A76EF-1D7E-4BB9-BAFA-8EAA0807E356}"/>
              </a:ext>
            </a:extLst>
          </p:cNvPr>
          <p:cNvSpPr>
            <a:spLocks noGrp="1"/>
          </p:cNvSpPr>
          <p:nvPr>
            <p:ph type="subTitle" idx="15" hasCustomPrompt="1"/>
          </p:nvPr>
        </p:nvSpPr>
        <p:spPr>
          <a:xfrm>
            <a:off x="9043416"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27E7417F-ED15-4B52-BEED-6B9D37EE656E}"/>
              </a:ext>
            </a:extLst>
          </p:cNvPr>
          <p:cNvSpPr>
            <a:spLocks noGrp="1"/>
          </p:cNvSpPr>
          <p:nvPr>
            <p:ph type="body" idx="5" hasCustomPrompt="1"/>
          </p:nvPr>
        </p:nvSpPr>
        <p:spPr>
          <a:xfrm>
            <a:off x="9043416"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32552628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Title, 4 Sm Pics, 4 Headers, and 4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28F246DA-91CA-4502-BC7A-2F8E9D697FB1}"/>
              </a:ext>
              <a:ext uri="{C183D7F6-B498-43B3-948B-1728B52AA6E4}">
                <adec:decorative xmlns:adec="http://schemas.microsoft.com/office/drawing/2017/decorative" val="1"/>
              </a:ext>
            </a:extLst>
          </p:cNvPr>
          <p:cNvGrpSpPr/>
          <p:nvPr/>
        </p:nvGrpSpPr>
        <p:grpSpPr>
          <a:xfrm>
            <a:off x="365759" y="1028377"/>
            <a:ext cx="11484865" cy="2347997"/>
            <a:chOff x="365759" y="1028377"/>
            <a:chExt cx="11484865" cy="2347997"/>
          </a:xfrm>
        </p:grpSpPr>
        <p:pic>
          <p:nvPicPr>
            <p:cNvPr id="96" name="Background">
              <a:extLst>
                <a:ext uri="{FF2B5EF4-FFF2-40B4-BE49-F238E27FC236}">
                  <a16:creationId xmlns:a16="http://schemas.microsoft.com/office/drawing/2014/main" id="{4AA958CB-79BC-4221-AF92-52A941BCA87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2919174"/>
              <a:ext cx="11484864" cy="457200"/>
            </a:xfrm>
            <a:prstGeom prst="rect">
              <a:avLst/>
            </a:prstGeom>
          </p:spPr>
        </p:pic>
        <p:pic>
          <p:nvPicPr>
            <p:cNvPr id="95" name="Divider">
              <a:extLst>
                <a:ext uri="{FF2B5EF4-FFF2-40B4-BE49-F238E27FC236}">
                  <a16:creationId xmlns:a16="http://schemas.microsoft.com/office/drawing/2014/main" id="{B776EBEE-87DA-49C8-A876-AA9E9DCA162E}"/>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61D9C16A-E9FD-4A2D-A4D2-A79A6CA8EB58}"/>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4 small pictures, 4 headers, and 4 text fields</a:t>
            </a:r>
          </a:p>
        </p:txBody>
      </p:sp>
      <p:sp>
        <p:nvSpPr>
          <p:cNvPr id="22" name="Picture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845820"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65760"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65760"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3" name="Picture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738372"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58312"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58312"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4" name="Picture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630924"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50864"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50864"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5" name="Picture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23476"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43416"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43416"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409866848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Title, 4 Lg Pics,and 4 Header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C2DB4ABF-FC80-43CA-AA01-B072E9DC200B}"/>
              </a:ext>
              <a:ext uri="{C183D7F6-B498-43B3-948B-1728B52AA6E4}">
                <adec:decorative xmlns:adec="http://schemas.microsoft.com/office/drawing/2017/decorative" val="1"/>
              </a:ext>
            </a:extLst>
          </p:cNvPr>
          <p:cNvGrpSpPr/>
          <p:nvPr/>
        </p:nvGrpSpPr>
        <p:grpSpPr>
          <a:xfrm>
            <a:off x="365759" y="1028377"/>
            <a:ext cx="11484865" cy="4173818"/>
            <a:chOff x="365759" y="1028377"/>
            <a:chExt cx="11484865" cy="4173818"/>
          </a:xfrm>
        </p:grpSpPr>
        <p:pic>
          <p:nvPicPr>
            <p:cNvPr id="96" name="Divider">
              <a:extLst>
                <a:ext uri="{FF2B5EF4-FFF2-40B4-BE49-F238E27FC236}">
                  <a16:creationId xmlns:a16="http://schemas.microsoft.com/office/drawing/2014/main" id="{F6D00736-4E44-4617-83F3-B5A93F28ED8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Background">
              <a:extLst>
                <a:ext uri="{FF2B5EF4-FFF2-40B4-BE49-F238E27FC236}">
                  <a16:creationId xmlns:a16="http://schemas.microsoft.com/office/drawing/2014/main" id="{37E98482-26B4-4B27-9672-386980590A8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60" y="4744995"/>
              <a:ext cx="11484864" cy="457200"/>
            </a:xfrm>
            <a:prstGeom prst="rect">
              <a:avLst/>
            </a:prstGeom>
          </p:spPr>
        </p:pic>
      </p:grpSp>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large pictures, and 4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365760"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258312"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58312"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150864"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50864"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043416"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Right">
            <a:extLst>
              <a:ext uri="{FF2B5EF4-FFF2-40B4-BE49-F238E27FC236}">
                <a16:creationId xmlns:a16="http://schemas.microsoft.com/office/drawing/2014/main" id="{B17A76EF-1D7E-4BB9-BAFA-8EAA0807E356}"/>
              </a:ext>
            </a:extLst>
          </p:cNvPr>
          <p:cNvSpPr>
            <a:spLocks noGrp="1"/>
          </p:cNvSpPr>
          <p:nvPr>
            <p:ph type="body" idx="15" hasCustomPrompt="1"/>
          </p:nvPr>
        </p:nvSpPr>
        <p:spPr>
          <a:xfrm>
            <a:off x="9043416"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16805585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Title, 6 Pics, and 6 Text Box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5E62986-2CB5-4C74-BFA0-36B722DD63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36A79036-863F-433F-8D16-845BBBCE41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1 text box, 6 Images, and 6 text boxes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151638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83058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3" name="Picture Top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518160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3" name="Content Top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449580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4" name="Picture Top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8852916"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Top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8167116"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5" name="Picture Bottom Lef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151638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5" name="Content Bottom Lef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83058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6" name="Picture Bottom Center">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518160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Bottom Center">
            <a:extLst>
              <a:ext uri="{FF2B5EF4-FFF2-40B4-BE49-F238E27FC236}">
                <a16:creationId xmlns:a16="http://schemas.microsoft.com/office/drawing/2014/main" id="{4D93D3AB-1EE8-404D-9F8C-ED6967836914}"/>
              </a:ext>
            </a:extLst>
          </p:cNvPr>
          <p:cNvSpPr>
            <a:spLocks noGrp="1"/>
          </p:cNvSpPr>
          <p:nvPr>
            <p:ph type="body" idx="6" hasCustomPrompt="1"/>
          </p:nvPr>
        </p:nvSpPr>
        <p:spPr>
          <a:xfrm>
            <a:off x="449580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7" name="Picture Bottom Right">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8852916"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7" name="Content Bottom Right">
            <a:extLst>
              <a:ext uri="{FF2B5EF4-FFF2-40B4-BE49-F238E27FC236}">
                <a16:creationId xmlns:a16="http://schemas.microsoft.com/office/drawing/2014/main" id="{E00DC7A1-D213-4110-B8F7-671693ED3BA2}"/>
              </a:ext>
            </a:extLst>
          </p:cNvPr>
          <p:cNvSpPr>
            <a:spLocks noGrp="1"/>
          </p:cNvSpPr>
          <p:nvPr>
            <p:ph type="body" idx="7" hasCustomPrompt="1"/>
          </p:nvPr>
        </p:nvSpPr>
        <p:spPr>
          <a:xfrm>
            <a:off x="8167116"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158684019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Title and 8 pictur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6549563-E04B-4657-8321-4C6934FCD32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E705BC3-4D3C-4BF3-801C-BFF823D8CAA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8 pictures</a:t>
            </a:r>
          </a:p>
        </p:txBody>
      </p:sp>
      <p:sp>
        <p:nvSpPr>
          <p:cNvPr id="22" name="Picture 1">
            <a:extLst>
              <a:ext uri="{FF2B5EF4-FFF2-40B4-BE49-F238E27FC236}">
                <a16:creationId xmlns:a16="http://schemas.microsoft.com/office/drawing/2014/main" id="{01E0569B-0304-4CF2-95FE-74EEAC9AEC38}"/>
              </a:ext>
              <a:ext uri="{C183D7F6-B498-43B3-948B-1728B52AA6E4}">
                <adec:decorative xmlns:adec="http://schemas.microsoft.com/office/drawing/2017/decorative" val="1"/>
              </a:ext>
            </a:extLst>
          </p:cNvPr>
          <p:cNvSpPr>
            <a:spLocks noGrp="1"/>
          </p:cNvSpPr>
          <p:nvPr>
            <p:ph type="pic" idx="22" hasCustomPrompt="1"/>
          </p:nvPr>
        </p:nvSpPr>
        <p:spPr>
          <a:xfrm>
            <a:off x="640080"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3" name="Picture 2">
            <a:extLst>
              <a:ext uri="{FF2B5EF4-FFF2-40B4-BE49-F238E27FC236}">
                <a16:creationId xmlns:a16="http://schemas.microsoft.com/office/drawing/2014/main" id="{4E39BCC2-7E6B-49A6-88A7-4389D0876599}"/>
              </a:ext>
              <a:ext uri="{C183D7F6-B498-43B3-948B-1728B52AA6E4}">
                <adec:decorative xmlns:adec="http://schemas.microsoft.com/office/drawing/2017/decorative" val="1"/>
              </a:ext>
            </a:extLst>
          </p:cNvPr>
          <p:cNvSpPr>
            <a:spLocks noGrp="1"/>
          </p:cNvSpPr>
          <p:nvPr>
            <p:ph type="pic" idx="23" hasCustomPrompt="1"/>
          </p:nvPr>
        </p:nvSpPr>
        <p:spPr>
          <a:xfrm>
            <a:off x="3517392"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4" name="Picture 3">
            <a:extLst>
              <a:ext uri="{FF2B5EF4-FFF2-40B4-BE49-F238E27FC236}">
                <a16:creationId xmlns:a16="http://schemas.microsoft.com/office/drawing/2014/main" id="{292A7B23-5883-4A03-AA9E-D7887267A0B5}"/>
              </a:ext>
              <a:ext uri="{C183D7F6-B498-43B3-948B-1728B52AA6E4}">
                <adec:decorative xmlns:adec="http://schemas.microsoft.com/office/drawing/2017/decorative" val="1"/>
              </a:ext>
            </a:extLst>
          </p:cNvPr>
          <p:cNvSpPr>
            <a:spLocks noGrp="1"/>
          </p:cNvSpPr>
          <p:nvPr>
            <p:ph type="pic" idx="24" hasCustomPrompt="1"/>
          </p:nvPr>
        </p:nvSpPr>
        <p:spPr>
          <a:xfrm>
            <a:off x="6394704"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5" name="Picture 4">
            <a:extLst>
              <a:ext uri="{FF2B5EF4-FFF2-40B4-BE49-F238E27FC236}">
                <a16:creationId xmlns:a16="http://schemas.microsoft.com/office/drawing/2014/main" id="{871FBC72-3D16-49CE-BD02-AD416196D37A}"/>
              </a:ext>
              <a:ext uri="{C183D7F6-B498-43B3-948B-1728B52AA6E4}">
                <adec:decorative xmlns:adec="http://schemas.microsoft.com/office/drawing/2017/decorative" val="1"/>
              </a:ext>
            </a:extLst>
          </p:cNvPr>
          <p:cNvSpPr>
            <a:spLocks noGrp="1"/>
          </p:cNvSpPr>
          <p:nvPr>
            <p:ph type="pic" idx="25" hasCustomPrompt="1"/>
          </p:nvPr>
        </p:nvSpPr>
        <p:spPr>
          <a:xfrm>
            <a:off x="9272016"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6" name="Picture 5">
            <a:extLst>
              <a:ext uri="{FF2B5EF4-FFF2-40B4-BE49-F238E27FC236}">
                <a16:creationId xmlns:a16="http://schemas.microsoft.com/office/drawing/2014/main" id="{CCC335E7-FA18-44DB-ACBC-F2DABE9FB384}"/>
              </a:ext>
              <a:ext uri="{C183D7F6-B498-43B3-948B-1728B52AA6E4}">
                <adec:decorative xmlns:adec="http://schemas.microsoft.com/office/drawing/2017/decorative" val="1"/>
              </a:ext>
            </a:extLst>
          </p:cNvPr>
          <p:cNvSpPr>
            <a:spLocks noGrp="1"/>
          </p:cNvSpPr>
          <p:nvPr>
            <p:ph type="pic" idx="26" hasCustomPrompt="1"/>
          </p:nvPr>
        </p:nvSpPr>
        <p:spPr>
          <a:xfrm>
            <a:off x="640080"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7" name="Picture 6">
            <a:extLst>
              <a:ext uri="{FF2B5EF4-FFF2-40B4-BE49-F238E27FC236}">
                <a16:creationId xmlns:a16="http://schemas.microsoft.com/office/drawing/2014/main" id="{BB740650-61A2-4FDC-8700-54D96F01FF5A}"/>
              </a:ext>
              <a:ext uri="{C183D7F6-B498-43B3-948B-1728B52AA6E4}">
                <adec:decorative xmlns:adec="http://schemas.microsoft.com/office/drawing/2017/decorative" val="1"/>
              </a:ext>
            </a:extLst>
          </p:cNvPr>
          <p:cNvSpPr>
            <a:spLocks noGrp="1"/>
          </p:cNvSpPr>
          <p:nvPr>
            <p:ph type="pic" idx="27" hasCustomPrompt="1"/>
          </p:nvPr>
        </p:nvSpPr>
        <p:spPr>
          <a:xfrm>
            <a:off x="3517392"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8" name="Picture 7">
            <a:extLst>
              <a:ext uri="{FF2B5EF4-FFF2-40B4-BE49-F238E27FC236}">
                <a16:creationId xmlns:a16="http://schemas.microsoft.com/office/drawing/2014/main" id="{CA951A10-B648-4F4E-87FD-97FD8FEB4106}"/>
              </a:ext>
              <a:ext uri="{C183D7F6-B498-43B3-948B-1728B52AA6E4}">
                <adec:decorative xmlns:adec="http://schemas.microsoft.com/office/drawing/2017/decorative" val="1"/>
              </a:ext>
            </a:extLst>
          </p:cNvPr>
          <p:cNvSpPr>
            <a:spLocks noGrp="1"/>
          </p:cNvSpPr>
          <p:nvPr>
            <p:ph type="pic" idx="28" hasCustomPrompt="1"/>
          </p:nvPr>
        </p:nvSpPr>
        <p:spPr>
          <a:xfrm>
            <a:off x="6394704"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9" name="Picture 8">
            <a:extLst>
              <a:ext uri="{FF2B5EF4-FFF2-40B4-BE49-F238E27FC236}">
                <a16:creationId xmlns:a16="http://schemas.microsoft.com/office/drawing/2014/main" id="{1F4C4007-9EA0-4D1F-938D-A38B105119E9}"/>
              </a:ext>
              <a:ext uri="{C183D7F6-B498-43B3-948B-1728B52AA6E4}">
                <adec:decorative xmlns:adec="http://schemas.microsoft.com/office/drawing/2017/decorative" val="1"/>
              </a:ext>
            </a:extLst>
          </p:cNvPr>
          <p:cNvSpPr>
            <a:spLocks noGrp="1"/>
          </p:cNvSpPr>
          <p:nvPr>
            <p:ph type="pic" idx="29" hasCustomPrompt="1"/>
          </p:nvPr>
        </p:nvSpPr>
        <p:spPr>
          <a:xfrm>
            <a:off x="9272016"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5360166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8 Sm Pic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D6BA6E7-5899-45FE-A720-127BD53EEDD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Lst>
          </p:cNvPr>
          <p:cNvSpPr>
            <a:spLocks noGrp="1"/>
          </p:cNvSpPr>
          <p:nvPr>
            <p:ph type="body" idx="16" hasCustomPrompt="1"/>
          </p:nvPr>
        </p:nvSpPr>
        <p:spPr>
          <a:xfrm>
            <a:off x="388620"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Tree>
    <p:custDataLst>
      <p:tags r:id="rId1"/>
    </p:custDataLst>
    <p:extLst>
      <p:ext uri="{BB962C8B-B14F-4D97-AF65-F5344CB8AC3E}">
        <p14:creationId xmlns:p14="http://schemas.microsoft.com/office/powerpoint/2010/main" val="3427812452"/>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Title, 8 Sm Pics, 8 Headers, and 8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935D4C44-4726-4FC3-A8AA-03445F8D8733}"/>
              </a:ext>
              <a:ext uri="{C183D7F6-B498-43B3-948B-1728B52AA6E4}">
                <adec:decorative xmlns:adec="http://schemas.microsoft.com/office/drawing/2017/decorative" val="1"/>
              </a:ext>
            </a:extLst>
          </p:cNvPr>
          <p:cNvGrpSpPr/>
          <p:nvPr/>
        </p:nvGrpSpPr>
        <p:grpSpPr>
          <a:xfrm>
            <a:off x="365759" y="1028377"/>
            <a:ext cx="11484864" cy="4791549"/>
            <a:chOff x="365759" y="1028377"/>
            <a:chExt cx="11484864" cy="4791549"/>
          </a:xfrm>
        </p:grpSpPr>
        <p:pic>
          <p:nvPicPr>
            <p:cNvPr id="96" name="Background">
              <a:extLst>
                <a:ext uri="{FF2B5EF4-FFF2-40B4-BE49-F238E27FC236}">
                  <a16:creationId xmlns:a16="http://schemas.microsoft.com/office/drawing/2014/main" id="{14CBF7C4-FBD4-4D0D-BD04-8E2CD586D72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8620" y="2816120"/>
              <a:ext cx="11443716" cy="320040"/>
            </a:xfrm>
            <a:prstGeom prst="rect">
              <a:avLst/>
            </a:prstGeom>
          </p:spPr>
        </p:pic>
        <p:pic>
          <p:nvPicPr>
            <p:cNvPr id="95" name="Background">
              <a:extLst>
                <a:ext uri="{FF2B5EF4-FFF2-40B4-BE49-F238E27FC236}">
                  <a16:creationId xmlns:a16="http://schemas.microsoft.com/office/drawing/2014/main" id="{1C58BDB7-165B-4517-A042-E46D3D85D196}"/>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8620" y="5499886"/>
              <a:ext cx="11443716" cy="320040"/>
            </a:xfrm>
            <a:prstGeom prst="rect">
              <a:avLst/>
            </a:prstGeom>
          </p:spPr>
        </p:pic>
        <p:pic>
          <p:nvPicPr>
            <p:cNvPr id="94" name="Divider">
              <a:extLst>
                <a:ext uri="{FF2B5EF4-FFF2-40B4-BE49-F238E27FC236}">
                  <a16:creationId xmlns:a16="http://schemas.microsoft.com/office/drawing/2014/main" id="{987C7E22-9002-48C2-9498-CFDECD00E89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8 headers,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88620"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Top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65932"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Top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43244"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Top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20556"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 uri="{C183D7F6-B498-43B3-948B-1728B52AA6E4}">
                <adec:decorative xmlns:adec="http://schemas.microsoft.com/office/drawing/2017/decorative" val="0"/>
              </a:ext>
            </a:extLst>
          </p:cNvPr>
          <p:cNvSpPr>
            <a:spLocks noGrp="1"/>
          </p:cNvSpPr>
          <p:nvPr>
            <p:ph type="body" idx="16" hasCustomPrompt="1"/>
          </p:nvPr>
        </p:nvSpPr>
        <p:spPr>
          <a:xfrm>
            <a:off x="388620"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6" name="Content Bottom Left">
            <a:extLst>
              <a:ext uri="{FF2B5EF4-FFF2-40B4-BE49-F238E27FC236}">
                <a16:creationId xmlns:a16="http://schemas.microsoft.com/office/drawing/2014/main" id="{4D93D3AB-1EE8-404D-9F8C-ED6967836914}"/>
              </a:ext>
            </a:extLst>
          </p:cNvPr>
          <p:cNvSpPr>
            <a:spLocks noGrp="1"/>
          </p:cNvSpPr>
          <p:nvPr>
            <p:ph type="body" idx="6" hasCustomPrompt="1"/>
          </p:nvPr>
        </p:nvSpPr>
        <p:spPr>
          <a:xfrm>
            <a:off x="388620"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Bottom Left Center">
            <a:extLst>
              <a:ext uri="{FF2B5EF4-FFF2-40B4-BE49-F238E27FC236}">
                <a16:creationId xmlns:a16="http://schemas.microsoft.com/office/drawing/2014/main" id="{E00DC7A1-D213-4110-B8F7-671693ED3BA2}"/>
              </a:ext>
            </a:extLst>
          </p:cNvPr>
          <p:cNvSpPr>
            <a:spLocks noGrp="1"/>
          </p:cNvSpPr>
          <p:nvPr>
            <p:ph type="body" idx="7" hasCustomPrompt="1"/>
          </p:nvPr>
        </p:nvSpPr>
        <p:spPr>
          <a:xfrm>
            <a:off x="3265932"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Bottom Center Right">
            <a:extLst>
              <a:ext uri="{FF2B5EF4-FFF2-40B4-BE49-F238E27FC236}">
                <a16:creationId xmlns:a16="http://schemas.microsoft.com/office/drawing/2014/main" id="{9B368858-C97D-421E-8EFA-7300741447EE}"/>
              </a:ext>
            </a:extLst>
          </p:cNvPr>
          <p:cNvSpPr>
            <a:spLocks noGrp="1"/>
          </p:cNvSpPr>
          <p:nvPr>
            <p:ph type="body" idx="8" hasCustomPrompt="1"/>
          </p:nvPr>
        </p:nvSpPr>
        <p:spPr>
          <a:xfrm>
            <a:off x="6143244"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9" hasCustomPrompt="1"/>
          </p:nvPr>
        </p:nvSpPr>
        <p:spPr>
          <a:xfrm>
            <a:off x="9592056"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1" name="Content Bottom Right">
            <a:extLst>
              <a:ext uri="{FF2B5EF4-FFF2-40B4-BE49-F238E27FC236}">
                <a16:creationId xmlns:a16="http://schemas.microsoft.com/office/drawing/2014/main" id="{FD06B556-F6DC-4CCE-8B02-F0089954096F}"/>
              </a:ext>
            </a:extLst>
          </p:cNvPr>
          <p:cNvSpPr>
            <a:spLocks noGrp="1"/>
          </p:cNvSpPr>
          <p:nvPr>
            <p:ph type="body" idx="9" hasCustomPrompt="1"/>
          </p:nvPr>
        </p:nvSpPr>
        <p:spPr>
          <a:xfrm>
            <a:off x="9020556"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923038984"/>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x" preserve="1">
  <p:cSld name="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layout</a:t>
            </a:r>
          </a:p>
        </p:txBody>
      </p:sp>
    </p:spTree>
    <p:custDataLst>
      <p:tags r:id="rId1"/>
    </p:custDataLst>
    <p:extLst>
      <p:ext uri="{BB962C8B-B14F-4D97-AF65-F5344CB8AC3E}">
        <p14:creationId xmlns:p14="http://schemas.microsoft.com/office/powerpoint/2010/main" val="15523815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reserve="1">
  <p:cSld name="Title Only Blank">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05A6DC6-12AE-4044-A010-638B96074F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blank layout</a:t>
            </a:r>
          </a:p>
        </p:txBody>
      </p:sp>
    </p:spTree>
    <p:custDataLst>
      <p:tags r:id="rId1"/>
    </p:custDataLst>
    <p:extLst>
      <p:ext uri="{BB962C8B-B14F-4D97-AF65-F5344CB8AC3E}">
        <p14:creationId xmlns:p14="http://schemas.microsoft.com/office/powerpoint/2010/main" val="40240413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26FB18C2-E834-48CB-9414-9609DFCFF50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5D396EB3-B009-41EC-883D-783B45B4000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57831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299526"/>
            <a:ext cx="11466576" cy="289591"/>
          </a:xfrm>
        </p:spPr>
        <p:txBody>
          <a:bodyPr>
            <a:noAutofit/>
          </a:bodyPr>
          <a:lstStyle>
            <a:lvl1pPr>
              <a:defRPr sz="1600">
                <a:solidFill>
                  <a:srgbClr val="232F3E"/>
                </a:solidFill>
                <a:latin typeface="Amazon Ember Display Heavy"/>
              </a:defRPr>
            </a:lvl1pPr>
          </a:lstStyle>
          <a:p>
            <a:r>
              <a:rPr lang="en-US" dirty="0"/>
              <a:t>Architecture layout</a:t>
            </a:r>
          </a:p>
        </p:txBody>
      </p:sp>
    </p:spTree>
    <p:custDataLst>
      <p:tags r:id="rId1"/>
    </p:custDataLst>
    <p:extLst>
      <p:ext uri="{BB962C8B-B14F-4D97-AF65-F5344CB8AC3E}">
        <p14:creationId xmlns:p14="http://schemas.microsoft.com/office/powerpoint/2010/main" val="38923998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4932735-622B-4285-A776-740EAD7E422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0" y="154244"/>
            <a:ext cx="12192000" cy="289591"/>
          </a:xfrm>
        </p:spPr>
        <p:txBody>
          <a:bodyPr>
            <a:normAutofit/>
          </a:bodyPr>
          <a:lstStyle>
            <a:lvl1pPr marL="228600">
              <a:defRPr sz="1600">
                <a:solidFill>
                  <a:srgbClr val="232F3E"/>
                </a:solidFill>
                <a:latin typeface="Amazon Ember Display Heavy"/>
              </a:defRPr>
            </a:lvl1pPr>
          </a:lstStyle>
          <a:p>
            <a:r>
              <a:rPr lang="en-US" dirty="0"/>
              <a:t>Full Image layout</a:t>
            </a:r>
          </a:p>
        </p:txBody>
      </p:sp>
      <p:sp>
        <p:nvSpPr>
          <p:cNvPr id="22" name="Picture">
            <a:extLst>
              <a:ext uri="{FF2B5EF4-FFF2-40B4-BE49-F238E27FC236}">
                <a16:creationId xmlns:a16="http://schemas.microsoft.com/office/drawing/2014/main" id="{3725AF1B-6140-4505-81CD-922F8227415C}"/>
              </a:ext>
              <a:ext uri="{C183D7F6-B498-43B3-948B-1728B52AA6E4}">
                <adec:decorative xmlns:adec="http://schemas.microsoft.com/office/drawing/2017/decorative" val="1"/>
              </a:ext>
            </a:extLst>
          </p:cNvPr>
          <p:cNvSpPr>
            <a:spLocks noGrp="1"/>
          </p:cNvSpPr>
          <p:nvPr>
            <p:ph type="pic" idx="22" hasCustomPrompt="1"/>
          </p:nvPr>
        </p:nvSpPr>
        <p:spPr>
          <a:xfrm>
            <a:off x="0" y="444499"/>
            <a:ext cx="12192000" cy="5979265"/>
          </a:xfrm>
        </p:spPr>
        <p:txBody>
          <a:bodyPr anchor="ctr">
            <a:noAutofit/>
          </a:bodyPr>
          <a:lstStyle>
            <a:lvl1pPr marL="0" indent="0" algn="ctr">
              <a:buNone/>
              <a:defRPr sz="36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9597407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KC-Vertic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6D2D170-961D-4140-B087-C6CFDF7BBD75}"/>
              </a:ext>
            </a:extLst>
          </p:cNvPr>
          <p:cNvSpPr>
            <a:spLocks noGrp="1"/>
          </p:cNvSpPr>
          <p:nvPr>
            <p:ph type="body" idx="13" hasCustomPrompt="1"/>
          </p:nvPr>
        </p:nvSpPr>
        <p:spPr>
          <a:xfrm>
            <a:off x="4526280" y="472744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B428E384-92E9-495A-9CAE-E33E3164F939}"/>
              </a:ext>
            </a:extLst>
          </p:cNvPr>
          <p:cNvSpPr>
            <a:spLocks noGrp="1"/>
          </p:cNvSpPr>
          <p:nvPr>
            <p:ph type="body" idx="14" hasCustomPrompt="1"/>
          </p:nvPr>
        </p:nvSpPr>
        <p:spPr>
          <a:xfrm>
            <a:off x="5431536" y="472744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DC41B7B5-B438-4885-90AE-758ABF2CA9F9}"/>
              </a:ext>
            </a:extLst>
          </p:cNvPr>
          <p:cNvSpPr>
            <a:spLocks noGrp="1"/>
          </p:cNvSpPr>
          <p:nvPr>
            <p:ph type="body" idx="15" hasCustomPrompt="1"/>
          </p:nvPr>
        </p:nvSpPr>
        <p:spPr>
          <a:xfrm>
            <a:off x="4526280" y="556869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09F72B28-4CF6-4FD1-BA4A-5A98215324E2}"/>
              </a:ext>
            </a:extLst>
          </p:cNvPr>
          <p:cNvSpPr>
            <a:spLocks noGrp="1"/>
          </p:cNvSpPr>
          <p:nvPr>
            <p:ph type="body" idx="16" hasCustomPrompt="1"/>
          </p:nvPr>
        </p:nvSpPr>
        <p:spPr>
          <a:xfrm>
            <a:off x="5431536" y="556869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49A00690-0DF5-4330-B89B-2C9BBCBD2182}"/>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237621426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KC-Vert-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6"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93617314-864D-45CC-8F94-CE423E6637F9}"/>
              </a:ext>
            </a:extLst>
          </p:cNvPr>
          <p:cNvSpPr>
            <a:spLocks noGrp="1"/>
          </p:cNvSpPr>
          <p:nvPr>
            <p:ph type="body" idx="2" hasCustomPrompt="1"/>
          </p:nvPr>
        </p:nvSpPr>
        <p:spPr>
          <a:xfrm>
            <a:off x="365760" y="1039813"/>
            <a:ext cx="4162425" cy="5407025"/>
          </a:xfrm>
        </p:spPr>
        <p:txBody>
          <a:bodyPr>
            <a:normAutofit/>
          </a:bodyPr>
          <a:lstStyle>
            <a:lvl1pPr marL="0" indent="0" algn="l">
              <a:lnSpc>
                <a:spcPct val="100000"/>
              </a:lnSpc>
              <a:buNone/>
              <a:defRPr sz="2400">
                <a:solidFill>
                  <a:srgbClr val="232F3E"/>
                </a:solidFill>
              </a:defRPr>
            </a:lvl1pPr>
            <a:lvl2pPr algn="l">
              <a:defRPr sz="2000"/>
            </a:lvl2pPr>
            <a:lvl3pPr algn="l">
              <a:defRPr sz="1800"/>
            </a:lvl3pPr>
            <a:lvl4pPr algn="l">
              <a:defRPr sz="1600"/>
            </a:lvl4pPr>
            <a:lvl5pPr algn="l">
              <a:defRPr sz="1600"/>
            </a:lvl5pPr>
          </a:lstStyle>
          <a:p>
            <a:pPr lvl="0"/>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7" name="Fifth Resp #">
            <a:extLst>
              <a:ext uri="{FF2B5EF4-FFF2-40B4-BE49-F238E27FC236}">
                <a16:creationId xmlns:a16="http://schemas.microsoft.com/office/drawing/2014/main" id="{B6D2D170-961D-4140-B087-C6CFDF7BBD75}"/>
              </a:ext>
            </a:extLst>
          </p:cNvPr>
          <p:cNvSpPr>
            <a:spLocks noGrp="1"/>
          </p:cNvSpPr>
          <p:nvPr>
            <p:ph type="body" idx="12" hasCustomPrompt="1"/>
          </p:nvPr>
        </p:nvSpPr>
        <p:spPr>
          <a:xfrm>
            <a:off x="4526280" y="472744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3" name="Fifth Resp Text">
            <a:extLst>
              <a:ext uri="{FF2B5EF4-FFF2-40B4-BE49-F238E27FC236}">
                <a16:creationId xmlns:a16="http://schemas.microsoft.com/office/drawing/2014/main" id="{B428E384-92E9-495A-9CAE-E33E3164F939}"/>
              </a:ext>
            </a:extLst>
          </p:cNvPr>
          <p:cNvSpPr>
            <a:spLocks noGrp="1"/>
          </p:cNvSpPr>
          <p:nvPr>
            <p:ph type="body" idx="13" hasCustomPrompt="1"/>
          </p:nvPr>
        </p:nvSpPr>
        <p:spPr>
          <a:xfrm>
            <a:off x="5431536" y="472744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4" name="Sixth Resp #">
            <a:extLst>
              <a:ext uri="{FF2B5EF4-FFF2-40B4-BE49-F238E27FC236}">
                <a16:creationId xmlns:a16="http://schemas.microsoft.com/office/drawing/2014/main" id="{DC41B7B5-B438-4885-90AE-758ABF2CA9F9}"/>
              </a:ext>
            </a:extLst>
          </p:cNvPr>
          <p:cNvSpPr>
            <a:spLocks noGrp="1"/>
          </p:cNvSpPr>
          <p:nvPr>
            <p:ph type="body" idx="14" hasCustomPrompt="1"/>
          </p:nvPr>
        </p:nvSpPr>
        <p:spPr>
          <a:xfrm>
            <a:off x="4526280" y="556869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5" name="Sixth Resp Text">
            <a:extLst>
              <a:ext uri="{FF2B5EF4-FFF2-40B4-BE49-F238E27FC236}">
                <a16:creationId xmlns:a16="http://schemas.microsoft.com/office/drawing/2014/main" id="{09F72B28-4CF6-4FD1-BA4A-5A98215324E2}"/>
              </a:ext>
            </a:extLst>
          </p:cNvPr>
          <p:cNvSpPr>
            <a:spLocks noGrp="1"/>
          </p:cNvSpPr>
          <p:nvPr>
            <p:ph type="body" idx="15" hasCustomPrompt="1"/>
          </p:nvPr>
        </p:nvSpPr>
        <p:spPr>
          <a:xfrm>
            <a:off x="5431536" y="556869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19470469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x" preserve="1">
  <p:cSld name="KC-Vertic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11111"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0794" y="1420597"/>
            <a:ext cx="6723145" cy="4955378"/>
          </a:xfrm>
          <a:noFill/>
        </p:spPr>
        <p:txBody>
          <a:bodyPr lIns="91440" tIns="91440" rIns="182880" bIns="0" anchor="t"/>
          <a:lstStyle>
            <a:lvl1pPr marL="0" indent="0" algn="l">
              <a:lnSpc>
                <a:spcPct val="9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005D2766-8051-4525-B84F-5BD0A1EA30C0}"/>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0886865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reserve="1">
  <p:cSld name="KC-Vert-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19E744-E8A9-4BBA-9A46-E3C8187BE86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Answer and explanation – Option 2</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07808"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1536" y="1417320"/>
            <a:ext cx="6720840" cy="4955378"/>
          </a:xfrm>
          <a:noFill/>
        </p:spPr>
        <p:txBody>
          <a:bodyPr lIns="91440" tIns="91440" rIns="182880" bIns="0" anchor="t"/>
          <a:lstStyle>
            <a:lvl1pPr marL="0" indent="0" algn="l">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265304316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QA-Horizonta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chemeClr val="bg1"/>
                </a:solidFill>
                <a:latin typeface="Amazon Ember Display Heavy"/>
              </a:defRPr>
            </a:lvl1pPr>
          </a:lstStyle>
          <a:p>
            <a:r>
              <a:rPr lang="en-US" dirty="0"/>
              <a:t>Knowledge check</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pic>
        <p:nvPicPr>
          <p:cNvPr id="13" name="Copyright1">
            <a:extLst>
              <a:ext uri="{FF2B5EF4-FFF2-40B4-BE49-F238E27FC236}">
                <a16:creationId xmlns:a16="http://schemas.microsoft.com/office/drawing/2014/main" id="{D612BC5C-D183-4F43-9348-CEF078622BC7}"/>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18162774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A-Horz-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3A540A4D-7B1F-4055-BDC7-7451D12F0E3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rgbClr val="232F3E"/>
                </a:solidFill>
                <a:latin typeface="Amazon Ember Display Heavy"/>
              </a:defRPr>
            </a:lvl1pPr>
          </a:lstStyle>
          <a:p>
            <a:r>
              <a:rPr lang="en-US" dirty="0"/>
              <a:t>Knowledge check – Option 2</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Tree>
    <p:custDataLst>
      <p:tags r:id="rId1"/>
    </p:custDataLst>
    <p:extLst>
      <p:ext uri="{BB962C8B-B14F-4D97-AF65-F5344CB8AC3E}">
        <p14:creationId xmlns:p14="http://schemas.microsoft.com/office/powerpoint/2010/main" val="27479697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KC-Horizont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55445" cy="498849"/>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7" y="697780"/>
            <a:ext cx="11855445" cy="1328883"/>
          </a:xfrm>
          <a:noFill/>
        </p:spPr>
        <p:txBody>
          <a:bodyPr lIns="91440" tIns="0" rIns="91440" bIns="0">
            <a:normAutofit/>
          </a:bodyPr>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37865" cy="317500"/>
          </a:xfrm>
          <a:noFill/>
          <a:ln>
            <a:noFill/>
          </a:ln>
        </p:spPr>
        <p:txBody>
          <a:bodyPr lIns="91440" rIns="9144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2B452CCE-D69C-498E-9B48-C533DB88BC99}"/>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4271635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KC-Horz-Option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25947" cy="498849"/>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825948" cy="1328883"/>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57678" cy="317500"/>
          </a:xfrm>
          <a:noFill/>
          <a:ln>
            <a:noFill/>
          </a:ln>
        </p:spPr>
        <p:txBody>
          <a:bodyPr lIns="91440" rIns="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27572385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x" preserve="1">
  <p:cSld name="KC-Horizont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771597" cy="1405081"/>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2E0A46E6-23DB-43F3-BD7E-C4579838F24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3429311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x" preserve="1">
  <p:cSld name="KC-Horz-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D596AB2-A27E-4CAB-B6E0-353909D02FB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rgbClr val="232F3E"/>
                </a:solidFill>
                <a:latin typeface="Amazon Ember Display Heavy"/>
              </a:defRPr>
            </a:lvl1pPr>
          </a:lstStyle>
          <a:p>
            <a:r>
              <a:rPr lang="en-US" dirty="0"/>
              <a:t>Answer and explanation – Option 1 </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1"/>
            <a:ext cx="11771597" cy="1345520"/>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14802348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DCF8F5D-C71E-4E90-8FF1-79EC1779773B}"/>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vertical text layout (international) </a:t>
            </a:r>
          </a:p>
        </p:txBody>
      </p:sp>
      <p:pic>
        <p:nvPicPr>
          <p:cNvPr id="99" name="Divider">
            <a:extLst>
              <a:ext uri="{FF2B5EF4-FFF2-40B4-BE49-F238E27FC236}">
                <a16:creationId xmlns:a16="http://schemas.microsoft.com/office/drawing/2014/main" id="{4367E5F6-DCA7-4FF7-A05C-EEBE6326C728}"/>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1033070"/>
            <a:ext cx="11466576" cy="5389244"/>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697864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62931EA5-40B0-4775-AC8C-735FB207C77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FDB7DAC-24E1-411C-8D5F-3A7FDF188C1D}"/>
              </a:ext>
            </a:extLst>
          </p:cNvPr>
          <p:cNvSpPr>
            <a:spLocks noGrp="1"/>
          </p:cNvSpPr>
          <p:nvPr>
            <p:ph type="title" idx="1" hasCustomPrompt="1"/>
          </p:nvPr>
        </p:nvSpPr>
        <p:spPr>
          <a:xfrm rot="5400000">
            <a:off x="8202716" y="2805126"/>
            <a:ext cx="6127095" cy="1132145"/>
          </a:xfrm>
        </p:spPr>
        <p:txBody>
          <a:bodyPr/>
          <a:lstStyle>
            <a:lvl1pPr marL="0" marR="0" indent="0" algn="l" defTabSz="914400" rtl="0" eaLnBrk="1" fontAlgn="auto" latinLnBrk="0" hangingPunct="1">
              <a:spcBef>
                <a:spcPct val="0"/>
              </a:spcBef>
              <a:spcAft>
                <a:spcPts val="0"/>
              </a:spcAft>
              <a:buClrTx/>
              <a:buSzTx/>
              <a:buFontTx/>
              <a:buNone/>
              <a:tabLst/>
              <a:defRPr>
                <a:solidFill>
                  <a:srgbClr val="232F3E"/>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pic>
        <p:nvPicPr>
          <p:cNvPr id="99" name="Divider">
            <a:extLst>
              <a:ext uri="{FF2B5EF4-FFF2-40B4-BE49-F238E27FC236}">
                <a16:creationId xmlns:a16="http://schemas.microsoft.com/office/drawing/2014/main" id="{DA666032-E924-4402-8485-DDD5D20112F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7636951" y="3348031"/>
            <a:ext cx="6126480"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307649"/>
            <a:ext cx="10298328" cy="6127095"/>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0513685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564E-12A4-425C-A283-B8B235FFF7C3}"/>
              </a:ext>
            </a:extLst>
          </p:cNvPr>
          <p:cNvSpPr>
            <a:spLocks noGrp="1"/>
          </p:cNvSpPr>
          <p:nvPr>
            <p:ph type="title" hasCustomPrompt="1"/>
          </p:nvPr>
        </p:nvSpPr>
        <p:spPr>
          <a:xfrm>
            <a:off x="365760" y="301751"/>
            <a:ext cx="6613109" cy="6235683"/>
          </a:xfrm>
        </p:spPr>
        <p:txBody>
          <a:bodyPr/>
          <a:lstStyle>
            <a:lvl1pPr algn="ctr">
              <a:defRPr>
                <a:solidFill>
                  <a:schemeClr val="bg1"/>
                </a:solidFill>
              </a:defRPr>
            </a:lvl1pPr>
          </a:lstStyle>
          <a:p>
            <a:r>
              <a:rPr lang="en-US" dirty="0"/>
              <a:t>Any slides that appear following this one are NOT approved for production use.</a:t>
            </a:r>
            <a:br>
              <a:rPr lang="en-US"/>
            </a:br>
            <a:br>
              <a:rPr lang="en-US"/>
            </a:br>
            <a:r>
              <a:rPr lang="en-US"/>
              <a:t>-----------</a:t>
            </a:r>
            <a:br>
              <a:rPr lang="en-US"/>
            </a:br>
            <a:br>
              <a:rPr lang="en-US"/>
            </a:br>
            <a:r>
              <a:rPr lang="en-US"/>
              <a:t>Please </a:t>
            </a:r>
            <a:r>
              <a:rPr lang="en-US" dirty="0"/>
              <a:t>be sure to remove them before you </a:t>
            </a:r>
            <a:r>
              <a:rPr lang="en-US"/>
              <a:t>publish this deck.</a:t>
            </a:r>
            <a:endParaRPr lang="en-US" dirty="0"/>
          </a:p>
        </p:txBody>
      </p:sp>
      <p:sp>
        <p:nvSpPr>
          <p:cNvPr id="3" name="Slide Number Placeholder 2">
            <a:extLst>
              <a:ext uri="{FF2B5EF4-FFF2-40B4-BE49-F238E27FC236}">
                <a16:creationId xmlns:a16="http://schemas.microsoft.com/office/drawing/2014/main" id="{664A4F83-86A8-4C1D-A1E6-8D3A1610F4E7}"/>
              </a:ext>
            </a:extLst>
          </p:cNvPr>
          <p:cNvSpPr>
            <a:spLocks noGrp="1"/>
          </p:cNvSpPr>
          <p:nvPr>
            <p:ph type="sldNum" idx="10"/>
          </p:nvPr>
        </p:nvSpPr>
        <p:spPr/>
        <p:txBody>
          <a:bodyPr/>
          <a:lstStyle/>
          <a:p>
            <a:fld id="{4037B1B0-0345-4E15-985A-6BECCDBE474F}" type="slidenum">
              <a:rPr lang="en-US" smtClean="0"/>
              <a:pPr/>
              <a:t>‹#›</a:t>
            </a:fld>
            <a:endParaRPr lang="en-US" dirty="0"/>
          </a:p>
        </p:txBody>
      </p:sp>
      <p:sp>
        <p:nvSpPr>
          <p:cNvPr id="4" name="Octagon 3">
            <a:extLst>
              <a:ext uri="{FF2B5EF4-FFF2-40B4-BE49-F238E27FC236}">
                <a16:creationId xmlns:a16="http://schemas.microsoft.com/office/drawing/2014/main" id="{A956A5A2-BB71-417D-9961-66F664368EAB}"/>
              </a:ext>
            </a:extLst>
          </p:cNvPr>
          <p:cNvSpPr/>
          <p:nvPr userDrawn="1"/>
        </p:nvSpPr>
        <p:spPr>
          <a:xfrm>
            <a:off x="7348648" y="978647"/>
            <a:ext cx="4360244" cy="4360244"/>
          </a:xfrm>
          <a:prstGeom prst="octag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t>STOP</a:t>
            </a:r>
          </a:p>
        </p:txBody>
      </p:sp>
    </p:spTree>
    <p:extLst>
      <p:ext uri="{BB962C8B-B14F-4D97-AF65-F5344CB8AC3E}">
        <p14:creationId xmlns:p14="http://schemas.microsoft.com/office/powerpoint/2010/main" val="425711854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opic Introduction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rmAutofit/>
          </a:bodyPr>
          <a:lstStyle>
            <a:lvl1pPr algn="ctr">
              <a:defRPr sz="3600">
                <a:solidFill>
                  <a:schemeClr val="bg1"/>
                </a:solidFill>
                <a:latin typeface="Amazon Ember Display Heavy"/>
              </a:defRPr>
            </a:lvl1pPr>
          </a:lstStyle>
          <a:p>
            <a:r>
              <a:rPr lang="en-US" dirty="0"/>
              <a:t>Type title here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rm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7" name="Copyright1">
            <a:extLst>
              <a:ext uri="{FF2B5EF4-FFF2-40B4-BE49-F238E27FC236}">
                <a16:creationId xmlns:a16="http://schemas.microsoft.com/office/drawing/2014/main" id="{844CFF04-049D-40C7-9082-60C6CF7684A8}"/>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68531"/>
            <a:ext cx="4610100" cy="267127"/>
          </a:xfrm>
          <a:prstGeom prst="rect">
            <a:avLst/>
          </a:prstGeom>
        </p:spPr>
      </p:pic>
    </p:spTree>
    <p:custDataLst>
      <p:tags r:id="rId1"/>
    </p:custDataLst>
    <p:extLst>
      <p:ext uri="{BB962C8B-B14F-4D97-AF65-F5344CB8AC3E}">
        <p14:creationId xmlns:p14="http://schemas.microsoft.com/office/powerpoint/2010/main" val="31910581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rvice intro">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noChangeAspect="1"/>
          </p:cNvSpPr>
          <p:nvPr>
            <p:ph type="pic" idx="22" hasCustomPrompt="1"/>
          </p:nvPr>
        </p:nvSpPr>
        <p:spPr>
          <a:xfrm>
            <a:off x="8951074" y="2423160"/>
            <a:ext cx="2011680" cy="201168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38274770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cademyQuestion">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0" y="185995"/>
            <a:ext cx="12192000" cy="535531"/>
          </a:xfrm>
        </p:spPr>
        <p:txBody>
          <a:bodyPr wrap="square" lIns="182880" rIns="182880">
            <a:spAutoFit/>
          </a:bodyPr>
          <a:lstStyle>
            <a:lvl1pPr>
              <a:lnSpc>
                <a:spcPct val="90000"/>
              </a:lnSpc>
              <a:spcAft>
                <a:spcPts val="0"/>
              </a:spcAft>
              <a:defRPr sz="3200">
                <a:solidFill>
                  <a:srgbClr val="232F3E"/>
                </a:solidFill>
                <a:latin typeface="Amazon Ember Display Heavy"/>
              </a:defRPr>
            </a:lvl1pPr>
          </a:lstStyle>
          <a:p>
            <a:r>
              <a:rPr lang="en-US" dirty="0"/>
              <a:t>Title and text column</a:t>
            </a:r>
          </a:p>
        </p:txBody>
      </p:sp>
      <p:sp>
        <p:nvSpPr>
          <p:cNvPr id="7" name="Text Placeholder 6">
            <a:extLst>
              <a:ext uri="{FF2B5EF4-FFF2-40B4-BE49-F238E27FC236}">
                <a16:creationId xmlns:a16="http://schemas.microsoft.com/office/drawing/2014/main" id="{4F12F17D-55AD-4982-8FE2-C0E80D143499}"/>
              </a:ext>
            </a:extLst>
          </p:cNvPr>
          <p:cNvSpPr>
            <a:spLocks noGrp="1"/>
          </p:cNvSpPr>
          <p:nvPr>
            <p:ph type="body" sz="quarter" idx="98" hasCustomPrompt="1"/>
          </p:nvPr>
        </p:nvSpPr>
        <p:spPr>
          <a:xfrm>
            <a:off x="0" y="721526"/>
            <a:ext cx="12192000" cy="1463040"/>
          </a:xfrm>
          <a:solidFill>
            <a:schemeClr val="accent1"/>
          </a:solidFill>
        </p:spPr>
        <p:txBody>
          <a:bodyPr lIns="182880" tIns="91440" rIns="182880" bIns="91440">
            <a:noAutofit/>
          </a:bodyPr>
          <a:lstStyle>
            <a:lvl1pPr marL="0" indent="0">
              <a:lnSpc>
                <a:spcPct val="100000"/>
              </a:lnSpc>
              <a:spcAft>
                <a:spcPts val="600"/>
              </a:spcAft>
              <a:buNone/>
              <a:defRPr sz="1600">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Enter question text here</a:t>
            </a:r>
          </a:p>
        </p:txBody>
      </p:sp>
    </p:spTree>
    <p:custDataLst>
      <p:tags r:id="rId1"/>
    </p:custDataLst>
    <p:extLst>
      <p:ext uri="{BB962C8B-B14F-4D97-AF65-F5344CB8AC3E}">
        <p14:creationId xmlns:p14="http://schemas.microsoft.com/office/powerpoint/2010/main" val="8565897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 uri="{C183D7F6-B498-43B3-948B-1728B52AA6E4}">
                <adec:decorative xmlns:adec="http://schemas.microsoft.com/office/drawing/2017/decorative" val="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8" name="Slide Number Placeholder 5">
            <a:extLst>
              <a:ext uri="{FF2B5EF4-FFF2-40B4-BE49-F238E27FC236}">
                <a16:creationId xmlns:a16="http://schemas.microsoft.com/office/drawing/2014/main" id="{0BDEF14E-4027-D643-9DE2-F177FE226270}"/>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a:p>
        </p:txBody>
      </p:sp>
    </p:spTree>
    <p:custDataLst>
      <p:tags r:id="rId1"/>
    </p:custDataLst>
    <p:extLst>
      <p:ext uri="{BB962C8B-B14F-4D97-AF65-F5344CB8AC3E}">
        <p14:creationId xmlns:p14="http://schemas.microsoft.com/office/powerpoint/2010/main" val="139528215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cSld name="1_Topic Introduction">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48DE57BE-35D1-43C9-81E8-26E8A5D23F69}"/>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93" name="BKG-LT">
              <a:extLst>
                <a:ext uri="{FF2B5EF4-FFF2-40B4-BE49-F238E27FC236}">
                  <a16:creationId xmlns:a16="http://schemas.microsoft.com/office/drawing/2014/main" id="{BE65BC3A-8848-4619-963C-BD57EAEC2AA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4EDF473F-575B-4FFB-BAF4-E227AF8A9566}"/>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1" name="Copyright">
              <a:extLst>
                <a:ext uri="{FF2B5EF4-FFF2-40B4-BE49-F238E27FC236}">
                  <a16:creationId xmlns:a16="http://schemas.microsoft.com/office/drawing/2014/main" id="{BEF02208-F5B1-43EC-A46B-20F8F8FFD200}"/>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dirty="0"/>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243"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17" name="Picture">
            <a:extLst>
              <a:ext uri="{FF2B5EF4-FFF2-40B4-BE49-F238E27FC236}">
                <a16:creationId xmlns:a16="http://schemas.microsoft.com/office/drawing/2014/main" id="{F8F6CC5A-3CF0-480D-B25E-574EDC100323}"/>
              </a:ext>
              <a:ext uri="{C183D7F6-B498-43B3-948B-1728B52AA6E4}">
                <adec:decorative xmlns:adec="http://schemas.microsoft.com/office/drawing/2017/decorative" val="1"/>
              </a:ext>
            </a:extLst>
          </p:cNvPr>
          <p:cNvSpPr>
            <a:spLocks noGrp="1"/>
          </p:cNvSpPr>
          <p:nvPr>
            <p:ph idx="9" hasCustomPrompt="1"/>
          </p:nvPr>
        </p:nvSpPr>
        <p:spPr>
          <a:xfrm>
            <a:off x="394931" y="2434960"/>
            <a:ext cx="3657600" cy="3657600"/>
          </a:xfrm>
        </p:spPr>
        <p:txBody>
          <a:bodyPr anchor="t"/>
          <a:lstStyle>
            <a:lvl1pPr marL="0" indent="0" algn="ctr">
              <a:buNone/>
              <a:defRPr>
                <a:solidFill>
                  <a:schemeClr val="bg1"/>
                </a:solidFill>
              </a:defRPr>
            </a:lvl1pPr>
          </a:lstStyle>
          <a:p>
            <a:r>
              <a:rPr lang="en-US"/>
              <a:t>Click icon to add image</a:t>
            </a:r>
          </a:p>
        </p:txBody>
      </p:sp>
      <p:sp>
        <p:nvSpPr>
          <p:cNvPr id="9"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0"/>
              </a:spcAft>
              <a:defRPr sz="2800">
                <a:solidFill>
                  <a:schemeClr val="tx2"/>
                </a:solidFill>
              </a:defRPr>
            </a:lvl1pPr>
            <a:lvl2pPr marL="461963" indent="-228600">
              <a:lnSpc>
                <a:spcPct val="100000"/>
              </a:lnSpc>
              <a:spcAft>
                <a:spcPts val="0"/>
              </a:spcAft>
              <a:defRPr sz="2400">
                <a:solidFill>
                  <a:schemeClr val="tx2"/>
                </a:solidFill>
              </a:defRPr>
            </a:lvl2pPr>
            <a:lvl3pPr marL="684213" indent="-228600">
              <a:lnSpc>
                <a:spcPct val="100000"/>
              </a:lnSpc>
              <a:spcAft>
                <a:spcPts val="0"/>
              </a:spcAft>
              <a:defRPr sz="2000">
                <a:solidFill>
                  <a:schemeClr val="tx2"/>
                </a:solidFill>
              </a:defRPr>
            </a:lvl3pPr>
            <a:lvl4pPr marL="914400" indent="-228600">
              <a:lnSpc>
                <a:spcPct val="100000"/>
              </a:lnSpc>
              <a:spcAft>
                <a:spcPts val="0"/>
              </a:spcAft>
              <a:defRPr sz="1800">
                <a:solidFill>
                  <a:schemeClr val="tx2"/>
                </a:solidFill>
              </a:defRPr>
            </a:lvl4pPr>
            <a:lvl5pPr marL="1144588" indent="-228600">
              <a:lnSpc>
                <a:spcPct val="100000"/>
              </a:lnSpc>
              <a:spcAft>
                <a:spcPts val="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95949956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3.sv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image" Target="../media/image4.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4">
            <a:lum/>
          </a:blip>
          <a:srcRect/>
          <a:stretch>
            <a:fillRect/>
          </a:stretch>
        </a:blipFill>
        <a:effectLst/>
      </p:bgPr>
    </p:bg>
    <p:spTree>
      <p:nvGrpSpPr>
        <p:cNvPr id="1" name=""/>
        <p:cNvGrpSpPr/>
        <p:nvPr/>
      </p:nvGrpSpPr>
      <p:grpSpPr>
        <a:xfrm>
          <a:off x="0" y="0"/>
          <a:ext cx="0" cy="0"/>
          <a:chOff x="0" y="0"/>
          <a:chExt cx="0" cy="0"/>
        </a:xfrm>
      </p:grpSpPr>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dirty="0"/>
              <a:t>Click to edit Master title style</a:t>
            </a:r>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dirty="0"/>
              <a:t>Edit Master text styles</a:t>
            </a:r>
          </a:p>
          <a:p>
            <a:pPr marL="457200" lvl="1" indent="-230188" defTabSz="228600">
              <a:lnSpc>
                <a:spcPct val="100000"/>
              </a:lnSpc>
              <a:spcAft>
                <a:spcPts val="600"/>
              </a:spcAft>
              <a:buFont typeface="Amazon Ember Display"/>
            </a:pPr>
            <a:r>
              <a:rPr lang="en-US" dirty="0"/>
              <a:t>Second level</a:t>
            </a:r>
          </a:p>
          <a:p>
            <a:pPr marL="685800" lvl="2" indent="-230188" defTabSz="228600">
              <a:lnSpc>
                <a:spcPct val="100000"/>
              </a:lnSpc>
              <a:spcAft>
                <a:spcPts val="600"/>
              </a:spcAft>
              <a:buFont typeface="Amazon Ember Display"/>
            </a:pPr>
            <a:r>
              <a:rPr lang="en-US" dirty="0"/>
              <a:t>Third level</a:t>
            </a:r>
          </a:p>
          <a:p>
            <a:pPr marL="914400" lvl="3" indent="-230188" defTabSz="228600">
              <a:lnSpc>
                <a:spcPct val="100000"/>
              </a:lnSpc>
              <a:spcAft>
                <a:spcPts val="600"/>
              </a:spcAft>
              <a:buFont typeface="Amazon Ember Display"/>
            </a:pPr>
            <a:r>
              <a:rPr lang="en-US" dirty="0"/>
              <a:t>Fourth level</a:t>
            </a:r>
          </a:p>
          <a:p>
            <a:pPr marL="1143000" lvl="4" indent="-230188" defTabSz="228600">
              <a:lnSpc>
                <a:spcPct val="100000"/>
              </a:lnSpc>
              <a:spcAft>
                <a:spcPts val="600"/>
              </a:spcAft>
              <a:buFont typeface="Amazon Ember Display"/>
            </a:pPr>
            <a:r>
              <a:rPr lang="en-US" dirty="0"/>
              <a:t>Fifth level</a:t>
            </a:r>
          </a:p>
        </p:txBody>
      </p:sp>
      <p:pic>
        <p:nvPicPr>
          <p:cNvPr id="98" name="AWS Logo">
            <a:extLst>
              <a:ext uri="{FF2B5EF4-FFF2-40B4-BE49-F238E27FC236}">
                <a16:creationId xmlns:a16="http://schemas.microsoft.com/office/drawing/2014/main" id="{9E7E1626-AACF-488B-8999-ACEC2A595C0B}"/>
              </a:ext>
              <a:ext uri="{C183D7F6-B498-43B3-948B-1728B52AA6E4}">
                <adec:decorative xmlns:adec="http://schemas.microsoft.com/office/drawing/2017/decorative" val="1"/>
              </a:ext>
            </a:extLst>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243599" y="6445721"/>
            <a:ext cx="366979" cy="219456"/>
          </a:xfrm>
          <a:prstGeom prst="rect">
            <a:avLst/>
          </a:prstGeom>
        </p:spPr>
      </p:pic>
      <p:pic>
        <p:nvPicPr>
          <p:cNvPr id="6" name="Copyright1">
            <a:extLst>
              <a:ext uri="{FF2B5EF4-FFF2-40B4-BE49-F238E27FC236}">
                <a16:creationId xmlns:a16="http://schemas.microsoft.com/office/drawing/2014/main" id="{C320C759-D5D0-424F-9E65-06BA1C6E83D1}"/>
              </a:ext>
              <a:ext uri="{C183D7F6-B498-43B3-948B-1728B52AA6E4}">
                <adec:decorative xmlns:adec="http://schemas.microsoft.com/office/drawing/2017/decorative" val="1"/>
              </a:ext>
            </a:extLst>
          </p:cNvPr>
          <p:cNvPicPr>
            <a:picLocks/>
          </p:cNvPicPr>
          <p:nvPr userDrawn="1"/>
        </p:nvPicPr>
        <p:blipFill>
          <a:blip r:embed="rId67">
            <a:extLst>
              <a:ext uri="{28A0092B-C50C-407E-A947-70E740481C1C}">
                <a14:useLocalDpi xmlns:a14="http://schemas.microsoft.com/office/drawing/2010/main" val="0"/>
              </a:ext>
            </a:extLst>
          </a:blip>
          <a:stretch>
            <a:fillRect/>
          </a:stretch>
        </p:blipFill>
        <p:spPr>
          <a:xfrm>
            <a:off x="3787140" y="6468531"/>
            <a:ext cx="4610100" cy="267127"/>
          </a:xfrm>
          <a:prstGeom prst="rect">
            <a:avLst/>
          </a:prstGeom>
        </p:spPr>
      </p:pic>
    </p:spTree>
    <p:extLst>
      <p:ext uri="{BB962C8B-B14F-4D97-AF65-F5344CB8AC3E}">
        <p14:creationId xmlns:p14="http://schemas.microsoft.com/office/powerpoint/2010/main" val="1510290783"/>
      </p:ext>
    </p:extLst>
  </p:cSld>
  <p:clrMap bg1="lt1" tx1="dk1" bg2="lt2" tx2="dk2" accent1="accent1" accent2="accent2" accent3="accent3" accent4="accent4" accent5="accent5" accent6="accent6" hlink="hlink" folHlink="folHlink"/>
  <p:sldLayoutIdLst>
    <p:sldLayoutId id="2147484260" r:id="rId1"/>
    <p:sldLayoutId id="2147484261" r:id="rId2"/>
    <p:sldLayoutId id="2147484262" r:id="rId3"/>
    <p:sldLayoutId id="2147484263" r:id="rId4"/>
    <p:sldLayoutId id="2147484264" r:id="rId5"/>
    <p:sldLayoutId id="2147484265" r:id="rId6"/>
    <p:sldLayoutId id="2147484319" r:id="rId7"/>
    <p:sldLayoutId id="2147484267" r:id="rId8"/>
    <p:sldLayoutId id="2147484268" r:id="rId9"/>
    <p:sldLayoutId id="2147484269" r:id="rId10"/>
    <p:sldLayoutId id="2147484270" r:id="rId11"/>
    <p:sldLayoutId id="2147484271" r:id="rId12"/>
    <p:sldLayoutId id="2147484272" r:id="rId13"/>
    <p:sldLayoutId id="2147484273" r:id="rId14"/>
    <p:sldLayoutId id="2147484274" r:id="rId15"/>
    <p:sldLayoutId id="2147484275" r:id="rId16"/>
    <p:sldLayoutId id="2147484276" r:id="rId17"/>
    <p:sldLayoutId id="2147484277" r:id="rId18"/>
    <p:sldLayoutId id="2147484279" r:id="rId19"/>
    <p:sldLayoutId id="2147484280" r:id="rId20"/>
    <p:sldLayoutId id="2147484281" r:id="rId21"/>
    <p:sldLayoutId id="2147484282" r:id="rId22"/>
    <p:sldLayoutId id="2147484283" r:id="rId23"/>
    <p:sldLayoutId id="2147484284" r:id="rId24"/>
    <p:sldLayoutId id="2147484285" r:id="rId25"/>
    <p:sldLayoutId id="2147484286" r:id="rId26"/>
    <p:sldLayoutId id="2147484287" r:id="rId27"/>
    <p:sldLayoutId id="2147484288" r:id="rId28"/>
    <p:sldLayoutId id="2147484289" r:id="rId29"/>
    <p:sldLayoutId id="2147484290" r:id="rId30"/>
    <p:sldLayoutId id="2147484291" r:id="rId31"/>
    <p:sldLayoutId id="2147484292" r:id="rId32"/>
    <p:sldLayoutId id="2147484293" r:id="rId33"/>
    <p:sldLayoutId id="2147484294" r:id="rId34"/>
    <p:sldLayoutId id="2147484295" r:id="rId35"/>
    <p:sldLayoutId id="2147484296" r:id="rId36"/>
    <p:sldLayoutId id="2147484297" r:id="rId37"/>
    <p:sldLayoutId id="2147484298" r:id="rId38"/>
    <p:sldLayoutId id="2147484299" r:id="rId39"/>
    <p:sldLayoutId id="2147484300" r:id="rId40"/>
    <p:sldLayoutId id="2147484301" r:id="rId41"/>
    <p:sldLayoutId id="2147484302" r:id="rId42"/>
    <p:sldLayoutId id="2147484303" r:id="rId43"/>
    <p:sldLayoutId id="2147484304" r:id="rId44"/>
    <p:sldLayoutId id="2147484305" r:id="rId45"/>
    <p:sldLayoutId id="2147484306" r:id="rId46"/>
    <p:sldLayoutId id="2147484307" r:id="rId47"/>
    <p:sldLayoutId id="2147484308" r:id="rId48"/>
    <p:sldLayoutId id="2147484309" r:id="rId49"/>
    <p:sldLayoutId id="2147484310" r:id="rId50"/>
    <p:sldLayoutId id="2147484311" r:id="rId51"/>
    <p:sldLayoutId id="2147484312" r:id="rId52"/>
    <p:sldLayoutId id="2147484313" r:id="rId53"/>
    <p:sldLayoutId id="2147484314" r:id="rId54"/>
    <p:sldLayoutId id="2147484315" r:id="rId55"/>
    <p:sldLayoutId id="2147484316" r:id="rId56"/>
    <p:sldLayoutId id="2147483809" r:id="rId57"/>
    <p:sldLayoutId id="2147484317" r:id="rId58"/>
    <p:sldLayoutId id="2147484318" r:id="rId59"/>
    <p:sldLayoutId id="2147484320" r:id="rId60"/>
    <p:sldLayoutId id="2147484321" r:id="rId61"/>
    <p:sldLayoutId id="2147484322" r:id="rId62"/>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0"/>
        </a:spcBef>
        <a:spcAft>
          <a:spcPts val="1200"/>
        </a:spcAft>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5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58.xml"/><Relationship Id="rId4" Type="http://schemas.openxmlformats.org/officeDocument/2006/relationships/image" Target="../media/image30.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5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60.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ags" Target="../tags/tag61.xml"/><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tags" Target="../tags/tag62.xml"/><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8.xml"/><Relationship Id="rId1" Type="http://schemas.openxmlformats.org/officeDocument/2006/relationships/tags" Target="../tags/tag63.xml"/><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6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1.xml"/><Relationship Id="rId1" Type="http://schemas.openxmlformats.org/officeDocument/2006/relationships/tags" Target="../tags/tag65.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tags" Target="../tags/tag66.xml"/><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xml"/><Relationship Id="rId1" Type="http://schemas.openxmlformats.org/officeDocument/2006/relationships/tags" Target="../tags/tag67.xml"/><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6.png"/><Relationship Id="rId18" Type="http://schemas.openxmlformats.org/officeDocument/2006/relationships/image" Target="../media/image51.svg"/><Relationship Id="rId3" Type="http://schemas.openxmlformats.org/officeDocument/2006/relationships/notesSlide" Target="../notesSlides/notesSlide12.xml"/><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svg"/><Relationship Id="rId17" Type="http://schemas.openxmlformats.org/officeDocument/2006/relationships/image" Target="../media/image50.png"/><Relationship Id="rId2" Type="http://schemas.openxmlformats.org/officeDocument/2006/relationships/slideLayout" Target="../slideLayouts/slideLayout9.xml"/><Relationship Id="rId16" Type="http://schemas.openxmlformats.org/officeDocument/2006/relationships/image" Target="../media/image49.svg"/><Relationship Id="rId20" Type="http://schemas.openxmlformats.org/officeDocument/2006/relationships/image" Target="../media/image53.svg"/><Relationship Id="rId1" Type="http://schemas.openxmlformats.org/officeDocument/2006/relationships/tags" Target="../tags/tag68.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svg"/><Relationship Id="rId19" Type="http://schemas.openxmlformats.org/officeDocument/2006/relationships/image" Target="../media/image52.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svg"/><Relationship Id="rId22" Type="http://schemas.openxmlformats.org/officeDocument/2006/relationships/image" Target="../media/image55.sv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xml"/><Relationship Id="rId1" Type="http://schemas.openxmlformats.org/officeDocument/2006/relationships/tags" Target="../tags/tag6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9.xml"/><Relationship Id="rId1" Type="http://schemas.openxmlformats.org/officeDocument/2006/relationships/tags" Target="../tags/tag70.xml"/><Relationship Id="rId4" Type="http://schemas.openxmlformats.org/officeDocument/2006/relationships/image" Target="../media/image5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xml"/><Relationship Id="rId1" Type="http://schemas.openxmlformats.org/officeDocument/2006/relationships/tags" Target="../tags/tag71.xml"/><Relationship Id="rId4" Type="http://schemas.openxmlformats.org/officeDocument/2006/relationships/image" Target="../media/image57.png"/></Relationships>
</file>

<file path=ppt/slides/_rels/slide16.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notesSlide" Target="../notesSlides/notesSlide16.xml"/><Relationship Id="rId7" Type="http://schemas.openxmlformats.org/officeDocument/2006/relationships/image" Target="../media/image61.svg"/><Relationship Id="rId2" Type="http://schemas.openxmlformats.org/officeDocument/2006/relationships/slideLayout" Target="../slideLayouts/slideLayout9.xml"/><Relationship Id="rId1" Type="http://schemas.openxmlformats.org/officeDocument/2006/relationships/tags" Target="../tags/tag72.xml"/><Relationship Id="rId6" Type="http://schemas.openxmlformats.org/officeDocument/2006/relationships/image" Target="../media/image60.png"/><Relationship Id="rId11" Type="http://schemas.openxmlformats.org/officeDocument/2006/relationships/image" Target="../media/image65.svg"/><Relationship Id="rId5" Type="http://schemas.openxmlformats.org/officeDocument/2006/relationships/image" Target="../media/image59.sv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sv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73.xml"/><Relationship Id="rId4" Type="http://schemas.openxmlformats.org/officeDocument/2006/relationships/image" Target="../media/image6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8.xml"/><Relationship Id="rId1" Type="http://schemas.openxmlformats.org/officeDocument/2006/relationships/tags" Target="../tags/tag74.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7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9.xml"/><Relationship Id="rId1" Type="http://schemas.openxmlformats.org/officeDocument/2006/relationships/tags" Target="../tags/tag76.xml"/><Relationship Id="rId4" Type="http://schemas.openxmlformats.org/officeDocument/2006/relationships/image" Target="../media/image6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9.xml"/><Relationship Id="rId1" Type="http://schemas.openxmlformats.org/officeDocument/2006/relationships/tags" Target="../tags/tag77.xml"/><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8.xml"/><Relationship Id="rId1" Type="http://schemas.openxmlformats.org/officeDocument/2006/relationships/tags" Target="../tags/tag78.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7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80.xml"/><Relationship Id="rId5" Type="http://schemas.openxmlformats.org/officeDocument/2006/relationships/image" Target="../media/image70.svg"/><Relationship Id="rId4" Type="http://schemas.openxmlformats.org/officeDocument/2006/relationships/image" Target="../media/image69.png"/></Relationships>
</file>

<file path=ppt/slides/_rels/slide25.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notesSlide" Target="../notesSlides/notesSlide25.xml"/><Relationship Id="rId1" Type="http://schemas.openxmlformats.org/officeDocument/2006/relationships/slideLayout" Target="../slideLayouts/slideLayout41.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81.xml"/><Relationship Id="rId4" Type="http://schemas.openxmlformats.org/officeDocument/2006/relationships/image" Target="../media/image6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8.xml"/><Relationship Id="rId1" Type="http://schemas.openxmlformats.org/officeDocument/2006/relationships/tags" Target="../tags/tag82.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8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8.xml"/><Relationship Id="rId1" Type="http://schemas.openxmlformats.org/officeDocument/2006/relationships/tags" Target="../tags/tag84.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9.xml"/><Relationship Id="rId1" Type="http://schemas.openxmlformats.org/officeDocument/2006/relationships/tags" Target="../tags/tag8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9.xml"/><Relationship Id="rId1" Type="http://schemas.openxmlformats.org/officeDocument/2006/relationships/tags" Target="../tags/tag86.xml"/><Relationship Id="rId4" Type="http://schemas.openxmlformats.org/officeDocument/2006/relationships/image" Target="../media/image80.tiff"/></Relationships>
</file>

<file path=ppt/slides/_rels/slide32.xml.rels><?xml version="1.0" encoding="UTF-8" standalone="yes"?>
<Relationships xmlns="http://schemas.openxmlformats.org/package/2006/relationships"><Relationship Id="rId8" Type="http://schemas.openxmlformats.org/officeDocument/2006/relationships/hyperlink" Target="https://aws.amazon.com/machine-learning/trainium/" TargetMode="External"/><Relationship Id="rId3" Type="http://schemas.openxmlformats.org/officeDocument/2006/relationships/notesSlide" Target="../notesSlides/notesSlide32.xml"/><Relationship Id="rId7" Type="http://schemas.openxmlformats.org/officeDocument/2006/relationships/hyperlink" Target="https://aws.amazon.com/machine-learning/inferentia/" TargetMode="External"/><Relationship Id="rId2" Type="http://schemas.openxmlformats.org/officeDocument/2006/relationships/slideLayout" Target="../slideLayouts/slideLayout9.xml"/><Relationship Id="rId1" Type="http://schemas.openxmlformats.org/officeDocument/2006/relationships/tags" Target="../tags/tag87.xml"/><Relationship Id="rId6" Type="http://schemas.openxmlformats.org/officeDocument/2006/relationships/hyperlink" Target="https://aws.amazon.com/pm/sagemaker/" TargetMode="External"/><Relationship Id="rId5" Type="http://schemas.openxmlformats.org/officeDocument/2006/relationships/hyperlink" Target="https://aws.amazon.com/bedrock/" TargetMode="External"/><Relationship Id="rId4" Type="http://schemas.openxmlformats.org/officeDocument/2006/relationships/hyperlink" Target="https://aws.amazon.com/q/developer/" TargetMode="Externa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8.xml"/><Relationship Id="rId1" Type="http://schemas.openxmlformats.org/officeDocument/2006/relationships/tags" Target="../tags/tag88.xml"/><Relationship Id="rId4" Type="http://schemas.openxmlformats.org/officeDocument/2006/relationships/hyperlink" Target="https://support.aws.amazon.com/#/contacts/aws-academy" TargetMode="External"/></Relationships>
</file>

<file path=ppt/slides/_rels/slide34.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notesSlide" Target="../notesSlides/notesSlide34.xml"/><Relationship Id="rId7" Type="http://schemas.openxmlformats.org/officeDocument/2006/relationships/image" Target="../media/image84.svg"/><Relationship Id="rId12" Type="http://schemas.openxmlformats.org/officeDocument/2006/relationships/image" Target="../media/image89.png"/><Relationship Id="rId2" Type="http://schemas.openxmlformats.org/officeDocument/2006/relationships/slideLayout" Target="../slideLayouts/slideLayout9.xml"/><Relationship Id="rId1" Type="http://schemas.openxmlformats.org/officeDocument/2006/relationships/tags" Target="../tags/tag89.xml"/><Relationship Id="rId6" Type="http://schemas.openxmlformats.org/officeDocument/2006/relationships/image" Target="../media/image83.png"/><Relationship Id="rId11" Type="http://schemas.openxmlformats.org/officeDocument/2006/relationships/image" Target="../media/image88.png"/><Relationship Id="rId5" Type="http://schemas.openxmlformats.org/officeDocument/2006/relationships/image" Target="../media/image82.sv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png"/></Relationships>
</file>

<file path=ppt/slides/_rels/slide35.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notesSlide" Target="../notesSlides/notesSlide35.xml"/><Relationship Id="rId7" Type="http://schemas.openxmlformats.org/officeDocument/2006/relationships/image" Target="../media/image93.svg"/><Relationship Id="rId2" Type="http://schemas.openxmlformats.org/officeDocument/2006/relationships/slideLayout" Target="../slideLayouts/slideLayout9.xml"/><Relationship Id="rId1" Type="http://schemas.openxmlformats.org/officeDocument/2006/relationships/tags" Target="../tags/tag90.xml"/><Relationship Id="rId6" Type="http://schemas.openxmlformats.org/officeDocument/2006/relationships/image" Target="../media/image92.png"/><Relationship Id="rId11" Type="http://schemas.openxmlformats.org/officeDocument/2006/relationships/image" Target="../media/image97.svg"/><Relationship Id="rId5" Type="http://schemas.openxmlformats.org/officeDocument/2006/relationships/image" Target="../media/image91.sv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svg"/></Relationships>
</file>

<file path=ppt/slides/_rels/slide36.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notesSlide" Target="../notesSlides/notesSlide36.xml"/><Relationship Id="rId7" Type="http://schemas.openxmlformats.org/officeDocument/2006/relationships/image" Target="../media/image101.svg"/><Relationship Id="rId12" Type="http://schemas.openxmlformats.org/officeDocument/2006/relationships/image" Target="../media/image106.svg"/><Relationship Id="rId2" Type="http://schemas.openxmlformats.org/officeDocument/2006/relationships/slideLayout" Target="../slideLayouts/slideLayout9.xml"/><Relationship Id="rId1" Type="http://schemas.openxmlformats.org/officeDocument/2006/relationships/tags" Target="../tags/tag91.xml"/><Relationship Id="rId6" Type="http://schemas.openxmlformats.org/officeDocument/2006/relationships/image" Target="../media/image100.png"/><Relationship Id="rId11" Type="http://schemas.openxmlformats.org/officeDocument/2006/relationships/image" Target="../media/image105.png"/><Relationship Id="rId5" Type="http://schemas.openxmlformats.org/officeDocument/2006/relationships/image" Target="../media/image99.svg"/><Relationship Id="rId10" Type="http://schemas.openxmlformats.org/officeDocument/2006/relationships/image" Target="../media/image104.png"/><Relationship Id="rId4" Type="http://schemas.openxmlformats.org/officeDocument/2006/relationships/image" Target="../media/image98.png"/><Relationship Id="rId9" Type="http://schemas.openxmlformats.org/officeDocument/2006/relationships/image" Target="../media/image103.sv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9.xml"/><Relationship Id="rId1" Type="http://schemas.openxmlformats.org/officeDocument/2006/relationships/tags" Target="../tags/tag92.xml"/><Relationship Id="rId4" Type="http://schemas.openxmlformats.org/officeDocument/2006/relationships/image" Target="../media/image10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9.xml"/><Relationship Id="rId1" Type="http://schemas.openxmlformats.org/officeDocument/2006/relationships/tags" Target="../tags/tag93.xml"/><Relationship Id="rId4" Type="http://schemas.openxmlformats.org/officeDocument/2006/relationships/image" Target="../media/image10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9.xml"/><Relationship Id="rId1" Type="http://schemas.openxmlformats.org/officeDocument/2006/relationships/tags" Target="../tags/tag94.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40.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notesSlide" Target="../notesSlides/notesSlide40.xml"/><Relationship Id="rId7" Type="http://schemas.openxmlformats.org/officeDocument/2006/relationships/image" Target="../media/image115.png"/><Relationship Id="rId2" Type="http://schemas.openxmlformats.org/officeDocument/2006/relationships/slideLayout" Target="../slideLayouts/slideLayout9.xml"/><Relationship Id="rId1" Type="http://schemas.openxmlformats.org/officeDocument/2006/relationships/tags" Target="../tags/tag95.xml"/><Relationship Id="rId6" Type="http://schemas.openxmlformats.org/officeDocument/2006/relationships/image" Target="../media/image114.png"/><Relationship Id="rId5" Type="http://schemas.openxmlformats.org/officeDocument/2006/relationships/image" Target="../media/image113.svg"/><Relationship Id="rId4" Type="http://schemas.openxmlformats.org/officeDocument/2006/relationships/image" Target="../media/image112.png"/><Relationship Id="rId9" Type="http://schemas.openxmlformats.org/officeDocument/2006/relationships/image" Target="../media/image117.svg"/></Relationships>
</file>

<file path=ppt/slides/_rels/slide41.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notesSlide" Target="../notesSlides/notesSlide41.xml"/><Relationship Id="rId7" Type="http://schemas.openxmlformats.org/officeDocument/2006/relationships/image" Target="../media/image119.svg"/><Relationship Id="rId2" Type="http://schemas.openxmlformats.org/officeDocument/2006/relationships/slideLayout" Target="../slideLayouts/slideLayout9.xml"/><Relationship Id="rId1" Type="http://schemas.openxmlformats.org/officeDocument/2006/relationships/tags" Target="../tags/tag96.xml"/><Relationship Id="rId6" Type="http://schemas.openxmlformats.org/officeDocument/2006/relationships/image" Target="../media/image118.png"/><Relationship Id="rId5" Type="http://schemas.openxmlformats.org/officeDocument/2006/relationships/image" Target="../media/image113.svg"/><Relationship Id="rId4" Type="http://schemas.openxmlformats.org/officeDocument/2006/relationships/image" Target="../media/image112.png"/><Relationship Id="rId9" Type="http://schemas.openxmlformats.org/officeDocument/2006/relationships/image" Target="../media/image121.svg"/></Relationships>
</file>

<file path=ppt/slides/_rels/slide42.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notesSlide" Target="../notesSlides/notesSlide42.xml"/><Relationship Id="rId7" Type="http://schemas.openxmlformats.org/officeDocument/2006/relationships/image" Target="../media/image123.svg"/><Relationship Id="rId2" Type="http://schemas.openxmlformats.org/officeDocument/2006/relationships/slideLayout" Target="../slideLayouts/slideLayout9.xml"/><Relationship Id="rId1" Type="http://schemas.openxmlformats.org/officeDocument/2006/relationships/tags" Target="../tags/tag97.xml"/><Relationship Id="rId6" Type="http://schemas.openxmlformats.org/officeDocument/2006/relationships/image" Target="../media/image60.png"/><Relationship Id="rId11" Type="http://schemas.openxmlformats.org/officeDocument/2006/relationships/image" Target="../media/image125.svg"/><Relationship Id="rId5" Type="http://schemas.openxmlformats.org/officeDocument/2006/relationships/image" Target="../media/image122.svg"/><Relationship Id="rId10" Type="http://schemas.openxmlformats.org/officeDocument/2006/relationships/image" Target="../media/image64.png"/><Relationship Id="rId4" Type="http://schemas.openxmlformats.org/officeDocument/2006/relationships/image" Target="../media/image62.png"/><Relationship Id="rId9" Type="http://schemas.openxmlformats.org/officeDocument/2006/relationships/image" Target="../media/image124.svg"/></Relationships>
</file>

<file path=ppt/slides/_rels/slide43.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notesSlide" Target="../notesSlides/notesSlide43.xml"/><Relationship Id="rId7" Type="http://schemas.openxmlformats.org/officeDocument/2006/relationships/image" Target="../media/image129.svg"/><Relationship Id="rId2" Type="http://schemas.openxmlformats.org/officeDocument/2006/relationships/slideLayout" Target="../slideLayouts/slideLayout41.xml"/><Relationship Id="rId1" Type="http://schemas.openxmlformats.org/officeDocument/2006/relationships/tags" Target="../tags/tag98.xml"/><Relationship Id="rId6" Type="http://schemas.openxmlformats.org/officeDocument/2006/relationships/image" Target="../media/image128.png"/><Relationship Id="rId5" Type="http://schemas.openxmlformats.org/officeDocument/2006/relationships/image" Target="../media/image127.svg"/><Relationship Id="rId4" Type="http://schemas.openxmlformats.org/officeDocument/2006/relationships/image" Target="../media/image126.png"/><Relationship Id="rId9" Type="http://schemas.openxmlformats.org/officeDocument/2006/relationships/image" Target="../media/image13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2765EEF9-29F2-4F67-81A6-21307EFDF68D}"/>
              </a:ext>
            </a:extLst>
          </p:cNvPr>
          <p:cNvSpPr>
            <a:spLocks noGrp="1"/>
          </p:cNvSpPr>
          <p:nvPr>
            <p:ph type="sldNum" idx="97"/>
          </p:nvPr>
        </p:nvSpPr>
        <p:spPr/>
        <p:txBody>
          <a:bodyPr/>
          <a:lstStyle/>
          <a:p>
            <a:fld id="{4037B1B0-0345-4E15-985A-6BECCDBE474F}" type="slidenum">
              <a:rPr lang="en-US" smtClean="0"/>
              <a:pPr/>
              <a:t>1</a:t>
            </a:fld>
            <a:endParaRPr lang="en-US" dirty="0"/>
          </a:p>
        </p:txBody>
      </p:sp>
      <p:sp>
        <p:nvSpPr>
          <p:cNvPr id="12" name="Title">
            <a:extLst>
              <a:ext uri="{FF2B5EF4-FFF2-40B4-BE49-F238E27FC236}">
                <a16:creationId xmlns:a16="http://schemas.microsoft.com/office/drawing/2014/main" id="{C341766F-F436-46E9-A30C-DB5888AD0AA7}"/>
              </a:ext>
            </a:extLst>
          </p:cNvPr>
          <p:cNvSpPr>
            <a:spLocks noGrp="1"/>
          </p:cNvSpPr>
          <p:nvPr>
            <p:ph type="title" idx="1"/>
          </p:nvPr>
        </p:nvSpPr>
        <p:spPr/>
        <p:txBody>
          <a:bodyPr/>
          <a:lstStyle/>
          <a:p>
            <a:r>
              <a:rPr lang="en-US" dirty="0"/>
              <a:t>Module 7: Introducing Generative AI</a:t>
            </a:r>
          </a:p>
        </p:txBody>
      </p:sp>
      <p:sp>
        <p:nvSpPr>
          <p:cNvPr id="7" name="Text Placeholder 6">
            <a:extLst>
              <a:ext uri="{FF2B5EF4-FFF2-40B4-BE49-F238E27FC236}">
                <a16:creationId xmlns:a16="http://schemas.microsoft.com/office/drawing/2014/main" id="{2CAF2D29-2980-4EDA-AF88-15884666C42C}"/>
              </a:ext>
            </a:extLst>
          </p:cNvPr>
          <p:cNvSpPr>
            <a:spLocks noGrp="1"/>
          </p:cNvSpPr>
          <p:nvPr>
            <p:ph type="body" idx="2"/>
          </p:nvPr>
        </p:nvSpPr>
        <p:spPr/>
        <p:txBody>
          <a:bodyPr/>
          <a:lstStyle/>
          <a:p>
            <a:r>
              <a:rPr lang="en-US" dirty="0"/>
              <a:t>AWS Academy Machine Learning Foundations</a:t>
            </a:r>
          </a:p>
        </p:txBody>
      </p:sp>
      <p:sp>
        <p:nvSpPr>
          <p:cNvPr id="2" name="a11y_slide_end" descr="Notes Section.">
            <a:extLst>
              <a:ext uri="{FF2B5EF4-FFF2-40B4-BE49-F238E27FC236}">
                <a16:creationId xmlns:a16="http://schemas.microsoft.com/office/drawing/2014/main" id="{B7748191-6E56-490E-A12A-5B6C20D2B007}"/>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293668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2</a:t>
            </a:fld>
            <a:endParaRPr lang="en-US" dirty="0"/>
          </a:p>
        </p:txBody>
      </p:sp>
      <p:sp>
        <p:nvSpPr>
          <p:cNvPr id="3" name="Title">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a:t>Module overview</a:t>
            </a:r>
            <a:endParaRPr lang="en-US" dirty="0"/>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lstStyle/>
          <a:p>
            <a:pPr marL="0" indent="0">
              <a:buNone/>
            </a:pPr>
            <a:r>
              <a:rPr lang="en-US" b="1" dirty="0"/>
              <a:t>Sections</a:t>
            </a:r>
          </a:p>
          <a:p>
            <a:pPr lvl="1"/>
            <a:r>
              <a:rPr lang="en-US" sz="2800" dirty="0"/>
              <a:t>What is generative AI?</a:t>
            </a:r>
          </a:p>
          <a:p>
            <a:pPr lvl="1"/>
            <a:r>
              <a:rPr lang="en-US" sz="2800" dirty="0"/>
              <a:t>How does generative AI work?</a:t>
            </a:r>
          </a:p>
          <a:p>
            <a:pPr lvl="1"/>
            <a:r>
              <a:rPr lang="en-US" sz="2800" dirty="0"/>
              <a:t>AWS generative AI offerings</a:t>
            </a:r>
          </a:p>
          <a:p>
            <a:pPr lvl="1"/>
            <a:r>
              <a:rPr lang="en-US" sz="2800" dirty="0"/>
              <a:t>Amazon Q Developer	</a:t>
            </a:r>
          </a:p>
        </p:txBody>
      </p:sp>
      <p:sp>
        <p:nvSpPr>
          <p:cNvPr id="6" name="Content Placeholder 5">
            <a:extLst>
              <a:ext uri="{FF2B5EF4-FFF2-40B4-BE49-F238E27FC236}">
                <a16:creationId xmlns:a16="http://schemas.microsoft.com/office/drawing/2014/main" id="{474114A3-D752-4030-9320-CA277C405753}"/>
              </a:ext>
            </a:extLst>
          </p:cNvPr>
          <p:cNvSpPr>
            <a:spLocks noGrp="1"/>
          </p:cNvSpPr>
          <p:nvPr>
            <p:ph idx="3"/>
          </p:nvPr>
        </p:nvSpPr>
        <p:spPr/>
        <p:txBody>
          <a:bodyPr/>
          <a:lstStyle/>
          <a:p>
            <a:pPr marL="0" indent="0">
              <a:buNone/>
            </a:pPr>
            <a:r>
              <a:rPr lang="en-US" b="1" dirty="0"/>
              <a:t>Demonstrations</a:t>
            </a:r>
          </a:p>
          <a:p>
            <a:pPr lvl="1"/>
            <a:r>
              <a:rPr lang="en-US" sz="2800" dirty="0"/>
              <a:t>Explore an FM and Use Prompt Engineering in a Notebook</a:t>
            </a:r>
          </a:p>
          <a:p>
            <a:pPr lvl="1"/>
            <a:r>
              <a:rPr lang="en-US" sz="2800" dirty="0"/>
              <a:t>Creating a Linear Regression Model Using Amazon Q Developer</a:t>
            </a:r>
          </a:p>
        </p:txBody>
      </p:sp>
      <p:pic>
        <p:nvPicPr>
          <p:cNvPr id="9" name="Picture 8">
            <a:extLst>
              <a:ext uri="{FF2B5EF4-FFF2-40B4-BE49-F238E27FC236}">
                <a16:creationId xmlns:a16="http://schemas.microsoft.com/office/drawing/2014/main" id="{15D3B7BD-C236-4751-A71E-EEB4D53D4703}"/>
              </a:ext>
              <a:ext uri="{C183D7F6-B498-43B3-948B-1728B52AA6E4}">
                <adec:decorative xmlns:adec="http://schemas.microsoft.com/office/drawing/2017/decorative" val="1"/>
              </a:ext>
            </a:extLst>
          </p:cNvPr>
          <p:cNvPicPr>
            <a:picLocks noChangeAspect="1"/>
          </p:cNvPicPr>
          <p:nvPr/>
        </p:nvPicPr>
        <p:blipFill>
          <a:blip r:embed="rId4" cstate="hqprint">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6443980" y="4275358"/>
            <a:ext cx="588504" cy="532323"/>
          </a:xfrm>
          <a:prstGeom prst="rect">
            <a:avLst/>
          </a:prstGeom>
        </p:spPr>
      </p:pic>
      <p:sp>
        <p:nvSpPr>
          <p:cNvPr id="8" name="TextBox 7">
            <a:extLst>
              <a:ext uri="{FF2B5EF4-FFF2-40B4-BE49-F238E27FC236}">
                <a16:creationId xmlns:a16="http://schemas.microsoft.com/office/drawing/2014/main" id="{4F376709-84D5-4EA3-853C-DA83948505C8}"/>
              </a:ext>
            </a:extLst>
          </p:cNvPr>
          <p:cNvSpPr txBox="1"/>
          <p:nvPr/>
        </p:nvSpPr>
        <p:spPr>
          <a:xfrm>
            <a:off x="7032484" y="4356854"/>
            <a:ext cx="2246136" cy="400110"/>
          </a:xfrm>
          <a:prstGeom prst="rect">
            <a:avLst/>
          </a:prstGeom>
          <a:noFill/>
        </p:spPr>
        <p:txBody>
          <a:bodyPr wrap="none" rtlCol="0">
            <a:spAutoFit/>
          </a:bodyPr>
          <a:lstStyle/>
          <a:p>
            <a:r>
              <a:rPr lang="en-US" sz="2000" b="1" dirty="0">
                <a:ea typeface="Amazon Ember" panose="020B0603020204020204" pitchFamily="34" charset="0"/>
                <a:cs typeface="Amazon Ember" panose="020B0603020204020204" pitchFamily="34" charset="0"/>
              </a:rPr>
              <a:t>Knowledge check</a:t>
            </a:r>
          </a:p>
        </p:txBody>
      </p:sp>
      <p:sp>
        <p:nvSpPr>
          <p:cNvPr id="5" name="a11y_slide_end" descr="Notes Section.">
            <a:extLst>
              <a:ext uri="{FF2B5EF4-FFF2-40B4-BE49-F238E27FC236}">
                <a16:creationId xmlns:a16="http://schemas.microsoft.com/office/drawing/2014/main" id="{54296720-C9DC-46DF-8759-A202EB98583A}"/>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738040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1E80B928-616E-4F97-AFAF-32FDE8B621AA}"/>
              </a:ext>
            </a:extLst>
          </p:cNvPr>
          <p:cNvSpPr>
            <a:spLocks noGrp="1"/>
          </p:cNvSpPr>
          <p:nvPr>
            <p:ph type="sldNum" idx="97"/>
          </p:nvPr>
        </p:nvSpPr>
        <p:spPr/>
        <p:txBody>
          <a:bodyPr/>
          <a:lstStyle/>
          <a:p>
            <a:fld id="{4037B1B0-0345-4E15-985A-6BECCDBE474F}" type="slidenum">
              <a:rPr lang="en-US" smtClean="0"/>
              <a:pPr/>
              <a:t>3</a:t>
            </a:fld>
            <a:endParaRPr lang="en-US" dirty="0"/>
          </a:p>
        </p:txBody>
      </p:sp>
      <p:sp>
        <p:nvSpPr>
          <p:cNvPr id="6" name="Title">
            <a:extLst>
              <a:ext uri="{FF2B5EF4-FFF2-40B4-BE49-F238E27FC236}">
                <a16:creationId xmlns:a16="http://schemas.microsoft.com/office/drawing/2014/main" id="{A447CAA3-A90F-4D89-A48B-D03B566D0649}"/>
              </a:ext>
            </a:extLst>
          </p:cNvPr>
          <p:cNvSpPr>
            <a:spLocks noGrp="1"/>
          </p:cNvSpPr>
          <p:nvPr>
            <p:ph type="title" idx="1"/>
          </p:nvPr>
        </p:nvSpPr>
        <p:spPr/>
        <p:txBody>
          <a:bodyPr/>
          <a:lstStyle/>
          <a:p>
            <a:r>
              <a:rPr lang="en-US"/>
              <a:t>Module objectives</a:t>
            </a:r>
            <a:endParaRPr lang="en-US" dirty="0"/>
          </a:p>
        </p:txBody>
      </p:sp>
      <p:sp>
        <p:nvSpPr>
          <p:cNvPr id="7" name="Content Placeholder 6">
            <a:extLst>
              <a:ext uri="{FF2B5EF4-FFF2-40B4-BE49-F238E27FC236}">
                <a16:creationId xmlns:a16="http://schemas.microsoft.com/office/drawing/2014/main" id="{4B1EA4C7-AC9B-4737-9B29-085EDC5E7F4A}"/>
              </a:ext>
            </a:extLst>
          </p:cNvPr>
          <p:cNvSpPr>
            <a:spLocks noGrp="1"/>
          </p:cNvSpPr>
          <p:nvPr>
            <p:ph idx="2"/>
          </p:nvPr>
        </p:nvSpPr>
        <p:spPr/>
        <p:txBody>
          <a:bodyPr/>
          <a:lstStyle/>
          <a:p>
            <a:r>
              <a:rPr lang="en-US" dirty="0"/>
              <a:t>At the end of this module, you should be able to do the following:</a:t>
            </a:r>
          </a:p>
          <a:p>
            <a:pPr lvl="1"/>
            <a:r>
              <a:rPr lang="en-US" dirty="0"/>
              <a:t>Define generative artificial intelligence (AI).</a:t>
            </a:r>
          </a:p>
          <a:p>
            <a:pPr lvl="1"/>
            <a:r>
              <a:rPr lang="en-US" dirty="0"/>
              <a:t>Differentiate between traditional machine learning (ML) and generative AI.</a:t>
            </a:r>
          </a:p>
          <a:p>
            <a:pPr lvl="1"/>
            <a:r>
              <a:rPr lang="en-US" dirty="0"/>
              <a:t>Use a foundation model (FM) in a Jupyter notebook to generate an image from text.</a:t>
            </a:r>
          </a:p>
          <a:p>
            <a:pPr lvl="1"/>
            <a:r>
              <a:rPr lang="en-US" dirty="0"/>
              <a:t>Identify the benefits of Amazon Q Developer.</a:t>
            </a:r>
          </a:p>
          <a:p>
            <a:pPr lvl="1"/>
            <a:r>
              <a:rPr lang="en-US" dirty="0"/>
              <a:t>Explain how Amazon Q Developer works with Amazon SageMaker to speed up development of your ML application.</a:t>
            </a:r>
          </a:p>
        </p:txBody>
      </p:sp>
      <p:sp>
        <p:nvSpPr>
          <p:cNvPr id="3" name="a11y_slide_end" descr="Notes Section.">
            <a:extLst>
              <a:ext uri="{FF2B5EF4-FFF2-40B4-BE49-F238E27FC236}">
                <a16:creationId xmlns:a16="http://schemas.microsoft.com/office/drawing/2014/main" id="{74CAC3B1-DB05-4B9B-AD3C-2BFF2F79D496}"/>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72692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fld id="{4037B1B0-0345-4E15-985A-6BECCDBE474F}" type="slidenum">
              <a:rPr lang="en-US" smtClean="0"/>
              <a:pPr/>
              <a:t>4</a:t>
            </a:fld>
            <a:endParaRPr lang="en-US" dirty="0"/>
          </a:p>
        </p:txBody>
      </p:sp>
      <p:sp>
        <p:nvSpPr>
          <p:cNvPr id="3" name="Title">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sz="4800" dirty="0">
                <a:latin typeface="+mj-lt"/>
              </a:rPr>
              <a:t>Section 1: </a:t>
            </a:r>
            <a:r>
              <a:rPr lang="en-US" dirty="0">
                <a:latin typeface="+mj-lt"/>
              </a:rPr>
              <a:t>What is generative AI?</a:t>
            </a:r>
            <a:endParaRPr lang="en-US" dirty="0"/>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b="1" dirty="0">
                <a:latin typeface="+mn-lt"/>
              </a:rPr>
              <a:t>Module 7: </a:t>
            </a:r>
            <a:r>
              <a:rPr lang="en-US" b="1" dirty="0"/>
              <a:t>Introducing Generative AI</a:t>
            </a:r>
            <a:endParaRPr lang="en-US" b="1" dirty="0">
              <a:latin typeface="+mn-lt"/>
            </a:endParaRPr>
          </a:p>
        </p:txBody>
      </p:sp>
      <p:sp>
        <p:nvSpPr>
          <p:cNvPr id="5" name="a11y_slide_end" descr="Notes Section.">
            <a:extLst>
              <a:ext uri="{FF2B5EF4-FFF2-40B4-BE49-F238E27FC236}">
                <a16:creationId xmlns:a16="http://schemas.microsoft.com/office/drawing/2014/main" id="{9D2FCDDC-FC85-4346-AB49-B90AADED2D03}"/>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574568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5</a:t>
            </a:fld>
            <a:endParaRPr lang="en-US" dirty="0"/>
          </a:p>
        </p:txBody>
      </p:sp>
      <p:sp>
        <p:nvSpPr>
          <p:cNvPr id="3" name="Title">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Generative AI definition</a:t>
            </a:r>
          </a:p>
        </p:txBody>
      </p:sp>
      <p:pic>
        <p:nvPicPr>
          <p:cNvPr id="8" name="Content Placeholder 7">
            <a:extLst>
              <a:ext uri="{FF2B5EF4-FFF2-40B4-BE49-F238E27FC236}">
                <a16:creationId xmlns:a16="http://schemas.microsoft.com/office/drawing/2014/main" id="{831358DF-6A52-48A9-843B-5D6ED4807E9D}"/>
              </a:ext>
              <a:ext uri="{C183D7F6-B498-43B3-948B-1728B52AA6E4}">
                <adec:decorative xmlns:adec="http://schemas.microsoft.com/office/drawing/2017/decorative" val="1"/>
              </a:ext>
            </a:extLst>
          </p:cNvPr>
          <p:cNvPicPr>
            <a:picLocks noGrp="1" noChangeAspect="1"/>
          </p:cNvPicPr>
          <p:nvPr>
            <p:ph idx="2"/>
          </p:nvPr>
        </p:nvPicPr>
        <p:blipFill>
          <a:blip r:embed="rId4">
            <a:extLst>
              <a:ext uri="{28A0092B-C50C-407E-A947-70E740481C1C}">
                <a14:useLocalDpi xmlns:a14="http://schemas.microsoft.com/office/drawing/2010/main" val="0"/>
              </a:ext>
            </a:extLst>
          </a:blip>
          <a:stretch>
            <a:fillRect/>
          </a:stretch>
        </p:blipFill>
        <p:spPr>
          <a:xfrm>
            <a:off x="588886" y="1096963"/>
            <a:ext cx="11018990" cy="5330825"/>
          </a:xfrm>
        </p:spPr>
      </p:pic>
      <p:sp>
        <p:nvSpPr>
          <p:cNvPr id="4" name="a11y_slide_end" descr="Notes Section.">
            <a:extLst>
              <a:ext uri="{FF2B5EF4-FFF2-40B4-BE49-F238E27FC236}">
                <a16:creationId xmlns:a16="http://schemas.microsoft.com/office/drawing/2014/main" id="{5D7F28C0-36A9-4A43-BF2C-29CBEEF16370}"/>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15407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153EEDB5-EC56-4042-97F1-D4495DEE5FAE}"/>
              </a:ext>
            </a:extLst>
          </p:cNvPr>
          <p:cNvSpPr>
            <a:spLocks noGrp="1"/>
          </p:cNvSpPr>
          <p:nvPr>
            <p:ph type="sldNum" idx="97"/>
          </p:nvPr>
        </p:nvSpPr>
        <p:spPr/>
        <p:txBody>
          <a:bodyPr/>
          <a:lstStyle/>
          <a:p>
            <a:fld id="{4037B1B0-0345-4E15-985A-6BECCDBE474F}" type="slidenum">
              <a:rPr lang="en-US" smtClean="0"/>
              <a:pPr/>
              <a:t>6</a:t>
            </a:fld>
            <a:endParaRPr lang="en-US" dirty="0"/>
          </a:p>
        </p:txBody>
      </p:sp>
      <p:sp>
        <p:nvSpPr>
          <p:cNvPr id="3" name="Title">
            <a:extLst>
              <a:ext uri="{FF2B5EF4-FFF2-40B4-BE49-F238E27FC236}">
                <a16:creationId xmlns:a16="http://schemas.microsoft.com/office/drawing/2014/main" id="{C9E6DE39-B280-44BD-88CD-9F8C5A435D50}"/>
              </a:ext>
            </a:extLst>
          </p:cNvPr>
          <p:cNvSpPr>
            <a:spLocks noGrp="1"/>
          </p:cNvSpPr>
          <p:nvPr>
            <p:ph type="title" idx="1"/>
          </p:nvPr>
        </p:nvSpPr>
        <p:spPr/>
        <p:txBody>
          <a:bodyPr/>
          <a:lstStyle/>
          <a:p>
            <a:r>
              <a:rPr lang="en-US" dirty="0"/>
              <a:t>Generative AI use cases</a:t>
            </a:r>
          </a:p>
        </p:txBody>
      </p:sp>
      <p:pic>
        <p:nvPicPr>
          <p:cNvPr id="11" name="Content Placeholder 10">
            <a:extLst>
              <a:ext uri="{FF2B5EF4-FFF2-40B4-BE49-F238E27FC236}">
                <a16:creationId xmlns:a16="http://schemas.microsoft.com/office/drawing/2014/main" id="{3B894A01-BF15-4A14-9634-94D10D47E2A1}"/>
              </a:ext>
              <a:ext uri="{C183D7F6-B498-43B3-948B-1728B52AA6E4}">
                <adec:decorative xmlns:adec="http://schemas.microsoft.com/office/drawing/2017/decorative" val="1"/>
              </a:ext>
            </a:extLst>
          </p:cNvPr>
          <p:cNvPicPr>
            <a:picLocks noGrp="1" noChangeAspect="1"/>
          </p:cNvPicPr>
          <p:nvPr>
            <p:ph idx="2"/>
          </p:nvPr>
        </p:nvPicPr>
        <p:blipFill>
          <a:blip r:embed="rId4">
            <a:extLst>
              <a:ext uri="{28A0092B-C50C-407E-A947-70E740481C1C}">
                <a14:useLocalDpi xmlns:a14="http://schemas.microsoft.com/office/drawing/2010/main" val="0"/>
              </a:ext>
            </a:extLst>
          </a:blip>
          <a:stretch>
            <a:fillRect/>
          </a:stretch>
        </p:blipFill>
        <p:spPr>
          <a:xfrm>
            <a:off x="365125" y="1948325"/>
            <a:ext cx="11466513" cy="3628100"/>
          </a:xfrm>
        </p:spPr>
      </p:pic>
      <p:sp>
        <p:nvSpPr>
          <p:cNvPr id="4" name="a11y_slide_end" descr="Notes Section.">
            <a:extLst>
              <a:ext uri="{FF2B5EF4-FFF2-40B4-BE49-F238E27FC236}">
                <a16:creationId xmlns:a16="http://schemas.microsoft.com/office/drawing/2014/main" id="{D36EBD7D-100D-4C08-8CF5-4CCB56C7C200}"/>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660038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7C306B8-78BA-41DF-9CB8-E2EDD7892C7C}"/>
              </a:ext>
            </a:extLst>
          </p:cNvPr>
          <p:cNvSpPr>
            <a:spLocks noGrp="1"/>
          </p:cNvSpPr>
          <p:nvPr>
            <p:ph type="sldNum" idx="97"/>
          </p:nvPr>
        </p:nvSpPr>
        <p:spPr/>
        <p:txBody>
          <a:bodyPr/>
          <a:lstStyle/>
          <a:p>
            <a:fld id="{930176A1-BCF0-4712-97A6-6B495F55390B}" type="slidenum">
              <a:rPr lang="en-US" smtClean="0"/>
              <a:pPr/>
              <a:t>7</a:t>
            </a:fld>
            <a:endParaRPr lang="en-US"/>
          </a:p>
        </p:txBody>
      </p:sp>
      <p:sp>
        <p:nvSpPr>
          <p:cNvPr id="3" name="Title">
            <a:extLst>
              <a:ext uri="{FF2B5EF4-FFF2-40B4-BE49-F238E27FC236}">
                <a16:creationId xmlns:a16="http://schemas.microsoft.com/office/drawing/2014/main" id="{1FEDED09-2D96-4DEB-B2BA-482DB6D419E8}"/>
              </a:ext>
            </a:extLst>
          </p:cNvPr>
          <p:cNvSpPr>
            <a:spLocks noGrp="1"/>
          </p:cNvSpPr>
          <p:nvPr>
            <p:ph type="title" idx="1"/>
          </p:nvPr>
        </p:nvSpPr>
        <p:spPr/>
        <p:txBody>
          <a:bodyPr/>
          <a:lstStyle/>
          <a:p>
            <a:r>
              <a:rPr lang="en-US" dirty="0"/>
              <a:t>Section 1 key takeaways</a:t>
            </a:r>
          </a:p>
        </p:txBody>
      </p:sp>
      <p:pic>
        <p:nvPicPr>
          <p:cNvPr id="5" name="Content Placeholder 13">
            <a:extLst>
              <a:ext uri="{FF2B5EF4-FFF2-40B4-BE49-F238E27FC236}">
                <a16:creationId xmlns:a16="http://schemas.microsoft.com/office/drawing/2014/main" id="{0BE67EF3-A3F7-407F-819C-0F6A1858E52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
        <p:nvSpPr>
          <p:cNvPr id="4" name="Text Placeholder 3">
            <a:extLst>
              <a:ext uri="{FF2B5EF4-FFF2-40B4-BE49-F238E27FC236}">
                <a16:creationId xmlns:a16="http://schemas.microsoft.com/office/drawing/2014/main" id="{641F168C-F6FE-4D33-B99F-76543B1E39F8}"/>
              </a:ext>
            </a:extLst>
          </p:cNvPr>
          <p:cNvSpPr>
            <a:spLocks noGrp="1"/>
          </p:cNvSpPr>
          <p:nvPr>
            <p:ph type="body" idx="3"/>
          </p:nvPr>
        </p:nvSpPr>
        <p:spPr/>
        <p:txBody>
          <a:bodyPr/>
          <a:lstStyle/>
          <a:p>
            <a:r>
              <a:rPr lang="en-US" dirty="0"/>
              <a:t>Generative AI is a type of artificial intelligence that can create new content and ideas, including conversations, stories, images, videos, and music.</a:t>
            </a:r>
          </a:p>
          <a:p>
            <a:r>
              <a:rPr lang="en-US" dirty="0"/>
              <a:t>Generative AI is powered by large models called FMs.</a:t>
            </a:r>
          </a:p>
          <a:p>
            <a:r>
              <a:rPr lang="en-US" dirty="0"/>
              <a:t>Generative AI can be applied for a broad range of purposes.</a:t>
            </a:r>
          </a:p>
        </p:txBody>
      </p:sp>
      <p:sp>
        <p:nvSpPr>
          <p:cNvPr id="6" name="a11y_slide_end" descr="Notes Section.">
            <a:extLst>
              <a:ext uri="{FF2B5EF4-FFF2-40B4-BE49-F238E27FC236}">
                <a16:creationId xmlns:a16="http://schemas.microsoft.com/office/drawing/2014/main" id="{D400BE51-59B6-4E48-BEAD-98530B0F8D9F}"/>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62734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fld id="{4037B1B0-0345-4E15-985A-6BECCDBE474F}" type="slidenum">
              <a:rPr lang="en-US" smtClean="0"/>
              <a:pPr/>
              <a:t>8</a:t>
            </a:fld>
            <a:endParaRPr lang="en-US" dirty="0"/>
          </a:p>
        </p:txBody>
      </p:sp>
      <p:sp>
        <p:nvSpPr>
          <p:cNvPr id="3" name="Title">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sz="4800" dirty="0">
                <a:latin typeface="+mj-lt"/>
              </a:rPr>
              <a:t>Section 2: </a:t>
            </a:r>
            <a:r>
              <a:rPr lang="en-US" dirty="0">
                <a:latin typeface="+mj-lt"/>
              </a:rPr>
              <a:t>How does generative AI work?</a:t>
            </a:r>
            <a:endParaRPr lang="en-US" dirty="0"/>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b="1" dirty="0">
                <a:latin typeface="+mn-lt"/>
              </a:rPr>
              <a:t>Module 7: </a:t>
            </a:r>
            <a:r>
              <a:rPr lang="en-US" b="1" dirty="0"/>
              <a:t>Introducing Generative AI</a:t>
            </a:r>
            <a:endParaRPr lang="en-US" b="1" dirty="0">
              <a:latin typeface="+mn-lt"/>
            </a:endParaRPr>
          </a:p>
        </p:txBody>
      </p:sp>
      <p:sp>
        <p:nvSpPr>
          <p:cNvPr id="5" name="a11y_slide_end" descr="Notes Section.">
            <a:extLst>
              <a:ext uri="{FF2B5EF4-FFF2-40B4-BE49-F238E27FC236}">
                <a16:creationId xmlns:a16="http://schemas.microsoft.com/office/drawing/2014/main" id="{F58D6DE2-A418-4C28-BA3F-9EAD723FAB62}"/>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551609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9</a:t>
            </a:fld>
            <a:endParaRPr lang="en-US" dirty="0"/>
          </a:p>
        </p:txBody>
      </p:sp>
      <p:sp>
        <p:nvSpPr>
          <p:cNvPr id="3" name="Title">
            <a:extLst>
              <a:ext uri="{FF2B5EF4-FFF2-40B4-BE49-F238E27FC236}">
                <a16:creationId xmlns:a16="http://schemas.microsoft.com/office/drawing/2014/main" id="{3BE02FE7-A6FA-4689-A30C-628FCBC12A88}"/>
              </a:ext>
            </a:extLst>
          </p:cNvPr>
          <p:cNvSpPr>
            <a:spLocks noGrp="1"/>
          </p:cNvSpPr>
          <p:nvPr>
            <p:ph type="title" idx="1"/>
          </p:nvPr>
        </p:nvSpPr>
        <p:spPr/>
        <p:txBody>
          <a:bodyPr>
            <a:normAutofit fontScale="90000"/>
          </a:bodyPr>
          <a:lstStyle/>
          <a:p>
            <a:r>
              <a:rPr lang="en-US" sz="3100" dirty="0"/>
              <a:t>Artificial intelligence, machine learning, deep learning, and generative AI</a:t>
            </a:r>
          </a:p>
        </p:txBody>
      </p:sp>
      <p:pic>
        <p:nvPicPr>
          <p:cNvPr id="5" name="Picture 4" descr="Image depicting that generative AI is a subset of ML. ">
            <a:extLst>
              <a:ext uri="{FF2B5EF4-FFF2-40B4-BE49-F238E27FC236}">
                <a16:creationId xmlns:a16="http://schemas.microsoft.com/office/drawing/2014/main" id="{E9EE365B-E61D-4120-8D7D-0AAB3FF0DC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3175" y="1673117"/>
            <a:ext cx="5818873" cy="4267570"/>
          </a:xfrm>
          <a:prstGeom prst="rect">
            <a:avLst/>
          </a:prstGeom>
          <a:ln w="12700">
            <a:noFill/>
          </a:ln>
        </p:spPr>
      </p:pic>
      <p:sp>
        <p:nvSpPr>
          <p:cNvPr id="4" name="a11y_slide_end" descr="Notes Section.">
            <a:extLst>
              <a:ext uri="{FF2B5EF4-FFF2-40B4-BE49-F238E27FC236}">
                <a16:creationId xmlns:a16="http://schemas.microsoft.com/office/drawing/2014/main" id="{BAFCBF44-3C1A-45EC-8BD4-966878BDE9A5}"/>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42570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170CC42-A6B6-4A25-B6F0-394711CC9888}"/>
              </a:ext>
            </a:extLst>
          </p:cNvPr>
          <p:cNvSpPr>
            <a:spLocks noGrp="1"/>
          </p:cNvSpPr>
          <p:nvPr>
            <p:ph type="sldNum" idx="97"/>
          </p:nvPr>
        </p:nvSpPr>
        <p:spPr/>
        <p:txBody>
          <a:bodyPr/>
          <a:lstStyle/>
          <a:p>
            <a:fld id="{4037B1B0-0345-4E15-985A-6BECCDBE474F}" type="slidenum">
              <a:rPr lang="en-US" smtClean="0"/>
              <a:pPr/>
              <a:t>10</a:t>
            </a:fld>
            <a:endParaRPr lang="en-US" dirty="0"/>
          </a:p>
        </p:txBody>
      </p:sp>
      <p:sp>
        <p:nvSpPr>
          <p:cNvPr id="7" name="Title">
            <a:extLst>
              <a:ext uri="{FF2B5EF4-FFF2-40B4-BE49-F238E27FC236}">
                <a16:creationId xmlns:a16="http://schemas.microsoft.com/office/drawing/2014/main" id="{CAEB534A-9592-4E8B-B3B6-47467F0EE977}"/>
              </a:ext>
            </a:extLst>
          </p:cNvPr>
          <p:cNvSpPr>
            <a:spLocks noGrp="1"/>
          </p:cNvSpPr>
          <p:nvPr>
            <p:ph type="title" idx="1"/>
          </p:nvPr>
        </p:nvSpPr>
        <p:spPr/>
        <p:txBody>
          <a:bodyPr/>
          <a:lstStyle/>
          <a:p>
            <a:r>
              <a:rPr lang="en-US" dirty="0"/>
              <a:t>What are FMs?</a:t>
            </a:r>
          </a:p>
        </p:txBody>
      </p:sp>
      <p:pic>
        <p:nvPicPr>
          <p:cNvPr id="5" name="Content Placeholder 4">
            <a:extLst>
              <a:ext uri="{FF2B5EF4-FFF2-40B4-BE49-F238E27FC236}">
                <a16:creationId xmlns:a16="http://schemas.microsoft.com/office/drawing/2014/main" id="{88E5972A-A74F-42AE-B80B-1627B61478B0}"/>
              </a:ext>
              <a:ext uri="{C183D7F6-B498-43B3-948B-1728B52AA6E4}">
                <adec:decorative xmlns:adec="http://schemas.microsoft.com/office/drawing/2017/decorative" val="1"/>
              </a:ext>
            </a:extLst>
          </p:cNvPr>
          <p:cNvPicPr>
            <a:picLocks noGrp="1" noChangeAspect="1"/>
          </p:cNvPicPr>
          <p:nvPr>
            <p:ph idx="2"/>
          </p:nvPr>
        </p:nvPicPr>
        <p:blipFill>
          <a:blip r:embed="rId4">
            <a:extLst>
              <a:ext uri="{28A0092B-C50C-407E-A947-70E740481C1C}">
                <a14:useLocalDpi xmlns:a14="http://schemas.microsoft.com/office/drawing/2010/main" val="0"/>
              </a:ext>
            </a:extLst>
          </a:blip>
          <a:stretch>
            <a:fillRect/>
          </a:stretch>
        </p:blipFill>
        <p:spPr>
          <a:xfrm>
            <a:off x="1046574" y="1277460"/>
            <a:ext cx="10234448" cy="4906381"/>
          </a:xfrm>
        </p:spPr>
      </p:pic>
      <p:sp>
        <p:nvSpPr>
          <p:cNvPr id="3" name="a11y_slide_end" descr="Notes Section.">
            <a:extLst>
              <a:ext uri="{FF2B5EF4-FFF2-40B4-BE49-F238E27FC236}">
                <a16:creationId xmlns:a16="http://schemas.microsoft.com/office/drawing/2014/main" id="{1DD7B4C7-2B84-499B-A32C-7A41950C4759}"/>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08953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D0B4F06-168F-4B62-B78A-F2DD4BBE29C2}"/>
              </a:ext>
            </a:extLst>
          </p:cNvPr>
          <p:cNvSpPr>
            <a:spLocks noGrp="1"/>
          </p:cNvSpPr>
          <p:nvPr>
            <p:ph type="sldNum" idx="97"/>
          </p:nvPr>
        </p:nvSpPr>
        <p:spPr/>
        <p:txBody>
          <a:bodyPr/>
          <a:lstStyle/>
          <a:p>
            <a:fld id="{4037B1B0-0345-4E15-985A-6BECCDBE474F}" type="slidenum">
              <a:rPr lang="en-US" smtClean="0"/>
              <a:pPr/>
              <a:t>11</a:t>
            </a:fld>
            <a:endParaRPr lang="en-US" dirty="0"/>
          </a:p>
        </p:txBody>
      </p:sp>
      <p:sp>
        <p:nvSpPr>
          <p:cNvPr id="6" name="Title">
            <a:extLst>
              <a:ext uri="{FF2B5EF4-FFF2-40B4-BE49-F238E27FC236}">
                <a16:creationId xmlns:a16="http://schemas.microsoft.com/office/drawing/2014/main" id="{4758D74B-09A6-4722-84FE-7498C26B2BCE}"/>
              </a:ext>
            </a:extLst>
          </p:cNvPr>
          <p:cNvSpPr>
            <a:spLocks noGrp="1"/>
          </p:cNvSpPr>
          <p:nvPr>
            <p:ph type="title" idx="1"/>
          </p:nvPr>
        </p:nvSpPr>
        <p:spPr/>
        <p:txBody>
          <a:bodyPr>
            <a:normAutofit/>
          </a:bodyPr>
          <a:lstStyle/>
          <a:p>
            <a:r>
              <a:rPr lang="en-US" dirty="0"/>
              <a:t>Comparison of traditional and foundation models</a:t>
            </a:r>
          </a:p>
        </p:txBody>
      </p:sp>
      <p:pic>
        <p:nvPicPr>
          <p:cNvPr id="10" name="Picture 9" descr="Illustration comparing traditional and foundation models. See notes for details.">
            <a:extLst>
              <a:ext uri="{FF2B5EF4-FFF2-40B4-BE49-F238E27FC236}">
                <a16:creationId xmlns:a16="http://schemas.microsoft.com/office/drawing/2014/main" id="{6B95912E-8B97-E030-9B4A-2E977B0A36EC}"/>
              </a:ext>
            </a:extLst>
          </p:cNvPr>
          <p:cNvPicPr>
            <a:picLocks noChangeAspect="1"/>
          </p:cNvPicPr>
          <p:nvPr/>
        </p:nvPicPr>
        <p:blipFill>
          <a:blip r:embed="rId4"/>
          <a:stretch>
            <a:fillRect/>
          </a:stretch>
        </p:blipFill>
        <p:spPr>
          <a:xfrm>
            <a:off x="238245" y="1156265"/>
            <a:ext cx="11715510" cy="5290255"/>
          </a:xfrm>
          <a:prstGeom prst="rect">
            <a:avLst/>
          </a:prstGeom>
        </p:spPr>
      </p:pic>
      <p:sp>
        <p:nvSpPr>
          <p:cNvPr id="3" name="a11y_slide_end" descr="Notes Section.">
            <a:extLst>
              <a:ext uri="{FF2B5EF4-FFF2-40B4-BE49-F238E27FC236}">
                <a16:creationId xmlns:a16="http://schemas.microsoft.com/office/drawing/2014/main" id="{985DEF63-1A7D-4C74-B06C-9357C6629FE3}"/>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494506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170CC42-A6B6-4A25-B6F0-394711CC9888}"/>
              </a:ext>
            </a:extLst>
          </p:cNvPr>
          <p:cNvSpPr>
            <a:spLocks noGrp="1"/>
          </p:cNvSpPr>
          <p:nvPr>
            <p:ph type="sldNum" idx="97"/>
          </p:nvPr>
        </p:nvSpPr>
        <p:spPr/>
        <p:txBody>
          <a:bodyPr/>
          <a:lstStyle/>
          <a:p>
            <a:fld id="{4037B1B0-0345-4E15-985A-6BECCDBE474F}" type="slidenum">
              <a:rPr lang="en-US" smtClean="0"/>
              <a:pPr/>
              <a:t>12</a:t>
            </a:fld>
            <a:endParaRPr lang="en-US" dirty="0"/>
          </a:p>
        </p:txBody>
      </p:sp>
      <p:sp>
        <p:nvSpPr>
          <p:cNvPr id="7" name="Title">
            <a:extLst>
              <a:ext uri="{FF2B5EF4-FFF2-40B4-BE49-F238E27FC236}">
                <a16:creationId xmlns:a16="http://schemas.microsoft.com/office/drawing/2014/main" id="{CAEB534A-9592-4E8B-B3B6-47467F0EE977}"/>
              </a:ext>
            </a:extLst>
          </p:cNvPr>
          <p:cNvSpPr>
            <a:spLocks noGrp="1"/>
          </p:cNvSpPr>
          <p:nvPr>
            <p:ph type="title" idx="1"/>
          </p:nvPr>
        </p:nvSpPr>
        <p:spPr/>
        <p:txBody>
          <a:bodyPr/>
          <a:lstStyle/>
          <a:p>
            <a:r>
              <a:rPr lang="en-US" dirty="0"/>
              <a:t>What tasks can foundation models do?</a:t>
            </a:r>
          </a:p>
        </p:txBody>
      </p:sp>
      <p:pic>
        <p:nvPicPr>
          <p:cNvPr id="32" name="Picture 31">
            <a:extLst>
              <a:ext uri="{FF2B5EF4-FFF2-40B4-BE49-F238E27FC236}">
                <a16:creationId xmlns:a16="http://schemas.microsoft.com/office/drawing/2014/main" id="{2D52636E-D6DF-448B-AB08-FFABECCCDE17}"/>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4466" y="1124938"/>
            <a:ext cx="1901952" cy="1901952"/>
          </a:xfrm>
          <a:prstGeom prst="rect">
            <a:avLst/>
          </a:prstGeom>
        </p:spPr>
      </p:pic>
      <p:sp>
        <p:nvSpPr>
          <p:cNvPr id="27" name="TextBox 29">
            <a:extLst>
              <a:ext uri="{FF2B5EF4-FFF2-40B4-BE49-F238E27FC236}">
                <a16:creationId xmlns:a16="http://schemas.microsoft.com/office/drawing/2014/main" id="{27655323-7F81-40B3-AA75-88166BFADA50}"/>
              </a:ext>
            </a:extLst>
          </p:cNvPr>
          <p:cNvSpPr txBox="1">
            <a:spLocks noChangeArrowheads="1"/>
          </p:cNvSpPr>
          <p:nvPr/>
        </p:nvSpPr>
        <p:spPr bwMode="auto">
          <a:xfrm>
            <a:off x="952317" y="2931069"/>
            <a:ext cx="169472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Text </a:t>
            </a:r>
          </a:p>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generation</a:t>
            </a:r>
          </a:p>
        </p:txBody>
      </p:sp>
      <p:pic>
        <p:nvPicPr>
          <p:cNvPr id="24" name="Graphic 23">
            <a:extLst>
              <a:ext uri="{FF2B5EF4-FFF2-40B4-BE49-F238E27FC236}">
                <a16:creationId xmlns:a16="http://schemas.microsoft.com/office/drawing/2014/main" id="{5D7A148E-FD1C-4E31-AA86-E29B8125E89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99953" y="1124712"/>
            <a:ext cx="1905000" cy="1905000"/>
          </a:xfrm>
          <a:prstGeom prst="rect">
            <a:avLst/>
          </a:prstGeom>
        </p:spPr>
      </p:pic>
      <p:sp>
        <p:nvSpPr>
          <p:cNvPr id="28" name="TextBox 29">
            <a:extLst>
              <a:ext uri="{FF2B5EF4-FFF2-40B4-BE49-F238E27FC236}">
                <a16:creationId xmlns:a16="http://schemas.microsoft.com/office/drawing/2014/main" id="{AD36CA5C-7A7E-4D8C-946F-B2F48996A3A9}"/>
              </a:ext>
            </a:extLst>
          </p:cNvPr>
          <p:cNvSpPr txBox="1">
            <a:spLocks noChangeArrowheads="1"/>
          </p:cNvSpPr>
          <p:nvPr/>
        </p:nvSpPr>
        <p:spPr bwMode="auto">
          <a:xfrm>
            <a:off x="3233564" y="3038863"/>
            <a:ext cx="16947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Q&amp;A</a:t>
            </a:r>
          </a:p>
        </p:txBody>
      </p:sp>
      <p:pic>
        <p:nvPicPr>
          <p:cNvPr id="34" name="Graphic 33">
            <a:extLst>
              <a:ext uri="{FF2B5EF4-FFF2-40B4-BE49-F238E27FC236}">
                <a16:creationId xmlns:a16="http://schemas.microsoft.com/office/drawing/2014/main" id="{9703AFE5-97AC-458A-AA91-BFCD1277F285}"/>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89207" y="1124712"/>
            <a:ext cx="1905000" cy="1905000"/>
          </a:xfrm>
          <a:prstGeom prst="rect">
            <a:avLst/>
          </a:prstGeom>
        </p:spPr>
      </p:pic>
      <p:sp>
        <p:nvSpPr>
          <p:cNvPr id="35" name="TextBox 29">
            <a:extLst>
              <a:ext uri="{FF2B5EF4-FFF2-40B4-BE49-F238E27FC236}">
                <a16:creationId xmlns:a16="http://schemas.microsoft.com/office/drawing/2014/main" id="{888CBE12-0A69-4A0A-8C17-66D7A3413FCB}"/>
              </a:ext>
            </a:extLst>
          </p:cNvPr>
          <p:cNvSpPr txBox="1">
            <a:spLocks noChangeArrowheads="1"/>
          </p:cNvSpPr>
          <p:nvPr/>
        </p:nvSpPr>
        <p:spPr bwMode="auto">
          <a:xfrm>
            <a:off x="5009566" y="2963497"/>
            <a:ext cx="169472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Sentiment analysis</a:t>
            </a:r>
          </a:p>
        </p:txBody>
      </p:sp>
      <p:pic>
        <p:nvPicPr>
          <p:cNvPr id="31" name="Graphic 30">
            <a:extLst>
              <a:ext uri="{FF2B5EF4-FFF2-40B4-BE49-F238E27FC236}">
                <a16:creationId xmlns:a16="http://schemas.microsoft.com/office/drawing/2014/main" id="{B189BA71-D790-4C71-84E4-538084F083CE}"/>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00753" y="1417782"/>
            <a:ext cx="1905000" cy="1905000"/>
          </a:xfrm>
          <a:prstGeom prst="rect">
            <a:avLst/>
          </a:prstGeom>
        </p:spPr>
      </p:pic>
      <p:sp>
        <p:nvSpPr>
          <p:cNvPr id="29" name="TextBox 29">
            <a:extLst>
              <a:ext uri="{FF2B5EF4-FFF2-40B4-BE49-F238E27FC236}">
                <a16:creationId xmlns:a16="http://schemas.microsoft.com/office/drawing/2014/main" id="{FC0E417C-10C8-4723-A382-255390877165}"/>
              </a:ext>
            </a:extLst>
          </p:cNvPr>
          <p:cNvSpPr txBox="1">
            <a:spLocks noChangeArrowheads="1"/>
          </p:cNvSpPr>
          <p:nvPr/>
        </p:nvSpPr>
        <p:spPr bwMode="auto">
          <a:xfrm>
            <a:off x="6794010" y="3019190"/>
            <a:ext cx="169472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Text summarization</a:t>
            </a:r>
          </a:p>
        </p:txBody>
      </p:sp>
      <p:pic>
        <p:nvPicPr>
          <p:cNvPr id="33" name="Graphic 32">
            <a:extLst>
              <a:ext uri="{FF2B5EF4-FFF2-40B4-BE49-F238E27FC236}">
                <a16:creationId xmlns:a16="http://schemas.microsoft.com/office/drawing/2014/main" id="{6DD0B82F-62F6-481F-BD8B-3AAC8E5B41B2}"/>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912299" y="1417782"/>
            <a:ext cx="1905000" cy="1905000"/>
          </a:xfrm>
          <a:prstGeom prst="rect">
            <a:avLst/>
          </a:prstGeom>
        </p:spPr>
      </p:pic>
      <p:sp>
        <p:nvSpPr>
          <p:cNvPr id="30" name="TextBox 29">
            <a:extLst>
              <a:ext uri="{FF2B5EF4-FFF2-40B4-BE49-F238E27FC236}">
                <a16:creationId xmlns:a16="http://schemas.microsoft.com/office/drawing/2014/main" id="{962E7671-0D75-4889-9527-549A80CBCFC9}"/>
              </a:ext>
            </a:extLst>
          </p:cNvPr>
          <p:cNvSpPr txBox="1">
            <a:spLocks noChangeArrowheads="1"/>
          </p:cNvSpPr>
          <p:nvPr/>
        </p:nvSpPr>
        <p:spPr bwMode="auto">
          <a:xfrm>
            <a:off x="8895471" y="3201746"/>
            <a:ext cx="16947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Search</a:t>
            </a:r>
          </a:p>
        </p:txBody>
      </p:sp>
      <p:pic>
        <p:nvPicPr>
          <p:cNvPr id="52" name="Graphic 51">
            <a:extLst>
              <a:ext uri="{FF2B5EF4-FFF2-40B4-BE49-F238E27FC236}">
                <a16:creationId xmlns:a16="http://schemas.microsoft.com/office/drawing/2014/main" id="{ACA16888-7E19-4A9B-9334-625500755ACB}"/>
              </a:ext>
              <a:ext uri="{C183D7F6-B498-43B3-948B-1728B52AA6E4}">
                <adec:decorative xmlns:adec="http://schemas.microsoft.com/office/drawing/2017/decorative" val="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37705" y="3808231"/>
            <a:ext cx="1905000" cy="1905000"/>
          </a:xfrm>
          <a:prstGeom prst="rect">
            <a:avLst/>
          </a:prstGeom>
        </p:spPr>
      </p:pic>
      <p:sp>
        <p:nvSpPr>
          <p:cNvPr id="64" name="TextBox 29">
            <a:extLst>
              <a:ext uri="{FF2B5EF4-FFF2-40B4-BE49-F238E27FC236}">
                <a16:creationId xmlns:a16="http://schemas.microsoft.com/office/drawing/2014/main" id="{EEB69D8C-06C4-4B09-B717-520B6911F26F}"/>
              </a:ext>
            </a:extLst>
          </p:cNvPr>
          <p:cNvSpPr txBox="1">
            <a:spLocks noChangeArrowheads="1"/>
          </p:cNvSpPr>
          <p:nvPr/>
        </p:nvSpPr>
        <p:spPr bwMode="auto">
          <a:xfrm>
            <a:off x="1194767" y="5420843"/>
            <a:ext cx="169472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Code generation</a:t>
            </a:r>
          </a:p>
        </p:txBody>
      </p:sp>
      <p:pic>
        <p:nvPicPr>
          <p:cNvPr id="48" name="Graphic 47">
            <a:extLst>
              <a:ext uri="{FF2B5EF4-FFF2-40B4-BE49-F238E27FC236}">
                <a16:creationId xmlns:a16="http://schemas.microsoft.com/office/drawing/2014/main" id="{2D33F7C6-0812-47A3-B158-1BDD7207123A}"/>
              </a:ext>
              <a:ext uri="{C183D7F6-B498-43B3-948B-1728B52AA6E4}">
                <adec:decorative xmlns:adec="http://schemas.microsoft.com/office/drawing/2017/decorative" val="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114382" y="3819137"/>
            <a:ext cx="1905000" cy="1905000"/>
          </a:xfrm>
          <a:prstGeom prst="rect">
            <a:avLst/>
          </a:prstGeom>
        </p:spPr>
      </p:pic>
      <p:sp>
        <p:nvSpPr>
          <p:cNvPr id="65" name="TextBox 29">
            <a:extLst>
              <a:ext uri="{FF2B5EF4-FFF2-40B4-BE49-F238E27FC236}">
                <a16:creationId xmlns:a16="http://schemas.microsoft.com/office/drawing/2014/main" id="{AD05BE59-5246-48AC-A0B6-5065DD880EBC}"/>
              </a:ext>
            </a:extLst>
          </p:cNvPr>
          <p:cNvSpPr txBox="1">
            <a:spLocks noChangeArrowheads="1"/>
          </p:cNvSpPr>
          <p:nvPr/>
        </p:nvSpPr>
        <p:spPr bwMode="auto">
          <a:xfrm>
            <a:off x="3233564" y="5440900"/>
            <a:ext cx="169472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Image generation</a:t>
            </a:r>
          </a:p>
        </p:txBody>
      </p:sp>
      <p:pic>
        <p:nvPicPr>
          <p:cNvPr id="56" name="Graphic 55">
            <a:extLst>
              <a:ext uri="{FF2B5EF4-FFF2-40B4-BE49-F238E27FC236}">
                <a16:creationId xmlns:a16="http://schemas.microsoft.com/office/drawing/2014/main" id="{8ECB4EF8-282A-4702-B186-9A8561B87DA1}"/>
              </a:ext>
              <a:ext uri="{C183D7F6-B498-43B3-948B-1728B52AA6E4}">
                <adec:decorative xmlns:adec="http://schemas.microsoft.com/office/drawing/2017/decorative" val="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995753" y="3808231"/>
            <a:ext cx="1905000" cy="1905000"/>
          </a:xfrm>
          <a:prstGeom prst="rect">
            <a:avLst/>
          </a:prstGeom>
        </p:spPr>
      </p:pic>
      <p:sp>
        <p:nvSpPr>
          <p:cNvPr id="68" name="TextBox 29">
            <a:extLst>
              <a:ext uri="{FF2B5EF4-FFF2-40B4-BE49-F238E27FC236}">
                <a16:creationId xmlns:a16="http://schemas.microsoft.com/office/drawing/2014/main" id="{92A0C759-AC1B-4C3F-9FE7-8B77492F115B}"/>
              </a:ext>
            </a:extLst>
          </p:cNvPr>
          <p:cNvSpPr txBox="1">
            <a:spLocks noChangeArrowheads="1"/>
          </p:cNvSpPr>
          <p:nvPr/>
        </p:nvSpPr>
        <p:spPr bwMode="auto">
          <a:xfrm>
            <a:off x="4928290" y="5452963"/>
            <a:ext cx="169472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Image classification</a:t>
            </a:r>
          </a:p>
        </p:txBody>
      </p:sp>
      <p:pic>
        <p:nvPicPr>
          <p:cNvPr id="50" name="Graphic 49">
            <a:extLst>
              <a:ext uri="{FF2B5EF4-FFF2-40B4-BE49-F238E27FC236}">
                <a16:creationId xmlns:a16="http://schemas.microsoft.com/office/drawing/2014/main" id="{3105B5EB-6FDF-4A58-884F-D891B68E1978}"/>
              </a:ext>
              <a:ext uri="{C183D7F6-B498-43B3-948B-1728B52AA6E4}">
                <adec:decorative xmlns:adec="http://schemas.microsoft.com/office/drawing/2017/decorative" val="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677508" y="3808231"/>
            <a:ext cx="1905000" cy="1905000"/>
          </a:xfrm>
          <a:prstGeom prst="rect">
            <a:avLst/>
          </a:prstGeom>
        </p:spPr>
      </p:pic>
      <p:sp>
        <p:nvSpPr>
          <p:cNvPr id="66" name="TextBox 29">
            <a:extLst>
              <a:ext uri="{FF2B5EF4-FFF2-40B4-BE49-F238E27FC236}">
                <a16:creationId xmlns:a16="http://schemas.microsoft.com/office/drawing/2014/main" id="{2AD0CBFE-4ABC-4681-9D15-B74EBE019232}"/>
              </a:ext>
            </a:extLst>
          </p:cNvPr>
          <p:cNvSpPr txBox="1">
            <a:spLocks noChangeArrowheads="1"/>
          </p:cNvSpPr>
          <p:nvPr/>
        </p:nvSpPr>
        <p:spPr bwMode="auto">
          <a:xfrm>
            <a:off x="7011346" y="5570485"/>
            <a:ext cx="169472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Audio generation</a:t>
            </a:r>
          </a:p>
        </p:txBody>
      </p:sp>
      <p:pic>
        <p:nvPicPr>
          <p:cNvPr id="42" name="Graphic 41">
            <a:extLst>
              <a:ext uri="{FF2B5EF4-FFF2-40B4-BE49-F238E27FC236}">
                <a16:creationId xmlns:a16="http://schemas.microsoft.com/office/drawing/2014/main" id="{68018CBD-FA15-4E96-B2A8-B041D02AA91D}"/>
              </a:ext>
              <a:ext uri="{C183D7F6-B498-43B3-948B-1728B52AA6E4}">
                <adec:decorative xmlns:adec="http://schemas.microsoft.com/office/drawing/2017/decorative" val="1"/>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8849952" y="3643339"/>
            <a:ext cx="1905000" cy="1905000"/>
          </a:xfrm>
          <a:prstGeom prst="rect">
            <a:avLst/>
          </a:prstGeom>
        </p:spPr>
      </p:pic>
      <p:sp>
        <p:nvSpPr>
          <p:cNvPr id="67" name="TextBox 29">
            <a:extLst>
              <a:ext uri="{FF2B5EF4-FFF2-40B4-BE49-F238E27FC236}">
                <a16:creationId xmlns:a16="http://schemas.microsoft.com/office/drawing/2014/main" id="{4F65D2A4-12F3-447E-96C9-D36A59F8F108}"/>
              </a:ext>
            </a:extLst>
          </p:cNvPr>
          <p:cNvSpPr txBox="1">
            <a:spLocks noChangeArrowheads="1"/>
          </p:cNvSpPr>
          <p:nvPr/>
        </p:nvSpPr>
        <p:spPr bwMode="auto">
          <a:xfrm>
            <a:off x="8897971" y="5557696"/>
            <a:ext cx="169472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Video generation</a:t>
            </a:r>
          </a:p>
        </p:txBody>
      </p:sp>
      <p:sp>
        <p:nvSpPr>
          <p:cNvPr id="3" name="a11y_slide_end" descr="Notes Section.">
            <a:extLst>
              <a:ext uri="{FF2B5EF4-FFF2-40B4-BE49-F238E27FC236}">
                <a16:creationId xmlns:a16="http://schemas.microsoft.com/office/drawing/2014/main" id="{2628BC2F-DB15-4291-9577-F4C3DE8BFEE3}"/>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20393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7BC6F11-4AE7-4C5E-A959-932A28A216EE}"/>
              </a:ext>
            </a:extLst>
          </p:cNvPr>
          <p:cNvSpPr>
            <a:spLocks noGrp="1"/>
          </p:cNvSpPr>
          <p:nvPr>
            <p:ph type="sldNum" idx="97"/>
          </p:nvPr>
        </p:nvSpPr>
        <p:spPr/>
        <p:txBody>
          <a:bodyPr/>
          <a:lstStyle/>
          <a:p>
            <a:fld id="{4037B1B0-0345-4E15-985A-6BECCDBE474F}" type="slidenum">
              <a:rPr lang="en-US" smtClean="0"/>
              <a:pPr/>
              <a:t>13</a:t>
            </a:fld>
            <a:endParaRPr lang="en-US" dirty="0"/>
          </a:p>
        </p:txBody>
      </p:sp>
      <p:sp>
        <p:nvSpPr>
          <p:cNvPr id="3" name="Title">
            <a:extLst>
              <a:ext uri="{FF2B5EF4-FFF2-40B4-BE49-F238E27FC236}">
                <a16:creationId xmlns:a16="http://schemas.microsoft.com/office/drawing/2014/main" id="{86698C47-36E8-4B06-9355-9DFBAE317BDE}"/>
              </a:ext>
            </a:extLst>
          </p:cNvPr>
          <p:cNvSpPr>
            <a:spLocks noGrp="1"/>
          </p:cNvSpPr>
          <p:nvPr>
            <p:ph type="title" idx="1"/>
          </p:nvPr>
        </p:nvSpPr>
        <p:spPr/>
        <p:txBody>
          <a:bodyPr/>
          <a:lstStyle/>
          <a:p>
            <a:r>
              <a:rPr lang="en-US" dirty="0"/>
              <a:t>What are LLMs?</a:t>
            </a:r>
          </a:p>
        </p:txBody>
      </p:sp>
      <p:sp>
        <p:nvSpPr>
          <p:cNvPr id="4" name="Content Placeholder 3">
            <a:extLst>
              <a:ext uri="{FF2B5EF4-FFF2-40B4-BE49-F238E27FC236}">
                <a16:creationId xmlns:a16="http://schemas.microsoft.com/office/drawing/2014/main" id="{6C2ABB22-D94A-4343-A379-5CFDBFDFB72A}"/>
              </a:ext>
            </a:extLst>
          </p:cNvPr>
          <p:cNvSpPr>
            <a:spLocks noGrp="1"/>
          </p:cNvSpPr>
          <p:nvPr>
            <p:ph idx="2"/>
          </p:nvPr>
        </p:nvSpPr>
        <p:spPr/>
        <p:txBody>
          <a:bodyPr>
            <a:normAutofit/>
          </a:bodyPr>
          <a:lstStyle/>
          <a:p>
            <a:pPr marL="0" indent="0">
              <a:buNone/>
            </a:pPr>
            <a:r>
              <a:rPr lang="en-US" dirty="0"/>
              <a:t>Large language models (LLMs):</a:t>
            </a:r>
          </a:p>
          <a:p>
            <a:pPr lvl="1"/>
            <a:r>
              <a:rPr lang="en-US" sz="2800" dirty="0"/>
              <a:t>Trained on trillions of words</a:t>
            </a:r>
          </a:p>
          <a:p>
            <a:pPr lvl="1"/>
            <a:r>
              <a:rPr lang="en-US" sz="2800" dirty="0"/>
              <a:t>Able to understand, learn, and generate text</a:t>
            </a:r>
          </a:p>
          <a:p>
            <a:pPr lvl="1"/>
            <a:r>
              <a:rPr lang="en-US" sz="2800" dirty="0"/>
              <a:t>Adaptable to various tasks like text generation, summarization, or sentiment analysis</a:t>
            </a:r>
          </a:p>
          <a:p>
            <a:pPr lvl="1"/>
            <a:r>
              <a:rPr lang="en-US" sz="2800" dirty="0"/>
              <a:t>Able to perform domain-specific functions</a:t>
            </a:r>
          </a:p>
          <a:p>
            <a:pPr marL="0" indent="0">
              <a:buNone/>
            </a:pPr>
            <a:endParaRPr lang="en-US" dirty="0"/>
          </a:p>
        </p:txBody>
      </p:sp>
      <p:sp>
        <p:nvSpPr>
          <p:cNvPr id="5" name="a11y_slide_end" descr="Notes Section.">
            <a:extLst>
              <a:ext uri="{FF2B5EF4-FFF2-40B4-BE49-F238E27FC236}">
                <a16:creationId xmlns:a16="http://schemas.microsoft.com/office/drawing/2014/main" id="{E15D7589-76AE-44F4-A76E-74B822F20E8B}"/>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549585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EFA9E1DE-D071-4E4F-8177-C32CA3B3DA70}"/>
              </a:ext>
            </a:extLst>
          </p:cNvPr>
          <p:cNvSpPr>
            <a:spLocks noGrp="1"/>
          </p:cNvSpPr>
          <p:nvPr>
            <p:ph type="sldNum" idx="97"/>
          </p:nvPr>
        </p:nvSpPr>
        <p:spPr/>
        <p:txBody>
          <a:bodyPr/>
          <a:lstStyle/>
          <a:p>
            <a:fld id="{4037B1B0-0345-4E15-985A-6BECCDBE474F}" type="slidenum">
              <a:rPr lang="en-US" smtClean="0"/>
              <a:pPr/>
              <a:t>14</a:t>
            </a:fld>
            <a:endParaRPr lang="en-US" dirty="0"/>
          </a:p>
        </p:txBody>
      </p:sp>
      <p:sp>
        <p:nvSpPr>
          <p:cNvPr id="3" name="Title">
            <a:extLst>
              <a:ext uri="{FF2B5EF4-FFF2-40B4-BE49-F238E27FC236}">
                <a16:creationId xmlns:a16="http://schemas.microsoft.com/office/drawing/2014/main" id="{56D7509E-F856-429F-9237-DD73EFCB9A73}"/>
              </a:ext>
            </a:extLst>
          </p:cNvPr>
          <p:cNvSpPr>
            <a:spLocks noGrp="1"/>
          </p:cNvSpPr>
          <p:nvPr>
            <p:ph type="title" idx="1"/>
          </p:nvPr>
        </p:nvSpPr>
        <p:spPr/>
        <p:txBody>
          <a:bodyPr/>
          <a:lstStyle/>
          <a:p>
            <a:r>
              <a:rPr lang="en-US" dirty="0"/>
              <a:t>What is prompt engineering?</a:t>
            </a:r>
          </a:p>
        </p:txBody>
      </p:sp>
      <p:pic>
        <p:nvPicPr>
          <p:cNvPr id="8" name="Content Placeholder 7">
            <a:extLst>
              <a:ext uri="{FF2B5EF4-FFF2-40B4-BE49-F238E27FC236}">
                <a16:creationId xmlns:a16="http://schemas.microsoft.com/office/drawing/2014/main" id="{08E244D2-730F-4B7E-A3EB-63765A741E51}"/>
              </a:ext>
              <a:ext uri="{C183D7F6-B498-43B3-948B-1728B52AA6E4}">
                <adec:decorative xmlns:adec="http://schemas.microsoft.com/office/drawing/2017/decorative" val="1"/>
              </a:ext>
            </a:extLst>
          </p:cNvPr>
          <p:cNvPicPr>
            <a:picLocks noGrp="1" noChangeAspect="1"/>
          </p:cNvPicPr>
          <p:nvPr>
            <p:ph idx="2"/>
          </p:nvPr>
        </p:nvPicPr>
        <p:blipFill>
          <a:blip r:embed="rId4">
            <a:extLst>
              <a:ext uri="{28A0092B-C50C-407E-A947-70E740481C1C}">
                <a14:useLocalDpi xmlns:a14="http://schemas.microsoft.com/office/drawing/2010/main" val="0"/>
              </a:ext>
            </a:extLst>
          </a:blip>
          <a:stretch>
            <a:fillRect/>
          </a:stretch>
        </p:blipFill>
        <p:spPr>
          <a:xfrm>
            <a:off x="420782" y="1230596"/>
            <a:ext cx="11355198" cy="5063559"/>
          </a:xfrm>
        </p:spPr>
      </p:pic>
      <p:sp>
        <p:nvSpPr>
          <p:cNvPr id="4" name="a11y_slide_end" descr="Notes Section.">
            <a:extLst>
              <a:ext uri="{FF2B5EF4-FFF2-40B4-BE49-F238E27FC236}">
                <a16:creationId xmlns:a16="http://schemas.microsoft.com/office/drawing/2014/main" id="{AE477B51-34A9-49F5-8398-D4628A45AB72}"/>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474638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3A405E6-0C4C-4D2A-9F18-B834B44CC417}"/>
              </a:ext>
            </a:extLst>
          </p:cNvPr>
          <p:cNvSpPr>
            <a:spLocks noGrp="1"/>
          </p:cNvSpPr>
          <p:nvPr>
            <p:ph type="sldNum" idx="97"/>
          </p:nvPr>
        </p:nvSpPr>
        <p:spPr/>
        <p:txBody>
          <a:bodyPr/>
          <a:lstStyle/>
          <a:p>
            <a:fld id="{4037B1B0-0345-4E15-985A-6BECCDBE474F}" type="slidenum">
              <a:rPr lang="en-US" smtClean="0"/>
              <a:pPr/>
              <a:t>15</a:t>
            </a:fld>
            <a:endParaRPr lang="en-US" dirty="0"/>
          </a:p>
        </p:txBody>
      </p:sp>
      <p:sp>
        <p:nvSpPr>
          <p:cNvPr id="3" name="Title">
            <a:extLst>
              <a:ext uri="{FF2B5EF4-FFF2-40B4-BE49-F238E27FC236}">
                <a16:creationId xmlns:a16="http://schemas.microsoft.com/office/drawing/2014/main" id="{E7669387-5519-4082-AE30-EB62F2FF21DD}"/>
              </a:ext>
            </a:extLst>
          </p:cNvPr>
          <p:cNvSpPr>
            <a:spLocks noGrp="1"/>
          </p:cNvSpPr>
          <p:nvPr>
            <p:ph type="title" idx="1"/>
          </p:nvPr>
        </p:nvSpPr>
        <p:spPr/>
        <p:txBody>
          <a:bodyPr/>
          <a:lstStyle/>
          <a:p>
            <a:r>
              <a:rPr lang="en-US" dirty="0"/>
              <a:t>Example of a prompt </a:t>
            </a:r>
          </a:p>
        </p:txBody>
      </p:sp>
      <p:pic>
        <p:nvPicPr>
          <p:cNvPr id="8" name="Content Placeholder 7">
            <a:extLst>
              <a:ext uri="{FF2B5EF4-FFF2-40B4-BE49-F238E27FC236}">
                <a16:creationId xmlns:a16="http://schemas.microsoft.com/office/drawing/2014/main" id="{A8A03F09-94FC-4CD4-BD18-74E5A363D484}"/>
              </a:ext>
              <a:ext uri="{C183D7F6-B498-43B3-948B-1728B52AA6E4}">
                <adec:decorative xmlns:adec="http://schemas.microsoft.com/office/drawing/2017/decorative" val="1"/>
              </a:ext>
            </a:extLst>
          </p:cNvPr>
          <p:cNvPicPr>
            <a:picLocks noGrp="1" noChangeAspect="1"/>
          </p:cNvPicPr>
          <p:nvPr>
            <p:ph idx="2"/>
          </p:nvPr>
        </p:nvPicPr>
        <p:blipFill>
          <a:blip r:embed="rId4">
            <a:extLst>
              <a:ext uri="{28A0092B-C50C-407E-A947-70E740481C1C}">
                <a14:useLocalDpi xmlns:a14="http://schemas.microsoft.com/office/drawing/2010/main" val="0"/>
              </a:ext>
            </a:extLst>
          </a:blip>
          <a:stretch>
            <a:fillRect/>
          </a:stretch>
        </p:blipFill>
        <p:spPr>
          <a:xfrm>
            <a:off x="365125" y="1805570"/>
            <a:ext cx="11466513" cy="3913610"/>
          </a:xfrm>
        </p:spPr>
      </p:pic>
      <p:sp>
        <p:nvSpPr>
          <p:cNvPr id="4" name="a11y_slide_end" descr="Notes Section.">
            <a:extLst>
              <a:ext uri="{FF2B5EF4-FFF2-40B4-BE49-F238E27FC236}">
                <a16:creationId xmlns:a16="http://schemas.microsoft.com/office/drawing/2014/main" id="{84A0480E-F761-4DA1-92F6-37ADC6B69D7B}"/>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261068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3A405E6-0C4C-4D2A-9F18-B834B44CC417}"/>
              </a:ext>
            </a:extLst>
          </p:cNvPr>
          <p:cNvSpPr>
            <a:spLocks noGrp="1"/>
          </p:cNvSpPr>
          <p:nvPr>
            <p:ph type="sldNum" idx="97"/>
          </p:nvPr>
        </p:nvSpPr>
        <p:spPr/>
        <p:txBody>
          <a:bodyPr/>
          <a:lstStyle/>
          <a:p>
            <a:fld id="{4037B1B0-0345-4E15-985A-6BECCDBE474F}" type="slidenum">
              <a:rPr lang="en-US" smtClean="0"/>
              <a:pPr/>
              <a:t>16</a:t>
            </a:fld>
            <a:endParaRPr lang="en-US" dirty="0"/>
          </a:p>
        </p:txBody>
      </p:sp>
      <p:sp>
        <p:nvSpPr>
          <p:cNvPr id="3" name="Title">
            <a:extLst>
              <a:ext uri="{FF2B5EF4-FFF2-40B4-BE49-F238E27FC236}">
                <a16:creationId xmlns:a16="http://schemas.microsoft.com/office/drawing/2014/main" id="{E7669387-5519-4082-AE30-EB62F2FF21DD}"/>
              </a:ext>
            </a:extLst>
          </p:cNvPr>
          <p:cNvSpPr>
            <a:spLocks noGrp="1"/>
          </p:cNvSpPr>
          <p:nvPr>
            <p:ph type="title" idx="1"/>
          </p:nvPr>
        </p:nvSpPr>
        <p:spPr/>
        <p:txBody>
          <a:bodyPr/>
          <a:lstStyle/>
          <a:p>
            <a:r>
              <a:rPr lang="en-US" dirty="0"/>
              <a:t>Structure of a prompt</a:t>
            </a:r>
          </a:p>
        </p:txBody>
      </p:sp>
      <p:sp>
        <p:nvSpPr>
          <p:cNvPr id="5" name="TextBox 4">
            <a:extLst>
              <a:ext uri="{FF2B5EF4-FFF2-40B4-BE49-F238E27FC236}">
                <a16:creationId xmlns:a16="http://schemas.microsoft.com/office/drawing/2014/main" id="{DA28AC06-A5D0-4A4F-A2F9-3FD28AD6A2B5}"/>
              </a:ext>
            </a:extLst>
          </p:cNvPr>
          <p:cNvSpPr txBox="1"/>
          <p:nvPr/>
        </p:nvSpPr>
        <p:spPr>
          <a:xfrm>
            <a:off x="439927" y="2912831"/>
            <a:ext cx="1330793" cy="369332"/>
          </a:xfrm>
          <a:prstGeom prst="rect">
            <a:avLst/>
          </a:prstGeom>
          <a:noFill/>
        </p:spPr>
        <p:txBody>
          <a:bodyPr wrap="square" rtlCol="0">
            <a:spAutoFit/>
          </a:bodyPr>
          <a:lstStyle/>
          <a:p>
            <a:r>
              <a:rPr lang="en-US" b="1" dirty="0"/>
              <a:t>Prompt</a:t>
            </a:r>
          </a:p>
        </p:txBody>
      </p:sp>
      <p:sp>
        <p:nvSpPr>
          <p:cNvPr id="4" name="Left Brace 3">
            <a:extLst>
              <a:ext uri="{FF2B5EF4-FFF2-40B4-BE49-F238E27FC236}">
                <a16:creationId xmlns:a16="http://schemas.microsoft.com/office/drawing/2014/main" id="{1337AF9B-49AC-478C-914B-649A59651092}"/>
              </a:ext>
              <a:ext uri="{C183D7F6-B498-43B3-948B-1728B52AA6E4}">
                <adec:decorative xmlns:adec="http://schemas.microsoft.com/office/drawing/2017/decorative" val="1"/>
              </a:ext>
            </a:extLst>
          </p:cNvPr>
          <p:cNvSpPr/>
          <p:nvPr/>
        </p:nvSpPr>
        <p:spPr>
          <a:xfrm>
            <a:off x="1536855" y="1429205"/>
            <a:ext cx="706552" cy="33556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7" name="Group 26">
            <a:extLst>
              <a:ext uri="{FF2B5EF4-FFF2-40B4-BE49-F238E27FC236}">
                <a16:creationId xmlns:a16="http://schemas.microsoft.com/office/drawing/2014/main" id="{923572C0-BF1C-4C47-8AAD-6AC507F9A064}"/>
              </a:ext>
              <a:ext uri="{C183D7F6-B498-43B3-948B-1728B52AA6E4}">
                <adec:decorative xmlns:adec="http://schemas.microsoft.com/office/drawing/2017/decorative" val="1"/>
              </a:ext>
            </a:extLst>
          </p:cNvPr>
          <p:cNvGrpSpPr/>
          <p:nvPr/>
        </p:nvGrpSpPr>
        <p:grpSpPr>
          <a:xfrm>
            <a:off x="1608438" y="1263442"/>
            <a:ext cx="9717607" cy="1036873"/>
            <a:chOff x="874348" y="1263442"/>
            <a:chExt cx="9717607" cy="1036873"/>
          </a:xfrm>
        </p:grpSpPr>
        <p:sp>
          <p:nvSpPr>
            <p:cNvPr id="8" name="Rectangle 7">
              <a:extLst>
                <a:ext uri="{FF2B5EF4-FFF2-40B4-BE49-F238E27FC236}">
                  <a16:creationId xmlns:a16="http://schemas.microsoft.com/office/drawing/2014/main" id="{50AC3F8F-8770-4E30-A14B-67097EB3C141}"/>
                </a:ext>
                <a:ext uri="{C183D7F6-B498-43B3-948B-1728B52AA6E4}">
                  <adec:decorative xmlns:adec="http://schemas.microsoft.com/office/drawing/2017/decorative" val="0"/>
                </a:ext>
              </a:extLst>
            </p:cNvPr>
            <p:cNvSpPr/>
            <p:nvPr/>
          </p:nvSpPr>
          <p:spPr>
            <a:xfrm>
              <a:off x="2591959" y="1444534"/>
              <a:ext cx="7999996" cy="461665"/>
            </a:xfrm>
            <a:prstGeom prst="rect">
              <a:avLst/>
            </a:prstGeom>
          </p:spPr>
          <p:txBody>
            <a:bodyPr wrap="square" lIns="182880" tIns="91440" rIns="182880" bIns="91440">
              <a:spAutoFit/>
            </a:bodyPr>
            <a:lstStyle/>
            <a:p>
              <a:pPr lvl="0">
                <a:defRPr/>
              </a:pPr>
              <a:r>
                <a:rPr lang="en-US" dirty="0"/>
                <a:t>Instructions: Summarize the following restaurant review.</a:t>
              </a:r>
              <a:endParaRPr lang="en-US" dirty="0">
                <a:solidFill>
                  <a:schemeClr val="tx2"/>
                </a:solidFill>
              </a:endParaRPr>
            </a:p>
          </p:txBody>
        </p:sp>
        <p:grpSp>
          <p:nvGrpSpPr>
            <p:cNvPr id="9" name="Group 8">
              <a:extLst>
                <a:ext uri="{FF2B5EF4-FFF2-40B4-BE49-F238E27FC236}">
                  <a16:creationId xmlns:a16="http://schemas.microsoft.com/office/drawing/2014/main" id="{5F18B3DD-FB32-4CAB-9E6D-B7FBB342FE58}"/>
                </a:ext>
              </a:extLst>
            </p:cNvPr>
            <p:cNvGrpSpPr/>
            <p:nvPr/>
          </p:nvGrpSpPr>
          <p:grpSpPr>
            <a:xfrm>
              <a:off x="874348" y="1263442"/>
              <a:ext cx="1879895" cy="1036873"/>
              <a:chOff x="1762504" y="1242601"/>
              <a:chExt cx="1428159" cy="1036873"/>
            </a:xfrm>
          </p:grpSpPr>
          <p:pic>
            <p:nvPicPr>
              <p:cNvPr id="10" name="Graphic 9">
                <a:extLst>
                  <a:ext uri="{FF2B5EF4-FFF2-40B4-BE49-F238E27FC236}">
                    <a16:creationId xmlns:a16="http://schemas.microsoft.com/office/drawing/2014/main" id="{66DED087-DA26-4B27-AC9B-C3D9A63088A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3683" y="1242601"/>
                <a:ext cx="685800" cy="685800"/>
              </a:xfrm>
              <a:prstGeom prst="rect">
                <a:avLst/>
              </a:prstGeom>
            </p:spPr>
          </p:pic>
          <p:sp>
            <p:nvSpPr>
              <p:cNvPr id="11" name="TextBox 10">
                <a:extLst>
                  <a:ext uri="{FF2B5EF4-FFF2-40B4-BE49-F238E27FC236}">
                    <a16:creationId xmlns:a16="http://schemas.microsoft.com/office/drawing/2014/main" id="{118C84BA-51EB-4E7F-8BA1-141D6794EB1B}"/>
                  </a:ext>
                </a:extLst>
              </p:cNvPr>
              <p:cNvSpPr txBox="1"/>
              <p:nvPr/>
            </p:nvSpPr>
            <p:spPr>
              <a:xfrm>
                <a:off x="1762504" y="1940920"/>
                <a:ext cx="1428159" cy="338554"/>
              </a:xfrm>
              <a:prstGeom prst="rect">
                <a:avLst/>
              </a:prstGeom>
              <a:noFill/>
            </p:spPr>
            <p:txBody>
              <a:bodyPr wrap="square" rtlCol="0">
                <a:spAutoFit/>
              </a:bodyPr>
              <a:lstStyle/>
              <a:p>
                <a:pPr algn="ctr"/>
                <a:r>
                  <a:rPr lang="en-US" sz="1600" dirty="0">
                    <a:solidFill>
                      <a:schemeClr val="tx2"/>
                    </a:solidFill>
                  </a:rPr>
                  <a:t>Instruction</a:t>
                </a:r>
              </a:p>
            </p:txBody>
          </p:sp>
        </p:grpSp>
      </p:grpSp>
      <p:grpSp>
        <p:nvGrpSpPr>
          <p:cNvPr id="30" name="Group 29">
            <a:extLst>
              <a:ext uri="{FF2B5EF4-FFF2-40B4-BE49-F238E27FC236}">
                <a16:creationId xmlns:a16="http://schemas.microsoft.com/office/drawing/2014/main" id="{AC0A68A3-530F-4F4A-9113-FFE48416CD44}"/>
              </a:ext>
              <a:ext uri="{C183D7F6-B498-43B3-948B-1728B52AA6E4}">
                <adec:decorative xmlns:adec="http://schemas.microsoft.com/office/drawing/2017/decorative" val="1"/>
              </a:ext>
            </a:extLst>
          </p:cNvPr>
          <p:cNvGrpSpPr/>
          <p:nvPr/>
        </p:nvGrpSpPr>
        <p:grpSpPr>
          <a:xfrm>
            <a:off x="1610652" y="2569931"/>
            <a:ext cx="9715392" cy="1044362"/>
            <a:chOff x="876562" y="2569931"/>
            <a:chExt cx="9715392" cy="1044362"/>
          </a:xfrm>
        </p:grpSpPr>
        <p:sp>
          <p:nvSpPr>
            <p:cNvPr id="13" name="Rectangle 12">
              <a:extLst>
                <a:ext uri="{FF2B5EF4-FFF2-40B4-BE49-F238E27FC236}">
                  <a16:creationId xmlns:a16="http://schemas.microsoft.com/office/drawing/2014/main" id="{99AD3C4C-411C-41C8-B01E-7AA81518581B}"/>
                </a:ext>
              </a:extLst>
            </p:cNvPr>
            <p:cNvSpPr/>
            <p:nvPr/>
          </p:nvSpPr>
          <p:spPr>
            <a:xfrm>
              <a:off x="2591959" y="2645358"/>
              <a:ext cx="7999995" cy="461665"/>
            </a:xfrm>
            <a:prstGeom prst="rect">
              <a:avLst/>
            </a:prstGeom>
          </p:spPr>
          <p:txBody>
            <a:bodyPr wrap="square" lIns="182880" tIns="91440" rIns="182880" bIns="91440">
              <a:spAutoFit/>
            </a:bodyPr>
            <a:lstStyle/>
            <a:p>
              <a:r>
                <a:rPr lang="en-US" dirty="0"/>
                <a:t>Restaurant: Luigi’s; Location: Naples, Italy; Specialty: Pasta</a:t>
              </a:r>
              <a:endParaRPr lang="en-US" dirty="0">
                <a:solidFill>
                  <a:schemeClr val="tx2"/>
                </a:solidFill>
              </a:endParaRPr>
            </a:p>
          </p:txBody>
        </p:sp>
        <p:grpSp>
          <p:nvGrpSpPr>
            <p:cNvPr id="14" name="Group 13">
              <a:extLst>
                <a:ext uri="{FF2B5EF4-FFF2-40B4-BE49-F238E27FC236}">
                  <a16:creationId xmlns:a16="http://schemas.microsoft.com/office/drawing/2014/main" id="{495A0E37-FCB9-48FC-B9B4-C91B97A680CC}"/>
                </a:ext>
              </a:extLst>
            </p:cNvPr>
            <p:cNvGrpSpPr/>
            <p:nvPr/>
          </p:nvGrpSpPr>
          <p:grpSpPr>
            <a:xfrm>
              <a:off x="876562" y="2569931"/>
              <a:ext cx="1875463" cy="1044362"/>
              <a:chOff x="1762504" y="2345513"/>
              <a:chExt cx="1428159" cy="1044362"/>
            </a:xfrm>
          </p:grpSpPr>
          <p:pic>
            <p:nvPicPr>
              <p:cNvPr id="15" name="Graphic 14">
                <a:extLst>
                  <a:ext uri="{FF2B5EF4-FFF2-40B4-BE49-F238E27FC236}">
                    <a16:creationId xmlns:a16="http://schemas.microsoft.com/office/drawing/2014/main" id="{907677D4-32F9-4E9E-A8C7-6A44D3B27C7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33683" y="2345513"/>
                <a:ext cx="685800" cy="685800"/>
              </a:xfrm>
              <a:prstGeom prst="rect">
                <a:avLst/>
              </a:prstGeom>
            </p:spPr>
          </p:pic>
          <p:sp>
            <p:nvSpPr>
              <p:cNvPr id="16" name="TextBox 15">
                <a:extLst>
                  <a:ext uri="{FF2B5EF4-FFF2-40B4-BE49-F238E27FC236}">
                    <a16:creationId xmlns:a16="http://schemas.microsoft.com/office/drawing/2014/main" id="{5D26E25E-849A-4DCA-BAF3-A8E5BC7B77C6}"/>
                  </a:ext>
                </a:extLst>
              </p:cNvPr>
              <p:cNvSpPr txBox="1"/>
              <p:nvPr/>
            </p:nvSpPr>
            <p:spPr>
              <a:xfrm>
                <a:off x="1762504" y="3051321"/>
                <a:ext cx="1428159" cy="338554"/>
              </a:xfrm>
              <a:prstGeom prst="rect">
                <a:avLst/>
              </a:prstGeom>
              <a:noFill/>
            </p:spPr>
            <p:txBody>
              <a:bodyPr wrap="square" rtlCol="0">
                <a:spAutoFit/>
              </a:bodyPr>
              <a:lstStyle/>
              <a:p>
                <a:pPr algn="ctr"/>
                <a:r>
                  <a:rPr lang="en-US" sz="1600" dirty="0">
                    <a:solidFill>
                      <a:schemeClr val="tx2"/>
                    </a:solidFill>
                  </a:rPr>
                  <a:t>Context</a:t>
                </a:r>
              </a:p>
            </p:txBody>
          </p:sp>
        </p:grpSp>
      </p:grpSp>
      <p:grpSp>
        <p:nvGrpSpPr>
          <p:cNvPr id="31" name="Group 30">
            <a:extLst>
              <a:ext uri="{FF2B5EF4-FFF2-40B4-BE49-F238E27FC236}">
                <a16:creationId xmlns:a16="http://schemas.microsoft.com/office/drawing/2014/main" id="{CD443F26-9C03-4567-814F-02E24CB8FB6E}"/>
              </a:ext>
              <a:ext uri="{C183D7F6-B498-43B3-948B-1728B52AA6E4}">
                <adec:decorative xmlns:adec="http://schemas.microsoft.com/office/drawing/2017/decorative" val="1"/>
              </a:ext>
            </a:extLst>
          </p:cNvPr>
          <p:cNvGrpSpPr/>
          <p:nvPr/>
        </p:nvGrpSpPr>
        <p:grpSpPr>
          <a:xfrm>
            <a:off x="1812698" y="3748415"/>
            <a:ext cx="9769111" cy="1569660"/>
            <a:chOff x="1078608" y="3748415"/>
            <a:chExt cx="9769111" cy="1569660"/>
          </a:xfrm>
        </p:grpSpPr>
        <p:sp>
          <p:nvSpPr>
            <p:cNvPr id="18" name="Rectangle 17">
              <a:extLst>
                <a:ext uri="{FF2B5EF4-FFF2-40B4-BE49-F238E27FC236}">
                  <a16:creationId xmlns:a16="http://schemas.microsoft.com/office/drawing/2014/main" id="{341F3BC7-2E3E-4A9A-8556-327915AAAB44}"/>
                </a:ext>
              </a:extLst>
            </p:cNvPr>
            <p:cNvSpPr/>
            <p:nvPr/>
          </p:nvSpPr>
          <p:spPr>
            <a:xfrm>
              <a:off x="2591959" y="3748415"/>
              <a:ext cx="8255760" cy="1569660"/>
            </a:xfrm>
            <a:prstGeom prst="rect">
              <a:avLst/>
            </a:prstGeom>
          </p:spPr>
          <p:txBody>
            <a:bodyPr wrap="square" lIns="182880" tIns="91440" rIns="182880" bIns="91440">
              <a:spAutoFit/>
            </a:bodyPr>
            <a:lstStyle/>
            <a:p>
              <a:r>
                <a:rPr lang="en-US" dirty="0"/>
                <a:t>Review: We ordered the tagliatelle and mozzarella caprese. The tagliatelle were a work of art—the pasta was just right and the tomato sauce with fresh basil was perfect. The caprese was OK but nothing out of the ordinary. Service was slow at first but overall it was fine. Other than that, Luigi’s was a great experience! </a:t>
              </a:r>
              <a:endParaRPr lang="en-US" dirty="0">
                <a:solidFill>
                  <a:schemeClr val="tx2"/>
                </a:solidFill>
                <a:ea typeface="Amazon Ember" panose="020B0603020204020204" pitchFamily="34" charset="0"/>
                <a:cs typeface="Amazon Ember" panose="020B0603020204020204" pitchFamily="34" charset="0"/>
              </a:endParaRPr>
            </a:p>
          </p:txBody>
        </p:sp>
        <p:grpSp>
          <p:nvGrpSpPr>
            <p:cNvPr id="19" name="Group 18">
              <a:extLst>
                <a:ext uri="{FF2B5EF4-FFF2-40B4-BE49-F238E27FC236}">
                  <a16:creationId xmlns:a16="http://schemas.microsoft.com/office/drawing/2014/main" id="{AA4C407B-5097-4E79-AB5D-EB751EEA6754}"/>
                </a:ext>
              </a:extLst>
            </p:cNvPr>
            <p:cNvGrpSpPr/>
            <p:nvPr/>
          </p:nvGrpSpPr>
          <p:grpSpPr>
            <a:xfrm>
              <a:off x="1078608" y="3763297"/>
              <a:ext cx="1471374" cy="1036873"/>
              <a:chOff x="1762504" y="3761357"/>
              <a:chExt cx="1428159" cy="1036873"/>
            </a:xfrm>
          </p:grpSpPr>
          <p:pic>
            <p:nvPicPr>
              <p:cNvPr id="20" name="Graphic 19">
                <a:extLst>
                  <a:ext uri="{FF2B5EF4-FFF2-40B4-BE49-F238E27FC236}">
                    <a16:creationId xmlns:a16="http://schemas.microsoft.com/office/drawing/2014/main" id="{9F60619E-3E9C-46F0-B425-321A13896C90}"/>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33683" y="3761357"/>
                <a:ext cx="685800" cy="685800"/>
              </a:xfrm>
              <a:prstGeom prst="rect">
                <a:avLst/>
              </a:prstGeom>
            </p:spPr>
          </p:pic>
          <p:sp>
            <p:nvSpPr>
              <p:cNvPr id="21" name="TextBox 20">
                <a:extLst>
                  <a:ext uri="{FF2B5EF4-FFF2-40B4-BE49-F238E27FC236}">
                    <a16:creationId xmlns:a16="http://schemas.microsoft.com/office/drawing/2014/main" id="{1D7CC81C-7C81-4BCF-9795-920D158ACED5}"/>
                  </a:ext>
                </a:extLst>
              </p:cNvPr>
              <p:cNvSpPr txBox="1"/>
              <p:nvPr/>
            </p:nvSpPr>
            <p:spPr>
              <a:xfrm>
                <a:off x="1762504" y="4459676"/>
                <a:ext cx="1428159" cy="338554"/>
              </a:xfrm>
              <a:prstGeom prst="rect">
                <a:avLst/>
              </a:prstGeom>
              <a:noFill/>
            </p:spPr>
            <p:txBody>
              <a:bodyPr wrap="square" rtlCol="0">
                <a:spAutoFit/>
              </a:bodyPr>
              <a:lstStyle/>
              <a:p>
                <a:pPr algn="ctr"/>
                <a:r>
                  <a:rPr lang="en-US" sz="1600" dirty="0"/>
                  <a:t>Input</a:t>
                </a:r>
                <a:endParaRPr lang="en-US" sz="1600" dirty="0">
                  <a:solidFill>
                    <a:schemeClr val="tx2"/>
                  </a:solidFill>
                </a:endParaRPr>
              </a:p>
            </p:txBody>
          </p:sp>
        </p:grpSp>
      </p:grpSp>
      <p:grpSp>
        <p:nvGrpSpPr>
          <p:cNvPr id="33" name="Group 32">
            <a:extLst>
              <a:ext uri="{FF2B5EF4-FFF2-40B4-BE49-F238E27FC236}">
                <a16:creationId xmlns:a16="http://schemas.microsoft.com/office/drawing/2014/main" id="{7F25F34B-3405-4047-8176-38B642D40DB8}"/>
              </a:ext>
              <a:ext uri="{C183D7F6-B498-43B3-948B-1728B52AA6E4}">
                <adec:decorative xmlns:adec="http://schemas.microsoft.com/office/drawing/2017/decorative" val="1"/>
              </a:ext>
            </a:extLst>
          </p:cNvPr>
          <p:cNvGrpSpPr/>
          <p:nvPr/>
        </p:nvGrpSpPr>
        <p:grpSpPr>
          <a:xfrm>
            <a:off x="1639406" y="5242872"/>
            <a:ext cx="9686636" cy="1029450"/>
            <a:chOff x="921397" y="5242872"/>
            <a:chExt cx="8398273" cy="1029450"/>
          </a:xfrm>
        </p:grpSpPr>
        <p:sp>
          <p:nvSpPr>
            <p:cNvPr id="23" name="Rectangle 22">
              <a:extLst>
                <a:ext uri="{FF2B5EF4-FFF2-40B4-BE49-F238E27FC236}">
                  <a16:creationId xmlns:a16="http://schemas.microsoft.com/office/drawing/2014/main" id="{FC061F81-DB0A-468C-98AE-AB6F8B2F2700}"/>
                </a:ext>
              </a:extLst>
            </p:cNvPr>
            <p:cNvSpPr/>
            <p:nvPr/>
          </p:nvSpPr>
          <p:spPr>
            <a:xfrm>
              <a:off x="2383709" y="5413466"/>
              <a:ext cx="6935961" cy="738664"/>
            </a:xfrm>
            <a:prstGeom prst="rect">
              <a:avLst/>
            </a:prstGeom>
          </p:spPr>
          <p:txBody>
            <a:bodyPr wrap="square" lIns="182880" tIns="91440" rIns="182880" bIns="91440">
              <a:spAutoFit/>
            </a:bodyPr>
            <a:lstStyle/>
            <a:p>
              <a:r>
                <a:rPr lang="en-US" dirty="0"/>
                <a:t>Summary: Luigi’s is a great Italian restaurant with delicious pasta and good service.</a:t>
              </a:r>
              <a:endParaRPr lang="en-US" dirty="0">
                <a:solidFill>
                  <a:schemeClr val="tx2"/>
                </a:solidFill>
                <a:ea typeface="Amazon Ember" panose="020B0603020204020204" pitchFamily="34" charset="0"/>
                <a:cs typeface="Amazon Ember" panose="020B0603020204020204" pitchFamily="34" charset="0"/>
              </a:endParaRPr>
            </a:p>
          </p:txBody>
        </p:sp>
        <p:grpSp>
          <p:nvGrpSpPr>
            <p:cNvPr id="24" name="Group 23">
              <a:extLst>
                <a:ext uri="{FF2B5EF4-FFF2-40B4-BE49-F238E27FC236}">
                  <a16:creationId xmlns:a16="http://schemas.microsoft.com/office/drawing/2014/main" id="{30CCEE24-74DF-455B-BBAC-27FA60A2DF7E}"/>
                </a:ext>
              </a:extLst>
            </p:cNvPr>
            <p:cNvGrpSpPr/>
            <p:nvPr/>
          </p:nvGrpSpPr>
          <p:grpSpPr>
            <a:xfrm>
              <a:off x="921397" y="5242872"/>
              <a:ext cx="1576154" cy="1029450"/>
              <a:chOff x="1667526" y="5144790"/>
              <a:chExt cx="1428159" cy="1029450"/>
            </a:xfrm>
          </p:grpSpPr>
          <p:pic>
            <p:nvPicPr>
              <p:cNvPr id="25" name="Graphic 24">
                <a:extLst>
                  <a:ext uri="{FF2B5EF4-FFF2-40B4-BE49-F238E27FC236}">
                    <a16:creationId xmlns:a16="http://schemas.microsoft.com/office/drawing/2014/main" id="{CAED7FA8-B763-4982-8537-105DC0272792}"/>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38706" y="5144790"/>
                <a:ext cx="685800" cy="685800"/>
              </a:xfrm>
              <a:prstGeom prst="rect">
                <a:avLst/>
              </a:prstGeom>
            </p:spPr>
          </p:pic>
          <p:sp>
            <p:nvSpPr>
              <p:cNvPr id="26" name="TextBox 25">
                <a:extLst>
                  <a:ext uri="{FF2B5EF4-FFF2-40B4-BE49-F238E27FC236}">
                    <a16:creationId xmlns:a16="http://schemas.microsoft.com/office/drawing/2014/main" id="{ECF565F9-A286-45F8-83FE-689CA7ED93C2}"/>
                  </a:ext>
                </a:extLst>
              </p:cNvPr>
              <p:cNvSpPr txBox="1"/>
              <p:nvPr/>
            </p:nvSpPr>
            <p:spPr>
              <a:xfrm>
                <a:off x="1667526" y="5835686"/>
                <a:ext cx="1428159" cy="338554"/>
              </a:xfrm>
              <a:prstGeom prst="rect">
                <a:avLst/>
              </a:prstGeom>
              <a:noFill/>
            </p:spPr>
            <p:txBody>
              <a:bodyPr wrap="square" rtlCol="0">
                <a:spAutoFit/>
              </a:bodyPr>
              <a:lstStyle/>
              <a:p>
                <a:pPr algn="ctr"/>
                <a:r>
                  <a:rPr lang="en-US" sz="1600" dirty="0">
                    <a:solidFill>
                      <a:schemeClr val="tx2"/>
                    </a:solidFill>
                  </a:rPr>
                  <a:t>Output</a:t>
                </a:r>
              </a:p>
            </p:txBody>
          </p:sp>
        </p:grpSp>
      </p:grpSp>
      <p:sp>
        <p:nvSpPr>
          <p:cNvPr id="6" name="a11y_slide_end" descr="Notes Section.">
            <a:extLst>
              <a:ext uri="{FF2B5EF4-FFF2-40B4-BE49-F238E27FC236}">
                <a16:creationId xmlns:a16="http://schemas.microsoft.com/office/drawing/2014/main" id="{7D8DA389-CE3E-4EDC-9FCB-E85EB9A707DC}"/>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092183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7C306B8-78BA-41DF-9CB8-E2EDD7892C7C}"/>
              </a:ext>
            </a:extLst>
          </p:cNvPr>
          <p:cNvSpPr>
            <a:spLocks noGrp="1"/>
          </p:cNvSpPr>
          <p:nvPr>
            <p:ph type="sldNum" idx="97"/>
          </p:nvPr>
        </p:nvSpPr>
        <p:spPr/>
        <p:txBody>
          <a:bodyPr/>
          <a:lstStyle/>
          <a:p>
            <a:fld id="{930176A1-BCF0-4712-97A6-6B495F55390B}" type="slidenum">
              <a:rPr lang="en-US" smtClean="0"/>
              <a:pPr/>
              <a:t>17</a:t>
            </a:fld>
            <a:endParaRPr lang="en-US"/>
          </a:p>
        </p:txBody>
      </p:sp>
      <p:sp>
        <p:nvSpPr>
          <p:cNvPr id="3" name="Title">
            <a:extLst>
              <a:ext uri="{FF2B5EF4-FFF2-40B4-BE49-F238E27FC236}">
                <a16:creationId xmlns:a16="http://schemas.microsoft.com/office/drawing/2014/main" id="{1FEDED09-2D96-4DEB-B2BA-482DB6D419E8}"/>
              </a:ext>
            </a:extLst>
          </p:cNvPr>
          <p:cNvSpPr>
            <a:spLocks noGrp="1"/>
          </p:cNvSpPr>
          <p:nvPr>
            <p:ph type="title" idx="1"/>
          </p:nvPr>
        </p:nvSpPr>
        <p:spPr/>
        <p:txBody>
          <a:bodyPr>
            <a:normAutofit fontScale="90000"/>
          </a:bodyPr>
          <a:lstStyle/>
          <a:p>
            <a:r>
              <a:rPr lang="en-US" dirty="0"/>
              <a:t>Demonstration: Explore an FM and Use Prompt Engineering in a Notebook</a:t>
            </a:r>
          </a:p>
        </p:txBody>
      </p:sp>
      <p:pic>
        <p:nvPicPr>
          <p:cNvPr id="9" name="Content Placeholder 8">
            <a:extLst>
              <a:ext uri="{FF2B5EF4-FFF2-40B4-BE49-F238E27FC236}">
                <a16:creationId xmlns:a16="http://schemas.microsoft.com/office/drawing/2014/main" id="{08407321-8D2C-41A9-BB74-9C811FA3A24D}"/>
              </a:ext>
              <a:ext uri="{C183D7F6-B498-43B3-948B-1728B52AA6E4}">
                <adec:decorative xmlns:adec="http://schemas.microsoft.com/office/drawing/2017/decorative" val="1"/>
              </a:ext>
            </a:extLst>
          </p:cNvPr>
          <p:cNvPicPr>
            <a:picLocks noGrp="1" noChangeAspect="1"/>
          </p:cNvPicPr>
          <p:nvPr>
            <p:ph idx="2"/>
          </p:nvPr>
        </p:nvPicPr>
        <p:blipFill>
          <a:blip r:embed="rId4">
            <a:extLst>
              <a:ext uri="{28A0092B-C50C-407E-A947-70E740481C1C}">
                <a14:useLocalDpi xmlns:a14="http://schemas.microsoft.com/office/drawing/2010/main" val="0"/>
              </a:ext>
            </a:extLst>
          </a:blip>
          <a:stretch>
            <a:fillRect/>
          </a:stretch>
        </p:blipFill>
        <p:spPr>
          <a:xfrm>
            <a:off x="887260" y="3340401"/>
            <a:ext cx="2780017" cy="1847248"/>
          </a:xfrm>
        </p:spPr>
      </p:pic>
      <p:sp>
        <p:nvSpPr>
          <p:cNvPr id="5" name="Text Placeholder 4">
            <a:extLst>
              <a:ext uri="{FF2B5EF4-FFF2-40B4-BE49-F238E27FC236}">
                <a16:creationId xmlns:a16="http://schemas.microsoft.com/office/drawing/2014/main" id="{537FFB84-8288-401B-BF97-951DF3A35BB5}"/>
              </a:ext>
            </a:extLst>
          </p:cNvPr>
          <p:cNvSpPr>
            <a:spLocks noGrp="1"/>
          </p:cNvSpPr>
          <p:nvPr>
            <p:ph type="body" idx="3"/>
          </p:nvPr>
        </p:nvSpPr>
        <p:spPr/>
        <p:txBody>
          <a:bodyPr/>
          <a:lstStyle/>
          <a:p>
            <a:pPr lvl="0"/>
            <a:r>
              <a:rPr lang="en-US" dirty="0"/>
              <a:t>Explore what an FM can do.</a:t>
            </a:r>
          </a:p>
          <a:p>
            <a:r>
              <a:rPr lang="en-US" dirty="0"/>
              <a:t>Use and modify prompt engineering to generate an image from text.</a:t>
            </a:r>
          </a:p>
          <a:p>
            <a:r>
              <a:rPr lang="en-US" dirty="0"/>
              <a:t>The recorded demo is included in your online course.</a:t>
            </a:r>
          </a:p>
        </p:txBody>
      </p:sp>
      <p:sp>
        <p:nvSpPr>
          <p:cNvPr id="4" name="a11y_slide_end" descr="Notes Section.">
            <a:extLst>
              <a:ext uri="{FF2B5EF4-FFF2-40B4-BE49-F238E27FC236}">
                <a16:creationId xmlns:a16="http://schemas.microsoft.com/office/drawing/2014/main" id="{000FD4FD-CE08-4FAF-8E27-25C7EBF91BC0}"/>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341612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7C306B8-78BA-41DF-9CB8-E2EDD7892C7C}"/>
              </a:ext>
            </a:extLst>
          </p:cNvPr>
          <p:cNvSpPr>
            <a:spLocks noGrp="1"/>
          </p:cNvSpPr>
          <p:nvPr>
            <p:ph type="sldNum" idx="97"/>
          </p:nvPr>
        </p:nvSpPr>
        <p:spPr/>
        <p:txBody>
          <a:bodyPr/>
          <a:lstStyle/>
          <a:p>
            <a:fld id="{930176A1-BCF0-4712-97A6-6B495F55390B}" type="slidenum">
              <a:rPr lang="en-US" smtClean="0"/>
              <a:pPr/>
              <a:t>18</a:t>
            </a:fld>
            <a:endParaRPr lang="en-US"/>
          </a:p>
        </p:txBody>
      </p:sp>
      <p:sp>
        <p:nvSpPr>
          <p:cNvPr id="3" name="Title">
            <a:extLst>
              <a:ext uri="{FF2B5EF4-FFF2-40B4-BE49-F238E27FC236}">
                <a16:creationId xmlns:a16="http://schemas.microsoft.com/office/drawing/2014/main" id="{1FEDED09-2D96-4DEB-B2BA-482DB6D419E8}"/>
              </a:ext>
            </a:extLst>
          </p:cNvPr>
          <p:cNvSpPr>
            <a:spLocks noGrp="1"/>
          </p:cNvSpPr>
          <p:nvPr>
            <p:ph type="title" idx="1"/>
          </p:nvPr>
        </p:nvSpPr>
        <p:spPr/>
        <p:txBody>
          <a:bodyPr/>
          <a:lstStyle/>
          <a:p>
            <a:r>
              <a:rPr lang="en-US" dirty="0"/>
              <a:t>Section 2 key takeaways</a:t>
            </a:r>
          </a:p>
        </p:txBody>
      </p:sp>
      <p:pic>
        <p:nvPicPr>
          <p:cNvPr id="5" name="Content Placeholder 13">
            <a:extLst>
              <a:ext uri="{FF2B5EF4-FFF2-40B4-BE49-F238E27FC236}">
                <a16:creationId xmlns:a16="http://schemas.microsoft.com/office/drawing/2014/main" id="{0BE67EF3-A3F7-407F-819C-0F6A1858E52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
        <p:nvSpPr>
          <p:cNvPr id="4" name="Text Placeholder 3">
            <a:extLst>
              <a:ext uri="{FF2B5EF4-FFF2-40B4-BE49-F238E27FC236}">
                <a16:creationId xmlns:a16="http://schemas.microsoft.com/office/drawing/2014/main" id="{641F168C-F6FE-4D33-B99F-76543B1E39F8}"/>
              </a:ext>
            </a:extLst>
          </p:cNvPr>
          <p:cNvSpPr>
            <a:spLocks noGrp="1"/>
          </p:cNvSpPr>
          <p:nvPr>
            <p:ph type="body" idx="3"/>
          </p:nvPr>
        </p:nvSpPr>
        <p:spPr/>
        <p:txBody>
          <a:bodyPr>
            <a:normAutofit/>
          </a:bodyPr>
          <a:lstStyle/>
          <a:p>
            <a:r>
              <a:rPr lang="en-US" dirty="0"/>
              <a:t>Foundation models (FMs) are pretrained on vast amount of data and perform many tasks.</a:t>
            </a:r>
          </a:p>
          <a:p>
            <a:r>
              <a:rPr lang="en-US" dirty="0"/>
              <a:t>Some examples of tasks that an FM can do are language processing, visual comprehension, and code generation.</a:t>
            </a:r>
          </a:p>
          <a:p>
            <a:r>
              <a:rPr lang="en-US" dirty="0"/>
              <a:t>A subset of FMs, large language models (LLMs), are trained on trillions of words across many natural-language tasks. </a:t>
            </a:r>
          </a:p>
          <a:p>
            <a:r>
              <a:rPr lang="en-US" dirty="0"/>
              <a:t>Prompt engineering is the process of designing and refining the prompts or input stimuli for a language model to generate specific types of output.</a:t>
            </a:r>
          </a:p>
        </p:txBody>
      </p:sp>
      <p:sp>
        <p:nvSpPr>
          <p:cNvPr id="6" name="a11y_slide_end" descr="Notes Section.">
            <a:extLst>
              <a:ext uri="{FF2B5EF4-FFF2-40B4-BE49-F238E27FC236}">
                <a16:creationId xmlns:a16="http://schemas.microsoft.com/office/drawing/2014/main" id="{90EA2F4F-17DB-4148-B339-E36B8B475A1E}"/>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750425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fld id="{4037B1B0-0345-4E15-985A-6BECCDBE474F}" type="slidenum">
              <a:rPr lang="en-US" smtClean="0"/>
              <a:pPr/>
              <a:t>19</a:t>
            </a:fld>
            <a:endParaRPr lang="en-US" dirty="0"/>
          </a:p>
        </p:txBody>
      </p:sp>
      <p:sp>
        <p:nvSpPr>
          <p:cNvPr id="3" name="Title">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sz="4800" dirty="0">
                <a:latin typeface="+mj-lt"/>
              </a:rPr>
              <a:t>Section 3: </a:t>
            </a:r>
            <a:r>
              <a:rPr lang="en-US" dirty="0">
                <a:latin typeface="+mj-lt"/>
              </a:rPr>
              <a:t>AWS generative AI offerings</a:t>
            </a:r>
            <a:endParaRPr lang="en-US" dirty="0"/>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b="1" dirty="0">
                <a:latin typeface="+mn-lt"/>
              </a:rPr>
              <a:t>Module 7: </a:t>
            </a:r>
            <a:r>
              <a:rPr lang="en-US" b="1" dirty="0"/>
              <a:t>Introducing Generative AI</a:t>
            </a:r>
            <a:endParaRPr lang="en-US" b="1" dirty="0">
              <a:latin typeface="+mn-lt"/>
            </a:endParaRPr>
          </a:p>
        </p:txBody>
      </p:sp>
      <p:sp>
        <p:nvSpPr>
          <p:cNvPr id="5" name="a11y_slide_end" descr="Notes Section.">
            <a:extLst>
              <a:ext uri="{FF2B5EF4-FFF2-40B4-BE49-F238E27FC236}">
                <a16:creationId xmlns:a16="http://schemas.microsoft.com/office/drawing/2014/main" id="{539AA198-D5C8-4ED7-9B66-DDFF2F27D759}"/>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778872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C2FAFE1-8ABC-451A-B558-A760128104C7}"/>
              </a:ext>
            </a:extLst>
          </p:cNvPr>
          <p:cNvSpPr>
            <a:spLocks noGrp="1"/>
          </p:cNvSpPr>
          <p:nvPr>
            <p:ph type="sldNum" idx="97"/>
          </p:nvPr>
        </p:nvSpPr>
        <p:spPr/>
        <p:txBody>
          <a:bodyPr/>
          <a:lstStyle/>
          <a:p>
            <a:fld id="{4037B1B0-0345-4E15-985A-6BECCDBE474F}" type="slidenum">
              <a:rPr lang="en-US" smtClean="0"/>
              <a:pPr/>
              <a:t>20</a:t>
            </a:fld>
            <a:endParaRPr lang="en-US" dirty="0"/>
          </a:p>
        </p:txBody>
      </p:sp>
      <p:sp>
        <p:nvSpPr>
          <p:cNvPr id="5" name="Title">
            <a:extLst>
              <a:ext uri="{FF2B5EF4-FFF2-40B4-BE49-F238E27FC236}">
                <a16:creationId xmlns:a16="http://schemas.microsoft.com/office/drawing/2014/main" id="{ECF9C4DA-7A57-4141-9EA0-0391AA973580}"/>
              </a:ext>
            </a:extLst>
          </p:cNvPr>
          <p:cNvSpPr>
            <a:spLocks noGrp="1"/>
          </p:cNvSpPr>
          <p:nvPr>
            <p:ph type="title" idx="1"/>
          </p:nvPr>
        </p:nvSpPr>
        <p:spPr/>
        <p:txBody>
          <a:bodyPr/>
          <a:lstStyle/>
          <a:p>
            <a:r>
              <a:rPr lang="en-US" dirty="0"/>
              <a:t>AWS generative AI offerings</a:t>
            </a:r>
          </a:p>
        </p:txBody>
      </p:sp>
      <p:pic>
        <p:nvPicPr>
          <p:cNvPr id="15" name="Content Placeholder 14">
            <a:extLst>
              <a:ext uri="{FF2B5EF4-FFF2-40B4-BE49-F238E27FC236}">
                <a16:creationId xmlns:a16="http://schemas.microsoft.com/office/drawing/2014/main" id="{F5C0619C-7844-41B4-80B0-2A614A398C59}"/>
              </a:ext>
              <a:ext uri="{C183D7F6-B498-43B3-948B-1728B52AA6E4}">
                <adec:decorative xmlns:adec="http://schemas.microsoft.com/office/drawing/2017/decorative" val="1"/>
              </a:ext>
            </a:extLst>
          </p:cNvPr>
          <p:cNvPicPr>
            <a:picLocks noGrp="1" noChangeAspect="1"/>
          </p:cNvPicPr>
          <p:nvPr>
            <p:ph idx="2"/>
          </p:nvPr>
        </p:nvPicPr>
        <p:blipFill>
          <a:blip r:embed="rId4">
            <a:extLst>
              <a:ext uri="{28A0092B-C50C-407E-A947-70E740481C1C}">
                <a14:useLocalDpi xmlns:a14="http://schemas.microsoft.com/office/drawing/2010/main" val="0"/>
              </a:ext>
            </a:extLst>
          </a:blip>
          <a:srcRect/>
          <a:stretch/>
        </p:blipFill>
        <p:spPr>
          <a:xfrm>
            <a:off x="239840" y="1374347"/>
            <a:ext cx="11712320" cy="4834998"/>
          </a:xfrm>
        </p:spPr>
      </p:pic>
      <p:sp>
        <p:nvSpPr>
          <p:cNvPr id="3" name="a11y_slide_end" descr="Notes Section.">
            <a:extLst>
              <a:ext uri="{FF2B5EF4-FFF2-40B4-BE49-F238E27FC236}">
                <a16:creationId xmlns:a16="http://schemas.microsoft.com/office/drawing/2014/main" id="{6539E2B6-CF3C-453D-9489-813544F8DE57}"/>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669568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FAF38774-BADB-46DF-90F9-D80C28498360}"/>
              </a:ext>
            </a:extLst>
          </p:cNvPr>
          <p:cNvSpPr>
            <a:spLocks noGrp="1"/>
          </p:cNvSpPr>
          <p:nvPr>
            <p:ph type="sldNum" idx="97"/>
          </p:nvPr>
        </p:nvSpPr>
        <p:spPr/>
        <p:txBody>
          <a:bodyPr/>
          <a:lstStyle/>
          <a:p>
            <a:fld id="{4037B1B0-0345-4E15-985A-6BECCDBE474F}" type="slidenum">
              <a:rPr lang="en-US" smtClean="0"/>
              <a:pPr/>
              <a:t>21</a:t>
            </a:fld>
            <a:endParaRPr lang="en-US" dirty="0"/>
          </a:p>
        </p:txBody>
      </p:sp>
      <p:sp>
        <p:nvSpPr>
          <p:cNvPr id="3" name="Title">
            <a:extLst>
              <a:ext uri="{FF2B5EF4-FFF2-40B4-BE49-F238E27FC236}">
                <a16:creationId xmlns:a16="http://schemas.microsoft.com/office/drawing/2014/main" id="{F32A1913-C987-4B6D-8457-0349541E7AFE}"/>
              </a:ext>
            </a:extLst>
          </p:cNvPr>
          <p:cNvSpPr>
            <a:spLocks noGrp="1"/>
          </p:cNvSpPr>
          <p:nvPr>
            <p:ph type="title" idx="1"/>
          </p:nvPr>
        </p:nvSpPr>
        <p:spPr/>
        <p:txBody>
          <a:bodyPr/>
          <a:lstStyle/>
          <a:p>
            <a:r>
              <a:rPr lang="en-US" dirty="0"/>
              <a:t>Benefits of using AWS for generative AI</a:t>
            </a:r>
          </a:p>
        </p:txBody>
      </p:sp>
      <p:pic>
        <p:nvPicPr>
          <p:cNvPr id="13" name="Content Placeholder 12">
            <a:extLst>
              <a:ext uri="{FF2B5EF4-FFF2-40B4-BE49-F238E27FC236}">
                <a16:creationId xmlns:a16="http://schemas.microsoft.com/office/drawing/2014/main" id="{F5150FA2-4F62-41BB-8546-39572090887E}"/>
              </a:ext>
              <a:ext uri="{C183D7F6-B498-43B3-948B-1728B52AA6E4}">
                <adec:decorative xmlns:adec="http://schemas.microsoft.com/office/drawing/2017/decorative" val="1"/>
              </a:ext>
            </a:extLst>
          </p:cNvPr>
          <p:cNvPicPr>
            <a:picLocks noGrp="1" noChangeAspect="1"/>
          </p:cNvPicPr>
          <p:nvPr>
            <p:ph idx="2"/>
          </p:nvPr>
        </p:nvPicPr>
        <p:blipFill>
          <a:blip r:embed="rId4">
            <a:extLst>
              <a:ext uri="{28A0092B-C50C-407E-A947-70E740481C1C}">
                <a14:useLocalDpi xmlns:a14="http://schemas.microsoft.com/office/drawing/2010/main" val="0"/>
              </a:ext>
            </a:extLst>
          </a:blip>
          <a:srcRect/>
          <a:stretch/>
        </p:blipFill>
        <p:spPr>
          <a:xfrm>
            <a:off x="263433" y="2137606"/>
            <a:ext cx="11665134" cy="3379676"/>
          </a:xfrm>
        </p:spPr>
      </p:pic>
      <p:sp>
        <p:nvSpPr>
          <p:cNvPr id="4" name="a11y_slide_end" descr="Notes Section.">
            <a:extLst>
              <a:ext uri="{FF2B5EF4-FFF2-40B4-BE49-F238E27FC236}">
                <a16:creationId xmlns:a16="http://schemas.microsoft.com/office/drawing/2014/main" id="{E63B18D8-F3DD-47D8-880F-20002800EF9B}"/>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565470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7C306B8-78BA-41DF-9CB8-E2EDD7892C7C}"/>
              </a:ext>
            </a:extLst>
          </p:cNvPr>
          <p:cNvSpPr>
            <a:spLocks noGrp="1"/>
          </p:cNvSpPr>
          <p:nvPr>
            <p:ph type="sldNum" idx="97"/>
          </p:nvPr>
        </p:nvSpPr>
        <p:spPr/>
        <p:txBody>
          <a:bodyPr/>
          <a:lstStyle/>
          <a:p>
            <a:fld id="{930176A1-BCF0-4712-97A6-6B495F55390B}" type="slidenum">
              <a:rPr lang="en-US" smtClean="0"/>
              <a:pPr/>
              <a:t>22</a:t>
            </a:fld>
            <a:endParaRPr lang="en-US"/>
          </a:p>
        </p:txBody>
      </p:sp>
      <p:sp>
        <p:nvSpPr>
          <p:cNvPr id="3" name="Title">
            <a:extLst>
              <a:ext uri="{FF2B5EF4-FFF2-40B4-BE49-F238E27FC236}">
                <a16:creationId xmlns:a16="http://schemas.microsoft.com/office/drawing/2014/main" id="{1FEDED09-2D96-4DEB-B2BA-482DB6D419E8}"/>
              </a:ext>
            </a:extLst>
          </p:cNvPr>
          <p:cNvSpPr>
            <a:spLocks noGrp="1"/>
          </p:cNvSpPr>
          <p:nvPr>
            <p:ph type="title" idx="1"/>
          </p:nvPr>
        </p:nvSpPr>
        <p:spPr/>
        <p:txBody>
          <a:bodyPr/>
          <a:lstStyle/>
          <a:p>
            <a:r>
              <a:rPr lang="en-US" dirty="0"/>
              <a:t>Section 3 key takeaways</a:t>
            </a:r>
          </a:p>
        </p:txBody>
      </p:sp>
      <p:pic>
        <p:nvPicPr>
          <p:cNvPr id="5" name="Content Placeholder 13">
            <a:extLst>
              <a:ext uri="{FF2B5EF4-FFF2-40B4-BE49-F238E27FC236}">
                <a16:creationId xmlns:a16="http://schemas.microsoft.com/office/drawing/2014/main" id="{0BE67EF3-A3F7-407F-819C-0F6A1858E52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
        <p:nvSpPr>
          <p:cNvPr id="4" name="Text Placeholder 3">
            <a:extLst>
              <a:ext uri="{FF2B5EF4-FFF2-40B4-BE49-F238E27FC236}">
                <a16:creationId xmlns:a16="http://schemas.microsoft.com/office/drawing/2014/main" id="{641F168C-F6FE-4D33-B99F-76543B1E39F8}"/>
              </a:ext>
            </a:extLst>
          </p:cNvPr>
          <p:cNvSpPr>
            <a:spLocks noGrp="1"/>
          </p:cNvSpPr>
          <p:nvPr>
            <p:ph type="body" idx="3"/>
          </p:nvPr>
        </p:nvSpPr>
        <p:spPr/>
        <p:txBody>
          <a:bodyPr>
            <a:normAutofit/>
          </a:bodyPr>
          <a:lstStyle/>
          <a:p>
            <a:r>
              <a:rPr lang="en-US" dirty="0"/>
              <a:t>AWS offers several generative AI offerings: Amazon Bedrock, AWS Inferentia, AWS </a:t>
            </a:r>
            <a:r>
              <a:rPr lang="en-US" dirty="0" err="1"/>
              <a:t>Trainium</a:t>
            </a:r>
            <a:r>
              <a:rPr lang="en-US" dirty="0"/>
              <a:t>, and Amazon SageMaker JumpStart.</a:t>
            </a:r>
          </a:p>
          <a:p>
            <a:r>
              <a:rPr lang="en-US" dirty="0"/>
              <a:t>There are several benefits of using AWS services to build your generative AI application.</a:t>
            </a:r>
          </a:p>
          <a:p>
            <a:endParaRPr lang="en-US" dirty="0"/>
          </a:p>
        </p:txBody>
      </p:sp>
      <p:sp>
        <p:nvSpPr>
          <p:cNvPr id="6" name="a11y_slide_end" descr="Notes Section.">
            <a:extLst>
              <a:ext uri="{FF2B5EF4-FFF2-40B4-BE49-F238E27FC236}">
                <a16:creationId xmlns:a16="http://schemas.microsoft.com/office/drawing/2014/main" id="{524B8CD5-3110-4941-A561-404D73E6517D}"/>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420903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fld id="{4037B1B0-0345-4E15-985A-6BECCDBE474F}" type="slidenum">
              <a:rPr lang="en-US" smtClean="0"/>
              <a:pPr/>
              <a:t>23</a:t>
            </a:fld>
            <a:endParaRPr lang="en-US" dirty="0"/>
          </a:p>
        </p:txBody>
      </p:sp>
      <p:sp>
        <p:nvSpPr>
          <p:cNvPr id="3" name="Title">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dirty="0">
                <a:latin typeface="+mj-lt"/>
              </a:rPr>
              <a:t>Section 4: Amazon Q Developer</a:t>
            </a:r>
            <a:endParaRPr lang="en-US" dirty="0"/>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b="1" dirty="0">
                <a:latin typeface="+mn-lt"/>
              </a:rPr>
              <a:t>Module 7: </a:t>
            </a:r>
            <a:r>
              <a:rPr lang="en-US" b="1" dirty="0"/>
              <a:t>Introducing Generative AI</a:t>
            </a:r>
            <a:endParaRPr lang="en-US" b="1" dirty="0">
              <a:latin typeface="+mn-lt"/>
            </a:endParaRPr>
          </a:p>
        </p:txBody>
      </p:sp>
      <p:sp>
        <p:nvSpPr>
          <p:cNvPr id="5" name="a11y_slide_end" descr="Notes Section.">
            <a:extLst>
              <a:ext uri="{FF2B5EF4-FFF2-40B4-BE49-F238E27FC236}">
                <a16:creationId xmlns:a16="http://schemas.microsoft.com/office/drawing/2014/main" id="{F0B985AB-7972-4D9C-9487-238CFCA9CCB0}"/>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76657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2978265-9321-4632-A24C-FC05D818230C}"/>
              </a:ext>
            </a:extLst>
          </p:cNvPr>
          <p:cNvSpPr>
            <a:spLocks noGrp="1"/>
          </p:cNvSpPr>
          <p:nvPr>
            <p:ph type="sldNum" idx="97"/>
          </p:nvPr>
        </p:nvSpPr>
        <p:spPr/>
        <p:txBody>
          <a:bodyPr/>
          <a:lstStyle/>
          <a:p>
            <a:fld id="{4037B1B0-0345-4E15-985A-6BECCDBE474F}" type="slidenum">
              <a:rPr lang="en-US" smtClean="0"/>
              <a:pPr/>
              <a:t>24</a:t>
            </a:fld>
            <a:endParaRPr lang="en-US" dirty="0"/>
          </a:p>
        </p:txBody>
      </p:sp>
      <p:sp>
        <p:nvSpPr>
          <p:cNvPr id="3" name="Title">
            <a:extLst>
              <a:ext uri="{FF2B5EF4-FFF2-40B4-BE49-F238E27FC236}">
                <a16:creationId xmlns:a16="http://schemas.microsoft.com/office/drawing/2014/main" id="{784ABB48-2154-4B80-98B1-05018A154512}"/>
              </a:ext>
            </a:extLst>
          </p:cNvPr>
          <p:cNvSpPr>
            <a:spLocks noGrp="1"/>
          </p:cNvSpPr>
          <p:nvPr>
            <p:ph type="title" idx="1"/>
          </p:nvPr>
        </p:nvSpPr>
        <p:spPr/>
        <p:txBody>
          <a:bodyPr/>
          <a:lstStyle/>
          <a:p>
            <a:r>
              <a:rPr lang="en-US" dirty="0"/>
              <a:t>Amazon Q Developer</a:t>
            </a:r>
          </a:p>
        </p:txBody>
      </p:sp>
      <p:pic>
        <p:nvPicPr>
          <p:cNvPr id="7" name="Graphic 6">
            <a:extLst>
              <a:ext uri="{FF2B5EF4-FFF2-40B4-BE49-F238E27FC236}">
                <a16:creationId xmlns:a16="http://schemas.microsoft.com/office/drawing/2014/main" id="{7E2AD817-2E92-4A7F-AC65-0ED6A63D2542}"/>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552685" y="2349739"/>
            <a:ext cx="1912735" cy="1929967"/>
          </a:xfrm>
          <a:prstGeom prst="rect">
            <a:avLst/>
          </a:prstGeom>
        </p:spPr>
      </p:pic>
      <p:sp>
        <p:nvSpPr>
          <p:cNvPr id="5" name="Text Placeholder 4">
            <a:extLst>
              <a:ext uri="{FF2B5EF4-FFF2-40B4-BE49-F238E27FC236}">
                <a16:creationId xmlns:a16="http://schemas.microsoft.com/office/drawing/2014/main" id="{2FBCF04C-339B-424A-B511-35766FD2C20F}"/>
              </a:ext>
            </a:extLst>
          </p:cNvPr>
          <p:cNvSpPr>
            <a:spLocks noGrp="1"/>
          </p:cNvSpPr>
          <p:nvPr>
            <p:ph type="body" idx="4"/>
          </p:nvPr>
        </p:nvSpPr>
        <p:spPr>
          <a:xfrm>
            <a:off x="-94751" y="4343916"/>
            <a:ext cx="3207608" cy="914400"/>
          </a:xfrm>
        </p:spPr>
        <p:txBody>
          <a:bodyPr/>
          <a:lstStyle/>
          <a:p>
            <a:r>
              <a:rPr lang="en-US" dirty="0"/>
              <a:t>Amazon Q Developer</a:t>
            </a:r>
          </a:p>
        </p:txBody>
      </p:sp>
      <p:sp>
        <p:nvSpPr>
          <p:cNvPr id="4" name="Content Placeholder 3">
            <a:extLst>
              <a:ext uri="{FF2B5EF4-FFF2-40B4-BE49-F238E27FC236}">
                <a16:creationId xmlns:a16="http://schemas.microsoft.com/office/drawing/2014/main" id="{C268F2C9-E444-4BDF-BC35-4721C544CDB6}"/>
              </a:ext>
            </a:extLst>
          </p:cNvPr>
          <p:cNvSpPr>
            <a:spLocks noGrp="1"/>
          </p:cNvSpPr>
          <p:nvPr>
            <p:ph idx="2"/>
          </p:nvPr>
        </p:nvSpPr>
        <p:spPr/>
        <p:txBody>
          <a:bodyPr>
            <a:normAutofit/>
          </a:bodyPr>
          <a:lstStyle/>
          <a:p>
            <a:r>
              <a:rPr lang="en-US" sz="3200" dirty="0"/>
              <a:t>Generative AI-powered coding assistant</a:t>
            </a:r>
          </a:p>
          <a:p>
            <a:r>
              <a:rPr lang="en-US" sz="3200" dirty="0"/>
              <a:t>Designed for developers and IT professionals</a:t>
            </a:r>
          </a:p>
          <a:p>
            <a:r>
              <a:rPr lang="en-US" sz="3200" dirty="0"/>
              <a:t>Generates code and helps you understand, build, extend, and operate AWS applications</a:t>
            </a:r>
          </a:p>
          <a:p>
            <a:r>
              <a:rPr lang="en-US" dirty="0"/>
              <a:t>Scan code for security vulnerabilities</a:t>
            </a:r>
            <a:endParaRPr lang="en-US" sz="3200" dirty="0"/>
          </a:p>
          <a:p>
            <a:r>
              <a:rPr lang="en-US" sz="3200" dirty="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rPr>
              <a:t>Secure and private by design</a:t>
            </a:r>
          </a:p>
        </p:txBody>
      </p:sp>
      <p:sp>
        <p:nvSpPr>
          <p:cNvPr id="6" name="a11y_slide_end" descr="Notes Section.">
            <a:extLst>
              <a:ext uri="{FF2B5EF4-FFF2-40B4-BE49-F238E27FC236}">
                <a16:creationId xmlns:a16="http://schemas.microsoft.com/office/drawing/2014/main" id="{566BDDAB-0685-44EB-B1F3-9EAEBAA8184A}"/>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4688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D6F8CF2-8D84-62EA-35B4-C88536B0E8D8}"/>
              </a:ext>
            </a:extLst>
          </p:cNvPr>
          <p:cNvSpPr>
            <a:spLocks noGrp="1"/>
          </p:cNvSpPr>
          <p:nvPr>
            <p:ph type="title" idx="1"/>
          </p:nvPr>
        </p:nvSpPr>
        <p:spPr>
          <a:xfrm>
            <a:off x="365760" y="226802"/>
            <a:ext cx="11466576" cy="731520"/>
          </a:xfrm>
        </p:spPr>
        <p:txBody>
          <a:bodyPr>
            <a:normAutofit fontScale="90000"/>
          </a:bodyPr>
          <a:lstStyle/>
          <a:p>
            <a:r>
              <a:rPr lang="en-US" dirty="0"/>
              <a:t>Amazon Q Developer supports you across the software development lifecycle (SDLC)</a:t>
            </a:r>
          </a:p>
        </p:txBody>
      </p:sp>
      <p:sp>
        <p:nvSpPr>
          <p:cNvPr id="3" name="slide number">
            <a:extLst>
              <a:ext uri="{FF2B5EF4-FFF2-40B4-BE49-F238E27FC236}">
                <a16:creationId xmlns:a16="http://schemas.microsoft.com/office/drawing/2014/main" id="{D0C52AD6-9CCD-A866-A60A-CAEF65B95381}"/>
              </a:ext>
            </a:extLst>
          </p:cNvPr>
          <p:cNvSpPr>
            <a:spLocks noGrp="1"/>
          </p:cNvSpPr>
          <p:nvPr>
            <p:ph type="sldNum" idx="97"/>
          </p:nvPr>
        </p:nvSpPr>
        <p:spPr>
          <a:xfrm>
            <a:off x="11347704" y="6446520"/>
            <a:ext cx="484632" cy="228600"/>
          </a:xfrm>
        </p:spPr>
        <p:txBody>
          <a:bodyPr/>
          <a:lstStyle/>
          <a:p>
            <a:fld id="{930176A1-BCF0-4712-97A6-6B495F55390B}" type="slidenum">
              <a:rPr lang="en-US" smtClean="0"/>
              <a:pPr/>
              <a:t>25</a:t>
            </a:fld>
            <a:endParaRPr lang="en-US" dirty="0"/>
          </a:p>
        </p:txBody>
      </p:sp>
      <p:pic>
        <p:nvPicPr>
          <p:cNvPr id="4" name="Graphic 44">
            <a:extLst>
              <a:ext uri="{FF2B5EF4-FFF2-40B4-BE49-F238E27FC236}">
                <a16:creationId xmlns:a16="http://schemas.microsoft.com/office/drawing/2014/main" id="{C22184C3-8798-43FA-AEC8-DF7F28069E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92937" y="1492779"/>
            <a:ext cx="941901" cy="712464"/>
          </a:xfrm>
          <a:prstGeom prst="rect">
            <a:avLst/>
          </a:prstGeom>
        </p:spPr>
      </p:pic>
      <p:sp>
        <p:nvSpPr>
          <p:cNvPr id="28" name="Header Top Left">
            <a:extLst>
              <a:ext uri="{FF2B5EF4-FFF2-40B4-BE49-F238E27FC236}">
                <a16:creationId xmlns:a16="http://schemas.microsoft.com/office/drawing/2014/main" id="{53B3EC84-BD79-9D82-356A-478C4C5C2E21}"/>
              </a:ext>
              <a:ext uri="{C183D7F6-B498-43B3-948B-1728B52AA6E4}">
                <adec:decorative xmlns:adec="http://schemas.microsoft.com/office/drawing/2017/decorative" val="1"/>
              </a:ext>
            </a:extLst>
          </p:cNvPr>
          <p:cNvSpPr txBox="1">
            <a:spLocks/>
          </p:cNvSpPr>
          <p:nvPr/>
        </p:nvSpPr>
        <p:spPr>
          <a:xfrm>
            <a:off x="304271" y="2751600"/>
            <a:ext cx="2172235" cy="604248"/>
          </a:xfrm>
          <a:prstGeom prst="rect">
            <a:avLst/>
          </a:prstGeom>
          <a:blipFill>
            <a:blip r:embed="rId4"/>
            <a:stretch>
              <a:fillRect/>
            </a:stretch>
          </a:blipFill>
          <a:ln>
            <a:noFill/>
          </a:ln>
        </p:spPr>
        <p:txBody>
          <a:bodyPr vert="horz" lIns="91440" tIns="45720" rIns="91440" bIns="45720" rtlCol="0" anchor="ctr">
            <a:normAutofit/>
          </a:bodyPr>
          <a:lstStyle>
            <a:lvl1pPr marL="60325" indent="0" algn="ctr" defTabSz="914400" rtl="0" eaLnBrk="1" latinLnBrk="0" hangingPunct="1">
              <a:lnSpc>
                <a:spcPct val="90000"/>
              </a:lnSpc>
              <a:spcBef>
                <a:spcPts val="1000"/>
              </a:spcBef>
              <a:buFont typeface="Arial" panose="020B0604020202020204" pitchFamily="34" charset="0"/>
              <a:buNone/>
              <a:defRPr lang="en-US" sz="1600" b="0" kern="12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342900">
              <a:spcBef>
                <a:spcPts val="0"/>
              </a:spcBef>
            </a:pPr>
            <a:r>
              <a:rPr lang="en-US" dirty="0"/>
              <a:t>Plan</a:t>
            </a:r>
          </a:p>
        </p:txBody>
      </p:sp>
      <p:sp>
        <p:nvSpPr>
          <p:cNvPr id="29" name="TextBox 28">
            <a:extLst>
              <a:ext uri="{FF2B5EF4-FFF2-40B4-BE49-F238E27FC236}">
                <a16:creationId xmlns:a16="http://schemas.microsoft.com/office/drawing/2014/main" id="{6BD3ECD2-3D71-1044-183F-3536BB71CC06}"/>
              </a:ext>
            </a:extLst>
          </p:cNvPr>
          <p:cNvSpPr txBox="1"/>
          <p:nvPr/>
        </p:nvSpPr>
        <p:spPr>
          <a:xfrm>
            <a:off x="304271" y="3433572"/>
            <a:ext cx="2164609" cy="1969770"/>
          </a:xfrm>
          <a:prstGeom prst="rect">
            <a:avLst/>
          </a:prstGeom>
          <a:noFill/>
        </p:spPr>
        <p:txBody>
          <a:bodyPr wrap="square" rtlCol="0">
            <a:spAutoFit/>
          </a:bodyPr>
          <a:lstStyle>
            <a:defPPr>
              <a:defRPr lang="en-US"/>
            </a:defPPr>
            <a:lvl1pPr marL="112713" indent="-112713">
              <a:buFont typeface="Arial" panose="020B0604020202020204" pitchFamily="34" charset="0"/>
              <a:buChar char="•"/>
            </a:lvl1pPr>
          </a:lstStyle>
          <a:p>
            <a:pPr>
              <a:spcBef>
                <a:spcPts val="600"/>
              </a:spcBef>
              <a:spcAft>
                <a:spcPts val="600"/>
              </a:spcAft>
            </a:pPr>
            <a:r>
              <a:rPr lang="en-US" sz="1600" dirty="0"/>
              <a:t>Ask questions and get referenceable and contextual guidance.</a:t>
            </a:r>
          </a:p>
          <a:p>
            <a:pPr>
              <a:spcBef>
                <a:spcPts val="600"/>
              </a:spcBef>
              <a:spcAft>
                <a:spcPts val="600"/>
              </a:spcAft>
            </a:pPr>
            <a:r>
              <a:rPr lang="en-US" sz="1600" dirty="0"/>
              <a:t>Explain code with conversational coding.</a:t>
            </a:r>
          </a:p>
        </p:txBody>
      </p:sp>
      <p:pic>
        <p:nvPicPr>
          <p:cNvPr id="5" name="Graphic 46">
            <a:extLst>
              <a:ext uri="{FF2B5EF4-FFF2-40B4-BE49-F238E27FC236}">
                <a16:creationId xmlns:a16="http://schemas.microsoft.com/office/drawing/2014/main" id="{FDD991C4-CA2B-42A7-AA24-01B0A90AE9E5}"/>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375691" y="1456188"/>
            <a:ext cx="761641" cy="767685"/>
          </a:xfrm>
          <a:prstGeom prst="rect">
            <a:avLst/>
          </a:prstGeom>
        </p:spPr>
      </p:pic>
      <p:sp>
        <p:nvSpPr>
          <p:cNvPr id="64" name="Header Top Left">
            <a:extLst>
              <a:ext uri="{FF2B5EF4-FFF2-40B4-BE49-F238E27FC236}">
                <a16:creationId xmlns:a16="http://schemas.microsoft.com/office/drawing/2014/main" id="{8F30B834-9B42-D546-E372-D5DBC0FA5935}"/>
              </a:ext>
              <a:ext uri="{C183D7F6-B498-43B3-948B-1728B52AA6E4}">
                <adec:decorative xmlns:adec="http://schemas.microsoft.com/office/drawing/2017/decorative" val="1"/>
              </a:ext>
            </a:extLst>
          </p:cNvPr>
          <p:cNvSpPr txBox="1">
            <a:spLocks/>
          </p:cNvSpPr>
          <p:nvPr/>
        </p:nvSpPr>
        <p:spPr>
          <a:xfrm>
            <a:off x="2680694" y="2751600"/>
            <a:ext cx="2172235" cy="604248"/>
          </a:xfrm>
          <a:prstGeom prst="rect">
            <a:avLst/>
          </a:prstGeom>
          <a:blipFill>
            <a:blip r:embed="rId4"/>
            <a:stretch>
              <a:fillRect/>
            </a:stretch>
          </a:blipFill>
          <a:ln>
            <a:noFill/>
          </a:ln>
        </p:spPr>
        <p:txBody>
          <a:bodyPr vert="horz" lIns="91440" tIns="45720" rIns="91440" bIns="45720" rtlCol="0" anchor="ctr">
            <a:normAutofit/>
          </a:bodyPr>
          <a:lstStyle>
            <a:lvl1pPr marL="60325" indent="0" algn="ctr" defTabSz="914400" rtl="0" eaLnBrk="1" latinLnBrk="0" hangingPunct="1">
              <a:lnSpc>
                <a:spcPct val="90000"/>
              </a:lnSpc>
              <a:spcBef>
                <a:spcPts val="1000"/>
              </a:spcBef>
              <a:buFont typeface="Arial" panose="020B0604020202020204" pitchFamily="34" charset="0"/>
              <a:buNone/>
              <a:defRPr lang="en-US" sz="1600" b="0" kern="12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342900">
              <a:spcBef>
                <a:spcPts val="0"/>
              </a:spcBef>
            </a:pPr>
            <a:r>
              <a:rPr lang="en-US" dirty="0"/>
              <a:t>Create</a:t>
            </a:r>
          </a:p>
        </p:txBody>
      </p:sp>
      <p:sp>
        <p:nvSpPr>
          <p:cNvPr id="65" name="TextBox 64">
            <a:extLst>
              <a:ext uri="{FF2B5EF4-FFF2-40B4-BE49-F238E27FC236}">
                <a16:creationId xmlns:a16="http://schemas.microsoft.com/office/drawing/2014/main" id="{58A0F644-113C-4F63-FA4A-0F18A615E0A6}"/>
              </a:ext>
            </a:extLst>
          </p:cNvPr>
          <p:cNvSpPr txBox="1"/>
          <p:nvPr/>
        </p:nvSpPr>
        <p:spPr>
          <a:xfrm>
            <a:off x="2588134" y="3433572"/>
            <a:ext cx="2468984" cy="2616101"/>
          </a:xfrm>
          <a:prstGeom prst="rect">
            <a:avLst/>
          </a:prstGeom>
          <a:noFill/>
        </p:spPr>
        <p:txBody>
          <a:bodyPr wrap="square" rtlCol="0">
            <a:spAutoFit/>
          </a:bodyPr>
          <a:lstStyle/>
          <a:p>
            <a:pPr marL="112713" indent="-112713">
              <a:spcBef>
                <a:spcPts val="600"/>
              </a:spcBef>
              <a:spcAft>
                <a:spcPts val="600"/>
              </a:spcAft>
              <a:buFont typeface="Arial" panose="020B0604020202020204" pitchFamily="34" charset="0"/>
              <a:buChar char="•"/>
            </a:pPr>
            <a:r>
              <a:rPr lang="en-US" sz="1600" dirty="0"/>
              <a:t>Receive in-line code recommendations for multiple languages.</a:t>
            </a:r>
          </a:p>
          <a:p>
            <a:pPr marL="112713" indent="-112713">
              <a:spcBef>
                <a:spcPts val="600"/>
              </a:spcBef>
              <a:spcAft>
                <a:spcPts val="600"/>
              </a:spcAft>
              <a:buFont typeface="Arial" panose="020B0604020202020204" pitchFamily="34" charset="0"/>
              <a:buChar char="•"/>
            </a:pPr>
            <a:r>
              <a:rPr lang="en-US" sz="1600" dirty="0"/>
              <a:t>Implement features through comments or code prompts.</a:t>
            </a:r>
          </a:p>
          <a:p>
            <a:pPr marL="112713" indent="-112713">
              <a:spcBef>
                <a:spcPts val="600"/>
              </a:spcBef>
              <a:spcAft>
                <a:spcPts val="600"/>
              </a:spcAft>
              <a:buFont typeface="Arial" panose="020B0604020202020204" pitchFamily="34" charset="0"/>
              <a:buChar char="•"/>
            </a:pPr>
            <a:r>
              <a:rPr lang="en-US" sz="1600" dirty="0"/>
              <a:t>Chat in your integrated development environment (IDE).</a:t>
            </a:r>
          </a:p>
        </p:txBody>
      </p:sp>
      <p:pic>
        <p:nvPicPr>
          <p:cNvPr id="7" name="Graphic 256">
            <a:extLst>
              <a:ext uri="{FF2B5EF4-FFF2-40B4-BE49-F238E27FC236}">
                <a16:creationId xmlns:a16="http://schemas.microsoft.com/office/drawing/2014/main" id="{1B79089F-A082-4896-A2DF-767AB60D12D8}"/>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611145" y="1509090"/>
            <a:ext cx="1020185" cy="607253"/>
          </a:xfrm>
          <a:prstGeom prst="rect">
            <a:avLst/>
          </a:prstGeom>
        </p:spPr>
      </p:pic>
      <p:sp>
        <p:nvSpPr>
          <p:cNvPr id="94" name="Header Top Left Center">
            <a:extLst>
              <a:ext uri="{FF2B5EF4-FFF2-40B4-BE49-F238E27FC236}">
                <a16:creationId xmlns:a16="http://schemas.microsoft.com/office/drawing/2014/main" id="{134F4AA7-1005-54EA-1099-A75503EBDA3D}"/>
              </a:ext>
              <a:ext uri="{C183D7F6-B498-43B3-948B-1728B52AA6E4}">
                <adec:decorative xmlns:adec="http://schemas.microsoft.com/office/drawing/2017/decorative" val="1"/>
              </a:ext>
            </a:extLst>
          </p:cNvPr>
          <p:cNvSpPr txBox="1">
            <a:spLocks/>
          </p:cNvSpPr>
          <p:nvPr/>
        </p:nvSpPr>
        <p:spPr>
          <a:xfrm>
            <a:off x="5057117" y="2751600"/>
            <a:ext cx="2172235" cy="604248"/>
          </a:xfrm>
          <a:prstGeom prst="rect">
            <a:avLst/>
          </a:prstGeom>
          <a:blipFill>
            <a:blip r:embed="rId7"/>
            <a:stretch>
              <a:fillRect/>
            </a:stretch>
          </a:blipFill>
          <a:ln>
            <a:noFill/>
          </a:ln>
        </p:spPr>
        <p:txBody>
          <a:bodyPr vert="horz" lIns="91440" tIns="45720" rIns="91440" bIns="45720" rtlCol="0" anchor="ctr">
            <a:normAutofit/>
          </a:bodyPr>
          <a:lstStyle>
            <a:lvl1pPr marL="60325" indent="0" algn="ctr" defTabSz="914400" rtl="0" eaLnBrk="1" latinLnBrk="0" hangingPunct="1">
              <a:lnSpc>
                <a:spcPct val="90000"/>
              </a:lnSpc>
              <a:spcBef>
                <a:spcPts val="1000"/>
              </a:spcBef>
              <a:buFont typeface="Arial" panose="020B0604020202020204" pitchFamily="34" charset="0"/>
              <a:buNone/>
              <a:defRPr lang="en-US" sz="1600" b="0" kern="12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342900">
              <a:spcBef>
                <a:spcPts val="0"/>
              </a:spcBef>
            </a:pPr>
            <a:r>
              <a:rPr lang="en-US" dirty="0"/>
              <a:t>Test and secure</a:t>
            </a:r>
          </a:p>
        </p:txBody>
      </p:sp>
      <p:sp>
        <p:nvSpPr>
          <p:cNvPr id="95" name="TextBox 94">
            <a:extLst>
              <a:ext uri="{FF2B5EF4-FFF2-40B4-BE49-F238E27FC236}">
                <a16:creationId xmlns:a16="http://schemas.microsoft.com/office/drawing/2014/main" id="{D4703CBC-3627-A9EE-47B6-8D6A47C03714}"/>
              </a:ext>
            </a:extLst>
          </p:cNvPr>
          <p:cNvSpPr txBox="1"/>
          <p:nvPr/>
        </p:nvSpPr>
        <p:spPr>
          <a:xfrm>
            <a:off x="5060929" y="3433572"/>
            <a:ext cx="2164609" cy="1723549"/>
          </a:xfrm>
          <a:prstGeom prst="rect">
            <a:avLst/>
          </a:prstGeom>
          <a:noFill/>
        </p:spPr>
        <p:txBody>
          <a:bodyPr wrap="square" rtlCol="0">
            <a:spAutoFit/>
          </a:bodyPr>
          <a:lstStyle>
            <a:defPPr>
              <a:defRPr lang="en-US"/>
            </a:defPPr>
            <a:lvl1pPr marL="112713" indent="-112713">
              <a:buFont typeface="Arial" panose="020B0604020202020204" pitchFamily="34" charset="0"/>
              <a:buChar char="•"/>
            </a:lvl1pPr>
          </a:lstStyle>
          <a:p>
            <a:pPr>
              <a:spcBef>
                <a:spcPts val="600"/>
              </a:spcBef>
              <a:spcAft>
                <a:spcPts val="600"/>
              </a:spcAft>
            </a:pPr>
            <a:r>
              <a:rPr lang="en-US" sz="1600" dirty="0"/>
              <a:t>Generate unit tests.</a:t>
            </a:r>
          </a:p>
          <a:p>
            <a:pPr>
              <a:spcBef>
                <a:spcPts val="600"/>
              </a:spcBef>
              <a:spcAft>
                <a:spcPts val="600"/>
              </a:spcAft>
            </a:pPr>
            <a:r>
              <a:rPr lang="en-US" sz="1600" dirty="0"/>
              <a:t>Scan project code for security vulnerabilities and get remediation suggestions.</a:t>
            </a:r>
          </a:p>
        </p:txBody>
      </p:sp>
      <p:pic>
        <p:nvPicPr>
          <p:cNvPr id="30" name="Graphic 56">
            <a:extLst>
              <a:ext uri="{FF2B5EF4-FFF2-40B4-BE49-F238E27FC236}">
                <a16:creationId xmlns:a16="http://schemas.microsoft.com/office/drawing/2014/main" id="{FB49C29A-5D5A-4C74-94D8-2406175340EB}"/>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086997" y="1568907"/>
            <a:ext cx="785083" cy="672928"/>
          </a:xfrm>
          <a:prstGeom prst="rect">
            <a:avLst/>
          </a:prstGeom>
        </p:spPr>
      </p:pic>
      <p:sp>
        <p:nvSpPr>
          <p:cNvPr id="115" name="Header Top Center Right">
            <a:extLst>
              <a:ext uri="{FF2B5EF4-FFF2-40B4-BE49-F238E27FC236}">
                <a16:creationId xmlns:a16="http://schemas.microsoft.com/office/drawing/2014/main" id="{D8811A44-6C36-5F52-EBD3-A99D246C440B}"/>
              </a:ext>
              <a:ext uri="{C183D7F6-B498-43B3-948B-1728B52AA6E4}">
                <adec:decorative xmlns:adec="http://schemas.microsoft.com/office/drawing/2017/decorative" val="1"/>
              </a:ext>
            </a:extLst>
          </p:cNvPr>
          <p:cNvSpPr txBox="1">
            <a:spLocks/>
          </p:cNvSpPr>
          <p:nvPr/>
        </p:nvSpPr>
        <p:spPr>
          <a:xfrm>
            <a:off x="7433540" y="2751600"/>
            <a:ext cx="2172235" cy="604248"/>
          </a:xfrm>
          <a:prstGeom prst="rect">
            <a:avLst/>
          </a:prstGeom>
          <a:blipFill>
            <a:blip r:embed="rId9"/>
            <a:stretch>
              <a:fillRect/>
            </a:stretch>
          </a:blipFill>
          <a:ln>
            <a:noFill/>
          </a:ln>
        </p:spPr>
        <p:txBody>
          <a:bodyPr vert="horz" lIns="91440" tIns="45720" rIns="91440" bIns="45720" rtlCol="0" anchor="ctr">
            <a:normAutofit/>
          </a:bodyPr>
          <a:lstStyle>
            <a:lvl1pPr marL="60325" indent="0" algn="ctr" defTabSz="914400" rtl="0" eaLnBrk="1" latinLnBrk="0" hangingPunct="1">
              <a:lnSpc>
                <a:spcPct val="90000"/>
              </a:lnSpc>
              <a:spcBef>
                <a:spcPts val="1000"/>
              </a:spcBef>
              <a:buFont typeface="Arial" panose="020B0604020202020204" pitchFamily="34" charset="0"/>
              <a:buNone/>
              <a:defRPr lang="en-US" sz="1600" b="0" kern="12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spcBef>
                <a:spcPts val="0"/>
              </a:spcBef>
              <a:spcAft>
                <a:spcPts val="0"/>
              </a:spcAft>
              <a:buClrTx/>
              <a:buSzTx/>
              <a:buFontTx/>
              <a:buNone/>
              <a:tabLst/>
              <a:defRPr/>
            </a:pPr>
            <a:r>
              <a:rPr kumimoji="0" lang="en-US" sz="1600" i="0" u="none" strike="noStrike" kern="1200" cap="none" spc="0" normalizeH="0" baseline="0" noProof="0" dirty="0">
                <a:ln>
                  <a:noFill/>
                </a:ln>
                <a:effectLst/>
                <a:uLnTx/>
                <a:uFillTx/>
                <a:latin typeface="Amazon Ember Display"/>
                <a:ea typeface="+mn-ea"/>
                <a:cs typeface="+mn-cs"/>
              </a:rPr>
              <a:t>Operate</a:t>
            </a:r>
          </a:p>
        </p:txBody>
      </p:sp>
      <p:sp>
        <p:nvSpPr>
          <p:cNvPr id="116" name="TextBox 115">
            <a:extLst>
              <a:ext uri="{FF2B5EF4-FFF2-40B4-BE49-F238E27FC236}">
                <a16:creationId xmlns:a16="http://schemas.microsoft.com/office/drawing/2014/main" id="{266C514E-FA86-B888-3953-EB36895CEE52}"/>
              </a:ext>
            </a:extLst>
          </p:cNvPr>
          <p:cNvSpPr txBox="1"/>
          <p:nvPr/>
        </p:nvSpPr>
        <p:spPr>
          <a:xfrm>
            <a:off x="7439258" y="3433572"/>
            <a:ext cx="2228253" cy="1723549"/>
          </a:xfrm>
          <a:prstGeom prst="rect">
            <a:avLst/>
          </a:prstGeom>
          <a:noFill/>
        </p:spPr>
        <p:txBody>
          <a:bodyPr wrap="square" rtlCol="0">
            <a:spAutoFit/>
          </a:bodyPr>
          <a:lstStyle>
            <a:defPPr>
              <a:defRPr lang="en-US"/>
            </a:defPPr>
            <a:lvl1pPr marL="112713" indent="-112713">
              <a:buFont typeface="Arial" panose="020B0604020202020204" pitchFamily="34" charset="0"/>
              <a:buChar char="•"/>
            </a:lvl1pPr>
          </a:lstStyle>
          <a:p>
            <a:pPr>
              <a:spcBef>
                <a:spcPts val="600"/>
              </a:spcBef>
              <a:spcAft>
                <a:spcPts val="600"/>
              </a:spcAft>
            </a:pPr>
            <a:r>
              <a:rPr lang="en-US" sz="1600" dirty="0"/>
              <a:t>Troubleshoot errors.</a:t>
            </a:r>
          </a:p>
          <a:p>
            <a:pPr>
              <a:spcBef>
                <a:spcPts val="600"/>
              </a:spcBef>
              <a:spcAft>
                <a:spcPts val="600"/>
              </a:spcAft>
            </a:pPr>
            <a:r>
              <a:rPr lang="en-US" sz="1600" dirty="0"/>
              <a:t>Troubleshoot network connectivity with VPC Reachability Analyzer.</a:t>
            </a:r>
          </a:p>
        </p:txBody>
      </p:sp>
      <p:pic>
        <p:nvPicPr>
          <p:cNvPr id="32" name="Graphic 190">
            <a:extLst>
              <a:ext uri="{FF2B5EF4-FFF2-40B4-BE49-F238E27FC236}">
                <a16:creationId xmlns:a16="http://schemas.microsoft.com/office/drawing/2014/main" id="{A4060923-5A4E-42C8-BD7E-9C7B47C7ACE3}"/>
              </a:ex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10346478" y="1483462"/>
            <a:ext cx="970230" cy="672614"/>
          </a:xfrm>
          <a:prstGeom prst="rect">
            <a:avLst/>
          </a:prstGeom>
        </p:spPr>
      </p:pic>
      <p:sp>
        <p:nvSpPr>
          <p:cNvPr id="127" name="Header Top Right">
            <a:extLst>
              <a:ext uri="{FF2B5EF4-FFF2-40B4-BE49-F238E27FC236}">
                <a16:creationId xmlns:a16="http://schemas.microsoft.com/office/drawing/2014/main" id="{9F204071-A169-6ECF-6C68-C45C42CE7D64}"/>
              </a:ext>
              <a:ext uri="{C183D7F6-B498-43B3-948B-1728B52AA6E4}">
                <adec:decorative xmlns:adec="http://schemas.microsoft.com/office/drawing/2017/decorative" val="1"/>
              </a:ext>
            </a:extLst>
          </p:cNvPr>
          <p:cNvSpPr txBox="1">
            <a:spLocks/>
          </p:cNvSpPr>
          <p:nvPr/>
        </p:nvSpPr>
        <p:spPr>
          <a:xfrm>
            <a:off x="9809962" y="2751600"/>
            <a:ext cx="2172235" cy="604248"/>
          </a:xfrm>
          <a:prstGeom prst="rect">
            <a:avLst/>
          </a:prstGeom>
          <a:blipFill>
            <a:blip r:embed="rId11"/>
            <a:stretch>
              <a:fillRect/>
            </a:stretch>
          </a:blipFill>
          <a:ln>
            <a:noFill/>
          </a:ln>
        </p:spPr>
        <p:txBody>
          <a:bodyPr vert="horz" lIns="91440" tIns="45720" rIns="91440" bIns="45720" rtlCol="0" anchor="ctr">
            <a:normAutofit/>
          </a:bodyPr>
          <a:lstStyle>
            <a:lvl1pPr marL="60325" indent="0" algn="ctr" defTabSz="914400" rtl="0" eaLnBrk="1" latinLnBrk="0" hangingPunct="1">
              <a:lnSpc>
                <a:spcPct val="90000"/>
              </a:lnSpc>
              <a:spcBef>
                <a:spcPts val="1000"/>
              </a:spcBef>
              <a:buFont typeface="Arial" panose="020B0604020202020204" pitchFamily="34" charset="0"/>
              <a:buNone/>
              <a:defRPr lang="en-US" sz="1600" b="0" kern="12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i="0" u="none" strike="noStrike" kern="1200" cap="none" spc="0" normalizeH="0" baseline="0" noProof="0" dirty="0">
                <a:ln>
                  <a:noFill/>
                </a:ln>
                <a:effectLst/>
                <a:uLnTx/>
                <a:uFillTx/>
                <a:latin typeface="Amazon Ember Display"/>
                <a:ea typeface="+mn-ea"/>
                <a:cs typeface="+mn-cs"/>
              </a:rPr>
              <a:t>Maintain and modernize</a:t>
            </a:r>
          </a:p>
        </p:txBody>
      </p:sp>
      <p:sp>
        <p:nvSpPr>
          <p:cNvPr id="128" name="TextBox 127">
            <a:extLst>
              <a:ext uri="{FF2B5EF4-FFF2-40B4-BE49-F238E27FC236}">
                <a16:creationId xmlns:a16="http://schemas.microsoft.com/office/drawing/2014/main" id="{E41AC7CD-0CB1-0197-9383-7550257F3360}"/>
              </a:ext>
            </a:extLst>
          </p:cNvPr>
          <p:cNvSpPr txBox="1"/>
          <p:nvPr/>
        </p:nvSpPr>
        <p:spPr>
          <a:xfrm>
            <a:off x="9817588" y="3433572"/>
            <a:ext cx="2172235" cy="1323439"/>
          </a:xfrm>
          <a:prstGeom prst="rect">
            <a:avLst/>
          </a:prstGeom>
          <a:noFill/>
        </p:spPr>
        <p:txBody>
          <a:bodyPr wrap="square" rtlCol="0">
            <a:spAutoFit/>
          </a:bodyPr>
          <a:lstStyle>
            <a:defPPr>
              <a:defRPr lang="en-US"/>
            </a:defPPr>
            <a:lvl1pPr marL="112713" indent="-112713">
              <a:buFont typeface="Arial" panose="020B0604020202020204" pitchFamily="34" charset="0"/>
              <a:buChar char="•"/>
            </a:lvl1pPr>
          </a:lstStyle>
          <a:p>
            <a:pPr>
              <a:spcBef>
                <a:spcPts val="600"/>
              </a:spcBef>
              <a:spcAft>
                <a:spcPts val="600"/>
              </a:spcAft>
            </a:pPr>
            <a:r>
              <a:rPr lang="en-US" sz="1600" dirty="0"/>
              <a:t>Modernize code with Amazon Q Developer Agent for  code transformation.</a:t>
            </a:r>
          </a:p>
        </p:txBody>
      </p:sp>
      <p:sp>
        <p:nvSpPr>
          <p:cNvPr id="6" name="a11y_slide_end" descr="Notes Section.">
            <a:extLst>
              <a:ext uri="{FF2B5EF4-FFF2-40B4-BE49-F238E27FC236}">
                <a16:creationId xmlns:a16="http://schemas.microsoft.com/office/drawing/2014/main" id="{4C61D481-D005-4411-BD64-E9649446CF4D}"/>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2422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BF471D6-BF5F-4D59-AE73-D32D58E10314}"/>
              </a:ext>
            </a:extLst>
          </p:cNvPr>
          <p:cNvSpPr>
            <a:spLocks noGrp="1"/>
          </p:cNvSpPr>
          <p:nvPr>
            <p:ph type="sldNum" idx="97"/>
          </p:nvPr>
        </p:nvSpPr>
        <p:spPr/>
        <p:txBody>
          <a:bodyPr/>
          <a:lstStyle/>
          <a:p>
            <a:fld id="{930176A1-BCF0-4712-97A6-6B495F55390B}" type="slidenum">
              <a:rPr lang="en-US" smtClean="0"/>
              <a:pPr/>
              <a:t>26</a:t>
            </a:fld>
            <a:endParaRPr lang="en-US" dirty="0"/>
          </a:p>
        </p:txBody>
      </p:sp>
      <p:sp>
        <p:nvSpPr>
          <p:cNvPr id="3" name="Title">
            <a:extLst>
              <a:ext uri="{FF2B5EF4-FFF2-40B4-BE49-F238E27FC236}">
                <a16:creationId xmlns:a16="http://schemas.microsoft.com/office/drawing/2014/main" id="{396827FA-EABD-4133-A825-305DBADE4A99}"/>
              </a:ext>
            </a:extLst>
          </p:cNvPr>
          <p:cNvSpPr>
            <a:spLocks noGrp="1"/>
          </p:cNvSpPr>
          <p:nvPr>
            <p:ph type="title" idx="1"/>
          </p:nvPr>
        </p:nvSpPr>
        <p:spPr/>
        <p:txBody>
          <a:bodyPr>
            <a:normAutofit fontScale="90000"/>
          </a:bodyPr>
          <a:lstStyle/>
          <a:p>
            <a:r>
              <a:rPr lang="en-US" dirty="0"/>
              <a:t>Demonstration: Creating a Linear Regression Model Using Amazon Q Developer</a:t>
            </a:r>
            <a:br>
              <a:rPr lang="en-US" b="1" dirty="0"/>
            </a:br>
            <a:endParaRPr lang="en-US" dirty="0"/>
          </a:p>
        </p:txBody>
      </p:sp>
      <p:pic>
        <p:nvPicPr>
          <p:cNvPr id="8" name="Content Placeholder 7">
            <a:extLst>
              <a:ext uri="{FF2B5EF4-FFF2-40B4-BE49-F238E27FC236}">
                <a16:creationId xmlns:a16="http://schemas.microsoft.com/office/drawing/2014/main" id="{75A5DB8B-FEF1-4EB4-94C3-6744C16D359C}"/>
              </a:ext>
              <a:ext uri="{C183D7F6-B498-43B3-948B-1728B52AA6E4}">
                <adec:decorative xmlns:adec="http://schemas.microsoft.com/office/drawing/2017/decorative" val="1"/>
              </a:ext>
            </a:extLst>
          </p:cNvPr>
          <p:cNvPicPr>
            <a:picLocks noGrp="1" noChangeAspect="1"/>
          </p:cNvPicPr>
          <p:nvPr>
            <p:ph idx="2"/>
          </p:nvPr>
        </p:nvPicPr>
        <p:blipFill>
          <a:blip r:embed="rId4">
            <a:extLst>
              <a:ext uri="{28A0092B-C50C-407E-A947-70E740481C1C}">
                <a14:useLocalDpi xmlns:a14="http://schemas.microsoft.com/office/drawing/2010/main" val="0"/>
              </a:ext>
            </a:extLst>
          </a:blip>
          <a:stretch>
            <a:fillRect/>
          </a:stretch>
        </p:blipFill>
        <p:spPr>
          <a:xfrm>
            <a:off x="887260" y="3340401"/>
            <a:ext cx="2780017" cy="1847248"/>
          </a:xfrm>
        </p:spPr>
      </p:pic>
      <p:sp>
        <p:nvSpPr>
          <p:cNvPr id="5" name="Text Placeholder 4">
            <a:extLst>
              <a:ext uri="{FF2B5EF4-FFF2-40B4-BE49-F238E27FC236}">
                <a16:creationId xmlns:a16="http://schemas.microsoft.com/office/drawing/2014/main" id="{948B39C1-0105-403B-B72B-E35755A74EB1}"/>
              </a:ext>
            </a:extLst>
          </p:cNvPr>
          <p:cNvSpPr>
            <a:spLocks noGrp="1"/>
          </p:cNvSpPr>
          <p:nvPr>
            <p:ph type="body" idx="3"/>
          </p:nvPr>
        </p:nvSpPr>
        <p:spPr/>
        <p:txBody>
          <a:bodyPr/>
          <a:lstStyle/>
          <a:p>
            <a:pPr>
              <a:spcAft>
                <a:spcPts val="1200"/>
              </a:spcAft>
            </a:pPr>
            <a:r>
              <a:rPr lang="en-US" dirty="0"/>
              <a:t>This demo illustrates how Amazon Q Developer can accelerate coding tasks in ML applications.</a:t>
            </a:r>
          </a:p>
          <a:p>
            <a:pPr>
              <a:spcAft>
                <a:spcPts val="1200"/>
              </a:spcAft>
            </a:pPr>
            <a:r>
              <a:rPr lang="en-US" dirty="0"/>
              <a:t>The recorded demo is included in your online course.</a:t>
            </a:r>
          </a:p>
        </p:txBody>
      </p:sp>
      <p:sp>
        <p:nvSpPr>
          <p:cNvPr id="4" name="a11y_slide_end" descr="Notes Section.">
            <a:extLst>
              <a:ext uri="{FF2B5EF4-FFF2-40B4-BE49-F238E27FC236}">
                <a16:creationId xmlns:a16="http://schemas.microsoft.com/office/drawing/2014/main" id="{D42F4B77-C979-40AC-B86B-0297F21FFDAC}"/>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9715139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7C306B8-78BA-41DF-9CB8-E2EDD7892C7C}"/>
              </a:ext>
            </a:extLst>
          </p:cNvPr>
          <p:cNvSpPr>
            <a:spLocks noGrp="1"/>
          </p:cNvSpPr>
          <p:nvPr>
            <p:ph type="sldNum" idx="97"/>
          </p:nvPr>
        </p:nvSpPr>
        <p:spPr/>
        <p:txBody>
          <a:bodyPr/>
          <a:lstStyle/>
          <a:p>
            <a:fld id="{930176A1-BCF0-4712-97A6-6B495F55390B}" type="slidenum">
              <a:rPr lang="en-US" smtClean="0"/>
              <a:pPr/>
              <a:t>27</a:t>
            </a:fld>
            <a:endParaRPr lang="en-US"/>
          </a:p>
        </p:txBody>
      </p:sp>
      <p:sp>
        <p:nvSpPr>
          <p:cNvPr id="3" name="Title">
            <a:extLst>
              <a:ext uri="{FF2B5EF4-FFF2-40B4-BE49-F238E27FC236}">
                <a16:creationId xmlns:a16="http://schemas.microsoft.com/office/drawing/2014/main" id="{1FEDED09-2D96-4DEB-B2BA-482DB6D419E8}"/>
              </a:ext>
            </a:extLst>
          </p:cNvPr>
          <p:cNvSpPr>
            <a:spLocks noGrp="1"/>
          </p:cNvSpPr>
          <p:nvPr>
            <p:ph type="title" idx="1"/>
          </p:nvPr>
        </p:nvSpPr>
        <p:spPr/>
        <p:txBody>
          <a:bodyPr/>
          <a:lstStyle/>
          <a:p>
            <a:r>
              <a:rPr lang="en-US" dirty="0"/>
              <a:t>Section 4 key takeaways</a:t>
            </a:r>
          </a:p>
        </p:txBody>
      </p:sp>
      <p:pic>
        <p:nvPicPr>
          <p:cNvPr id="5" name="Content Placeholder 13">
            <a:extLst>
              <a:ext uri="{FF2B5EF4-FFF2-40B4-BE49-F238E27FC236}">
                <a16:creationId xmlns:a16="http://schemas.microsoft.com/office/drawing/2014/main" id="{0BE67EF3-A3F7-407F-819C-0F6A1858E52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
        <p:nvSpPr>
          <p:cNvPr id="4" name="Text Placeholder 3">
            <a:extLst>
              <a:ext uri="{FF2B5EF4-FFF2-40B4-BE49-F238E27FC236}">
                <a16:creationId xmlns:a16="http://schemas.microsoft.com/office/drawing/2014/main" id="{641F168C-F6FE-4D33-B99F-76543B1E39F8}"/>
              </a:ext>
            </a:extLst>
          </p:cNvPr>
          <p:cNvSpPr>
            <a:spLocks noGrp="1"/>
          </p:cNvSpPr>
          <p:nvPr>
            <p:ph type="body" idx="3"/>
          </p:nvPr>
        </p:nvSpPr>
        <p:spPr/>
        <p:txBody>
          <a:bodyPr>
            <a:normAutofit/>
          </a:bodyPr>
          <a:lstStyle/>
          <a:p>
            <a:r>
              <a:rPr lang="en-US" dirty="0"/>
              <a:t>Amazon Q Developer is a generative AI tool that will integrate with your IDE and help you develop your application faster using a large language model (LLM).</a:t>
            </a:r>
          </a:p>
          <a:p>
            <a:r>
              <a:rPr lang="en-US" dirty="0"/>
              <a:t>Amazon Q Developer scans code for security vulnerabilities</a:t>
            </a:r>
          </a:p>
          <a:p>
            <a:r>
              <a:rPr lang="en-US" dirty="0"/>
              <a:t>Amazon Q Developer supports developers across the SDLC.</a:t>
            </a:r>
          </a:p>
        </p:txBody>
      </p:sp>
      <p:sp>
        <p:nvSpPr>
          <p:cNvPr id="6" name="a11y_slide_end" descr="Notes Section.">
            <a:extLst>
              <a:ext uri="{FF2B5EF4-FFF2-40B4-BE49-F238E27FC236}">
                <a16:creationId xmlns:a16="http://schemas.microsoft.com/office/drawing/2014/main" id="{4123F8C6-6E03-42CD-9302-BC04E1E0F224}"/>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9764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EAA9B59F-FDCA-42B2-8C1D-F117B72EC60C}"/>
              </a:ext>
            </a:extLst>
          </p:cNvPr>
          <p:cNvSpPr>
            <a:spLocks noGrp="1"/>
          </p:cNvSpPr>
          <p:nvPr>
            <p:ph type="sldNum" idx="97"/>
          </p:nvPr>
        </p:nvSpPr>
        <p:spPr/>
        <p:txBody>
          <a:bodyPr/>
          <a:lstStyle/>
          <a:p>
            <a:fld id="{4037B1B0-0345-4E15-985A-6BECCDBE474F}" type="slidenum">
              <a:rPr lang="en-US" smtClean="0"/>
              <a:pPr/>
              <a:t>28</a:t>
            </a:fld>
            <a:endParaRPr lang="en-US" dirty="0"/>
          </a:p>
        </p:txBody>
      </p:sp>
      <p:sp>
        <p:nvSpPr>
          <p:cNvPr id="3" name="Title">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dirty="0">
                <a:latin typeface="+mj-lt"/>
              </a:rPr>
              <a:t>Module wrap-up</a:t>
            </a:r>
            <a:endParaRPr lang="en-US" dirty="0"/>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b="1" dirty="0">
                <a:latin typeface="+mn-lt"/>
              </a:rPr>
              <a:t>Module 7: </a:t>
            </a:r>
            <a:r>
              <a:rPr lang="en-US" b="1" dirty="0"/>
              <a:t>Introducing Generative AI</a:t>
            </a:r>
            <a:endParaRPr lang="en-US" b="1" dirty="0">
              <a:latin typeface="+mn-lt"/>
            </a:endParaRPr>
          </a:p>
        </p:txBody>
      </p:sp>
      <p:sp>
        <p:nvSpPr>
          <p:cNvPr id="5" name="a11y_slide_end" descr="Notes section:&#10;This slide has no notes.">
            <a:extLst>
              <a:ext uri="{FF2B5EF4-FFF2-40B4-BE49-F238E27FC236}">
                <a16:creationId xmlns:a16="http://schemas.microsoft.com/office/drawing/2014/main" id="{E2DDE02D-D661-4582-9D3B-44ACC3643447}"/>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043368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F028E3B8-859A-4426-8422-86DC59AB6A26}"/>
              </a:ext>
            </a:extLst>
          </p:cNvPr>
          <p:cNvSpPr>
            <a:spLocks noGrp="1"/>
          </p:cNvSpPr>
          <p:nvPr>
            <p:ph type="sldNum" idx="97"/>
          </p:nvPr>
        </p:nvSpPr>
        <p:spPr/>
        <p:txBody>
          <a:bodyPr/>
          <a:lstStyle/>
          <a:p>
            <a:fld id="{930176A1-BCF0-4712-97A6-6B495F55390B}" type="slidenum">
              <a:rPr lang="en-US" smtClean="0"/>
              <a:pPr/>
              <a:t>29</a:t>
            </a:fld>
            <a:endParaRPr lang="en-US" dirty="0"/>
          </a:p>
        </p:txBody>
      </p:sp>
      <p:sp>
        <p:nvSpPr>
          <p:cNvPr id="3" name="Title">
            <a:extLst>
              <a:ext uri="{FF2B5EF4-FFF2-40B4-BE49-F238E27FC236}">
                <a16:creationId xmlns:a16="http://schemas.microsoft.com/office/drawing/2014/main" id="{1FEDED09-2D96-4DEB-B2BA-482DB6D419E8}"/>
              </a:ext>
            </a:extLst>
          </p:cNvPr>
          <p:cNvSpPr>
            <a:spLocks noGrp="1"/>
          </p:cNvSpPr>
          <p:nvPr>
            <p:ph type="title" idx="1"/>
          </p:nvPr>
        </p:nvSpPr>
        <p:spPr/>
        <p:txBody>
          <a:bodyPr/>
          <a:lstStyle/>
          <a:p>
            <a:r>
              <a:rPr lang="en-US" dirty="0"/>
              <a:t>Module takeaways</a:t>
            </a:r>
          </a:p>
        </p:txBody>
      </p:sp>
      <p:sp>
        <p:nvSpPr>
          <p:cNvPr id="4" name="Text Placeholder 3">
            <a:extLst>
              <a:ext uri="{FF2B5EF4-FFF2-40B4-BE49-F238E27FC236}">
                <a16:creationId xmlns:a16="http://schemas.microsoft.com/office/drawing/2014/main" id="{641F168C-F6FE-4D33-B99F-76543B1E39F8}"/>
              </a:ext>
            </a:extLst>
          </p:cNvPr>
          <p:cNvSpPr>
            <a:spLocks noGrp="1"/>
          </p:cNvSpPr>
          <p:nvPr>
            <p:ph type="body" idx="3"/>
          </p:nvPr>
        </p:nvSpPr>
        <p:spPr/>
        <p:txBody>
          <a:bodyPr>
            <a:normAutofit fontScale="85000" lnSpcReduction="20000"/>
          </a:bodyPr>
          <a:lstStyle/>
          <a:p>
            <a:r>
              <a:rPr lang="en-US" dirty="0"/>
              <a:t>Generative AI is a type of artificial intelligence that can create new content and ideas, including conversations, stories, images, videos, and music.</a:t>
            </a:r>
          </a:p>
          <a:p>
            <a:r>
              <a:rPr lang="en-US" dirty="0"/>
              <a:t>Generative AI is powered by large models called FMs.</a:t>
            </a:r>
          </a:p>
          <a:p>
            <a:r>
              <a:rPr lang="en-US" dirty="0"/>
              <a:t>Foundation models (FMs) are pretrained on vast amount of data and perform many tasks.</a:t>
            </a:r>
          </a:p>
          <a:p>
            <a:r>
              <a:rPr lang="en-US" dirty="0"/>
              <a:t>Prompt engineering is the process of designing and refining the prompts or input stimuli for a language model to generate specific types of output.</a:t>
            </a:r>
          </a:p>
          <a:p>
            <a:r>
              <a:rPr lang="en-US" dirty="0"/>
              <a:t>AWS offers several generative AI offerings: Amazon Bedrock, AWS </a:t>
            </a:r>
            <a:r>
              <a:rPr lang="en-US" dirty="0" err="1"/>
              <a:t>Inferentia</a:t>
            </a:r>
            <a:r>
              <a:rPr lang="en-US" dirty="0"/>
              <a:t>, AWS </a:t>
            </a:r>
            <a:r>
              <a:rPr lang="en-US" dirty="0" err="1"/>
              <a:t>Trainium</a:t>
            </a:r>
            <a:r>
              <a:rPr lang="en-US" dirty="0"/>
              <a:t>, and Amazon </a:t>
            </a:r>
            <a:r>
              <a:rPr lang="en-US" dirty="0" err="1"/>
              <a:t>SageMaker</a:t>
            </a:r>
            <a:r>
              <a:rPr lang="en-US" dirty="0"/>
              <a:t> JumpStart.</a:t>
            </a:r>
          </a:p>
          <a:p>
            <a:r>
              <a:rPr lang="en-US" dirty="0"/>
              <a:t>Amazon Q Developer is a generative AI tool that will integrate with your IDE and help you develop your application faster</a:t>
            </a:r>
          </a:p>
          <a:p>
            <a:endParaRPr lang="en-US" dirty="0"/>
          </a:p>
          <a:p>
            <a:endParaRPr lang="en-US" dirty="0"/>
          </a:p>
          <a:p>
            <a:endParaRPr lang="en-US" dirty="0"/>
          </a:p>
          <a:p>
            <a:pPr lvl="1"/>
            <a:endParaRPr lang="en-US" dirty="0"/>
          </a:p>
        </p:txBody>
      </p:sp>
      <p:pic>
        <p:nvPicPr>
          <p:cNvPr id="5" name="Content Placeholder 13">
            <a:extLst>
              <a:ext uri="{FF2B5EF4-FFF2-40B4-BE49-F238E27FC236}">
                <a16:creationId xmlns:a16="http://schemas.microsoft.com/office/drawing/2014/main" id="{0BE67EF3-A3F7-407F-819C-0F6A1858E52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
        <p:nvSpPr>
          <p:cNvPr id="2" name="a11y_slide_end" descr="Notes Section.">
            <a:extLst>
              <a:ext uri="{FF2B5EF4-FFF2-40B4-BE49-F238E27FC236}">
                <a16:creationId xmlns:a16="http://schemas.microsoft.com/office/drawing/2014/main" id="{C914A497-D823-43EF-AB31-79E627974823}"/>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8623717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152BA9BC-3E4C-4A76-AA83-B61BCE2DCEB3}"/>
              </a:ext>
            </a:extLst>
          </p:cNvPr>
          <p:cNvSpPr>
            <a:spLocks noGrp="1"/>
          </p:cNvSpPr>
          <p:nvPr>
            <p:ph type="sldNum" idx="97"/>
          </p:nvPr>
        </p:nvSpPr>
        <p:spPr/>
        <p:txBody>
          <a:bodyPr/>
          <a:lstStyle/>
          <a:p>
            <a:fld id="{4037B1B0-0345-4E15-985A-6BECCDBE474F}" type="slidenum">
              <a:rPr lang="en-US" smtClean="0"/>
              <a:pPr/>
              <a:t>30</a:t>
            </a:fld>
            <a:endParaRPr lang="en-US" dirty="0"/>
          </a:p>
        </p:txBody>
      </p:sp>
      <p:sp>
        <p:nvSpPr>
          <p:cNvPr id="6" name="Title">
            <a:extLst>
              <a:ext uri="{FF2B5EF4-FFF2-40B4-BE49-F238E27FC236}">
                <a16:creationId xmlns:a16="http://schemas.microsoft.com/office/drawing/2014/main" id="{A447CAA3-A90F-4D89-A48B-D03B566D0649}"/>
              </a:ext>
            </a:extLst>
          </p:cNvPr>
          <p:cNvSpPr>
            <a:spLocks noGrp="1"/>
          </p:cNvSpPr>
          <p:nvPr>
            <p:ph type="title" idx="1"/>
          </p:nvPr>
        </p:nvSpPr>
        <p:spPr/>
        <p:txBody>
          <a:bodyPr/>
          <a:lstStyle/>
          <a:p>
            <a:r>
              <a:rPr lang="en-US" dirty="0"/>
              <a:t>Module summary</a:t>
            </a:r>
          </a:p>
        </p:txBody>
      </p:sp>
      <p:sp>
        <p:nvSpPr>
          <p:cNvPr id="7" name="Content Placeholder 6">
            <a:extLst>
              <a:ext uri="{FF2B5EF4-FFF2-40B4-BE49-F238E27FC236}">
                <a16:creationId xmlns:a16="http://schemas.microsoft.com/office/drawing/2014/main" id="{4B1EA4C7-AC9B-4737-9B29-085EDC5E7F4A}"/>
              </a:ext>
            </a:extLst>
          </p:cNvPr>
          <p:cNvSpPr>
            <a:spLocks noGrp="1"/>
          </p:cNvSpPr>
          <p:nvPr>
            <p:ph idx="2"/>
          </p:nvPr>
        </p:nvSpPr>
        <p:spPr/>
        <p:txBody>
          <a:bodyPr/>
          <a:lstStyle/>
          <a:p>
            <a:r>
              <a:rPr lang="en-US" dirty="0"/>
              <a:t>In summary this module, you learnt how to:</a:t>
            </a:r>
          </a:p>
          <a:p>
            <a:pPr lvl="1"/>
            <a:r>
              <a:rPr lang="en-US" dirty="0"/>
              <a:t>Define generative artificial intelligence (AI).</a:t>
            </a:r>
          </a:p>
          <a:p>
            <a:pPr lvl="1"/>
            <a:r>
              <a:rPr lang="en-US" dirty="0"/>
              <a:t>Differentiate between traditional machine learning (ML) and generative AI.</a:t>
            </a:r>
          </a:p>
          <a:p>
            <a:pPr lvl="1"/>
            <a:r>
              <a:rPr lang="en-US" dirty="0"/>
              <a:t>Use a foundation model (FM) in a Jupyter notebook to generate an image from text.</a:t>
            </a:r>
          </a:p>
          <a:p>
            <a:pPr lvl="1"/>
            <a:r>
              <a:rPr lang="en-US" dirty="0"/>
              <a:t>Identify the benefits of Amazon Q Developer.</a:t>
            </a:r>
          </a:p>
          <a:p>
            <a:pPr lvl="1"/>
            <a:r>
              <a:rPr lang="en-US" dirty="0"/>
              <a:t>Explain how Amazon Q Developer works with Amazon SageMaker to speed up development of your ML application.</a:t>
            </a:r>
          </a:p>
        </p:txBody>
      </p:sp>
      <p:sp>
        <p:nvSpPr>
          <p:cNvPr id="3" name="a11y_slide_end" descr="Notes Section.">
            <a:extLst>
              <a:ext uri="{FF2B5EF4-FFF2-40B4-BE49-F238E27FC236}">
                <a16:creationId xmlns:a16="http://schemas.microsoft.com/office/drawing/2014/main" id="{731F5FD5-6EE8-4C2D-A8EE-D6A07C45F41F}"/>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4430069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2808B985-8175-427B-B133-0E0C79BBFF50}"/>
              </a:ext>
            </a:extLst>
          </p:cNvPr>
          <p:cNvSpPr>
            <a:spLocks noGrp="1"/>
          </p:cNvSpPr>
          <p:nvPr>
            <p:ph type="sldNum" idx="97"/>
          </p:nvPr>
        </p:nvSpPr>
        <p:spPr/>
        <p:txBody>
          <a:bodyPr/>
          <a:lstStyle/>
          <a:p>
            <a:fld id="{4037B1B0-0345-4E15-985A-6BECCDBE474F}" type="slidenum">
              <a:rPr lang="en-US" smtClean="0"/>
              <a:pPr/>
              <a:t>31</a:t>
            </a:fld>
            <a:endParaRPr lang="en-US" dirty="0"/>
          </a:p>
        </p:txBody>
      </p:sp>
      <p:sp>
        <p:nvSpPr>
          <p:cNvPr id="3" name="Title">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Complete the knowledge check</a:t>
            </a:r>
          </a:p>
        </p:txBody>
      </p:sp>
      <p:pic>
        <p:nvPicPr>
          <p:cNvPr id="6" name="Content Placeholder 5">
            <a:extLst>
              <a:ext uri="{FF2B5EF4-FFF2-40B4-BE49-F238E27FC236}">
                <a16:creationId xmlns:a16="http://schemas.microsoft.com/office/drawing/2014/main" id="{D5A295C3-CCFF-4D74-9E73-CEAD1467EE93}"/>
              </a:ext>
              <a:ext uri="{C183D7F6-B498-43B3-948B-1728B52AA6E4}">
                <adec:decorative xmlns:adec="http://schemas.microsoft.com/office/drawing/2017/decorative" val="1"/>
              </a:ext>
            </a:extLst>
          </p:cNvPr>
          <p:cNvPicPr>
            <a:picLocks noGrp="1" noChangeAspect="1"/>
          </p:cNvPicPr>
          <p:nvPr>
            <p:ph idx="2"/>
          </p:nvPr>
        </p:nvPicPr>
        <p:blipFill>
          <a:blip r:embed="rId4" cstate="screen">
            <a:extLst>
              <a:ext uri="{28A0092B-C50C-407E-A947-70E740481C1C}">
                <a14:useLocalDpi xmlns:a14="http://schemas.microsoft.com/office/drawing/2010/main"/>
              </a:ext>
            </a:extLst>
          </a:blip>
          <a:stretch>
            <a:fillRect/>
          </a:stretch>
        </p:blipFill>
        <p:spPr>
          <a:xfrm>
            <a:off x="2666333" y="1473327"/>
            <a:ext cx="6864096" cy="4578096"/>
          </a:xfrm>
          <a:prstGeom prst="rect">
            <a:avLst/>
          </a:prstGeom>
          <a:ln>
            <a:solidFill>
              <a:schemeClr val="accent1"/>
            </a:solidFill>
          </a:ln>
        </p:spPr>
      </p:pic>
      <p:sp>
        <p:nvSpPr>
          <p:cNvPr id="2" name="a11y_slide_end" descr="Notes Section.">
            <a:extLst>
              <a:ext uri="{FF2B5EF4-FFF2-40B4-BE49-F238E27FC236}">
                <a16:creationId xmlns:a16="http://schemas.microsoft.com/office/drawing/2014/main" id="{4D2B2DCD-D1E4-482C-AB38-EAD6AFE855ED}"/>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7399364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32</a:t>
            </a:fld>
            <a:endParaRPr lang="en-US" dirty="0"/>
          </a:p>
        </p:txBody>
      </p:sp>
      <p:sp>
        <p:nvSpPr>
          <p:cNvPr id="3" name="Title">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Additional resources</a:t>
            </a:r>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lstStyle/>
          <a:p>
            <a:r>
              <a:rPr lang="en-US" dirty="0">
                <a:solidFill>
                  <a:schemeClr val="accent6"/>
                </a:solidFill>
                <a:latin typeface="+mn-lt"/>
                <a:hlinkClick r:id="rId4"/>
              </a:rPr>
              <a:t>Amazon Q </a:t>
            </a:r>
            <a:r>
              <a:rPr lang="en-US" dirty="0" err="1">
                <a:solidFill>
                  <a:schemeClr val="accent6"/>
                </a:solidFill>
                <a:latin typeface="+mn-lt"/>
                <a:hlinkClick r:id="rId4"/>
              </a:rPr>
              <a:t>Devloper</a:t>
            </a:r>
            <a:endParaRPr lang="en-US" dirty="0">
              <a:solidFill>
                <a:schemeClr val="accent6"/>
              </a:solidFill>
              <a:latin typeface="+mn-lt"/>
            </a:endParaRPr>
          </a:p>
          <a:p>
            <a:r>
              <a:rPr lang="en-US" dirty="0">
                <a:solidFill>
                  <a:schemeClr val="accent6"/>
                </a:solidFill>
                <a:latin typeface="+mn-lt"/>
                <a:hlinkClick r:id="rId5"/>
              </a:rPr>
              <a:t>Amazon Bedrock</a:t>
            </a:r>
            <a:endParaRPr lang="en-US" dirty="0">
              <a:solidFill>
                <a:schemeClr val="accent6"/>
              </a:solidFill>
              <a:latin typeface="+mn-lt"/>
            </a:endParaRPr>
          </a:p>
          <a:p>
            <a:r>
              <a:rPr lang="en-US" dirty="0">
                <a:solidFill>
                  <a:schemeClr val="accent6"/>
                </a:solidFill>
                <a:latin typeface="+mn-lt"/>
                <a:hlinkClick r:id="rId6"/>
              </a:rPr>
              <a:t>Amazon SageMaker JumpStart</a:t>
            </a:r>
            <a:endParaRPr lang="en-US" dirty="0">
              <a:solidFill>
                <a:schemeClr val="accent6"/>
              </a:solidFill>
              <a:latin typeface="+mn-lt"/>
            </a:endParaRPr>
          </a:p>
          <a:p>
            <a:r>
              <a:rPr lang="en-US" dirty="0">
                <a:solidFill>
                  <a:schemeClr val="accent6"/>
                </a:solidFill>
                <a:latin typeface="+mn-lt"/>
                <a:hlinkClick r:id="rId7"/>
              </a:rPr>
              <a:t>AWS Inferentia</a:t>
            </a:r>
            <a:endParaRPr lang="en-US" dirty="0">
              <a:solidFill>
                <a:schemeClr val="accent6"/>
              </a:solidFill>
              <a:latin typeface="+mn-lt"/>
            </a:endParaRPr>
          </a:p>
          <a:p>
            <a:r>
              <a:rPr lang="en-US" dirty="0">
                <a:solidFill>
                  <a:schemeClr val="accent6"/>
                </a:solidFill>
                <a:latin typeface="+mn-lt"/>
                <a:hlinkClick r:id="rId8"/>
              </a:rPr>
              <a:t>AWS </a:t>
            </a:r>
            <a:r>
              <a:rPr lang="en-US" dirty="0" err="1">
                <a:solidFill>
                  <a:schemeClr val="accent6"/>
                </a:solidFill>
                <a:latin typeface="+mn-lt"/>
                <a:hlinkClick r:id="rId8"/>
              </a:rPr>
              <a:t>Trainium</a:t>
            </a:r>
            <a:endParaRPr lang="en-US" dirty="0">
              <a:solidFill>
                <a:schemeClr val="accent6"/>
              </a:solidFill>
              <a:latin typeface="+mn-lt"/>
            </a:endParaRPr>
          </a:p>
          <a:p>
            <a:pPr marL="0" indent="0">
              <a:buNone/>
            </a:pPr>
            <a:endParaRPr lang="en-US" dirty="0">
              <a:solidFill>
                <a:schemeClr val="accent6"/>
              </a:solidFill>
              <a:latin typeface="+mn-lt"/>
            </a:endParaRPr>
          </a:p>
        </p:txBody>
      </p:sp>
      <p:sp>
        <p:nvSpPr>
          <p:cNvPr id="5" name="a11y_slide_end" descr="Notes Section.">
            <a:extLst>
              <a:ext uri="{FF2B5EF4-FFF2-40B4-BE49-F238E27FC236}">
                <a16:creationId xmlns:a16="http://schemas.microsoft.com/office/drawing/2014/main" id="{80755AA2-2084-458F-BCA7-E0F64D0E9FC3}"/>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526385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FC7CDECE-42DD-444A-A391-59FC4FA195B0}"/>
              </a:ext>
            </a:extLst>
          </p:cNvPr>
          <p:cNvSpPr>
            <a:spLocks noGrp="1"/>
          </p:cNvSpPr>
          <p:nvPr>
            <p:ph type="sldNum" idx="97"/>
          </p:nvPr>
        </p:nvSpPr>
        <p:spPr/>
        <p:txBody>
          <a:bodyPr/>
          <a:lstStyle/>
          <a:p>
            <a:fld id="{4037B1B0-0345-4E15-985A-6BECCDBE474F}" type="slidenum">
              <a:rPr lang="en-US" smtClean="0"/>
              <a:pPr/>
              <a:t>33</a:t>
            </a:fld>
            <a:endParaRPr lang="en-US" dirty="0"/>
          </a:p>
        </p:txBody>
      </p:sp>
      <p:sp>
        <p:nvSpPr>
          <p:cNvPr id="3" name="Title">
            <a:extLst>
              <a:ext uri="{FF2B5EF4-FFF2-40B4-BE49-F238E27FC236}">
                <a16:creationId xmlns:a16="http://schemas.microsoft.com/office/drawing/2014/main" id="{86DE125D-EF16-4D55-911F-84B4B633C221}"/>
              </a:ext>
            </a:extLst>
          </p:cNvPr>
          <p:cNvSpPr>
            <a:spLocks noGrp="1"/>
          </p:cNvSpPr>
          <p:nvPr>
            <p:ph type="title" idx="1"/>
          </p:nvPr>
        </p:nvSpPr>
        <p:spPr/>
        <p:txBody>
          <a:bodyPr/>
          <a:lstStyle/>
          <a:p>
            <a:r>
              <a:rPr lang="en-US" dirty="0"/>
              <a:t>Thank you</a:t>
            </a:r>
          </a:p>
        </p:txBody>
      </p:sp>
      <p:sp>
        <p:nvSpPr>
          <p:cNvPr id="8" name="Text Placeholder 11">
            <a:extLst>
              <a:ext uri="{FF2B5EF4-FFF2-40B4-BE49-F238E27FC236}">
                <a16:creationId xmlns:a16="http://schemas.microsoft.com/office/drawing/2014/main" id="{42F1ACF1-06C6-4DA7-8E1C-319A1D6E0048}"/>
              </a:ext>
            </a:extLst>
          </p:cNvPr>
          <p:cNvSpPr>
            <a:spLocks noGrp="1"/>
          </p:cNvSpPr>
          <p:nvPr>
            <p:ph type="body" idx="2"/>
          </p:nvPr>
        </p:nvSpPr>
        <p:spPr/>
        <p:txBody>
          <a:bodyPr/>
          <a:lstStyle>
            <a:lvl1pPr marL="0" indent="0">
              <a:lnSpc>
                <a:spcPct val="100000"/>
              </a:lnSpc>
              <a:spcBef>
                <a:spcPts val="0"/>
              </a:spcBef>
              <a:spcAft>
                <a:spcPts val="0"/>
              </a:spcAft>
              <a:buClrTx/>
              <a:buSzTx/>
              <a:buFontTx/>
              <a:buNone/>
              <a:tabLst/>
              <a:defRPr sz="1800">
                <a:solidFill>
                  <a:schemeClr val="bg2"/>
                </a:solidFill>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r>
              <a:rPr lang="en-US" dirty="0">
                <a:solidFill>
                  <a:schemeClr val="bg1"/>
                </a:solidFill>
              </a:rPr>
              <a:t>Corrections, feedback, or other questions?</a:t>
            </a:r>
          </a:p>
          <a:p>
            <a:r>
              <a:rPr lang="en-US" dirty="0">
                <a:solidFill>
                  <a:schemeClr val="bg1"/>
                </a:solidFill>
              </a:rPr>
              <a:t>Contact us at </a:t>
            </a:r>
            <a:r>
              <a:rPr lang="en-US" dirty="0">
                <a:solidFill>
                  <a:schemeClr val="bg1"/>
                </a:solidFill>
                <a:hlinkClick r:id="rId4">
                  <a:extLst>
                    <a:ext uri="{A12FA001-AC4F-418D-AE19-62706E023703}">
                      <ahyp:hlinkClr xmlns:ahyp="http://schemas.microsoft.com/office/drawing/2018/hyperlinkcolor" val="tx"/>
                    </a:ext>
                  </a:extLst>
                </a:hlinkClick>
              </a:rPr>
              <a:t>https://support.aws.amazon.com/#/contacts/aws-academy</a:t>
            </a:r>
            <a:r>
              <a:rPr lang="en-US" dirty="0">
                <a:solidFill>
                  <a:schemeClr val="bg1"/>
                </a:solidFill>
              </a:rPr>
              <a:t>.</a:t>
            </a:r>
          </a:p>
        </p:txBody>
      </p:sp>
      <p:sp>
        <p:nvSpPr>
          <p:cNvPr id="2" name="a11y_slide_end" descr="Notes Section.">
            <a:extLst>
              <a:ext uri="{FF2B5EF4-FFF2-40B4-BE49-F238E27FC236}">
                <a16:creationId xmlns:a16="http://schemas.microsoft.com/office/drawing/2014/main" id="{3F591047-91C1-4F68-8757-22D084A75CD3}"/>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618961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34</a:t>
            </a:fld>
            <a:endParaRPr lang="en-US" dirty="0"/>
          </a:p>
        </p:txBody>
      </p:sp>
      <p:sp>
        <p:nvSpPr>
          <p:cNvPr id="3" name="Title">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Generative AI definition</a:t>
            </a:r>
          </a:p>
        </p:txBody>
      </p:sp>
      <p:sp>
        <p:nvSpPr>
          <p:cNvPr id="21" name="Rectangle: Rounded Corners 20">
            <a:extLst>
              <a:ext uri="{FF2B5EF4-FFF2-40B4-BE49-F238E27FC236}">
                <a16:creationId xmlns:a16="http://schemas.microsoft.com/office/drawing/2014/main" id="{53A5C1B7-EDAA-47EA-8CB0-FFEEAE205BBC}"/>
              </a:ext>
            </a:extLst>
          </p:cNvPr>
          <p:cNvSpPr/>
          <p:nvPr/>
        </p:nvSpPr>
        <p:spPr>
          <a:xfrm>
            <a:off x="5366324" y="1415142"/>
            <a:ext cx="6216076" cy="4955575"/>
          </a:xfrm>
          <a:prstGeom prst="roundRect">
            <a:avLst/>
          </a:prstGeom>
          <a:solidFill>
            <a:schemeClr val="bg2"/>
          </a:solidFill>
          <a:ln>
            <a:noFill/>
          </a:ln>
          <a:effectLst>
            <a:outerShdw blurRad="50800" dist="38100" dir="8100000" algn="tr"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grpSp>
        <p:nvGrpSpPr>
          <p:cNvPr id="6" name="Group 5">
            <a:extLst>
              <a:ext uri="{FF2B5EF4-FFF2-40B4-BE49-F238E27FC236}">
                <a16:creationId xmlns:a16="http://schemas.microsoft.com/office/drawing/2014/main" id="{023B2247-7A7F-4E45-ABFA-3C8B36522859}"/>
              </a:ext>
            </a:extLst>
          </p:cNvPr>
          <p:cNvGrpSpPr/>
          <p:nvPr/>
        </p:nvGrpSpPr>
        <p:grpSpPr>
          <a:xfrm>
            <a:off x="141514" y="990145"/>
            <a:ext cx="5225141" cy="5544459"/>
            <a:chOff x="8806736" y="1671422"/>
            <a:chExt cx="2272919" cy="2272919"/>
          </a:xfrm>
        </p:grpSpPr>
        <p:pic>
          <p:nvPicPr>
            <p:cNvPr id="7" name="Graphic 6">
              <a:extLst>
                <a:ext uri="{FF2B5EF4-FFF2-40B4-BE49-F238E27FC236}">
                  <a16:creationId xmlns:a16="http://schemas.microsoft.com/office/drawing/2014/main" id="{5C211128-653D-4533-A9A2-E031277D54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06736" y="1671422"/>
              <a:ext cx="2272919" cy="2272919"/>
            </a:xfrm>
            <a:prstGeom prst="rect">
              <a:avLst/>
            </a:prstGeom>
          </p:spPr>
        </p:pic>
        <p:pic>
          <p:nvPicPr>
            <p:cNvPr id="9" name="Graphic 8">
              <a:extLst>
                <a:ext uri="{FF2B5EF4-FFF2-40B4-BE49-F238E27FC236}">
                  <a16:creationId xmlns:a16="http://schemas.microsoft.com/office/drawing/2014/main" id="{7A321C9A-D8D1-4ADD-A509-A5C1EFD987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64399" y="2529405"/>
              <a:ext cx="557449" cy="557449"/>
            </a:xfrm>
            <a:prstGeom prst="rect">
              <a:avLst/>
            </a:prstGeom>
          </p:spPr>
        </p:pic>
      </p:grpSp>
      <p:pic>
        <p:nvPicPr>
          <p:cNvPr id="10" name="Graphic 13">
            <a:extLst>
              <a:ext uri="{FF2B5EF4-FFF2-40B4-BE49-F238E27FC236}">
                <a16:creationId xmlns:a16="http://schemas.microsoft.com/office/drawing/2014/main" id="{85C33F1B-0147-46F9-86B4-298674772C6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29266" y="3083071"/>
            <a:ext cx="1276551" cy="902470"/>
          </a:xfrm>
          <a:prstGeom prst="rect">
            <a:avLst/>
          </a:prstGeom>
        </p:spPr>
      </p:pic>
      <p:pic>
        <p:nvPicPr>
          <p:cNvPr id="11" name="Graphic 14">
            <a:extLst>
              <a:ext uri="{FF2B5EF4-FFF2-40B4-BE49-F238E27FC236}">
                <a16:creationId xmlns:a16="http://schemas.microsoft.com/office/drawing/2014/main" id="{E939F173-61FC-442E-9016-B03F7D077BA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482182" y="4753658"/>
            <a:ext cx="1247674" cy="1012962"/>
          </a:xfrm>
          <a:prstGeom prst="rect">
            <a:avLst/>
          </a:prstGeom>
        </p:spPr>
      </p:pic>
      <p:pic>
        <p:nvPicPr>
          <p:cNvPr id="12" name="Picture 11">
            <a:extLst>
              <a:ext uri="{FF2B5EF4-FFF2-40B4-BE49-F238E27FC236}">
                <a16:creationId xmlns:a16="http://schemas.microsoft.com/office/drawing/2014/main" id="{0955EA13-DCCB-4F30-97F9-492DC558AD9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94824" y="2977765"/>
            <a:ext cx="1135032" cy="1135032"/>
          </a:xfrm>
          <a:prstGeom prst="rect">
            <a:avLst/>
          </a:prstGeom>
        </p:spPr>
      </p:pic>
      <p:pic>
        <p:nvPicPr>
          <p:cNvPr id="13" name="Picture 12">
            <a:extLst>
              <a:ext uri="{FF2B5EF4-FFF2-40B4-BE49-F238E27FC236}">
                <a16:creationId xmlns:a16="http://schemas.microsoft.com/office/drawing/2014/main" id="{741099A8-AE7B-4FA1-8C95-313D790D84D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644196" y="1606940"/>
            <a:ext cx="1759040" cy="1143059"/>
          </a:xfrm>
          <a:prstGeom prst="rect">
            <a:avLst/>
          </a:prstGeom>
        </p:spPr>
      </p:pic>
      <p:pic>
        <p:nvPicPr>
          <p:cNvPr id="14" name="Picture 13">
            <a:extLst>
              <a:ext uri="{FF2B5EF4-FFF2-40B4-BE49-F238E27FC236}">
                <a16:creationId xmlns:a16="http://schemas.microsoft.com/office/drawing/2014/main" id="{4505EEB9-E3A1-44B6-A34A-DF273C7A86E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952164" y="4753658"/>
            <a:ext cx="1358192" cy="905462"/>
          </a:xfrm>
          <a:prstGeom prst="rect">
            <a:avLst/>
          </a:prstGeom>
        </p:spPr>
      </p:pic>
      <p:sp>
        <p:nvSpPr>
          <p:cNvPr id="4" name="TextBox 3">
            <a:extLst>
              <a:ext uri="{FF2B5EF4-FFF2-40B4-BE49-F238E27FC236}">
                <a16:creationId xmlns:a16="http://schemas.microsoft.com/office/drawing/2014/main" id="{05ED1CF2-CE21-43B6-8769-560DB9E52E73}"/>
              </a:ext>
            </a:extLst>
          </p:cNvPr>
          <p:cNvSpPr txBox="1"/>
          <p:nvPr/>
        </p:nvSpPr>
        <p:spPr>
          <a:xfrm>
            <a:off x="7872967" y="2682961"/>
            <a:ext cx="1034143" cy="400110"/>
          </a:xfrm>
          <a:prstGeom prst="rect">
            <a:avLst/>
          </a:prstGeom>
          <a:noFill/>
        </p:spPr>
        <p:txBody>
          <a:bodyPr wrap="square" rtlCol="0">
            <a:spAutoFit/>
          </a:bodyPr>
          <a:lstStyle/>
          <a:p>
            <a:r>
              <a:rPr lang="en-US" sz="2000" dirty="0"/>
              <a:t>Stories</a:t>
            </a:r>
          </a:p>
        </p:txBody>
      </p:sp>
      <p:sp>
        <p:nvSpPr>
          <p:cNvPr id="15" name="TextBox 14">
            <a:extLst>
              <a:ext uri="{FF2B5EF4-FFF2-40B4-BE49-F238E27FC236}">
                <a16:creationId xmlns:a16="http://schemas.microsoft.com/office/drawing/2014/main" id="{F712F9D8-6B1A-4CDB-A513-AF91FCAB8A35}"/>
              </a:ext>
            </a:extLst>
          </p:cNvPr>
          <p:cNvSpPr txBox="1"/>
          <p:nvPr/>
        </p:nvSpPr>
        <p:spPr>
          <a:xfrm>
            <a:off x="6051006" y="3982750"/>
            <a:ext cx="1034143" cy="400110"/>
          </a:xfrm>
          <a:prstGeom prst="rect">
            <a:avLst/>
          </a:prstGeom>
          <a:noFill/>
        </p:spPr>
        <p:txBody>
          <a:bodyPr wrap="square" rtlCol="0">
            <a:spAutoFit/>
          </a:bodyPr>
          <a:lstStyle/>
          <a:p>
            <a:r>
              <a:rPr lang="en-US" sz="2000" dirty="0"/>
              <a:t>Images</a:t>
            </a:r>
          </a:p>
        </p:txBody>
      </p:sp>
      <p:sp>
        <p:nvSpPr>
          <p:cNvPr id="16" name="TextBox 15">
            <a:extLst>
              <a:ext uri="{FF2B5EF4-FFF2-40B4-BE49-F238E27FC236}">
                <a16:creationId xmlns:a16="http://schemas.microsoft.com/office/drawing/2014/main" id="{5AF62C3C-545D-4260-B4FC-053C7FD0E5B1}"/>
              </a:ext>
            </a:extLst>
          </p:cNvPr>
          <p:cNvSpPr txBox="1"/>
          <p:nvPr/>
        </p:nvSpPr>
        <p:spPr>
          <a:xfrm>
            <a:off x="9211648" y="4089236"/>
            <a:ext cx="1837352" cy="400110"/>
          </a:xfrm>
          <a:prstGeom prst="rect">
            <a:avLst/>
          </a:prstGeom>
          <a:noFill/>
        </p:spPr>
        <p:txBody>
          <a:bodyPr wrap="square" rtlCol="0">
            <a:spAutoFit/>
          </a:bodyPr>
          <a:lstStyle/>
          <a:p>
            <a:r>
              <a:rPr lang="en-US" sz="2000" dirty="0"/>
              <a:t>Conversations</a:t>
            </a:r>
          </a:p>
        </p:txBody>
      </p:sp>
      <p:sp>
        <p:nvSpPr>
          <p:cNvPr id="17" name="TextBox 16">
            <a:extLst>
              <a:ext uri="{FF2B5EF4-FFF2-40B4-BE49-F238E27FC236}">
                <a16:creationId xmlns:a16="http://schemas.microsoft.com/office/drawing/2014/main" id="{7AC284E4-7BD0-4311-8153-0E60F4395C1E}"/>
              </a:ext>
            </a:extLst>
          </p:cNvPr>
          <p:cNvSpPr txBox="1"/>
          <p:nvPr/>
        </p:nvSpPr>
        <p:spPr>
          <a:xfrm>
            <a:off x="6089159" y="5763811"/>
            <a:ext cx="1034143" cy="400110"/>
          </a:xfrm>
          <a:prstGeom prst="rect">
            <a:avLst/>
          </a:prstGeom>
          <a:noFill/>
        </p:spPr>
        <p:txBody>
          <a:bodyPr wrap="square" rtlCol="0">
            <a:spAutoFit/>
          </a:bodyPr>
          <a:lstStyle/>
          <a:p>
            <a:r>
              <a:rPr lang="en-US" sz="2000" dirty="0"/>
              <a:t>Music</a:t>
            </a:r>
          </a:p>
        </p:txBody>
      </p:sp>
      <p:sp>
        <p:nvSpPr>
          <p:cNvPr id="18" name="TextBox 17">
            <a:extLst>
              <a:ext uri="{FF2B5EF4-FFF2-40B4-BE49-F238E27FC236}">
                <a16:creationId xmlns:a16="http://schemas.microsoft.com/office/drawing/2014/main" id="{990D20EE-2539-484B-9222-DFEEC0B5EB42}"/>
              </a:ext>
            </a:extLst>
          </p:cNvPr>
          <p:cNvSpPr txBox="1"/>
          <p:nvPr/>
        </p:nvSpPr>
        <p:spPr>
          <a:xfrm>
            <a:off x="9645268" y="5826314"/>
            <a:ext cx="1034143" cy="400110"/>
          </a:xfrm>
          <a:prstGeom prst="rect">
            <a:avLst/>
          </a:prstGeom>
          <a:noFill/>
        </p:spPr>
        <p:txBody>
          <a:bodyPr wrap="square" rtlCol="0">
            <a:spAutoFit/>
          </a:bodyPr>
          <a:lstStyle/>
          <a:p>
            <a:r>
              <a:rPr lang="en-US" sz="2000" dirty="0"/>
              <a:t>Videos</a:t>
            </a:r>
          </a:p>
        </p:txBody>
      </p:sp>
      <p:sp>
        <p:nvSpPr>
          <p:cNvPr id="5" name="a11y_slide_end" descr="Notes Section.">
            <a:extLst>
              <a:ext uri="{FF2B5EF4-FFF2-40B4-BE49-F238E27FC236}">
                <a16:creationId xmlns:a16="http://schemas.microsoft.com/office/drawing/2014/main" id="{AD493937-AFCA-4247-BC8B-8D3CA3FB4495}"/>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5668851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153EEDB5-EC56-4042-97F1-D4495DEE5FAE}"/>
              </a:ext>
            </a:extLst>
          </p:cNvPr>
          <p:cNvSpPr>
            <a:spLocks noGrp="1"/>
          </p:cNvSpPr>
          <p:nvPr>
            <p:ph type="sldNum" idx="97"/>
          </p:nvPr>
        </p:nvSpPr>
        <p:spPr/>
        <p:txBody>
          <a:bodyPr/>
          <a:lstStyle/>
          <a:p>
            <a:fld id="{4037B1B0-0345-4E15-985A-6BECCDBE474F}" type="slidenum">
              <a:rPr lang="en-US" smtClean="0"/>
              <a:pPr/>
              <a:t>35</a:t>
            </a:fld>
            <a:endParaRPr lang="en-US" dirty="0"/>
          </a:p>
        </p:txBody>
      </p:sp>
      <p:sp>
        <p:nvSpPr>
          <p:cNvPr id="3" name="Title">
            <a:extLst>
              <a:ext uri="{FF2B5EF4-FFF2-40B4-BE49-F238E27FC236}">
                <a16:creationId xmlns:a16="http://schemas.microsoft.com/office/drawing/2014/main" id="{C9E6DE39-B280-44BD-88CD-9F8C5A435D50}"/>
              </a:ext>
            </a:extLst>
          </p:cNvPr>
          <p:cNvSpPr>
            <a:spLocks noGrp="1"/>
          </p:cNvSpPr>
          <p:nvPr>
            <p:ph type="title" idx="1"/>
          </p:nvPr>
        </p:nvSpPr>
        <p:spPr/>
        <p:txBody>
          <a:bodyPr/>
          <a:lstStyle/>
          <a:p>
            <a:r>
              <a:rPr lang="en-US" dirty="0"/>
              <a:t>Generative AI use cases</a:t>
            </a:r>
          </a:p>
        </p:txBody>
      </p:sp>
      <p:sp>
        <p:nvSpPr>
          <p:cNvPr id="9" name="Rectangle 8">
            <a:extLst>
              <a:ext uri="{FF2B5EF4-FFF2-40B4-BE49-F238E27FC236}">
                <a16:creationId xmlns:a16="http://schemas.microsoft.com/office/drawing/2014/main" id="{EF10EEF4-835D-4AB6-85B9-F48D2E4D59C2}"/>
              </a:ext>
            </a:extLst>
          </p:cNvPr>
          <p:cNvSpPr/>
          <p:nvPr/>
        </p:nvSpPr>
        <p:spPr>
          <a:xfrm rot="5400000">
            <a:off x="-24301" y="2418366"/>
            <a:ext cx="3542219" cy="2670586"/>
          </a:xfrm>
          <a:prstGeom prst="rect">
            <a:avLst/>
          </a:prstGeom>
          <a:noFill/>
          <a:ln w="444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068F57D-44CF-427D-8572-79294E55E66F}"/>
              </a:ext>
            </a:extLst>
          </p:cNvPr>
          <p:cNvSpPr/>
          <p:nvPr/>
        </p:nvSpPr>
        <p:spPr>
          <a:xfrm rot="5400000">
            <a:off x="2858511" y="2427082"/>
            <a:ext cx="3542219" cy="2670586"/>
          </a:xfrm>
          <a:prstGeom prst="rect">
            <a:avLst/>
          </a:prstGeom>
          <a:noFill/>
          <a:ln w="444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8A8F6FC-E853-4614-BA81-E4C38597F9E7}"/>
              </a:ext>
            </a:extLst>
          </p:cNvPr>
          <p:cNvSpPr/>
          <p:nvPr/>
        </p:nvSpPr>
        <p:spPr>
          <a:xfrm rot="5400000">
            <a:off x="5787714" y="2418366"/>
            <a:ext cx="3542219" cy="2670586"/>
          </a:xfrm>
          <a:prstGeom prst="rect">
            <a:avLst/>
          </a:prstGeom>
          <a:noFill/>
          <a:ln w="444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5D9B43B-1DAE-46FB-B0C7-317117337D62}"/>
              </a:ext>
            </a:extLst>
          </p:cNvPr>
          <p:cNvSpPr/>
          <p:nvPr/>
        </p:nvSpPr>
        <p:spPr>
          <a:xfrm rot="5400000">
            <a:off x="8674084" y="2404502"/>
            <a:ext cx="3542219" cy="2670586"/>
          </a:xfrm>
          <a:prstGeom prst="rect">
            <a:avLst/>
          </a:prstGeom>
          <a:noFill/>
          <a:ln w="444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A0434BCB-DCC7-4520-8895-A2A22B02BB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37970" y="2163220"/>
            <a:ext cx="2204206" cy="2204206"/>
          </a:xfrm>
          <a:prstGeom prst="rect">
            <a:avLst/>
          </a:prstGeom>
        </p:spPr>
      </p:pic>
      <p:pic>
        <p:nvPicPr>
          <p:cNvPr id="15" name="Graphic 14" descr="DNA Annotate Differences">
            <a:extLst>
              <a:ext uri="{FF2B5EF4-FFF2-40B4-BE49-F238E27FC236}">
                <a16:creationId xmlns:a16="http://schemas.microsoft.com/office/drawing/2014/main" id="{226A764B-5217-425D-9512-EFD63CF89B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43341" y="2163722"/>
            <a:ext cx="2203704" cy="2203704"/>
          </a:xfrm>
          <a:prstGeom prst="rect">
            <a:avLst/>
          </a:prstGeom>
        </p:spPr>
      </p:pic>
      <p:pic>
        <p:nvPicPr>
          <p:cNvPr id="16" name="Graphic 15" descr="Backpack robot">
            <a:extLst>
              <a:ext uri="{FF2B5EF4-FFF2-40B4-BE49-F238E27FC236}">
                <a16:creationId xmlns:a16="http://schemas.microsoft.com/office/drawing/2014/main" id="{0E857656-11BE-43E5-91EF-A70D7FA077E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1761" y="2163220"/>
            <a:ext cx="2203704" cy="2203704"/>
          </a:xfrm>
          <a:prstGeom prst="rect">
            <a:avLst/>
          </a:prstGeom>
        </p:spPr>
      </p:pic>
      <p:pic>
        <p:nvPicPr>
          <p:cNvPr id="17" name="Graphic 16" descr="Train Models">
            <a:extLst>
              <a:ext uri="{FF2B5EF4-FFF2-40B4-BE49-F238E27FC236}">
                <a16:creationId xmlns:a16="http://schemas.microsoft.com/office/drawing/2014/main" id="{B8D2D097-BC75-4135-AD15-CE374474C44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56971" y="2163220"/>
            <a:ext cx="2203704" cy="2203704"/>
          </a:xfrm>
          <a:prstGeom prst="rect">
            <a:avLst/>
          </a:prstGeom>
        </p:spPr>
      </p:pic>
      <p:sp>
        <p:nvSpPr>
          <p:cNvPr id="18" name="TextBox 17">
            <a:extLst>
              <a:ext uri="{FF2B5EF4-FFF2-40B4-BE49-F238E27FC236}">
                <a16:creationId xmlns:a16="http://schemas.microsoft.com/office/drawing/2014/main" id="{988E6088-774D-4DE1-A20D-F3894D6D5489}"/>
              </a:ext>
            </a:extLst>
          </p:cNvPr>
          <p:cNvSpPr txBox="1"/>
          <p:nvPr/>
        </p:nvSpPr>
        <p:spPr>
          <a:xfrm>
            <a:off x="493959" y="4366924"/>
            <a:ext cx="2451666" cy="707886"/>
          </a:xfrm>
          <a:prstGeom prst="rect">
            <a:avLst/>
          </a:prstGeom>
          <a:noFill/>
        </p:spPr>
        <p:txBody>
          <a:bodyPr wrap="square" rtlCol="0">
            <a:spAutoFit/>
          </a:bodyPr>
          <a:lstStyle/>
          <a:p>
            <a:pPr algn="ctr"/>
            <a:r>
              <a:rPr lang="en-US" sz="2000" dirty="0"/>
              <a:t>Enhance customer experiences</a:t>
            </a:r>
          </a:p>
        </p:txBody>
      </p:sp>
      <p:sp>
        <p:nvSpPr>
          <p:cNvPr id="20" name="TextBox 19">
            <a:extLst>
              <a:ext uri="{FF2B5EF4-FFF2-40B4-BE49-F238E27FC236}">
                <a16:creationId xmlns:a16="http://schemas.microsoft.com/office/drawing/2014/main" id="{53FCCD89-ADDE-49AE-A027-3FC8AE26D243}"/>
              </a:ext>
            </a:extLst>
          </p:cNvPr>
          <p:cNvSpPr txBox="1"/>
          <p:nvPr/>
        </p:nvSpPr>
        <p:spPr>
          <a:xfrm>
            <a:off x="3431642" y="4366924"/>
            <a:ext cx="2451666" cy="707886"/>
          </a:xfrm>
          <a:prstGeom prst="rect">
            <a:avLst/>
          </a:prstGeom>
          <a:noFill/>
        </p:spPr>
        <p:txBody>
          <a:bodyPr wrap="square" rtlCol="0">
            <a:spAutoFit/>
          </a:bodyPr>
          <a:lstStyle/>
          <a:p>
            <a:pPr algn="ctr"/>
            <a:r>
              <a:rPr lang="en-US" sz="2000" dirty="0"/>
              <a:t>Boost employee productivity</a:t>
            </a:r>
          </a:p>
        </p:txBody>
      </p:sp>
      <p:sp>
        <p:nvSpPr>
          <p:cNvPr id="21" name="TextBox 20">
            <a:extLst>
              <a:ext uri="{FF2B5EF4-FFF2-40B4-BE49-F238E27FC236}">
                <a16:creationId xmlns:a16="http://schemas.microsoft.com/office/drawing/2014/main" id="{BB990251-6D9F-4B18-BCB0-2584F719069F}"/>
              </a:ext>
            </a:extLst>
          </p:cNvPr>
          <p:cNvSpPr txBox="1"/>
          <p:nvPr/>
        </p:nvSpPr>
        <p:spPr>
          <a:xfrm>
            <a:off x="6369325" y="4366924"/>
            <a:ext cx="2327685" cy="707886"/>
          </a:xfrm>
          <a:prstGeom prst="rect">
            <a:avLst/>
          </a:prstGeom>
          <a:noFill/>
        </p:spPr>
        <p:txBody>
          <a:bodyPr wrap="square" rtlCol="0">
            <a:spAutoFit/>
          </a:bodyPr>
          <a:lstStyle/>
          <a:p>
            <a:pPr algn="ctr"/>
            <a:r>
              <a:rPr lang="en-US" sz="2000" dirty="0"/>
              <a:t>Optimize processes</a:t>
            </a:r>
          </a:p>
        </p:txBody>
      </p:sp>
      <p:sp>
        <p:nvSpPr>
          <p:cNvPr id="22" name="TextBox 21">
            <a:extLst>
              <a:ext uri="{FF2B5EF4-FFF2-40B4-BE49-F238E27FC236}">
                <a16:creationId xmlns:a16="http://schemas.microsoft.com/office/drawing/2014/main" id="{E9B5EF90-C608-470E-A684-481232D8688F}"/>
              </a:ext>
            </a:extLst>
          </p:cNvPr>
          <p:cNvSpPr txBox="1"/>
          <p:nvPr/>
        </p:nvSpPr>
        <p:spPr>
          <a:xfrm>
            <a:off x="9183027" y="4366924"/>
            <a:ext cx="2451666" cy="1015663"/>
          </a:xfrm>
          <a:prstGeom prst="rect">
            <a:avLst/>
          </a:prstGeom>
          <a:noFill/>
        </p:spPr>
        <p:txBody>
          <a:bodyPr wrap="square" rtlCol="0">
            <a:spAutoFit/>
          </a:bodyPr>
          <a:lstStyle/>
          <a:p>
            <a:pPr algn="ctr"/>
            <a:r>
              <a:rPr lang="en-US" sz="2000" dirty="0"/>
              <a:t>Enhance creativity and content creation</a:t>
            </a:r>
          </a:p>
        </p:txBody>
      </p:sp>
      <p:sp>
        <p:nvSpPr>
          <p:cNvPr id="4" name="a11y_slide_end" descr="Notes Section.">
            <a:extLst>
              <a:ext uri="{FF2B5EF4-FFF2-40B4-BE49-F238E27FC236}">
                <a16:creationId xmlns:a16="http://schemas.microsoft.com/office/drawing/2014/main" id="{8BA0D569-0779-49A0-BE2A-51B7F0DDD325}"/>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3092511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FAF38774-BADB-46DF-90F9-D80C28498360}"/>
              </a:ext>
            </a:extLst>
          </p:cNvPr>
          <p:cNvSpPr>
            <a:spLocks noGrp="1"/>
          </p:cNvSpPr>
          <p:nvPr>
            <p:ph type="sldNum" idx="97"/>
          </p:nvPr>
        </p:nvSpPr>
        <p:spPr/>
        <p:txBody>
          <a:bodyPr/>
          <a:lstStyle/>
          <a:p>
            <a:fld id="{4037B1B0-0345-4E15-985A-6BECCDBE474F}" type="slidenum">
              <a:rPr lang="en-US" smtClean="0"/>
              <a:pPr/>
              <a:t>36</a:t>
            </a:fld>
            <a:endParaRPr lang="en-US" dirty="0"/>
          </a:p>
        </p:txBody>
      </p:sp>
      <p:sp>
        <p:nvSpPr>
          <p:cNvPr id="3" name="Title">
            <a:extLst>
              <a:ext uri="{FF2B5EF4-FFF2-40B4-BE49-F238E27FC236}">
                <a16:creationId xmlns:a16="http://schemas.microsoft.com/office/drawing/2014/main" id="{F32A1913-C987-4B6D-8457-0349541E7AFE}"/>
              </a:ext>
            </a:extLst>
          </p:cNvPr>
          <p:cNvSpPr>
            <a:spLocks noGrp="1"/>
          </p:cNvSpPr>
          <p:nvPr>
            <p:ph type="title" idx="1"/>
          </p:nvPr>
        </p:nvSpPr>
        <p:spPr/>
        <p:txBody>
          <a:bodyPr/>
          <a:lstStyle/>
          <a:p>
            <a:r>
              <a:rPr lang="en-US" dirty="0"/>
              <a:t>Benefits of using AWS for generative AI</a:t>
            </a:r>
          </a:p>
        </p:txBody>
      </p:sp>
      <p:sp>
        <p:nvSpPr>
          <p:cNvPr id="6" name="Rectangle 5">
            <a:extLst>
              <a:ext uri="{FF2B5EF4-FFF2-40B4-BE49-F238E27FC236}">
                <a16:creationId xmlns:a16="http://schemas.microsoft.com/office/drawing/2014/main" id="{1C90D2E5-3A28-474C-8AA7-9229A840693E}"/>
              </a:ext>
            </a:extLst>
          </p:cNvPr>
          <p:cNvSpPr/>
          <p:nvPr/>
        </p:nvSpPr>
        <p:spPr>
          <a:xfrm rot="5400000">
            <a:off x="-191736" y="2668927"/>
            <a:ext cx="3291090" cy="2186895"/>
          </a:xfrm>
          <a:prstGeom prst="rect">
            <a:avLst/>
          </a:prstGeom>
          <a:noFill/>
          <a:ln w="444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CBB32DC-171B-4994-830A-3E747BC2BCE1}"/>
              </a:ext>
            </a:extLst>
          </p:cNvPr>
          <p:cNvSpPr/>
          <p:nvPr/>
        </p:nvSpPr>
        <p:spPr>
          <a:xfrm rot="5400000">
            <a:off x="2137806" y="2668927"/>
            <a:ext cx="3291091" cy="2186895"/>
          </a:xfrm>
          <a:prstGeom prst="rect">
            <a:avLst/>
          </a:prstGeom>
          <a:noFill/>
          <a:ln w="444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AEAD1FD9-2504-493A-BA66-663B559BB3A8}"/>
              </a:ext>
            </a:extLst>
          </p:cNvPr>
          <p:cNvSpPr/>
          <p:nvPr/>
        </p:nvSpPr>
        <p:spPr>
          <a:xfrm rot="5400000">
            <a:off x="4448072" y="2668926"/>
            <a:ext cx="3291090" cy="2186895"/>
          </a:xfrm>
          <a:prstGeom prst="rect">
            <a:avLst/>
          </a:prstGeom>
          <a:noFill/>
          <a:ln w="444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B596DF2-60AA-4F80-B348-DBFA16C4CAF1}"/>
              </a:ext>
            </a:extLst>
          </p:cNvPr>
          <p:cNvSpPr/>
          <p:nvPr/>
        </p:nvSpPr>
        <p:spPr>
          <a:xfrm rot="5400000">
            <a:off x="6758337" y="2668927"/>
            <a:ext cx="3291090" cy="2186895"/>
          </a:xfrm>
          <a:prstGeom prst="rect">
            <a:avLst/>
          </a:prstGeom>
          <a:noFill/>
          <a:ln w="444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159E3B2-009A-4ABB-91AC-BC66F01C9BD9}"/>
              </a:ext>
            </a:extLst>
          </p:cNvPr>
          <p:cNvSpPr/>
          <p:nvPr/>
        </p:nvSpPr>
        <p:spPr>
          <a:xfrm rot="5400000">
            <a:off x="9087882" y="2668926"/>
            <a:ext cx="3291090" cy="2186895"/>
          </a:xfrm>
          <a:prstGeom prst="rect">
            <a:avLst/>
          </a:prstGeom>
          <a:noFill/>
          <a:ln w="444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C163DCED-F0F2-47E9-A9AB-04C7266F30C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354" y="2474917"/>
            <a:ext cx="1653646" cy="1653646"/>
          </a:xfrm>
          <a:prstGeom prst="rect">
            <a:avLst/>
          </a:prstGeom>
        </p:spPr>
      </p:pic>
      <p:sp>
        <p:nvSpPr>
          <p:cNvPr id="4" name="TextBox 3">
            <a:extLst>
              <a:ext uri="{FF2B5EF4-FFF2-40B4-BE49-F238E27FC236}">
                <a16:creationId xmlns:a16="http://schemas.microsoft.com/office/drawing/2014/main" id="{89ED7499-9142-4395-B196-F9357AFB06E1}"/>
              </a:ext>
            </a:extLst>
          </p:cNvPr>
          <p:cNvSpPr txBox="1"/>
          <p:nvPr/>
        </p:nvSpPr>
        <p:spPr>
          <a:xfrm>
            <a:off x="719706" y="4309309"/>
            <a:ext cx="1556657" cy="400110"/>
          </a:xfrm>
          <a:prstGeom prst="rect">
            <a:avLst/>
          </a:prstGeom>
          <a:noFill/>
        </p:spPr>
        <p:txBody>
          <a:bodyPr wrap="square" rtlCol="0">
            <a:spAutoFit/>
          </a:bodyPr>
          <a:lstStyle/>
          <a:p>
            <a:r>
              <a:rPr lang="en-US" sz="2000" dirty="0"/>
              <a:t>Flexibility</a:t>
            </a:r>
          </a:p>
        </p:txBody>
      </p:sp>
      <p:sp>
        <p:nvSpPr>
          <p:cNvPr id="14" name="TextBox 13">
            <a:extLst>
              <a:ext uri="{FF2B5EF4-FFF2-40B4-BE49-F238E27FC236}">
                <a16:creationId xmlns:a16="http://schemas.microsoft.com/office/drawing/2014/main" id="{DCC268A6-0C3D-44F7-AC13-6A80248D44E7}"/>
              </a:ext>
            </a:extLst>
          </p:cNvPr>
          <p:cNvSpPr txBox="1"/>
          <p:nvPr/>
        </p:nvSpPr>
        <p:spPr>
          <a:xfrm>
            <a:off x="2645345" y="4309309"/>
            <a:ext cx="2186895" cy="707886"/>
          </a:xfrm>
          <a:prstGeom prst="rect">
            <a:avLst/>
          </a:prstGeom>
          <a:noFill/>
        </p:spPr>
        <p:txBody>
          <a:bodyPr wrap="square" rtlCol="0">
            <a:spAutoFit/>
          </a:bodyPr>
          <a:lstStyle/>
          <a:p>
            <a:pPr algn="ctr"/>
            <a:r>
              <a:rPr lang="en-US" sz="2000" dirty="0"/>
              <a:t>Secure customization</a:t>
            </a:r>
          </a:p>
        </p:txBody>
      </p:sp>
      <p:sp>
        <p:nvSpPr>
          <p:cNvPr id="15" name="TextBox 14">
            <a:extLst>
              <a:ext uri="{FF2B5EF4-FFF2-40B4-BE49-F238E27FC236}">
                <a16:creationId xmlns:a16="http://schemas.microsoft.com/office/drawing/2014/main" id="{04C4B6E0-B32F-44D7-9216-26AC0EBAF312}"/>
              </a:ext>
            </a:extLst>
          </p:cNvPr>
          <p:cNvSpPr txBox="1"/>
          <p:nvPr/>
        </p:nvSpPr>
        <p:spPr>
          <a:xfrm>
            <a:off x="4879409" y="4309308"/>
            <a:ext cx="2298019" cy="707886"/>
          </a:xfrm>
          <a:prstGeom prst="rect">
            <a:avLst/>
          </a:prstGeom>
          <a:noFill/>
        </p:spPr>
        <p:txBody>
          <a:bodyPr wrap="square" rtlCol="0">
            <a:spAutoFit/>
          </a:bodyPr>
          <a:lstStyle/>
          <a:p>
            <a:pPr algn="ctr"/>
            <a:r>
              <a:rPr lang="en-US" sz="2000" dirty="0"/>
              <a:t>Cost-effective infrastructure</a:t>
            </a:r>
          </a:p>
        </p:txBody>
      </p:sp>
      <p:sp>
        <p:nvSpPr>
          <p:cNvPr id="16" name="TextBox 15">
            <a:extLst>
              <a:ext uri="{FF2B5EF4-FFF2-40B4-BE49-F238E27FC236}">
                <a16:creationId xmlns:a16="http://schemas.microsoft.com/office/drawing/2014/main" id="{28707B24-2009-4565-B765-E83D713EAE63}"/>
              </a:ext>
            </a:extLst>
          </p:cNvPr>
          <p:cNvSpPr txBox="1"/>
          <p:nvPr/>
        </p:nvSpPr>
        <p:spPr>
          <a:xfrm>
            <a:off x="7432672" y="4309308"/>
            <a:ext cx="1923145" cy="707886"/>
          </a:xfrm>
          <a:prstGeom prst="rect">
            <a:avLst/>
          </a:prstGeom>
          <a:noFill/>
        </p:spPr>
        <p:txBody>
          <a:bodyPr wrap="square" rtlCol="0">
            <a:spAutoFit/>
          </a:bodyPr>
          <a:lstStyle/>
          <a:p>
            <a:pPr algn="ctr"/>
            <a:r>
              <a:rPr lang="en-US" sz="2000" dirty="0"/>
              <a:t>Builder friendliness</a:t>
            </a:r>
          </a:p>
        </p:txBody>
      </p:sp>
      <p:sp>
        <p:nvSpPr>
          <p:cNvPr id="17" name="TextBox 16">
            <a:extLst>
              <a:ext uri="{FF2B5EF4-FFF2-40B4-BE49-F238E27FC236}">
                <a16:creationId xmlns:a16="http://schemas.microsoft.com/office/drawing/2014/main" id="{00F92D71-2B1D-4E16-B4BD-AF1593B49F9A}"/>
              </a:ext>
            </a:extLst>
          </p:cNvPr>
          <p:cNvSpPr txBox="1"/>
          <p:nvPr/>
        </p:nvSpPr>
        <p:spPr>
          <a:xfrm>
            <a:off x="9619568" y="4309309"/>
            <a:ext cx="2186895" cy="400110"/>
          </a:xfrm>
          <a:prstGeom prst="rect">
            <a:avLst/>
          </a:prstGeom>
          <a:noFill/>
        </p:spPr>
        <p:txBody>
          <a:bodyPr wrap="square" rtlCol="0">
            <a:spAutoFit/>
          </a:bodyPr>
          <a:lstStyle/>
          <a:p>
            <a:pPr algn="ctr"/>
            <a:r>
              <a:rPr lang="en-US" sz="2000" dirty="0"/>
              <a:t>AWS services</a:t>
            </a:r>
          </a:p>
        </p:txBody>
      </p:sp>
      <p:pic>
        <p:nvPicPr>
          <p:cNvPr id="18" name="Graphic 17">
            <a:extLst>
              <a:ext uri="{FF2B5EF4-FFF2-40B4-BE49-F238E27FC236}">
                <a16:creationId xmlns:a16="http://schemas.microsoft.com/office/drawing/2014/main" id="{70AABBD3-3505-4334-85E3-D3760A585C9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10523" y="2484214"/>
            <a:ext cx="1655064" cy="1655064"/>
          </a:xfrm>
          <a:prstGeom prst="rect">
            <a:avLst/>
          </a:prstGeom>
        </p:spPr>
      </p:pic>
      <p:pic>
        <p:nvPicPr>
          <p:cNvPr id="19" name="Graphic 18">
            <a:extLst>
              <a:ext uri="{FF2B5EF4-FFF2-40B4-BE49-F238E27FC236}">
                <a16:creationId xmlns:a16="http://schemas.microsoft.com/office/drawing/2014/main" id="{CCB237A1-2E1C-4160-A70A-AA2687D69A5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76349" y="2473499"/>
            <a:ext cx="1655064" cy="1655064"/>
          </a:xfrm>
          <a:prstGeom prst="rect">
            <a:avLst/>
          </a:prstGeom>
        </p:spPr>
      </p:pic>
      <p:pic>
        <p:nvPicPr>
          <p:cNvPr id="21" name="Picture 20">
            <a:extLst>
              <a:ext uri="{FF2B5EF4-FFF2-40B4-BE49-F238E27FC236}">
                <a16:creationId xmlns:a16="http://schemas.microsoft.com/office/drawing/2014/main" id="{46F847F6-C40F-4698-9246-AB8F0DA252C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955819" y="2484214"/>
            <a:ext cx="1655064" cy="1655064"/>
          </a:xfrm>
          <a:prstGeom prst="rect">
            <a:avLst/>
          </a:prstGeom>
        </p:spPr>
      </p:pic>
      <p:pic>
        <p:nvPicPr>
          <p:cNvPr id="22" name="Graphic 21">
            <a:extLst>
              <a:ext uri="{FF2B5EF4-FFF2-40B4-BE49-F238E27FC236}">
                <a16:creationId xmlns:a16="http://schemas.microsoft.com/office/drawing/2014/main" id="{D7EEC16A-46E4-4FE3-B694-86F86F12D69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904582" y="2484214"/>
            <a:ext cx="1655064" cy="1655064"/>
          </a:xfrm>
          <a:prstGeom prst="rect">
            <a:avLst/>
          </a:prstGeom>
        </p:spPr>
      </p:pic>
      <p:sp>
        <p:nvSpPr>
          <p:cNvPr id="5" name="a11y_slide_end" descr="Notes Section.">
            <a:extLst>
              <a:ext uri="{FF2B5EF4-FFF2-40B4-BE49-F238E27FC236}">
                <a16:creationId xmlns:a16="http://schemas.microsoft.com/office/drawing/2014/main" id="{BE872F11-D1A5-4FC8-A3A8-7A85CD9E0AE2}"/>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9302520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170CC42-A6B6-4A25-B6F0-394711CC9888}"/>
              </a:ext>
            </a:extLst>
          </p:cNvPr>
          <p:cNvSpPr>
            <a:spLocks noGrp="1"/>
          </p:cNvSpPr>
          <p:nvPr>
            <p:ph type="sldNum" idx="97"/>
          </p:nvPr>
        </p:nvSpPr>
        <p:spPr/>
        <p:txBody>
          <a:bodyPr/>
          <a:lstStyle/>
          <a:p>
            <a:fld id="{4037B1B0-0345-4E15-985A-6BECCDBE474F}" type="slidenum">
              <a:rPr lang="en-US" smtClean="0"/>
              <a:pPr/>
              <a:t>37</a:t>
            </a:fld>
            <a:endParaRPr lang="en-US" dirty="0"/>
          </a:p>
        </p:txBody>
      </p:sp>
      <p:sp>
        <p:nvSpPr>
          <p:cNvPr id="7" name="Title">
            <a:extLst>
              <a:ext uri="{FF2B5EF4-FFF2-40B4-BE49-F238E27FC236}">
                <a16:creationId xmlns:a16="http://schemas.microsoft.com/office/drawing/2014/main" id="{CAEB534A-9592-4E8B-B3B6-47467F0EE977}"/>
              </a:ext>
            </a:extLst>
          </p:cNvPr>
          <p:cNvSpPr>
            <a:spLocks noGrp="1"/>
          </p:cNvSpPr>
          <p:nvPr>
            <p:ph type="title" idx="1"/>
          </p:nvPr>
        </p:nvSpPr>
        <p:spPr/>
        <p:txBody>
          <a:bodyPr/>
          <a:lstStyle/>
          <a:p>
            <a:r>
              <a:rPr lang="en-US" dirty="0"/>
              <a:t>What are FMs?</a:t>
            </a:r>
          </a:p>
        </p:txBody>
      </p:sp>
      <p:pic>
        <p:nvPicPr>
          <p:cNvPr id="5" name="Content Placeholder 4">
            <a:extLst>
              <a:ext uri="{FF2B5EF4-FFF2-40B4-BE49-F238E27FC236}">
                <a16:creationId xmlns:a16="http://schemas.microsoft.com/office/drawing/2014/main" id="{88E5972A-A74F-42AE-B80B-1627B61478B0}"/>
              </a:ext>
              <a:ext uri="{C183D7F6-B498-43B3-948B-1728B52AA6E4}">
                <adec:decorative xmlns:adec="http://schemas.microsoft.com/office/drawing/2017/decorative" val="1"/>
              </a:ext>
            </a:extLst>
          </p:cNvPr>
          <p:cNvPicPr>
            <a:picLocks noGrp="1" noChangeAspect="1"/>
          </p:cNvPicPr>
          <p:nvPr>
            <p:ph idx="2"/>
          </p:nvPr>
        </p:nvPicPr>
        <p:blipFill>
          <a:blip r:embed="rId4">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809227" y="1329753"/>
            <a:ext cx="10950639" cy="4685644"/>
          </a:xfrm>
        </p:spPr>
      </p:pic>
      <p:grpSp>
        <p:nvGrpSpPr>
          <p:cNvPr id="22" name="Group 21">
            <a:extLst>
              <a:ext uri="{FF2B5EF4-FFF2-40B4-BE49-F238E27FC236}">
                <a16:creationId xmlns:a16="http://schemas.microsoft.com/office/drawing/2014/main" id="{CECDD61B-F688-43A0-81D6-294DD081D4DA}"/>
              </a:ext>
            </a:extLst>
          </p:cNvPr>
          <p:cNvGrpSpPr/>
          <p:nvPr/>
        </p:nvGrpSpPr>
        <p:grpSpPr>
          <a:xfrm>
            <a:off x="6534057" y="1272899"/>
            <a:ext cx="1790700" cy="4988258"/>
            <a:chOff x="2834640" y="-4791730"/>
            <a:chExt cx="1790700" cy="4988258"/>
          </a:xfrm>
        </p:grpSpPr>
        <p:sp>
          <p:nvSpPr>
            <p:cNvPr id="20" name="Rectangle 19">
              <a:extLst>
                <a:ext uri="{FF2B5EF4-FFF2-40B4-BE49-F238E27FC236}">
                  <a16:creationId xmlns:a16="http://schemas.microsoft.com/office/drawing/2014/main" id="{13409205-6CBE-4360-A2E8-57F5B8F0429D}"/>
                </a:ext>
              </a:extLst>
            </p:cNvPr>
            <p:cNvSpPr/>
            <p:nvPr/>
          </p:nvSpPr>
          <p:spPr>
            <a:xfrm>
              <a:off x="2834640" y="-4791730"/>
              <a:ext cx="1790700" cy="49882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E5DFDE1-7364-4BB6-98CD-BAB99C4AC171}"/>
                </a:ext>
              </a:extLst>
            </p:cNvPr>
            <p:cNvSpPr txBox="1"/>
            <p:nvPr/>
          </p:nvSpPr>
          <p:spPr>
            <a:xfrm>
              <a:off x="2952719" y="-1274483"/>
              <a:ext cx="1577340" cy="707886"/>
            </a:xfrm>
            <a:prstGeom prst="rect">
              <a:avLst/>
            </a:prstGeom>
            <a:noFill/>
          </p:spPr>
          <p:txBody>
            <a:bodyPr wrap="square" rtlCol="0">
              <a:spAutoFit/>
            </a:bodyPr>
            <a:lstStyle/>
            <a:p>
              <a:r>
                <a:rPr lang="en-US" sz="2000" dirty="0"/>
                <a:t>Chatbot interactions</a:t>
              </a:r>
            </a:p>
          </p:txBody>
        </p:sp>
      </p:grpSp>
      <p:sp>
        <p:nvSpPr>
          <p:cNvPr id="25" name="TextBox 24">
            <a:extLst>
              <a:ext uri="{FF2B5EF4-FFF2-40B4-BE49-F238E27FC236}">
                <a16:creationId xmlns:a16="http://schemas.microsoft.com/office/drawing/2014/main" id="{E589A1A3-192C-4D5B-A9A8-ACD6E74A7E00}"/>
              </a:ext>
            </a:extLst>
          </p:cNvPr>
          <p:cNvSpPr txBox="1"/>
          <p:nvPr/>
        </p:nvSpPr>
        <p:spPr>
          <a:xfrm>
            <a:off x="6687976" y="3075057"/>
            <a:ext cx="1577340" cy="707886"/>
          </a:xfrm>
          <a:prstGeom prst="rect">
            <a:avLst/>
          </a:prstGeom>
          <a:noFill/>
        </p:spPr>
        <p:txBody>
          <a:bodyPr wrap="square" rtlCol="0">
            <a:spAutoFit/>
          </a:bodyPr>
          <a:lstStyle/>
          <a:p>
            <a:r>
              <a:rPr lang="en-US" sz="2000" dirty="0"/>
              <a:t>Information extraction</a:t>
            </a:r>
          </a:p>
        </p:txBody>
      </p:sp>
      <p:sp>
        <p:nvSpPr>
          <p:cNvPr id="31" name="TextBox 30">
            <a:extLst>
              <a:ext uri="{FF2B5EF4-FFF2-40B4-BE49-F238E27FC236}">
                <a16:creationId xmlns:a16="http://schemas.microsoft.com/office/drawing/2014/main" id="{FD663ABD-E38D-47D0-896F-7B2E35F1DCDC}"/>
              </a:ext>
            </a:extLst>
          </p:cNvPr>
          <p:cNvSpPr txBox="1"/>
          <p:nvPr/>
        </p:nvSpPr>
        <p:spPr>
          <a:xfrm>
            <a:off x="6687976" y="1509627"/>
            <a:ext cx="1577340" cy="707886"/>
          </a:xfrm>
          <a:prstGeom prst="rect">
            <a:avLst/>
          </a:prstGeom>
          <a:noFill/>
        </p:spPr>
        <p:txBody>
          <a:bodyPr wrap="square" rtlCol="0">
            <a:spAutoFit/>
          </a:bodyPr>
          <a:lstStyle/>
          <a:p>
            <a:r>
              <a:rPr lang="en-US" sz="2000" dirty="0"/>
              <a:t>Text generation</a:t>
            </a:r>
          </a:p>
        </p:txBody>
      </p:sp>
      <p:sp>
        <p:nvSpPr>
          <p:cNvPr id="37" name="Rectangle 36">
            <a:extLst>
              <a:ext uri="{FF2B5EF4-FFF2-40B4-BE49-F238E27FC236}">
                <a16:creationId xmlns:a16="http://schemas.microsoft.com/office/drawing/2014/main" id="{E93911F8-BE1A-4D9A-904D-F6A7A602D8B6}"/>
              </a:ext>
            </a:extLst>
          </p:cNvPr>
          <p:cNvSpPr/>
          <p:nvPr/>
        </p:nvSpPr>
        <p:spPr>
          <a:xfrm>
            <a:off x="9805432" y="3175014"/>
            <a:ext cx="2093214" cy="707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3588BF99-61B3-46D7-A66C-05CBFF766917}"/>
              </a:ext>
            </a:extLst>
          </p:cNvPr>
          <p:cNvSpPr txBox="1"/>
          <p:nvPr/>
        </p:nvSpPr>
        <p:spPr>
          <a:xfrm>
            <a:off x="9929793" y="2978494"/>
            <a:ext cx="1577340" cy="707886"/>
          </a:xfrm>
          <a:prstGeom prst="rect">
            <a:avLst/>
          </a:prstGeom>
          <a:solidFill>
            <a:schemeClr val="bg1"/>
          </a:solidFill>
        </p:spPr>
        <p:txBody>
          <a:bodyPr wrap="square" rtlCol="0">
            <a:spAutoFit/>
          </a:bodyPr>
          <a:lstStyle/>
          <a:p>
            <a:r>
              <a:rPr lang="en-US" sz="2000" dirty="0"/>
              <a:t>Q&amp;A responses</a:t>
            </a:r>
          </a:p>
        </p:txBody>
      </p:sp>
      <p:sp>
        <p:nvSpPr>
          <p:cNvPr id="40" name="Rectangle 39">
            <a:extLst>
              <a:ext uri="{FF2B5EF4-FFF2-40B4-BE49-F238E27FC236}">
                <a16:creationId xmlns:a16="http://schemas.microsoft.com/office/drawing/2014/main" id="{F76F9C4B-05FC-4846-9D17-6AEB9800D7FE}"/>
              </a:ext>
            </a:extLst>
          </p:cNvPr>
          <p:cNvSpPr/>
          <p:nvPr/>
        </p:nvSpPr>
        <p:spPr>
          <a:xfrm>
            <a:off x="932351" y="1272899"/>
            <a:ext cx="2419330" cy="5540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6EBFBC00-DE22-4276-A7DD-4DB9F1105566}"/>
              </a:ext>
            </a:extLst>
          </p:cNvPr>
          <p:cNvSpPr txBox="1"/>
          <p:nvPr/>
        </p:nvSpPr>
        <p:spPr>
          <a:xfrm>
            <a:off x="1067469" y="1317122"/>
            <a:ext cx="3292970" cy="523220"/>
          </a:xfrm>
          <a:prstGeom prst="rect">
            <a:avLst/>
          </a:prstGeom>
          <a:solidFill>
            <a:schemeClr val="bg1"/>
          </a:solidFill>
        </p:spPr>
        <p:txBody>
          <a:bodyPr wrap="square" rtlCol="0">
            <a:spAutoFit/>
          </a:bodyPr>
          <a:lstStyle/>
          <a:p>
            <a:r>
              <a:rPr lang="en-US" sz="2800" dirty="0"/>
              <a:t>Foundation model</a:t>
            </a:r>
          </a:p>
        </p:txBody>
      </p:sp>
      <p:sp>
        <p:nvSpPr>
          <p:cNvPr id="42" name="TextBox 41">
            <a:extLst>
              <a:ext uri="{FF2B5EF4-FFF2-40B4-BE49-F238E27FC236}">
                <a16:creationId xmlns:a16="http://schemas.microsoft.com/office/drawing/2014/main" id="{C299424C-6D66-4B0C-B3C3-D449989D246B}"/>
              </a:ext>
            </a:extLst>
          </p:cNvPr>
          <p:cNvSpPr txBox="1"/>
          <p:nvPr/>
        </p:nvSpPr>
        <p:spPr>
          <a:xfrm>
            <a:off x="9557600" y="1618735"/>
            <a:ext cx="2073005" cy="707886"/>
          </a:xfrm>
          <a:prstGeom prst="rect">
            <a:avLst/>
          </a:prstGeom>
          <a:solidFill>
            <a:schemeClr val="bg1"/>
          </a:solidFill>
        </p:spPr>
        <p:txBody>
          <a:bodyPr wrap="square" rtlCol="0">
            <a:spAutoFit/>
          </a:bodyPr>
          <a:lstStyle/>
          <a:p>
            <a:r>
              <a:rPr lang="en-US" sz="2000" dirty="0"/>
              <a:t>Data summarization</a:t>
            </a:r>
          </a:p>
        </p:txBody>
      </p:sp>
      <p:sp>
        <p:nvSpPr>
          <p:cNvPr id="3" name="TextBox 2">
            <a:extLst>
              <a:ext uri="{FF2B5EF4-FFF2-40B4-BE49-F238E27FC236}">
                <a16:creationId xmlns:a16="http://schemas.microsoft.com/office/drawing/2014/main" id="{71D5350F-2EBB-4FDB-BDAD-6180E47814E4}"/>
              </a:ext>
            </a:extLst>
          </p:cNvPr>
          <p:cNvSpPr txBox="1"/>
          <p:nvPr/>
        </p:nvSpPr>
        <p:spPr>
          <a:xfrm>
            <a:off x="1573291" y="6043181"/>
            <a:ext cx="3051313" cy="369332"/>
          </a:xfrm>
          <a:prstGeom prst="rect">
            <a:avLst/>
          </a:prstGeom>
          <a:noFill/>
        </p:spPr>
        <p:txBody>
          <a:bodyPr wrap="square" rtlCol="0">
            <a:spAutoFit/>
          </a:bodyPr>
          <a:lstStyle/>
          <a:p>
            <a:r>
              <a:rPr lang="en-US" dirty="0"/>
              <a:t>Various data sources</a:t>
            </a:r>
          </a:p>
        </p:txBody>
      </p:sp>
      <p:sp>
        <p:nvSpPr>
          <p:cNvPr id="4" name="a11y_slide_end" descr="Notes Section.">
            <a:extLst>
              <a:ext uri="{FF2B5EF4-FFF2-40B4-BE49-F238E27FC236}">
                <a16:creationId xmlns:a16="http://schemas.microsoft.com/office/drawing/2014/main" id="{57AA64C0-EFAB-4B99-85D5-1E5467A52499}"/>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801849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D0B4F06-168F-4B62-B78A-F2DD4BBE29C2}"/>
              </a:ext>
            </a:extLst>
          </p:cNvPr>
          <p:cNvSpPr>
            <a:spLocks noGrp="1"/>
          </p:cNvSpPr>
          <p:nvPr>
            <p:ph type="sldNum" idx="97"/>
          </p:nvPr>
        </p:nvSpPr>
        <p:spPr/>
        <p:txBody>
          <a:bodyPr/>
          <a:lstStyle/>
          <a:p>
            <a:fld id="{4037B1B0-0345-4E15-985A-6BECCDBE474F}" type="slidenum">
              <a:rPr lang="en-US" smtClean="0"/>
              <a:pPr/>
              <a:t>38</a:t>
            </a:fld>
            <a:endParaRPr lang="en-US" dirty="0"/>
          </a:p>
        </p:txBody>
      </p:sp>
      <p:sp>
        <p:nvSpPr>
          <p:cNvPr id="6" name="Title">
            <a:extLst>
              <a:ext uri="{FF2B5EF4-FFF2-40B4-BE49-F238E27FC236}">
                <a16:creationId xmlns:a16="http://schemas.microsoft.com/office/drawing/2014/main" id="{4758D74B-09A6-4722-84FE-7498C26B2BCE}"/>
              </a:ext>
            </a:extLst>
          </p:cNvPr>
          <p:cNvSpPr>
            <a:spLocks noGrp="1"/>
          </p:cNvSpPr>
          <p:nvPr>
            <p:ph type="title" idx="1"/>
          </p:nvPr>
        </p:nvSpPr>
        <p:spPr/>
        <p:txBody>
          <a:bodyPr>
            <a:normAutofit/>
          </a:bodyPr>
          <a:lstStyle/>
          <a:p>
            <a:r>
              <a:rPr lang="en-US" dirty="0"/>
              <a:t>Comparison of traditional and foundation models</a:t>
            </a:r>
          </a:p>
        </p:txBody>
      </p:sp>
      <p:pic>
        <p:nvPicPr>
          <p:cNvPr id="7" name="Content Placeholder 6" descr="Image comparing traditional machine learning models versus foundation models. ">
            <a:extLst>
              <a:ext uri="{FF2B5EF4-FFF2-40B4-BE49-F238E27FC236}">
                <a16:creationId xmlns:a16="http://schemas.microsoft.com/office/drawing/2014/main" id="{742D7270-EE68-42A9-8205-3B8A39BB5C2A}"/>
              </a:ext>
            </a:extLst>
          </p:cNvPr>
          <p:cNvPicPr>
            <a:picLocks noGrp="1" noChangeAspect="1"/>
          </p:cNvPicPr>
          <p:nvPr>
            <p:ph idx="2"/>
          </p:nvPr>
        </p:nvPicPr>
        <p:blipFill>
          <a:blip r:embed="rId4">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365760" y="1167348"/>
            <a:ext cx="11548333" cy="5256760"/>
          </a:xfrm>
        </p:spPr>
      </p:pic>
      <p:sp>
        <p:nvSpPr>
          <p:cNvPr id="3" name="TextBox 2">
            <a:extLst>
              <a:ext uri="{FF2B5EF4-FFF2-40B4-BE49-F238E27FC236}">
                <a16:creationId xmlns:a16="http://schemas.microsoft.com/office/drawing/2014/main" id="{4598A1FE-DCDA-41F0-B0A3-8943BEB11F70}"/>
              </a:ext>
            </a:extLst>
          </p:cNvPr>
          <p:cNvSpPr txBox="1"/>
          <p:nvPr/>
        </p:nvSpPr>
        <p:spPr>
          <a:xfrm>
            <a:off x="531855" y="1833651"/>
            <a:ext cx="1554480" cy="649224"/>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en-US" sz="1700" dirty="0"/>
              <a:t>Labeled data</a:t>
            </a:r>
          </a:p>
        </p:txBody>
      </p:sp>
      <p:sp>
        <p:nvSpPr>
          <p:cNvPr id="8" name="TextBox 7">
            <a:extLst>
              <a:ext uri="{FF2B5EF4-FFF2-40B4-BE49-F238E27FC236}">
                <a16:creationId xmlns:a16="http://schemas.microsoft.com/office/drawing/2014/main" id="{4C62BC6F-B37B-46FF-9EF8-C3D04738DDEA}"/>
              </a:ext>
            </a:extLst>
          </p:cNvPr>
          <p:cNvSpPr txBox="1"/>
          <p:nvPr/>
        </p:nvSpPr>
        <p:spPr>
          <a:xfrm>
            <a:off x="531855" y="2660809"/>
            <a:ext cx="1554480" cy="649224"/>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en-US" sz="1700" dirty="0"/>
              <a:t>Labeled data</a:t>
            </a:r>
          </a:p>
        </p:txBody>
      </p:sp>
      <p:sp>
        <p:nvSpPr>
          <p:cNvPr id="9" name="TextBox 8">
            <a:extLst>
              <a:ext uri="{FF2B5EF4-FFF2-40B4-BE49-F238E27FC236}">
                <a16:creationId xmlns:a16="http://schemas.microsoft.com/office/drawing/2014/main" id="{586F56E8-8533-46C0-9E28-4345A07ECCB6}"/>
              </a:ext>
            </a:extLst>
          </p:cNvPr>
          <p:cNvSpPr txBox="1"/>
          <p:nvPr/>
        </p:nvSpPr>
        <p:spPr>
          <a:xfrm>
            <a:off x="535936" y="3434465"/>
            <a:ext cx="1554480" cy="649224"/>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en-US" sz="1700" dirty="0"/>
              <a:t>Labeled data</a:t>
            </a:r>
          </a:p>
        </p:txBody>
      </p:sp>
      <p:sp>
        <p:nvSpPr>
          <p:cNvPr id="10" name="TextBox 9">
            <a:extLst>
              <a:ext uri="{FF2B5EF4-FFF2-40B4-BE49-F238E27FC236}">
                <a16:creationId xmlns:a16="http://schemas.microsoft.com/office/drawing/2014/main" id="{207CC2F6-6AFC-42C6-BCB5-A7021C18B04D}"/>
              </a:ext>
            </a:extLst>
          </p:cNvPr>
          <p:cNvSpPr txBox="1"/>
          <p:nvPr/>
        </p:nvSpPr>
        <p:spPr>
          <a:xfrm>
            <a:off x="531855" y="4255890"/>
            <a:ext cx="1554480" cy="649224"/>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en-US" sz="1700" dirty="0"/>
              <a:t>Labeled data</a:t>
            </a:r>
          </a:p>
        </p:txBody>
      </p:sp>
      <p:sp>
        <p:nvSpPr>
          <p:cNvPr id="11" name="TextBox 10">
            <a:extLst>
              <a:ext uri="{FF2B5EF4-FFF2-40B4-BE49-F238E27FC236}">
                <a16:creationId xmlns:a16="http://schemas.microsoft.com/office/drawing/2014/main" id="{48FA4630-654F-4617-AE0C-7A8676B77F3F}"/>
              </a:ext>
            </a:extLst>
          </p:cNvPr>
          <p:cNvSpPr txBox="1"/>
          <p:nvPr/>
        </p:nvSpPr>
        <p:spPr>
          <a:xfrm>
            <a:off x="531855" y="5041428"/>
            <a:ext cx="1554480" cy="649224"/>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en-US" sz="1700" dirty="0"/>
              <a:t>Labeled data</a:t>
            </a:r>
          </a:p>
        </p:txBody>
      </p:sp>
      <p:sp>
        <p:nvSpPr>
          <p:cNvPr id="12" name="TextBox 11">
            <a:extLst>
              <a:ext uri="{FF2B5EF4-FFF2-40B4-BE49-F238E27FC236}">
                <a16:creationId xmlns:a16="http://schemas.microsoft.com/office/drawing/2014/main" id="{E47254BC-CA39-47C8-8BFB-C6D6DA8D561C}"/>
              </a:ext>
            </a:extLst>
          </p:cNvPr>
          <p:cNvSpPr txBox="1"/>
          <p:nvPr/>
        </p:nvSpPr>
        <p:spPr>
          <a:xfrm>
            <a:off x="2560623" y="1841013"/>
            <a:ext cx="1371600" cy="649224"/>
          </a:xfrm>
          <a:prstGeom prst="roundRect">
            <a:avLst/>
          </a:prstGeom>
          <a:solidFill>
            <a:schemeClr val="accent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ML model</a:t>
            </a:r>
          </a:p>
        </p:txBody>
      </p:sp>
      <p:sp>
        <p:nvSpPr>
          <p:cNvPr id="13" name="TextBox 12">
            <a:extLst>
              <a:ext uri="{FF2B5EF4-FFF2-40B4-BE49-F238E27FC236}">
                <a16:creationId xmlns:a16="http://schemas.microsoft.com/office/drawing/2014/main" id="{62AEDE4C-58D3-4C75-9268-58A4587A4597}"/>
              </a:ext>
            </a:extLst>
          </p:cNvPr>
          <p:cNvSpPr txBox="1"/>
          <p:nvPr/>
        </p:nvSpPr>
        <p:spPr>
          <a:xfrm>
            <a:off x="2560623" y="2718444"/>
            <a:ext cx="1371600" cy="649224"/>
          </a:xfrm>
          <a:prstGeom prst="roundRect">
            <a:avLst/>
          </a:prstGeom>
          <a:solidFill>
            <a:schemeClr val="accent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ML model</a:t>
            </a:r>
          </a:p>
        </p:txBody>
      </p:sp>
      <p:sp>
        <p:nvSpPr>
          <p:cNvPr id="14" name="TextBox 13">
            <a:extLst>
              <a:ext uri="{FF2B5EF4-FFF2-40B4-BE49-F238E27FC236}">
                <a16:creationId xmlns:a16="http://schemas.microsoft.com/office/drawing/2014/main" id="{12EE9DD4-4E57-446F-8774-9E663AD53AA6}"/>
              </a:ext>
            </a:extLst>
          </p:cNvPr>
          <p:cNvSpPr txBox="1"/>
          <p:nvPr/>
        </p:nvSpPr>
        <p:spPr>
          <a:xfrm>
            <a:off x="2560623" y="3501946"/>
            <a:ext cx="1371600" cy="649224"/>
          </a:xfrm>
          <a:prstGeom prst="roundRect">
            <a:avLst/>
          </a:prstGeom>
          <a:solidFill>
            <a:schemeClr val="accent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ML model</a:t>
            </a:r>
          </a:p>
        </p:txBody>
      </p:sp>
      <p:sp>
        <p:nvSpPr>
          <p:cNvPr id="15" name="TextBox 14">
            <a:extLst>
              <a:ext uri="{FF2B5EF4-FFF2-40B4-BE49-F238E27FC236}">
                <a16:creationId xmlns:a16="http://schemas.microsoft.com/office/drawing/2014/main" id="{BBA39B1E-4D36-4EA1-A6C5-9C32F14B8F7B}"/>
              </a:ext>
            </a:extLst>
          </p:cNvPr>
          <p:cNvSpPr txBox="1"/>
          <p:nvPr/>
        </p:nvSpPr>
        <p:spPr>
          <a:xfrm>
            <a:off x="2560623" y="4305675"/>
            <a:ext cx="1371600" cy="649224"/>
          </a:xfrm>
          <a:prstGeom prst="roundRect">
            <a:avLst/>
          </a:prstGeom>
          <a:solidFill>
            <a:schemeClr val="accent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ML model</a:t>
            </a:r>
          </a:p>
        </p:txBody>
      </p:sp>
      <p:sp>
        <p:nvSpPr>
          <p:cNvPr id="16" name="TextBox 15">
            <a:extLst>
              <a:ext uri="{FF2B5EF4-FFF2-40B4-BE49-F238E27FC236}">
                <a16:creationId xmlns:a16="http://schemas.microsoft.com/office/drawing/2014/main" id="{73F9A66F-73A8-4641-818E-86B557093FD1}"/>
              </a:ext>
            </a:extLst>
          </p:cNvPr>
          <p:cNvSpPr txBox="1"/>
          <p:nvPr/>
        </p:nvSpPr>
        <p:spPr>
          <a:xfrm>
            <a:off x="2560623" y="5089177"/>
            <a:ext cx="1371600" cy="649224"/>
          </a:xfrm>
          <a:prstGeom prst="roundRect">
            <a:avLst/>
          </a:prstGeom>
          <a:solidFill>
            <a:schemeClr val="accent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ML model</a:t>
            </a:r>
          </a:p>
        </p:txBody>
      </p:sp>
      <p:sp>
        <p:nvSpPr>
          <p:cNvPr id="17" name="TextBox 16">
            <a:extLst>
              <a:ext uri="{FF2B5EF4-FFF2-40B4-BE49-F238E27FC236}">
                <a16:creationId xmlns:a16="http://schemas.microsoft.com/office/drawing/2014/main" id="{47FF7921-AEB2-46BF-8BEC-C44843F5DB42}"/>
              </a:ext>
            </a:extLst>
          </p:cNvPr>
          <p:cNvSpPr txBox="1"/>
          <p:nvPr/>
        </p:nvSpPr>
        <p:spPr>
          <a:xfrm>
            <a:off x="4281005" y="1841013"/>
            <a:ext cx="1655064" cy="646986"/>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Text generation</a:t>
            </a:r>
          </a:p>
        </p:txBody>
      </p:sp>
      <p:sp>
        <p:nvSpPr>
          <p:cNvPr id="18" name="TextBox 17">
            <a:extLst>
              <a:ext uri="{FF2B5EF4-FFF2-40B4-BE49-F238E27FC236}">
                <a16:creationId xmlns:a16="http://schemas.microsoft.com/office/drawing/2014/main" id="{3D21472C-4A48-4776-BFE6-09087E5CE9D3}"/>
              </a:ext>
            </a:extLst>
          </p:cNvPr>
          <p:cNvSpPr txBox="1"/>
          <p:nvPr/>
        </p:nvSpPr>
        <p:spPr>
          <a:xfrm>
            <a:off x="4281005" y="2693869"/>
            <a:ext cx="1654885" cy="649224"/>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Summarization</a:t>
            </a:r>
          </a:p>
        </p:txBody>
      </p:sp>
      <p:sp>
        <p:nvSpPr>
          <p:cNvPr id="19" name="TextBox 18">
            <a:extLst>
              <a:ext uri="{FF2B5EF4-FFF2-40B4-BE49-F238E27FC236}">
                <a16:creationId xmlns:a16="http://schemas.microsoft.com/office/drawing/2014/main" id="{614DAD16-3FB0-4BE0-B9BA-0E2F1DE033F7}"/>
              </a:ext>
            </a:extLst>
          </p:cNvPr>
          <p:cNvSpPr txBox="1"/>
          <p:nvPr/>
        </p:nvSpPr>
        <p:spPr>
          <a:xfrm>
            <a:off x="4281005" y="3469049"/>
            <a:ext cx="1655064" cy="646986"/>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Information extraction</a:t>
            </a:r>
          </a:p>
        </p:txBody>
      </p:sp>
      <p:sp>
        <p:nvSpPr>
          <p:cNvPr id="20" name="TextBox 19">
            <a:extLst>
              <a:ext uri="{FF2B5EF4-FFF2-40B4-BE49-F238E27FC236}">
                <a16:creationId xmlns:a16="http://schemas.microsoft.com/office/drawing/2014/main" id="{79E29DB1-60AC-44AE-AA95-8637B813514D}"/>
              </a:ext>
            </a:extLst>
          </p:cNvPr>
          <p:cNvSpPr txBox="1"/>
          <p:nvPr/>
        </p:nvSpPr>
        <p:spPr>
          <a:xfrm>
            <a:off x="4281005" y="4250313"/>
            <a:ext cx="1655064" cy="649224"/>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Q&amp;A</a:t>
            </a:r>
          </a:p>
        </p:txBody>
      </p:sp>
      <p:sp>
        <p:nvSpPr>
          <p:cNvPr id="21" name="TextBox 20">
            <a:extLst>
              <a:ext uri="{FF2B5EF4-FFF2-40B4-BE49-F238E27FC236}">
                <a16:creationId xmlns:a16="http://schemas.microsoft.com/office/drawing/2014/main" id="{6FFF1506-4246-4659-9C4A-C1CDE7458FBC}"/>
              </a:ext>
            </a:extLst>
          </p:cNvPr>
          <p:cNvSpPr txBox="1"/>
          <p:nvPr/>
        </p:nvSpPr>
        <p:spPr>
          <a:xfrm>
            <a:off x="4281005" y="5041428"/>
            <a:ext cx="1655064" cy="649224"/>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Chatbot</a:t>
            </a:r>
          </a:p>
        </p:txBody>
      </p:sp>
      <p:sp>
        <p:nvSpPr>
          <p:cNvPr id="22" name="TextBox 21">
            <a:extLst>
              <a:ext uri="{FF2B5EF4-FFF2-40B4-BE49-F238E27FC236}">
                <a16:creationId xmlns:a16="http://schemas.microsoft.com/office/drawing/2014/main" id="{69D21FF8-D812-48D8-9F70-010CBA542843}"/>
              </a:ext>
            </a:extLst>
          </p:cNvPr>
          <p:cNvSpPr txBox="1"/>
          <p:nvPr/>
        </p:nvSpPr>
        <p:spPr>
          <a:xfrm>
            <a:off x="6318374" y="3389443"/>
            <a:ext cx="1673352" cy="832104"/>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solidFill>
                  <a:schemeClr val="tx2"/>
                </a:solidFill>
              </a:rPr>
              <a:t>Unlabeled data</a:t>
            </a:r>
          </a:p>
        </p:txBody>
      </p:sp>
      <p:sp>
        <p:nvSpPr>
          <p:cNvPr id="5" name="Rectangle 4">
            <a:extLst>
              <a:ext uri="{FF2B5EF4-FFF2-40B4-BE49-F238E27FC236}">
                <a16:creationId xmlns:a16="http://schemas.microsoft.com/office/drawing/2014/main" id="{F45111F4-84B8-485E-AF5E-D478BA78F410}"/>
              </a:ext>
            </a:extLst>
          </p:cNvPr>
          <p:cNvSpPr/>
          <p:nvPr/>
        </p:nvSpPr>
        <p:spPr>
          <a:xfrm>
            <a:off x="8374031" y="3367668"/>
            <a:ext cx="1225371" cy="9115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89C8274-7195-416F-9D0B-44BCBE6C9C0D}"/>
              </a:ext>
            </a:extLst>
          </p:cNvPr>
          <p:cNvSpPr txBox="1"/>
          <p:nvPr/>
        </p:nvSpPr>
        <p:spPr>
          <a:xfrm rot="60000">
            <a:off x="8381192" y="3414685"/>
            <a:ext cx="1325880" cy="832104"/>
          </a:xfrm>
          <a:prstGeom prst="roundRect">
            <a:avLst/>
          </a:prstGeom>
          <a:solidFill>
            <a:schemeClr val="accent3"/>
          </a:solid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solidFill>
                  <a:schemeClr val="tx2"/>
                </a:solidFill>
              </a:rPr>
              <a:t>Foundation model</a:t>
            </a:r>
          </a:p>
        </p:txBody>
      </p:sp>
      <p:sp>
        <p:nvSpPr>
          <p:cNvPr id="24" name="TextBox 23">
            <a:extLst>
              <a:ext uri="{FF2B5EF4-FFF2-40B4-BE49-F238E27FC236}">
                <a16:creationId xmlns:a16="http://schemas.microsoft.com/office/drawing/2014/main" id="{8AC97F9F-074D-48AB-BE97-37D497814956}"/>
              </a:ext>
            </a:extLst>
          </p:cNvPr>
          <p:cNvSpPr txBox="1"/>
          <p:nvPr/>
        </p:nvSpPr>
        <p:spPr>
          <a:xfrm>
            <a:off x="10094606" y="1807953"/>
            <a:ext cx="1655064" cy="646986"/>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Text generation</a:t>
            </a:r>
          </a:p>
        </p:txBody>
      </p:sp>
      <p:sp>
        <p:nvSpPr>
          <p:cNvPr id="25" name="TextBox 24">
            <a:extLst>
              <a:ext uri="{FF2B5EF4-FFF2-40B4-BE49-F238E27FC236}">
                <a16:creationId xmlns:a16="http://schemas.microsoft.com/office/drawing/2014/main" id="{DD7FAECB-FE81-4D9D-849B-8C495788B2C3}"/>
              </a:ext>
            </a:extLst>
          </p:cNvPr>
          <p:cNvSpPr txBox="1"/>
          <p:nvPr/>
        </p:nvSpPr>
        <p:spPr>
          <a:xfrm>
            <a:off x="10094606" y="2660809"/>
            <a:ext cx="1654885" cy="649224"/>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Summarization</a:t>
            </a:r>
          </a:p>
        </p:txBody>
      </p:sp>
      <p:sp>
        <p:nvSpPr>
          <p:cNvPr id="26" name="TextBox 25">
            <a:extLst>
              <a:ext uri="{FF2B5EF4-FFF2-40B4-BE49-F238E27FC236}">
                <a16:creationId xmlns:a16="http://schemas.microsoft.com/office/drawing/2014/main" id="{62D15FE6-2C47-449C-93E0-147730888C4F}"/>
              </a:ext>
            </a:extLst>
          </p:cNvPr>
          <p:cNvSpPr txBox="1"/>
          <p:nvPr/>
        </p:nvSpPr>
        <p:spPr>
          <a:xfrm>
            <a:off x="10094606" y="3435989"/>
            <a:ext cx="1655064" cy="646986"/>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Information extraction</a:t>
            </a:r>
          </a:p>
        </p:txBody>
      </p:sp>
      <p:sp>
        <p:nvSpPr>
          <p:cNvPr id="27" name="TextBox 26">
            <a:extLst>
              <a:ext uri="{FF2B5EF4-FFF2-40B4-BE49-F238E27FC236}">
                <a16:creationId xmlns:a16="http://schemas.microsoft.com/office/drawing/2014/main" id="{D76B4722-58D4-47CF-A5E2-CCE29744EFB0}"/>
              </a:ext>
            </a:extLst>
          </p:cNvPr>
          <p:cNvSpPr txBox="1"/>
          <p:nvPr/>
        </p:nvSpPr>
        <p:spPr>
          <a:xfrm>
            <a:off x="10094606" y="4217253"/>
            <a:ext cx="1655064" cy="649224"/>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Q&amp;A</a:t>
            </a:r>
          </a:p>
        </p:txBody>
      </p:sp>
      <p:sp>
        <p:nvSpPr>
          <p:cNvPr id="28" name="TextBox 27">
            <a:extLst>
              <a:ext uri="{FF2B5EF4-FFF2-40B4-BE49-F238E27FC236}">
                <a16:creationId xmlns:a16="http://schemas.microsoft.com/office/drawing/2014/main" id="{911E2461-EED4-4327-929F-A5B98EC97EC8}"/>
              </a:ext>
            </a:extLst>
          </p:cNvPr>
          <p:cNvSpPr txBox="1"/>
          <p:nvPr/>
        </p:nvSpPr>
        <p:spPr>
          <a:xfrm>
            <a:off x="10094606" y="5008368"/>
            <a:ext cx="1655064" cy="649224"/>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t>Chatbot</a:t>
            </a:r>
          </a:p>
        </p:txBody>
      </p:sp>
      <p:sp>
        <p:nvSpPr>
          <p:cNvPr id="29" name="TextBox 28">
            <a:extLst>
              <a:ext uri="{FF2B5EF4-FFF2-40B4-BE49-F238E27FC236}">
                <a16:creationId xmlns:a16="http://schemas.microsoft.com/office/drawing/2014/main" id="{F3C1AE77-6BE0-4EB5-B141-99150D7D6169}"/>
              </a:ext>
            </a:extLst>
          </p:cNvPr>
          <p:cNvSpPr txBox="1"/>
          <p:nvPr/>
        </p:nvSpPr>
        <p:spPr>
          <a:xfrm>
            <a:off x="1927412" y="1167348"/>
            <a:ext cx="2644588" cy="369332"/>
          </a:xfrm>
          <a:prstGeom prst="rect">
            <a:avLst/>
          </a:prstGeom>
          <a:solidFill>
            <a:schemeClr val="bg1"/>
          </a:solidFill>
        </p:spPr>
        <p:txBody>
          <a:bodyPr wrap="square" rtlCol="0">
            <a:spAutoFit/>
          </a:bodyPr>
          <a:lstStyle/>
          <a:p>
            <a:r>
              <a:rPr lang="en-US" b="1" dirty="0"/>
              <a:t>Traditional ML models</a:t>
            </a:r>
          </a:p>
        </p:txBody>
      </p:sp>
      <p:sp>
        <p:nvSpPr>
          <p:cNvPr id="30" name="TextBox 29">
            <a:extLst>
              <a:ext uri="{FF2B5EF4-FFF2-40B4-BE49-F238E27FC236}">
                <a16:creationId xmlns:a16="http://schemas.microsoft.com/office/drawing/2014/main" id="{D201F7A2-56C2-4D3D-9A71-F5609F227ED9}"/>
              </a:ext>
            </a:extLst>
          </p:cNvPr>
          <p:cNvSpPr txBox="1"/>
          <p:nvPr/>
        </p:nvSpPr>
        <p:spPr>
          <a:xfrm>
            <a:off x="7991726" y="1159026"/>
            <a:ext cx="2644588" cy="369332"/>
          </a:xfrm>
          <a:prstGeom prst="rect">
            <a:avLst/>
          </a:prstGeom>
          <a:solidFill>
            <a:schemeClr val="bg1"/>
          </a:solidFill>
        </p:spPr>
        <p:txBody>
          <a:bodyPr wrap="square" rtlCol="0">
            <a:spAutoFit/>
          </a:bodyPr>
          <a:lstStyle/>
          <a:p>
            <a:r>
              <a:rPr lang="en-US" b="1" dirty="0"/>
              <a:t>Foundation models</a:t>
            </a:r>
          </a:p>
        </p:txBody>
      </p:sp>
      <p:sp>
        <p:nvSpPr>
          <p:cNvPr id="31" name="TextBox 30">
            <a:extLst>
              <a:ext uri="{FF2B5EF4-FFF2-40B4-BE49-F238E27FC236}">
                <a16:creationId xmlns:a16="http://schemas.microsoft.com/office/drawing/2014/main" id="{EFDAD69C-BB78-4916-AD97-65DC191321A1}"/>
              </a:ext>
            </a:extLst>
          </p:cNvPr>
          <p:cNvSpPr txBox="1"/>
          <p:nvPr/>
        </p:nvSpPr>
        <p:spPr>
          <a:xfrm>
            <a:off x="10636314" y="1462649"/>
            <a:ext cx="845365" cy="338554"/>
          </a:xfrm>
          <a:prstGeom prst="rect">
            <a:avLst/>
          </a:prstGeom>
          <a:solidFill>
            <a:schemeClr val="bg1"/>
          </a:solidFill>
          <a:ln>
            <a:solidFill>
              <a:schemeClr val="bg1"/>
            </a:solidFill>
          </a:ln>
        </p:spPr>
        <p:txBody>
          <a:bodyPr wrap="square" rtlCol="0">
            <a:spAutoFit/>
          </a:bodyPr>
          <a:lstStyle/>
          <a:p>
            <a:pPr algn="ctr"/>
            <a:r>
              <a:rPr lang="en-US" sz="1600" dirty="0"/>
              <a:t>Tasks</a:t>
            </a:r>
          </a:p>
        </p:txBody>
      </p:sp>
      <p:sp>
        <p:nvSpPr>
          <p:cNvPr id="32" name="TextBox 31">
            <a:extLst>
              <a:ext uri="{FF2B5EF4-FFF2-40B4-BE49-F238E27FC236}">
                <a16:creationId xmlns:a16="http://schemas.microsoft.com/office/drawing/2014/main" id="{89C97100-ACF2-4A01-B0D8-098872FC0B9F}"/>
              </a:ext>
            </a:extLst>
          </p:cNvPr>
          <p:cNvSpPr txBox="1"/>
          <p:nvPr/>
        </p:nvSpPr>
        <p:spPr>
          <a:xfrm>
            <a:off x="9506761" y="5799483"/>
            <a:ext cx="845365" cy="338554"/>
          </a:xfrm>
          <a:prstGeom prst="rect">
            <a:avLst/>
          </a:prstGeom>
          <a:solidFill>
            <a:schemeClr val="bg1"/>
          </a:solidFill>
          <a:ln>
            <a:solidFill>
              <a:schemeClr val="bg1"/>
            </a:solidFill>
          </a:ln>
        </p:spPr>
        <p:txBody>
          <a:bodyPr wrap="square" rtlCol="0">
            <a:spAutoFit/>
          </a:bodyPr>
          <a:lstStyle/>
          <a:p>
            <a:pPr algn="ctr"/>
            <a:r>
              <a:rPr lang="en-US" sz="1600" dirty="0"/>
              <a:t>Adapt</a:t>
            </a:r>
          </a:p>
        </p:txBody>
      </p:sp>
      <p:sp>
        <p:nvSpPr>
          <p:cNvPr id="33" name="TextBox 32">
            <a:extLst>
              <a:ext uri="{FF2B5EF4-FFF2-40B4-BE49-F238E27FC236}">
                <a16:creationId xmlns:a16="http://schemas.microsoft.com/office/drawing/2014/main" id="{118B74A5-758F-4B57-A223-CE683F91C9EC}"/>
              </a:ext>
            </a:extLst>
          </p:cNvPr>
          <p:cNvSpPr txBox="1"/>
          <p:nvPr/>
        </p:nvSpPr>
        <p:spPr>
          <a:xfrm>
            <a:off x="7557247" y="5799483"/>
            <a:ext cx="1039906" cy="338554"/>
          </a:xfrm>
          <a:prstGeom prst="rect">
            <a:avLst/>
          </a:prstGeom>
          <a:solidFill>
            <a:schemeClr val="bg1"/>
          </a:solidFill>
          <a:ln>
            <a:solidFill>
              <a:schemeClr val="bg1"/>
            </a:solidFill>
          </a:ln>
        </p:spPr>
        <p:txBody>
          <a:bodyPr wrap="square" rtlCol="0">
            <a:spAutoFit/>
          </a:bodyPr>
          <a:lstStyle/>
          <a:p>
            <a:pPr algn="ctr"/>
            <a:r>
              <a:rPr lang="en-US" sz="1600" dirty="0"/>
              <a:t>Pretrain</a:t>
            </a:r>
          </a:p>
        </p:txBody>
      </p:sp>
      <p:sp>
        <p:nvSpPr>
          <p:cNvPr id="34" name="TextBox 33">
            <a:extLst>
              <a:ext uri="{FF2B5EF4-FFF2-40B4-BE49-F238E27FC236}">
                <a16:creationId xmlns:a16="http://schemas.microsoft.com/office/drawing/2014/main" id="{CD57D191-374F-4C91-95D8-182B1D694AAA}"/>
              </a:ext>
            </a:extLst>
          </p:cNvPr>
          <p:cNvSpPr txBox="1"/>
          <p:nvPr/>
        </p:nvSpPr>
        <p:spPr>
          <a:xfrm>
            <a:off x="3594848" y="5799483"/>
            <a:ext cx="1039906" cy="338554"/>
          </a:xfrm>
          <a:prstGeom prst="rect">
            <a:avLst/>
          </a:prstGeom>
          <a:solidFill>
            <a:schemeClr val="bg1"/>
          </a:solidFill>
          <a:ln>
            <a:solidFill>
              <a:schemeClr val="bg1"/>
            </a:solidFill>
          </a:ln>
        </p:spPr>
        <p:txBody>
          <a:bodyPr wrap="square" rtlCol="0">
            <a:spAutoFit/>
          </a:bodyPr>
          <a:lstStyle/>
          <a:p>
            <a:pPr algn="ctr"/>
            <a:r>
              <a:rPr lang="en-US" sz="1600" dirty="0"/>
              <a:t>Deploy</a:t>
            </a:r>
          </a:p>
        </p:txBody>
      </p:sp>
      <p:sp>
        <p:nvSpPr>
          <p:cNvPr id="35" name="TextBox 34">
            <a:extLst>
              <a:ext uri="{FF2B5EF4-FFF2-40B4-BE49-F238E27FC236}">
                <a16:creationId xmlns:a16="http://schemas.microsoft.com/office/drawing/2014/main" id="{CA815C2F-2A74-41EC-BB86-099674B2C3FB}"/>
              </a:ext>
            </a:extLst>
          </p:cNvPr>
          <p:cNvSpPr txBox="1"/>
          <p:nvPr/>
        </p:nvSpPr>
        <p:spPr>
          <a:xfrm>
            <a:off x="1672228" y="5812197"/>
            <a:ext cx="1039906" cy="338554"/>
          </a:xfrm>
          <a:prstGeom prst="rect">
            <a:avLst/>
          </a:prstGeom>
          <a:solidFill>
            <a:schemeClr val="bg1"/>
          </a:solidFill>
          <a:ln>
            <a:solidFill>
              <a:schemeClr val="bg1"/>
            </a:solidFill>
          </a:ln>
        </p:spPr>
        <p:txBody>
          <a:bodyPr wrap="square" rtlCol="0">
            <a:spAutoFit/>
          </a:bodyPr>
          <a:lstStyle/>
          <a:p>
            <a:pPr algn="ctr"/>
            <a:r>
              <a:rPr lang="en-US" sz="1600" dirty="0"/>
              <a:t>Train</a:t>
            </a:r>
          </a:p>
        </p:txBody>
      </p:sp>
      <p:sp>
        <p:nvSpPr>
          <p:cNvPr id="36" name="TextBox 35">
            <a:extLst>
              <a:ext uri="{FF2B5EF4-FFF2-40B4-BE49-F238E27FC236}">
                <a16:creationId xmlns:a16="http://schemas.microsoft.com/office/drawing/2014/main" id="{4C4AE335-257A-417E-B003-3D11DFFE9DB3}"/>
              </a:ext>
            </a:extLst>
          </p:cNvPr>
          <p:cNvSpPr txBox="1"/>
          <p:nvPr/>
        </p:nvSpPr>
        <p:spPr>
          <a:xfrm>
            <a:off x="4788207" y="1476967"/>
            <a:ext cx="845365" cy="338554"/>
          </a:xfrm>
          <a:prstGeom prst="rect">
            <a:avLst/>
          </a:prstGeom>
          <a:solidFill>
            <a:schemeClr val="bg1"/>
          </a:solidFill>
          <a:ln>
            <a:solidFill>
              <a:schemeClr val="bg1"/>
            </a:solidFill>
          </a:ln>
        </p:spPr>
        <p:txBody>
          <a:bodyPr wrap="square" rtlCol="0">
            <a:spAutoFit/>
          </a:bodyPr>
          <a:lstStyle/>
          <a:p>
            <a:pPr algn="ctr"/>
            <a:r>
              <a:rPr lang="en-US" sz="1600" dirty="0"/>
              <a:t>Tasks</a:t>
            </a:r>
          </a:p>
        </p:txBody>
      </p:sp>
      <p:sp>
        <p:nvSpPr>
          <p:cNvPr id="4" name="a11y_slide_end" descr="Notes Section.">
            <a:extLst>
              <a:ext uri="{FF2B5EF4-FFF2-40B4-BE49-F238E27FC236}">
                <a16:creationId xmlns:a16="http://schemas.microsoft.com/office/drawing/2014/main" id="{3CD99B2E-F348-47D4-8CE0-38B41A39A17F}"/>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669009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F65637CA-11CB-43C6-99D4-59263FEDDECE}"/>
              </a:ext>
            </a:extLst>
          </p:cNvPr>
          <p:cNvSpPr>
            <a:spLocks noGrp="1"/>
          </p:cNvSpPr>
          <p:nvPr>
            <p:ph type="sldNum" idx="97"/>
          </p:nvPr>
        </p:nvSpPr>
        <p:spPr/>
        <p:txBody>
          <a:bodyPr/>
          <a:lstStyle/>
          <a:p>
            <a:fld id="{4037B1B0-0345-4E15-985A-6BECCDBE474F}" type="slidenum">
              <a:rPr lang="en-US" smtClean="0"/>
              <a:pPr/>
              <a:t>39</a:t>
            </a:fld>
            <a:endParaRPr lang="en-US" dirty="0"/>
          </a:p>
        </p:txBody>
      </p:sp>
      <p:sp>
        <p:nvSpPr>
          <p:cNvPr id="3" name="Title">
            <a:extLst>
              <a:ext uri="{FF2B5EF4-FFF2-40B4-BE49-F238E27FC236}">
                <a16:creationId xmlns:a16="http://schemas.microsoft.com/office/drawing/2014/main" id="{BB432705-345F-4155-8F1C-0263CD36E9E9}"/>
              </a:ext>
            </a:extLst>
          </p:cNvPr>
          <p:cNvSpPr>
            <a:spLocks noGrp="1"/>
          </p:cNvSpPr>
          <p:nvPr>
            <p:ph type="title" idx="1"/>
          </p:nvPr>
        </p:nvSpPr>
        <p:spPr/>
        <p:txBody>
          <a:bodyPr/>
          <a:lstStyle/>
          <a:p>
            <a:r>
              <a:rPr lang="en-US" dirty="0">
                <a:solidFill>
                  <a:schemeClr val="tx1"/>
                </a:solidFill>
              </a:rPr>
              <a:t>Foundation model types</a:t>
            </a:r>
          </a:p>
        </p:txBody>
      </p:sp>
      <p:grpSp>
        <p:nvGrpSpPr>
          <p:cNvPr id="5" name="Group 4">
            <a:extLst>
              <a:ext uri="{FF2B5EF4-FFF2-40B4-BE49-F238E27FC236}">
                <a16:creationId xmlns:a16="http://schemas.microsoft.com/office/drawing/2014/main" id="{74E18D90-79C4-47F4-9A25-DCF891B2980E}"/>
              </a:ext>
            </a:extLst>
          </p:cNvPr>
          <p:cNvGrpSpPr/>
          <p:nvPr/>
        </p:nvGrpSpPr>
        <p:grpSpPr>
          <a:xfrm>
            <a:off x="360362" y="2043658"/>
            <a:ext cx="3490808" cy="3391036"/>
            <a:chOff x="-1596478" y="2046801"/>
            <a:chExt cx="2653138" cy="2931561"/>
          </a:xfrm>
        </p:grpSpPr>
        <p:sp>
          <p:nvSpPr>
            <p:cNvPr id="6" name="Rectangle 5">
              <a:extLst>
                <a:ext uri="{FF2B5EF4-FFF2-40B4-BE49-F238E27FC236}">
                  <a16:creationId xmlns:a16="http://schemas.microsoft.com/office/drawing/2014/main" id="{CF3D2479-CE89-4CB5-8FEA-404A38BE0A6D}"/>
                </a:ext>
              </a:extLst>
            </p:cNvPr>
            <p:cNvSpPr/>
            <p:nvPr/>
          </p:nvSpPr>
          <p:spPr>
            <a:xfrm>
              <a:off x="-1596478" y="2046801"/>
              <a:ext cx="2653138" cy="2931561"/>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3A5B8F7-1CE5-4600-AC94-1A4F12A761C0}"/>
                </a:ext>
              </a:extLst>
            </p:cNvPr>
            <p:cNvSpPr txBox="1"/>
            <p:nvPr/>
          </p:nvSpPr>
          <p:spPr>
            <a:xfrm>
              <a:off x="-1373015" y="4219521"/>
              <a:ext cx="2118731" cy="399111"/>
            </a:xfrm>
            <a:prstGeom prst="rect">
              <a:avLst/>
            </a:prstGeom>
            <a:noFill/>
            <a:ln>
              <a:noFill/>
            </a:ln>
          </p:spPr>
          <p:txBody>
            <a:bodyPr wrap="square" rtlCol="0" anchor="ctr">
              <a:spAutoFit/>
            </a:bodyPr>
            <a:lstStyle/>
            <a:p>
              <a:pPr algn="ctr"/>
              <a:r>
                <a:rPr lang="en-US" sz="2400" dirty="0"/>
                <a:t>Text-to-text</a:t>
              </a:r>
            </a:p>
          </p:txBody>
        </p:sp>
      </p:grpSp>
      <p:sp>
        <p:nvSpPr>
          <p:cNvPr id="10" name="TextBox 9">
            <a:extLst>
              <a:ext uri="{FF2B5EF4-FFF2-40B4-BE49-F238E27FC236}">
                <a16:creationId xmlns:a16="http://schemas.microsoft.com/office/drawing/2014/main" id="{D2CC7C93-4FC4-4FAF-98F8-373ABD55820B}"/>
              </a:ext>
            </a:extLst>
          </p:cNvPr>
          <p:cNvSpPr txBox="1"/>
          <p:nvPr/>
        </p:nvSpPr>
        <p:spPr>
          <a:xfrm>
            <a:off x="4441371" y="4556917"/>
            <a:ext cx="3309257" cy="461665"/>
          </a:xfrm>
          <a:prstGeom prst="rect">
            <a:avLst/>
          </a:prstGeom>
          <a:noFill/>
          <a:ln>
            <a:noFill/>
          </a:ln>
        </p:spPr>
        <p:txBody>
          <a:bodyPr wrap="square" rtlCol="0" anchor="ctr">
            <a:spAutoFit/>
          </a:bodyPr>
          <a:lstStyle/>
          <a:p>
            <a:pPr algn="ctr"/>
            <a:r>
              <a:rPr lang="en-US" sz="2400" dirty="0"/>
              <a:t>Text-to-embeddings</a:t>
            </a:r>
          </a:p>
        </p:txBody>
      </p:sp>
      <p:sp>
        <p:nvSpPr>
          <p:cNvPr id="11" name="TextBox 10">
            <a:extLst>
              <a:ext uri="{FF2B5EF4-FFF2-40B4-BE49-F238E27FC236}">
                <a16:creationId xmlns:a16="http://schemas.microsoft.com/office/drawing/2014/main" id="{E75D8C9E-3E56-480A-9EB0-B45638658191}"/>
              </a:ext>
            </a:extLst>
          </p:cNvPr>
          <p:cNvSpPr txBox="1"/>
          <p:nvPr/>
        </p:nvSpPr>
        <p:spPr>
          <a:xfrm>
            <a:off x="8427917" y="4556916"/>
            <a:ext cx="3309257" cy="461665"/>
          </a:xfrm>
          <a:prstGeom prst="rect">
            <a:avLst/>
          </a:prstGeom>
          <a:noFill/>
          <a:ln>
            <a:noFill/>
          </a:ln>
        </p:spPr>
        <p:txBody>
          <a:bodyPr wrap="square" rtlCol="0" anchor="ctr">
            <a:spAutoFit/>
          </a:bodyPr>
          <a:lstStyle/>
          <a:p>
            <a:pPr algn="ctr"/>
            <a:r>
              <a:rPr lang="en-US" sz="2400" dirty="0"/>
              <a:t>Multimodal</a:t>
            </a:r>
          </a:p>
        </p:txBody>
      </p:sp>
      <p:pic>
        <p:nvPicPr>
          <p:cNvPr id="9" name="Picture 8">
            <a:extLst>
              <a:ext uri="{FF2B5EF4-FFF2-40B4-BE49-F238E27FC236}">
                <a16:creationId xmlns:a16="http://schemas.microsoft.com/office/drawing/2014/main" id="{5D5ED7AB-A480-4324-B934-4C9AA6D37562}"/>
              </a:ext>
            </a:extLst>
          </p:cNvPr>
          <p:cNvPicPr>
            <a:picLocks noChangeAspect="1"/>
          </p:cNvPicPr>
          <p:nvPr/>
        </p:nvPicPr>
        <p:blipFill>
          <a:blip r:embed="rId4">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249034" y="2499621"/>
            <a:ext cx="1563139" cy="1848874"/>
          </a:xfrm>
          <a:prstGeom prst="rect">
            <a:avLst/>
          </a:prstGeom>
        </p:spPr>
      </p:pic>
      <p:pic>
        <p:nvPicPr>
          <p:cNvPr id="13" name="Picture 12">
            <a:extLst>
              <a:ext uri="{FF2B5EF4-FFF2-40B4-BE49-F238E27FC236}">
                <a16:creationId xmlns:a16="http://schemas.microsoft.com/office/drawing/2014/main" id="{D7E8410D-A852-4B3B-BB91-04531AE41E2D}"/>
              </a:ext>
            </a:extLst>
          </p:cNvPr>
          <p:cNvPicPr>
            <a:picLocks noChangeAspect="1"/>
          </p:cNvPicPr>
          <p:nvPr/>
        </p:nvPicPr>
        <p:blipFill>
          <a:blip r:embed="rId5">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5246275" y="2508543"/>
            <a:ext cx="1786537" cy="1902084"/>
          </a:xfrm>
          <a:prstGeom prst="rect">
            <a:avLst/>
          </a:prstGeom>
        </p:spPr>
      </p:pic>
      <p:pic>
        <p:nvPicPr>
          <p:cNvPr id="15" name="Picture 14">
            <a:extLst>
              <a:ext uri="{FF2B5EF4-FFF2-40B4-BE49-F238E27FC236}">
                <a16:creationId xmlns:a16="http://schemas.microsoft.com/office/drawing/2014/main" id="{1EC14A33-2062-435A-AE61-667640D9C4C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26223" y="2508711"/>
            <a:ext cx="1912646" cy="1839784"/>
          </a:xfrm>
          <a:prstGeom prst="rect">
            <a:avLst/>
          </a:prstGeom>
        </p:spPr>
      </p:pic>
      <p:sp>
        <p:nvSpPr>
          <p:cNvPr id="17" name="Rectangle 16">
            <a:extLst>
              <a:ext uri="{FF2B5EF4-FFF2-40B4-BE49-F238E27FC236}">
                <a16:creationId xmlns:a16="http://schemas.microsoft.com/office/drawing/2014/main" id="{82BB6194-FEAD-4FBE-8B64-FB2566C57EAC}"/>
              </a:ext>
            </a:extLst>
          </p:cNvPr>
          <p:cNvSpPr/>
          <p:nvPr/>
        </p:nvSpPr>
        <p:spPr>
          <a:xfrm>
            <a:off x="4350596" y="2066857"/>
            <a:ext cx="3490808" cy="3391036"/>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33FF455-6C1F-4525-9FEA-E7ACEC8AB546}"/>
              </a:ext>
            </a:extLst>
          </p:cNvPr>
          <p:cNvSpPr/>
          <p:nvPr/>
        </p:nvSpPr>
        <p:spPr>
          <a:xfrm>
            <a:off x="8313014" y="2066857"/>
            <a:ext cx="3490808" cy="3391036"/>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11y_slide_end" descr="Notes Section.">
            <a:extLst>
              <a:ext uri="{FF2B5EF4-FFF2-40B4-BE49-F238E27FC236}">
                <a16:creationId xmlns:a16="http://schemas.microsoft.com/office/drawing/2014/main" id="{DB1196CC-0EB8-46BD-80E7-43172AFD68BC}"/>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37282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EFA9E1DE-D071-4E4F-8177-C32CA3B3DA70}"/>
              </a:ext>
            </a:extLst>
          </p:cNvPr>
          <p:cNvSpPr>
            <a:spLocks noGrp="1"/>
          </p:cNvSpPr>
          <p:nvPr>
            <p:ph type="sldNum" idx="97"/>
          </p:nvPr>
        </p:nvSpPr>
        <p:spPr/>
        <p:txBody>
          <a:bodyPr/>
          <a:lstStyle/>
          <a:p>
            <a:fld id="{4037B1B0-0345-4E15-985A-6BECCDBE474F}" type="slidenum">
              <a:rPr lang="en-US" smtClean="0"/>
              <a:pPr/>
              <a:t>40</a:t>
            </a:fld>
            <a:endParaRPr lang="en-US" dirty="0"/>
          </a:p>
        </p:txBody>
      </p:sp>
      <p:sp>
        <p:nvSpPr>
          <p:cNvPr id="3" name="Title">
            <a:extLst>
              <a:ext uri="{FF2B5EF4-FFF2-40B4-BE49-F238E27FC236}">
                <a16:creationId xmlns:a16="http://schemas.microsoft.com/office/drawing/2014/main" id="{56D7509E-F856-429F-9237-DD73EFCB9A73}"/>
              </a:ext>
            </a:extLst>
          </p:cNvPr>
          <p:cNvSpPr>
            <a:spLocks noGrp="1"/>
          </p:cNvSpPr>
          <p:nvPr>
            <p:ph type="title" idx="1"/>
          </p:nvPr>
        </p:nvSpPr>
        <p:spPr/>
        <p:txBody>
          <a:bodyPr/>
          <a:lstStyle/>
          <a:p>
            <a:r>
              <a:rPr lang="en-US" dirty="0"/>
              <a:t>What is prompt engineering?</a:t>
            </a:r>
          </a:p>
        </p:txBody>
      </p:sp>
      <p:sp>
        <p:nvSpPr>
          <p:cNvPr id="4" name="TextBox 3">
            <a:extLst>
              <a:ext uri="{FF2B5EF4-FFF2-40B4-BE49-F238E27FC236}">
                <a16:creationId xmlns:a16="http://schemas.microsoft.com/office/drawing/2014/main" id="{ABA41163-EF72-484D-807B-AE0C2962F0DA}"/>
              </a:ext>
            </a:extLst>
          </p:cNvPr>
          <p:cNvSpPr txBox="1"/>
          <p:nvPr/>
        </p:nvSpPr>
        <p:spPr>
          <a:xfrm>
            <a:off x="1343277" y="1391830"/>
            <a:ext cx="1942089" cy="830997"/>
          </a:xfrm>
          <a:prstGeom prst="rect">
            <a:avLst/>
          </a:prstGeom>
          <a:noFill/>
        </p:spPr>
        <p:txBody>
          <a:bodyPr wrap="square" rtlCol="0">
            <a:spAutoFit/>
          </a:bodyPr>
          <a:lstStyle/>
          <a:p>
            <a:r>
              <a:rPr lang="en-US" sz="2400" dirty="0"/>
              <a:t>Prompt engineering</a:t>
            </a:r>
          </a:p>
        </p:txBody>
      </p:sp>
      <p:sp>
        <p:nvSpPr>
          <p:cNvPr id="6" name="TextBox 5">
            <a:extLst>
              <a:ext uri="{FF2B5EF4-FFF2-40B4-BE49-F238E27FC236}">
                <a16:creationId xmlns:a16="http://schemas.microsoft.com/office/drawing/2014/main" id="{B40D5A2B-ED2B-4CDD-9054-8D749CC244BF}"/>
              </a:ext>
            </a:extLst>
          </p:cNvPr>
          <p:cNvSpPr txBox="1"/>
          <p:nvPr/>
        </p:nvSpPr>
        <p:spPr>
          <a:xfrm>
            <a:off x="1121083" y="5211905"/>
            <a:ext cx="2386475" cy="830997"/>
          </a:xfrm>
          <a:prstGeom prst="rect">
            <a:avLst/>
          </a:prstGeom>
          <a:noFill/>
        </p:spPr>
        <p:txBody>
          <a:bodyPr wrap="square" rtlCol="0">
            <a:spAutoFit/>
          </a:bodyPr>
          <a:lstStyle/>
          <a:p>
            <a:pPr algn="ctr"/>
            <a:r>
              <a:rPr lang="en-US" sz="2400" dirty="0"/>
              <a:t>Design and refine prompts</a:t>
            </a:r>
          </a:p>
        </p:txBody>
      </p:sp>
      <p:sp>
        <p:nvSpPr>
          <p:cNvPr id="7" name="TextBox 6">
            <a:extLst>
              <a:ext uri="{FF2B5EF4-FFF2-40B4-BE49-F238E27FC236}">
                <a16:creationId xmlns:a16="http://schemas.microsoft.com/office/drawing/2014/main" id="{019BBA95-C1ED-4935-AF73-4D7A4A1EBE9B}"/>
              </a:ext>
            </a:extLst>
          </p:cNvPr>
          <p:cNvSpPr txBox="1"/>
          <p:nvPr/>
        </p:nvSpPr>
        <p:spPr>
          <a:xfrm>
            <a:off x="4596277" y="5396570"/>
            <a:ext cx="2794110" cy="461665"/>
          </a:xfrm>
          <a:prstGeom prst="rect">
            <a:avLst/>
          </a:prstGeom>
          <a:noFill/>
        </p:spPr>
        <p:txBody>
          <a:bodyPr wrap="square" rtlCol="0">
            <a:spAutoFit/>
          </a:bodyPr>
          <a:lstStyle/>
          <a:p>
            <a:pPr algn="ctr"/>
            <a:r>
              <a:rPr lang="en-US" sz="2400" dirty="0"/>
              <a:t>Foundation model</a:t>
            </a:r>
          </a:p>
        </p:txBody>
      </p:sp>
      <p:pic>
        <p:nvPicPr>
          <p:cNvPr id="9" name="Graphic 8">
            <a:extLst>
              <a:ext uri="{FF2B5EF4-FFF2-40B4-BE49-F238E27FC236}">
                <a16:creationId xmlns:a16="http://schemas.microsoft.com/office/drawing/2014/main" id="{A896F7CF-FE66-4ABE-882C-76BE14A6F0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63516" y="2028513"/>
            <a:ext cx="3268009" cy="3467723"/>
          </a:xfrm>
          <a:prstGeom prst="rect">
            <a:avLst/>
          </a:prstGeom>
        </p:spPr>
      </p:pic>
      <p:pic>
        <p:nvPicPr>
          <p:cNvPr id="10" name="Picture 9">
            <a:extLst>
              <a:ext uri="{FF2B5EF4-FFF2-40B4-BE49-F238E27FC236}">
                <a16:creationId xmlns:a16="http://schemas.microsoft.com/office/drawing/2014/main" id="{887C238B-9B3C-4FBA-87E6-A8700D8809C3}"/>
              </a:ext>
            </a:extLst>
          </p:cNvPr>
          <p:cNvPicPr>
            <a:picLocks noChangeAspect="1"/>
          </p:cNvPicPr>
          <p:nvPr/>
        </p:nvPicPr>
        <p:blipFill>
          <a:blip r:embed="rId6">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087870" y="2594691"/>
            <a:ext cx="2419688" cy="2419688"/>
          </a:xfrm>
          <a:prstGeom prst="rect">
            <a:avLst/>
          </a:prstGeom>
        </p:spPr>
      </p:pic>
      <p:pic>
        <p:nvPicPr>
          <p:cNvPr id="14" name="Picture 13">
            <a:extLst>
              <a:ext uri="{FF2B5EF4-FFF2-40B4-BE49-F238E27FC236}">
                <a16:creationId xmlns:a16="http://schemas.microsoft.com/office/drawing/2014/main" id="{6F15CDF9-8A72-477C-9077-AED85E2652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0363" y="1209806"/>
            <a:ext cx="1013022" cy="1013022"/>
          </a:xfrm>
          <a:prstGeom prst="rect">
            <a:avLst/>
          </a:prstGeom>
        </p:spPr>
      </p:pic>
      <p:sp>
        <p:nvSpPr>
          <p:cNvPr id="15" name="Rectangle 14">
            <a:extLst>
              <a:ext uri="{FF2B5EF4-FFF2-40B4-BE49-F238E27FC236}">
                <a16:creationId xmlns:a16="http://schemas.microsoft.com/office/drawing/2014/main" id="{4F79371A-B937-43A2-A6E3-E0E1F0DBDF6E}"/>
              </a:ext>
            </a:extLst>
          </p:cNvPr>
          <p:cNvSpPr/>
          <p:nvPr/>
        </p:nvSpPr>
        <p:spPr>
          <a:xfrm>
            <a:off x="360363" y="1209806"/>
            <a:ext cx="11405456" cy="5063559"/>
          </a:xfrm>
          <a:prstGeom prst="rect">
            <a:avLst/>
          </a:prstGeom>
          <a:noFill/>
          <a:ln w="38100">
            <a:solidFill>
              <a:schemeClr val="tx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51E2A7A4-A2EC-4C05-BCD3-C8F0ADFBA41A}"/>
              </a:ext>
            </a:extLst>
          </p:cNvPr>
          <p:cNvSpPr txBox="1"/>
          <p:nvPr/>
        </p:nvSpPr>
        <p:spPr>
          <a:xfrm>
            <a:off x="8140848" y="5200641"/>
            <a:ext cx="2794110" cy="830997"/>
          </a:xfrm>
          <a:prstGeom prst="rect">
            <a:avLst/>
          </a:prstGeom>
          <a:noFill/>
        </p:spPr>
        <p:txBody>
          <a:bodyPr wrap="square" rtlCol="0">
            <a:spAutoFit/>
          </a:bodyPr>
          <a:lstStyle/>
          <a:p>
            <a:pPr algn="ctr"/>
            <a:r>
              <a:rPr lang="en-US" sz="2400" dirty="0"/>
              <a:t>Generate specific types of output</a:t>
            </a:r>
          </a:p>
        </p:txBody>
      </p:sp>
      <p:pic>
        <p:nvPicPr>
          <p:cNvPr id="16" name="Graphic 15">
            <a:extLst>
              <a:ext uri="{FF2B5EF4-FFF2-40B4-BE49-F238E27FC236}">
                <a16:creationId xmlns:a16="http://schemas.microsoft.com/office/drawing/2014/main" id="{24790CF6-0DF6-466C-9531-F89E9A47E0B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034955" y="2301587"/>
            <a:ext cx="3005895" cy="3005895"/>
          </a:xfrm>
          <a:prstGeom prst="rect">
            <a:avLst/>
          </a:prstGeom>
        </p:spPr>
      </p:pic>
      <p:sp>
        <p:nvSpPr>
          <p:cNvPr id="5" name="a11y_slide_end" descr="Notes Section.">
            <a:extLst>
              <a:ext uri="{FF2B5EF4-FFF2-40B4-BE49-F238E27FC236}">
                <a16:creationId xmlns:a16="http://schemas.microsoft.com/office/drawing/2014/main" id="{8DDD6AA4-2764-4796-8632-7372C9E1894E}"/>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8069639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3A405E6-0C4C-4D2A-9F18-B834B44CC417}"/>
              </a:ext>
            </a:extLst>
          </p:cNvPr>
          <p:cNvSpPr>
            <a:spLocks noGrp="1"/>
          </p:cNvSpPr>
          <p:nvPr>
            <p:ph type="sldNum" idx="97"/>
          </p:nvPr>
        </p:nvSpPr>
        <p:spPr/>
        <p:txBody>
          <a:bodyPr/>
          <a:lstStyle/>
          <a:p>
            <a:fld id="{4037B1B0-0345-4E15-985A-6BECCDBE474F}" type="slidenum">
              <a:rPr lang="en-US" smtClean="0"/>
              <a:pPr/>
              <a:t>41</a:t>
            </a:fld>
            <a:endParaRPr lang="en-US" dirty="0"/>
          </a:p>
        </p:txBody>
      </p:sp>
      <p:sp>
        <p:nvSpPr>
          <p:cNvPr id="3" name="Title">
            <a:extLst>
              <a:ext uri="{FF2B5EF4-FFF2-40B4-BE49-F238E27FC236}">
                <a16:creationId xmlns:a16="http://schemas.microsoft.com/office/drawing/2014/main" id="{E7669387-5519-4082-AE30-EB62F2FF21DD}"/>
              </a:ext>
            </a:extLst>
          </p:cNvPr>
          <p:cNvSpPr>
            <a:spLocks noGrp="1"/>
          </p:cNvSpPr>
          <p:nvPr>
            <p:ph type="title" idx="1"/>
          </p:nvPr>
        </p:nvSpPr>
        <p:spPr/>
        <p:txBody>
          <a:bodyPr/>
          <a:lstStyle/>
          <a:p>
            <a:r>
              <a:rPr lang="en-US" dirty="0"/>
              <a:t>Example of a prompt </a:t>
            </a:r>
          </a:p>
        </p:txBody>
      </p:sp>
      <p:pic>
        <p:nvPicPr>
          <p:cNvPr id="5" name="Graphic 4">
            <a:extLst>
              <a:ext uri="{FF2B5EF4-FFF2-40B4-BE49-F238E27FC236}">
                <a16:creationId xmlns:a16="http://schemas.microsoft.com/office/drawing/2014/main" id="{21CEEEC4-D802-4D1D-9E72-8F5BCD7076B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07040" y="2489689"/>
            <a:ext cx="2437161" cy="2472370"/>
          </a:xfrm>
          <a:prstGeom prst="rect">
            <a:avLst/>
          </a:prstGeom>
        </p:spPr>
      </p:pic>
      <p:sp>
        <p:nvSpPr>
          <p:cNvPr id="10" name="Arrow">
            <a:extLst>
              <a:ext uri="{FF2B5EF4-FFF2-40B4-BE49-F238E27FC236}">
                <a16:creationId xmlns:a16="http://schemas.microsoft.com/office/drawing/2014/main" id="{FB2E55A3-7BF8-4380-994D-3760D2789123}"/>
              </a:ext>
              <a:ext uri="{C183D7F6-B498-43B3-948B-1728B52AA6E4}">
                <adec:decorative xmlns:adec="http://schemas.microsoft.com/office/drawing/2017/decorative" val="1"/>
              </a:ext>
            </a:extLst>
          </p:cNvPr>
          <p:cNvSpPr/>
          <p:nvPr/>
        </p:nvSpPr>
        <p:spPr>
          <a:xfrm>
            <a:off x="4089062" y="3510530"/>
            <a:ext cx="617221" cy="381383"/>
          </a:xfrm>
          <a:prstGeom prst="rightArrow">
            <a:avLst/>
          </a:prstGeom>
          <a:solidFill>
            <a:schemeClr val="accent4"/>
          </a:solidFill>
          <a:ln w="12700">
            <a:solidFill>
              <a:srgbClr val="232F3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Arrow">
            <a:extLst>
              <a:ext uri="{FF2B5EF4-FFF2-40B4-BE49-F238E27FC236}">
                <a16:creationId xmlns:a16="http://schemas.microsoft.com/office/drawing/2014/main" id="{3039D6D4-0268-4D84-849B-587DDD2C63BE}"/>
              </a:ext>
              <a:ext uri="{C183D7F6-B498-43B3-948B-1728B52AA6E4}">
                <adec:decorative xmlns:adec="http://schemas.microsoft.com/office/drawing/2017/decorative" val="1"/>
              </a:ext>
            </a:extLst>
          </p:cNvPr>
          <p:cNvSpPr/>
          <p:nvPr/>
        </p:nvSpPr>
        <p:spPr>
          <a:xfrm>
            <a:off x="7244201" y="3549103"/>
            <a:ext cx="617221" cy="381383"/>
          </a:xfrm>
          <a:prstGeom prst="rightArrow">
            <a:avLst/>
          </a:prstGeom>
          <a:solidFill>
            <a:schemeClr val="accent4"/>
          </a:solidFill>
          <a:ln w="12700">
            <a:solidFill>
              <a:srgbClr val="232F3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7A08C9C3-4355-4AC0-B27F-4A109CA911A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0362" y="1751233"/>
            <a:ext cx="3899975" cy="3899975"/>
          </a:xfrm>
          <a:prstGeom prst="rect">
            <a:avLst/>
          </a:prstGeom>
        </p:spPr>
      </p:pic>
      <p:pic>
        <p:nvPicPr>
          <p:cNvPr id="13" name="Graphic 12">
            <a:extLst>
              <a:ext uri="{FF2B5EF4-FFF2-40B4-BE49-F238E27FC236}">
                <a16:creationId xmlns:a16="http://schemas.microsoft.com/office/drawing/2014/main" id="{1AE1EBAF-2934-49EB-928B-E7B780CCEDC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926850" y="1751233"/>
            <a:ext cx="3899974" cy="3899974"/>
          </a:xfrm>
          <a:prstGeom prst="rect">
            <a:avLst/>
          </a:prstGeom>
        </p:spPr>
      </p:pic>
      <p:sp>
        <p:nvSpPr>
          <p:cNvPr id="6" name="TextBox 5">
            <a:extLst>
              <a:ext uri="{FF2B5EF4-FFF2-40B4-BE49-F238E27FC236}">
                <a16:creationId xmlns:a16="http://schemas.microsoft.com/office/drawing/2014/main" id="{EB5E0DF7-884E-4826-A85B-50540F0F6A5D}"/>
              </a:ext>
            </a:extLst>
          </p:cNvPr>
          <p:cNvSpPr txBox="1"/>
          <p:nvPr/>
        </p:nvSpPr>
        <p:spPr>
          <a:xfrm>
            <a:off x="1197721" y="2993334"/>
            <a:ext cx="2027027" cy="707886"/>
          </a:xfrm>
          <a:prstGeom prst="rect">
            <a:avLst/>
          </a:prstGeom>
          <a:noFill/>
        </p:spPr>
        <p:txBody>
          <a:bodyPr wrap="square" rtlCol="0">
            <a:spAutoFit/>
          </a:bodyPr>
          <a:lstStyle/>
          <a:p>
            <a:r>
              <a:rPr lang="en-US" sz="2000" dirty="0">
                <a:solidFill>
                  <a:schemeClr val="tx2"/>
                </a:solidFill>
              </a:rPr>
              <a:t>Where is Japan located?</a:t>
            </a:r>
          </a:p>
        </p:txBody>
      </p:sp>
      <p:sp>
        <p:nvSpPr>
          <p:cNvPr id="14" name="TextBox 13">
            <a:extLst>
              <a:ext uri="{FF2B5EF4-FFF2-40B4-BE49-F238E27FC236}">
                <a16:creationId xmlns:a16="http://schemas.microsoft.com/office/drawing/2014/main" id="{135B6375-4659-4971-A31D-DCE0EB2D32A3}"/>
              </a:ext>
            </a:extLst>
          </p:cNvPr>
          <p:cNvSpPr txBox="1"/>
          <p:nvPr/>
        </p:nvSpPr>
        <p:spPr>
          <a:xfrm>
            <a:off x="4807040" y="5101670"/>
            <a:ext cx="2537918" cy="400110"/>
          </a:xfrm>
          <a:prstGeom prst="rect">
            <a:avLst/>
          </a:prstGeom>
          <a:noFill/>
        </p:spPr>
        <p:txBody>
          <a:bodyPr wrap="square" rtlCol="0">
            <a:spAutoFit/>
          </a:bodyPr>
          <a:lstStyle/>
          <a:p>
            <a:pPr algn="ctr"/>
            <a:r>
              <a:rPr lang="en-US" sz="2000" dirty="0">
                <a:solidFill>
                  <a:schemeClr val="tx2"/>
                </a:solidFill>
              </a:rPr>
              <a:t>LLM</a:t>
            </a:r>
          </a:p>
        </p:txBody>
      </p:sp>
      <p:sp>
        <p:nvSpPr>
          <p:cNvPr id="15" name="TextBox 14">
            <a:extLst>
              <a:ext uri="{FF2B5EF4-FFF2-40B4-BE49-F238E27FC236}">
                <a16:creationId xmlns:a16="http://schemas.microsoft.com/office/drawing/2014/main" id="{5B098DBD-DC16-4F77-8860-5733BD84A87E}"/>
              </a:ext>
            </a:extLst>
          </p:cNvPr>
          <p:cNvSpPr txBox="1"/>
          <p:nvPr/>
        </p:nvSpPr>
        <p:spPr>
          <a:xfrm>
            <a:off x="9320677" y="5101670"/>
            <a:ext cx="2027027" cy="400110"/>
          </a:xfrm>
          <a:prstGeom prst="rect">
            <a:avLst/>
          </a:prstGeom>
          <a:noFill/>
        </p:spPr>
        <p:txBody>
          <a:bodyPr wrap="square" rtlCol="0">
            <a:spAutoFit/>
          </a:bodyPr>
          <a:lstStyle/>
          <a:p>
            <a:r>
              <a:rPr lang="en-US" sz="2000" dirty="0">
                <a:solidFill>
                  <a:schemeClr val="tx2"/>
                </a:solidFill>
              </a:rPr>
              <a:t>Output</a:t>
            </a:r>
          </a:p>
        </p:txBody>
      </p:sp>
      <p:sp>
        <p:nvSpPr>
          <p:cNvPr id="16" name="TextBox 15">
            <a:extLst>
              <a:ext uri="{FF2B5EF4-FFF2-40B4-BE49-F238E27FC236}">
                <a16:creationId xmlns:a16="http://schemas.microsoft.com/office/drawing/2014/main" id="{B45B6666-6A0A-4890-84B6-135FE361F78F}"/>
              </a:ext>
            </a:extLst>
          </p:cNvPr>
          <p:cNvSpPr txBox="1"/>
          <p:nvPr/>
        </p:nvSpPr>
        <p:spPr>
          <a:xfrm>
            <a:off x="1197722" y="5158286"/>
            <a:ext cx="2027027" cy="400110"/>
          </a:xfrm>
          <a:prstGeom prst="rect">
            <a:avLst/>
          </a:prstGeom>
          <a:noFill/>
        </p:spPr>
        <p:txBody>
          <a:bodyPr wrap="square" rtlCol="0">
            <a:spAutoFit/>
          </a:bodyPr>
          <a:lstStyle/>
          <a:p>
            <a:pPr algn="ctr"/>
            <a:r>
              <a:rPr lang="en-US" sz="2000" dirty="0">
                <a:solidFill>
                  <a:schemeClr val="tx2"/>
                </a:solidFill>
              </a:rPr>
              <a:t>Prompt</a:t>
            </a:r>
          </a:p>
        </p:txBody>
      </p:sp>
      <p:sp>
        <p:nvSpPr>
          <p:cNvPr id="17" name="TextBox 16">
            <a:extLst>
              <a:ext uri="{FF2B5EF4-FFF2-40B4-BE49-F238E27FC236}">
                <a16:creationId xmlns:a16="http://schemas.microsoft.com/office/drawing/2014/main" id="{95D7E84B-A379-4E62-B132-864692A4CBE6}"/>
              </a:ext>
            </a:extLst>
          </p:cNvPr>
          <p:cNvSpPr txBox="1"/>
          <p:nvPr/>
        </p:nvSpPr>
        <p:spPr>
          <a:xfrm>
            <a:off x="8772695" y="2839445"/>
            <a:ext cx="2208283" cy="1015663"/>
          </a:xfrm>
          <a:prstGeom prst="rect">
            <a:avLst/>
          </a:prstGeom>
          <a:noFill/>
        </p:spPr>
        <p:txBody>
          <a:bodyPr wrap="square" rtlCol="0">
            <a:spAutoFit/>
          </a:bodyPr>
          <a:lstStyle/>
          <a:p>
            <a:r>
              <a:rPr lang="en-US" sz="2000" dirty="0">
                <a:solidFill>
                  <a:schemeClr val="tx2"/>
                </a:solidFill>
              </a:rPr>
              <a:t>Japan is located in the northwest Pacific ocean.</a:t>
            </a:r>
          </a:p>
        </p:txBody>
      </p:sp>
      <p:sp>
        <p:nvSpPr>
          <p:cNvPr id="4" name="a11y_slide_end" descr="Notes Section.">
            <a:extLst>
              <a:ext uri="{FF2B5EF4-FFF2-40B4-BE49-F238E27FC236}">
                <a16:creationId xmlns:a16="http://schemas.microsoft.com/office/drawing/2014/main" id="{CA3B8A45-40DE-4EBE-BE71-5646449F90D2}"/>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330666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3A405E6-0C4C-4D2A-9F18-B834B44CC417}"/>
              </a:ext>
            </a:extLst>
          </p:cNvPr>
          <p:cNvSpPr>
            <a:spLocks noGrp="1"/>
          </p:cNvSpPr>
          <p:nvPr>
            <p:ph type="sldNum" idx="97"/>
          </p:nvPr>
        </p:nvSpPr>
        <p:spPr/>
        <p:txBody>
          <a:bodyPr/>
          <a:lstStyle/>
          <a:p>
            <a:fld id="{4037B1B0-0345-4E15-985A-6BECCDBE474F}" type="slidenum">
              <a:rPr lang="en-US" smtClean="0"/>
              <a:pPr/>
              <a:t>42</a:t>
            </a:fld>
            <a:endParaRPr lang="en-US" dirty="0"/>
          </a:p>
        </p:txBody>
      </p:sp>
      <p:sp>
        <p:nvSpPr>
          <p:cNvPr id="3" name="Title">
            <a:extLst>
              <a:ext uri="{FF2B5EF4-FFF2-40B4-BE49-F238E27FC236}">
                <a16:creationId xmlns:a16="http://schemas.microsoft.com/office/drawing/2014/main" id="{E7669387-5519-4082-AE30-EB62F2FF21DD}"/>
              </a:ext>
            </a:extLst>
          </p:cNvPr>
          <p:cNvSpPr>
            <a:spLocks noGrp="1"/>
          </p:cNvSpPr>
          <p:nvPr>
            <p:ph type="title" idx="1"/>
          </p:nvPr>
        </p:nvSpPr>
        <p:spPr/>
        <p:txBody>
          <a:bodyPr/>
          <a:lstStyle/>
          <a:p>
            <a:r>
              <a:rPr lang="en-US" dirty="0"/>
              <a:t>Prompt engineering refinement</a:t>
            </a:r>
          </a:p>
        </p:txBody>
      </p:sp>
      <p:grpSp>
        <p:nvGrpSpPr>
          <p:cNvPr id="8" name="Group 7">
            <a:extLst>
              <a:ext uri="{FF2B5EF4-FFF2-40B4-BE49-F238E27FC236}">
                <a16:creationId xmlns:a16="http://schemas.microsoft.com/office/drawing/2014/main" id="{B65E4C75-67C4-489F-8C4C-132E6B17B65F}"/>
              </a:ext>
            </a:extLst>
          </p:cNvPr>
          <p:cNvGrpSpPr/>
          <p:nvPr/>
        </p:nvGrpSpPr>
        <p:grpSpPr>
          <a:xfrm>
            <a:off x="417163" y="2066857"/>
            <a:ext cx="2653138" cy="2931561"/>
            <a:chOff x="417163" y="2066857"/>
            <a:chExt cx="2653138" cy="2931561"/>
          </a:xfrm>
        </p:grpSpPr>
        <p:sp>
          <p:nvSpPr>
            <p:cNvPr id="4" name="Rectangle 3">
              <a:extLst>
                <a:ext uri="{FF2B5EF4-FFF2-40B4-BE49-F238E27FC236}">
                  <a16:creationId xmlns:a16="http://schemas.microsoft.com/office/drawing/2014/main" id="{FA130376-B59A-4214-A624-CD0C867EBB81}"/>
                </a:ext>
              </a:extLst>
            </p:cNvPr>
            <p:cNvSpPr/>
            <p:nvPr/>
          </p:nvSpPr>
          <p:spPr>
            <a:xfrm>
              <a:off x="417163" y="2066857"/>
              <a:ext cx="2653138" cy="2931561"/>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550300F-6A69-458C-88F8-BDFD29B41D3D}"/>
                </a:ext>
              </a:extLst>
            </p:cNvPr>
            <p:cNvSpPr txBox="1"/>
            <p:nvPr/>
          </p:nvSpPr>
          <p:spPr>
            <a:xfrm>
              <a:off x="684367" y="4273073"/>
              <a:ext cx="2118731" cy="461665"/>
            </a:xfrm>
            <a:prstGeom prst="rect">
              <a:avLst/>
            </a:prstGeom>
            <a:noFill/>
            <a:ln>
              <a:noFill/>
            </a:ln>
          </p:spPr>
          <p:txBody>
            <a:bodyPr wrap="square" rtlCol="0" anchor="ctr">
              <a:spAutoFit/>
            </a:bodyPr>
            <a:lstStyle/>
            <a:p>
              <a:pPr algn="ctr"/>
              <a:r>
                <a:rPr lang="en-US" sz="2400" dirty="0"/>
                <a:t>Instructions</a:t>
              </a:r>
            </a:p>
          </p:txBody>
        </p:sp>
      </p:grpSp>
      <p:grpSp>
        <p:nvGrpSpPr>
          <p:cNvPr id="9" name="Group 8">
            <a:extLst>
              <a:ext uri="{FF2B5EF4-FFF2-40B4-BE49-F238E27FC236}">
                <a16:creationId xmlns:a16="http://schemas.microsoft.com/office/drawing/2014/main" id="{A7DE35AB-6BC5-4EB9-99C9-5A13C8BA51CD}"/>
              </a:ext>
            </a:extLst>
          </p:cNvPr>
          <p:cNvGrpSpPr/>
          <p:nvPr/>
        </p:nvGrpSpPr>
        <p:grpSpPr>
          <a:xfrm>
            <a:off x="3318675" y="2066857"/>
            <a:ext cx="2653138" cy="2931561"/>
            <a:chOff x="417163" y="2066857"/>
            <a:chExt cx="2653138" cy="2931561"/>
          </a:xfrm>
        </p:grpSpPr>
        <p:sp>
          <p:nvSpPr>
            <p:cNvPr id="10" name="Rectangle 9">
              <a:extLst>
                <a:ext uri="{FF2B5EF4-FFF2-40B4-BE49-F238E27FC236}">
                  <a16:creationId xmlns:a16="http://schemas.microsoft.com/office/drawing/2014/main" id="{95C7E626-4766-465A-BB9C-44264F6C7FC5}"/>
                </a:ext>
              </a:extLst>
            </p:cNvPr>
            <p:cNvSpPr/>
            <p:nvPr/>
          </p:nvSpPr>
          <p:spPr>
            <a:xfrm>
              <a:off x="417163" y="2066857"/>
              <a:ext cx="2653138" cy="2931561"/>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27A46B3-5E01-4F39-BB14-914F8394BF89}"/>
                </a:ext>
              </a:extLst>
            </p:cNvPr>
            <p:cNvSpPr txBox="1"/>
            <p:nvPr/>
          </p:nvSpPr>
          <p:spPr>
            <a:xfrm>
              <a:off x="684367" y="4273073"/>
              <a:ext cx="2118731" cy="461665"/>
            </a:xfrm>
            <a:prstGeom prst="rect">
              <a:avLst/>
            </a:prstGeom>
            <a:noFill/>
            <a:ln>
              <a:noFill/>
            </a:ln>
          </p:spPr>
          <p:txBody>
            <a:bodyPr wrap="square" rtlCol="0" anchor="ctr">
              <a:spAutoFit/>
            </a:bodyPr>
            <a:lstStyle/>
            <a:p>
              <a:pPr algn="ctr"/>
              <a:r>
                <a:rPr lang="en-US" sz="2400" dirty="0"/>
                <a:t>Context</a:t>
              </a:r>
            </a:p>
          </p:txBody>
        </p:sp>
      </p:grpSp>
      <p:grpSp>
        <p:nvGrpSpPr>
          <p:cNvPr id="12" name="Group 11">
            <a:extLst>
              <a:ext uri="{FF2B5EF4-FFF2-40B4-BE49-F238E27FC236}">
                <a16:creationId xmlns:a16="http://schemas.microsoft.com/office/drawing/2014/main" id="{7B78120C-9579-4FCF-A6B4-136B0B15AA7A}"/>
              </a:ext>
            </a:extLst>
          </p:cNvPr>
          <p:cNvGrpSpPr/>
          <p:nvPr/>
        </p:nvGrpSpPr>
        <p:grpSpPr>
          <a:xfrm>
            <a:off x="6220187" y="2066857"/>
            <a:ext cx="2653138" cy="2931561"/>
            <a:chOff x="417163" y="2066857"/>
            <a:chExt cx="2653138" cy="2931561"/>
          </a:xfrm>
        </p:grpSpPr>
        <p:sp>
          <p:nvSpPr>
            <p:cNvPr id="13" name="Rectangle 12">
              <a:extLst>
                <a:ext uri="{FF2B5EF4-FFF2-40B4-BE49-F238E27FC236}">
                  <a16:creationId xmlns:a16="http://schemas.microsoft.com/office/drawing/2014/main" id="{493B7603-6F72-42A6-8948-DFB3F904A73E}"/>
                </a:ext>
              </a:extLst>
            </p:cNvPr>
            <p:cNvSpPr/>
            <p:nvPr/>
          </p:nvSpPr>
          <p:spPr>
            <a:xfrm>
              <a:off x="417163" y="2066857"/>
              <a:ext cx="2653138" cy="2931561"/>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D8247FE-F921-4CB3-A090-DA616EAF3280}"/>
                </a:ext>
              </a:extLst>
            </p:cNvPr>
            <p:cNvSpPr txBox="1"/>
            <p:nvPr/>
          </p:nvSpPr>
          <p:spPr>
            <a:xfrm>
              <a:off x="684367" y="4273073"/>
              <a:ext cx="2118731" cy="461665"/>
            </a:xfrm>
            <a:prstGeom prst="rect">
              <a:avLst/>
            </a:prstGeom>
            <a:noFill/>
            <a:ln>
              <a:noFill/>
            </a:ln>
          </p:spPr>
          <p:txBody>
            <a:bodyPr wrap="square" rtlCol="0" anchor="ctr">
              <a:spAutoFit/>
            </a:bodyPr>
            <a:lstStyle/>
            <a:p>
              <a:pPr algn="ctr"/>
              <a:r>
                <a:rPr lang="en-US" sz="2400" dirty="0"/>
                <a:t>Input data</a:t>
              </a:r>
            </a:p>
          </p:txBody>
        </p:sp>
      </p:grpSp>
      <p:grpSp>
        <p:nvGrpSpPr>
          <p:cNvPr id="15" name="Group 14">
            <a:extLst>
              <a:ext uri="{FF2B5EF4-FFF2-40B4-BE49-F238E27FC236}">
                <a16:creationId xmlns:a16="http://schemas.microsoft.com/office/drawing/2014/main" id="{5582E4BB-0B99-46F4-A5C4-E6D6F3C53831}"/>
              </a:ext>
            </a:extLst>
          </p:cNvPr>
          <p:cNvGrpSpPr/>
          <p:nvPr/>
        </p:nvGrpSpPr>
        <p:grpSpPr>
          <a:xfrm>
            <a:off x="9121699" y="2066856"/>
            <a:ext cx="2653138" cy="2931561"/>
            <a:chOff x="417163" y="2066857"/>
            <a:chExt cx="2653138" cy="2931561"/>
          </a:xfrm>
        </p:grpSpPr>
        <p:sp>
          <p:nvSpPr>
            <p:cNvPr id="16" name="Rectangle 15">
              <a:extLst>
                <a:ext uri="{FF2B5EF4-FFF2-40B4-BE49-F238E27FC236}">
                  <a16:creationId xmlns:a16="http://schemas.microsoft.com/office/drawing/2014/main" id="{AC834802-021F-4770-8EFC-FEF5856332B1}"/>
                </a:ext>
              </a:extLst>
            </p:cNvPr>
            <p:cNvSpPr/>
            <p:nvPr/>
          </p:nvSpPr>
          <p:spPr>
            <a:xfrm>
              <a:off x="417163" y="2066857"/>
              <a:ext cx="2653138" cy="2931561"/>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C20D9AF-FC2B-4697-92AE-6075A3226328}"/>
                </a:ext>
              </a:extLst>
            </p:cNvPr>
            <p:cNvSpPr txBox="1"/>
            <p:nvPr/>
          </p:nvSpPr>
          <p:spPr>
            <a:xfrm>
              <a:off x="684367" y="4088407"/>
              <a:ext cx="2118731" cy="830997"/>
            </a:xfrm>
            <a:prstGeom prst="rect">
              <a:avLst/>
            </a:prstGeom>
            <a:noFill/>
            <a:ln>
              <a:noFill/>
            </a:ln>
          </p:spPr>
          <p:txBody>
            <a:bodyPr wrap="square" rtlCol="0" anchor="ctr">
              <a:spAutoFit/>
            </a:bodyPr>
            <a:lstStyle/>
            <a:p>
              <a:pPr algn="ctr"/>
              <a:r>
                <a:rPr lang="en-US" sz="2400" dirty="0"/>
                <a:t>Output indicator</a:t>
              </a:r>
            </a:p>
          </p:txBody>
        </p:sp>
      </p:grpSp>
      <p:pic>
        <p:nvPicPr>
          <p:cNvPr id="18" name="Graphic 17">
            <a:extLst>
              <a:ext uri="{FF2B5EF4-FFF2-40B4-BE49-F238E27FC236}">
                <a16:creationId xmlns:a16="http://schemas.microsoft.com/office/drawing/2014/main" id="{5E38EE68-5ABA-4929-A0D3-A18747F91E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91223" y="2540235"/>
            <a:ext cx="1711067" cy="1711067"/>
          </a:xfrm>
          <a:prstGeom prst="rect">
            <a:avLst/>
          </a:prstGeom>
        </p:spPr>
      </p:pic>
      <p:pic>
        <p:nvPicPr>
          <p:cNvPr id="20" name="Content Placeholder 19">
            <a:extLst>
              <a:ext uri="{FF2B5EF4-FFF2-40B4-BE49-F238E27FC236}">
                <a16:creationId xmlns:a16="http://schemas.microsoft.com/office/drawing/2014/main" id="{D8891022-467E-4E84-8590-BE0C43A6DF46}"/>
              </a:ext>
            </a:extLst>
          </p:cNvPr>
          <p:cNvPicPr>
            <a:picLocks noGrp="1" noChangeAspect="1"/>
          </p:cNvPicPr>
          <p:nvPr>
            <p:ph idx="2"/>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92744" y="2370420"/>
            <a:ext cx="1905000" cy="1905000"/>
          </a:xfrm>
        </p:spPr>
      </p:pic>
      <p:pic>
        <p:nvPicPr>
          <p:cNvPr id="22" name="Graphic 21">
            <a:extLst>
              <a:ext uri="{FF2B5EF4-FFF2-40B4-BE49-F238E27FC236}">
                <a16:creationId xmlns:a16="http://schemas.microsoft.com/office/drawing/2014/main" id="{B8204EA4-1B43-4C0E-ADEF-8D26FB2DEDD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8322" y="2197510"/>
            <a:ext cx="2250819" cy="2250819"/>
          </a:xfrm>
          <a:prstGeom prst="rect">
            <a:avLst/>
          </a:prstGeom>
        </p:spPr>
      </p:pic>
      <p:pic>
        <p:nvPicPr>
          <p:cNvPr id="26" name="Graphic 25">
            <a:extLst>
              <a:ext uri="{FF2B5EF4-FFF2-40B4-BE49-F238E27FC236}">
                <a16:creationId xmlns:a16="http://schemas.microsoft.com/office/drawing/2014/main" id="{1F14FD22-B085-4C5A-BACA-9EF132DF622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495768" y="2370420"/>
            <a:ext cx="1905000" cy="1905000"/>
          </a:xfrm>
          <a:prstGeom prst="rect">
            <a:avLst/>
          </a:prstGeom>
        </p:spPr>
      </p:pic>
      <p:sp>
        <p:nvSpPr>
          <p:cNvPr id="5" name="a11y_slide_end" descr="Notes Section.">
            <a:extLst>
              <a:ext uri="{FF2B5EF4-FFF2-40B4-BE49-F238E27FC236}">
                <a16:creationId xmlns:a16="http://schemas.microsoft.com/office/drawing/2014/main" id="{51A01FED-8329-461A-9B98-84AAFAA2632B}"/>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9974282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1C8A160F-1922-48B9-A45E-22DE616144C9}"/>
              </a:ext>
            </a:extLst>
          </p:cNvPr>
          <p:cNvSpPr>
            <a:spLocks noGrp="1"/>
          </p:cNvSpPr>
          <p:nvPr>
            <p:ph type="sldNum" idx="97"/>
          </p:nvPr>
        </p:nvSpPr>
        <p:spPr/>
        <p:txBody>
          <a:bodyPr/>
          <a:lstStyle/>
          <a:p>
            <a:fld id="{4037B1B0-0345-4E15-985A-6BECCDBE474F}" type="slidenum">
              <a:rPr lang="en-US" smtClean="0"/>
              <a:pPr/>
              <a:t>43</a:t>
            </a:fld>
            <a:endParaRPr lang="en-US" dirty="0"/>
          </a:p>
        </p:txBody>
      </p:sp>
      <p:sp>
        <p:nvSpPr>
          <p:cNvPr id="3" name="Title">
            <a:extLst>
              <a:ext uri="{FF2B5EF4-FFF2-40B4-BE49-F238E27FC236}">
                <a16:creationId xmlns:a16="http://schemas.microsoft.com/office/drawing/2014/main" id="{1A5A010C-71E3-4DA9-8795-B800475F6F51}"/>
              </a:ext>
            </a:extLst>
          </p:cNvPr>
          <p:cNvSpPr>
            <a:spLocks noGrp="1"/>
          </p:cNvSpPr>
          <p:nvPr>
            <p:ph type="title" idx="1"/>
          </p:nvPr>
        </p:nvSpPr>
        <p:spPr/>
        <p:txBody>
          <a:bodyPr/>
          <a:lstStyle/>
          <a:p>
            <a:r>
              <a:rPr lang="en-US" dirty="0"/>
              <a:t>AWS generative AI offerings</a:t>
            </a:r>
          </a:p>
        </p:txBody>
      </p:sp>
      <p:sp>
        <p:nvSpPr>
          <p:cNvPr id="41" name="Rectangle: Rounded Corners 40">
            <a:extLst>
              <a:ext uri="{FF2B5EF4-FFF2-40B4-BE49-F238E27FC236}">
                <a16:creationId xmlns:a16="http://schemas.microsoft.com/office/drawing/2014/main" id="{9AAD026C-0879-4696-B378-EDFF6263B40C}"/>
              </a:ext>
            </a:extLst>
          </p:cNvPr>
          <p:cNvSpPr/>
          <p:nvPr/>
        </p:nvSpPr>
        <p:spPr>
          <a:xfrm>
            <a:off x="365760" y="1285119"/>
            <a:ext cx="11466576" cy="1498897"/>
          </a:xfrm>
          <a:prstGeom prst="roundRect">
            <a:avLst>
              <a:gd name="adj" fmla="val 478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1CA27004-B2A1-4C66-AA31-50485E34735C}"/>
              </a:ext>
            </a:extLst>
          </p:cNvPr>
          <p:cNvSpPr txBox="1"/>
          <p:nvPr/>
        </p:nvSpPr>
        <p:spPr>
          <a:xfrm>
            <a:off x="1813012" y="1849901"/>
            <a:ext cx="1930400" cy="369332"/>
          </a:xfrm>
          <a:prstGeom prst="rect">
            <a:avLst/>
          </a:prstGeom>
          <a:noFill/>
        </p:spPr>
        <p:txBody>
          <a:bodyPr wrap="square" rtlCol="0" anchor="ctr">
            <a:spAutoFit/>
          </a:bodyPr>
          <a:lstStyle/>
          <a:p>
            <a:r>
              <a:rPr lang="en-US" dirty="0">
                <a:latin typeface="+mj-lt"/>
              </a:rPr>
              <a:t>Applications</a:t>
            </a:r>
          </a:p>
        </p:txBody>
      </p:sp>
      <p:sp>
        <p:nvSpPr>
          <p:cNvPr id="43" name="Rectangle: Rounded Corners 42">
            <a:extLst>
              <a:ext uri="{FF2B5EF4-FFF2-40B4-BE49-F238E27FC236}">
                <a16:creationId xmlns:a16="http://schemas.microsoft.com/office/drawing/2014/main" id="{C17E8B54-87CF-400C-B2FB-2A00B8334A6A}"/>
              </a:ext>
            </a:extLst>
          </p:cNvPr>
          <p:cNvSpPr/>
          <p:nvPr/>
        </p:nvSpPr>
        <p:spPr>
          <a:xfrm>
            <a:off x="705016" y="1521384"/>
            <a:ext cx="976231" cy="10263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31A9889E-B0A5-4E56-ADD3-5602F430AB22}"/>
              </a:ext>
            </a:extLst>
          </p:cNvPr>
          <p:cNvSpPr/>
          <p:nvPr/>
        </p:nvSpPr>
        <p:spPr>
          <a:xfrm>
            <a:off x="705017" y="3126424"/>
            <a:ext cx="976231" cy="10263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4568AC42-E6C6-4A7C-BB60-9A73E5F5621E}"/>
              </a:ext>
            </a:extLst>
          </p:cNvPr>
          <p:cNvSpPr/>
          <p:nvPr/>
        </p:nvSpPr>
        <p:spPr>
          <a:xfrm>
            <a:off x="692157" y="4733930"/>
            <a:ext cx="976231" cy="10263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CA350073-9E66-4255-B63C-9765111EC795}"/>
              </a:ext>
            </a:extLst>
          </p:cNvPr>
          <p:cNvGrpSpPr/>
          <p:nvPr/>
        </p:nvGrpSpPr>
        <p:grpSpPr>
          <a:xfrm>
            <a:off x="6096000" y="1698872"/>
            <a:ext cx="4669408" cy="648718"/>
            <a:chOff x="6096000" y="1651584"/>
            <a:chExt cx="4669408" cy="648718"/>
          </a:xfrm>
        </p:grpSpPr>
        <p:sp>
          <p:nvSpPr>
            <p:cNvPr id="53" name="TextBox 52">
              <a:extLst>
                <a:ext uri="{FF2B5EF4-FFF2-40B4-BE49-F238E27FC236}">
                  <a16:creationId xmlns:a16="http://schemas.microsoft.com/office/drawing/2014/main" id="{74C96F17-1C7B-4444-9632-2AFFAD118F4A}"/>
                </a:ext>
              </a:extLst>
            </p:cNvPr>
            <p:cNvSpPr txBox="1"/>
            <p:nvPr/>
          </p:nvSpPr>
          <p:spPr>
            <a:xfrm>
              <a:off x="6096000" y="1651584"/>
              <a:ext cx="4669408" cy="369332"/>
            </a:xfrm>
            <a:prstGeom prst="rect">
              <a:avLst/>
            </a:prstGeom>
            <a:noFill/>
          </p:spPr>
          <p:txBody>
            <a:bodyPr wrap="square" rtlCol="0">
              <a:spAutoFit/>
            </a:bodyPr>
            <a:lstStyle/>
            <a:p>
              <a:r>
                <a:rPr lang="en-US" dirty="0">
                  <a:latin typeface="+mj-lt"/>
                </a:rPr>
                <a:t>Amazon Q Developer</a:t>
              </a:r>
            </a:p>
          </p:txBody>
        </p:sp>
        <p:sp>
          <p:nvSpPr>
            <p:cNvPr id="54" name="TextBox 53">
              <a:extLst>
                <a:ext uri="{FF2B5EF4-FFF2-40B4-BE49-F238E27FC236}">
                  <a16:creationId xmlns:a16="http://schemas.microsoft.com/office/drawing/2014/main" id="{22C4A101-7875-4AE9-9460-3E01EB754513}"/>
                </a:ext>
              </a:extLst>
            </p:cNvPr>
            <p:cNvSpPr txBox="1"/>
            <p:nvPr/>
          </p:nvSpPr>
          <p:spPr>
            <a:xfrm>
              <a:off x="6096000" y="1961748"/>
              <a:ext cx="2530764" cy="338554"/>
            </a:xfrm>
            <a:prstGeom prst="rect">
              <a:avLst/>
            </a:prstGeom>
            <a:noFill/>
          </p:spPr>
          <p:txBody>
            <a:bodyPr wrap="square" rtlCol="0">
              <a:spAutoFit/>
            </a:bodyPr>
            <a:lstStyle/>
            <a:p>
              <a:r>
                <a:rPr lang="en-US" sz="1600" dirty="0"/>
                <a:t>Code generation</a:t>
              </a:r>
            </a:p>
          </p:txBody>
        </p:sp>
      </p:grpSp>
      <p:sp>
        <p:nvSpPr>
          <p:cNvPr id="55" name="Rectangle: Rounded Corners 54">
            <a:extLst>
              <a:ext uri="{FF2B5EF4-FFF2-40B4-BE49-F238E27FC236}">
                <a16:creationId xmlns:a16="http://schemas.microsoft.com/office/drawing/2014/main" id="{73BB71E6-EB32-433E-9A6E-7A7EF63FBFC3}"/>
              </a:ext>
            </a:extLst>
          </p:cNvPr>
          <p:cNvSpPr/>
          <p:nvPr/>
        </p:nvSpPr>
        <p:spPr>
          <a:xfrm>
            <a:off x="365759" y="2886921"/>
            <a:ext cx="11466577" cy="1498897"/>
          </a:xfrm>
          <a:prstGeom prst="roundRect">
            <a:avLst>
              <a:gd name="adj" fmla="val 478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7B2718BC-B32B-42AC-84AC-0478985B8460}"/>
              </a:ext>
            </a:extLst>
          </p:cNvPr>
          <p:cNvSpPr txBox="1"/>
          <p:nvPr/>
        </p:nvSpPr>
        <p:spPr>
          <a:xfrm>
            <a:off x="1903601" y="3174704"/>
            <a:ext cx="1839811" cy="923330"/>
          </a:xfrm>
          <a:prstGeom prst="rect">
            <a:avLst/>
          </a:prstGeom>
          <a:noFill/>
        </p:spPr>
        <p:txBody>
          <a:bodyPr wrap="square" rtlCol="0" anchor="ctr">
            <a:spAutoFit/>
          </a:bodyPr>
          <a:lstStyle/>
          <a:p>
            <a:r>
              <a:rPr lang="en-US" dirty="0">
                <a:latin typeface="+mj-lt"/>
              </a:rPr>
              <a:t>Foundation models as a service</a:t>
            </a:r>
          </a:p>
        </p:txBody>
      </p:sp>
      <p:sp>
        <p:nvSpPr>
          <p:cNvPr id="63" name="TextBox 62">
            <a:extLst>
              <a:ext uri="{FF2B5EF4-FFF2-40B4-BE49-F238E27FC236}">
                <a16:creationId xmlns:a16="http://schemas.microsoft.com/office/drawing/2014/main" id="{EC82C764-97FC-4D04-A330-D32BBA611F8C}"/>
              </a:ext>
            </a:extLst>
          </p:cNvPr>
          <p:cNvSpPr txBox="1"/>
          <p:nvPr/>
        </p:nvSpPr>
        <p:spPr>
          <a:xfrm>
            <a:off x="1813012" y="5063566"/>
            <a:ext cx="1930400" cy="369332"/>
          </a:xfrm>
          <a:prstGeom prst="rect">
            <a:avLst/>
          </a:prstGeom>
          <a:noFill/>
        </p:spPr>
        <p:txBody>
          <a:bodyPr wrap="square" rtlCol="0" anchor="ctr">
            <a:spAutoFit/>
          </a:bodyPr>
          <a:lstStyle/>
          <a:p>
            <a:r>
              <a:rPr lang="en-US" dirty="0">
                <a:latin typeface="+mj-lt"/>
              </a:rPr>
              <a:t>Compute</a:t>
            </a:r>
          </a:p>
        </p:txBody>
      </p:sp>
      <p:grpSp>
        <p:nvGrpSpPr>
          <p:cNvPr id="64" name="Group 63">
            <a:extLst>
              <a:ext uri="{FF2B5EF4-FFF2-40B4-BE49-F238E27FC236}">
                <a16:creationId xmlns:a16="http://schemas.microsoft.com/office/drawing/2014/main" id="{AA34619A-4811-4087-AAA3-254765331BF5}"/>
              </a:ext>
            </a:extLst>
          </p:cNvPr>
          <p:cNvGrpSpPr/>
          <p:nvPr/>
        </p:nvGrpSpPr>
        <p:grpSpPr>
          <a:xfrm>
            <a:off x="4082474" y="3170949"/>
            <a:ext cx="3555807" cy="923329"/>
            <a:chOff x="5366973" y="1648114"/>
            <a:chExt cx="4669408" cy="923329"/>
          </a:xfrm>
        </p:grpSpPr>
        <p:sp>
          <p:nvSpPr>
            <p:cNvPr id="65" name="TextBox 64">
              <a:extLst>
                <a:ext uri="{FF2B5EF4-FFF2-40B4-BE49-F238E27FC236}">
                  <a16:creationId xmlns:a16="http://schemas.microsoft.com/office/drawing/2014/main" id="{9C666D1F-3CFF-4784-9471-42973C3BF7B5}"/>
                </a:ext>
              </a:extLst>
            </p:cNvPr>
            <p:cNvSpPr txBox="1"/>
            <p:nvPr/>
          </p:nvSpPr>
          <p:spPr>
            <a:xfrm>
              <a:off x="5366973" y="1648114"/>
              <a:ext cx="4669408" cy="369332"/>
            </a:xfrm>
            <a:prstGeom prst="rect">
              <a:avLst/>
            </a:prstGeom>
            <a:noFill/>
          </p:spPr>
          <p:txBody>
            <a:bodyPr wrap="square" rtlCol="0">
              <a:spAutoFit/>
            </a:bodyPr>
            <a:lstStyle/>
            <a:p>
              <a:r>
                <a:rPr lang="en-US" dirty="0">
                  <a:latin typeface="+mj-lt"/>
                </a:rPr>
                <a:t>Amazon Bedrock</a:t>
              </a:r>
            </a:p>
          </p:txBody>
        </p:sp>
        <p:sp>
          <p:nvSpPr>
            <p:cNvPr id="66" name="TextBox 65">
              <a:extLst>
                <a:ext uri="{FF2B5EF4-FFF2-40B4-BE49-F238E27FC236}">
                  <a16:creationId xmlns:a16="http://schemas.microsoft.com/office/drawing/2014/main" id="{D6E1F896-3DE5-4412-9BF2-A5A8188F61F2}"/>
                </a:ext>
              </a:extLst>
            </p:cNvPr>
            <p:cNvSpPr txBox="1"/>
            <p:nvPr/>
          </p:nvSpPr>
          <p:spPr>
            <a:xfrm>
              <a:off x="5366973" y="1986668"/>
              <a:ext cx="4669408" cy="584775"/>
            </a:xfrm>
            <a:prstGeom prst="rect">
              <a:avLst/>
            </a:prstGeom>
            <a:noFill/>
          </p:spPr>
          <p:txBody>
            <a:bodyPr wrap="square" rtlCol="0">
              <a:spAutoFit/>
            </a:bodyPr>
            <a:lstStyle/>
            <a:p>
              <a:r>
                <a:rPr lang="en-US" sz="1600" dirty="0"/>
                <a:t>Fully managed service to build and scale generative AI applications</a:t>
              </a:r>
            </a:p>
          </p:txBody>
        </p:sp>
      </p:grpSp>
      <p:grpSp>
        <p:nvGrpSpPr>
          <p:cNvPr id="67" name="Group 66">
            <a:extLst>
              <a:ext uri="{FF2B5EF4-FFF2-40B4-BE49-F238E27FC236}">
                <a16:creationId xmlns:a16="http://schemas.microsoft.com/office/drawing/2014/main" id="{D8C22EC1-4CD3-42A2-82AF-D96CB485514F}"/>
              </a:ext>
            </a:extLst>
          </p:cNvPr>
          <p:cNvGrpSpPr/>
          <p:nvPr/>
        </p:nvGrpSpPr>
        <p:grpSpPr>
          <a:xfrm>
            <a:off x="7638281" y="3168117"/>
            <a:ext cx="4187960" cy="926161"/>
            <a:chOff x="2513844" y="1075061"/>
            <a:chExt cx="11252689" cy="926161"/>
          </a:xfrm>
        </p:grpSpPr>
        <p:sp>
          <p:nvSpPr>
            <p:cNvPr id="68" name="TextBox 67">
              <a:extLst>
                <a:ext uri="{FF2B5EF4-FFF2-40B4-BE49-F238E27FC236}">
                  <a16:creationId xmlns:a16="http://schemas.microsoft.com/office/drawing/2014/main" id="{C2F1876F-683F-4F8E-ACB7-45D60ACFD93D}"/>
                </a:ext>
              </a:extLst>
            </p:cNvPr>
            <p:cNvSpPr txBox="1"/>
            <p:nvPr/>
          </p:nvSpPr>
          <p:spPr>
            <a:xfrm>
              <a:off x="2513844" y="1075061"/>
              <a:ext cx="11252689" cy="369332"/>
            </a:xfrm>
            <a:prstGeom prst="rect">
              <a:avLst/>
            </a:prstGeom>
            <a:noFill/>
          </p:spPr>
          <p:txBody>
            <a:bodyPr wrap="square" rtlCol="0">
              <a:spAutoFit/>
            </a:bodyPr>
            <a:lstStyle/>
            <a:p>
              <a:r>
                <a:rPr lang="en-US" dirty="0">
                  <a:latin typeface="+mj-lt"/>
                </a:rPr>
                <a:t>Amazon SageMaker JumpStart</a:t>
              </a:r>
            </a:p>
          </p:txBody>
        </p:sp>
        <p:sp>
          <p:nvSpPr>
            <p:cNvPr id="69" name="TextBox 68">
              <a:extLst>
                <a:ext uri="{FF2B5EF4-FFF2-40B4-BE49-F238E27FC236}">
                  <a16:creationId xmlns:a16="http://schemas.microsoft.com/office/drawing/2014/main" id="{D17F88B6-C543-4D1B-9323-7849C27102DD}"/>
                </a:ext>
              </a:extLst>
            </p:cNvPr>
            <p:cNvSpPr txBox="1"/>
            <p:nvPr/>
          </p:nvSpPr>
          <p:spPr>
            <a:xfrm>
              <a:off x="2513844" y="1416447"/>
              <a:ext cx="8953886" cy="584775"/>
            </a:xfrm>
            <a:prstGeom prst="rect">
              <a:avLst/>
            </a:prstGeom>
            <a:noFill/>
          </p:spPr>
          <p:txBody>
            <a:bodyPr wrap="square" rtlCol="0">
              <a:spAutoFit/>
            </a:bodyPr>
            <a:lstStyle/>
            <a:p>
              <a:r>
                <a:rPr lang="en-US" sz="1600" dirty="0"/>
                <a:t>Quick deployment of pretrained models</a:t>
              </a:r>
            </a:p>
          </p:txBody>
        </p:sp>
      </p:grpSp>
      <p:sp>
        <p:nvSpPr>
          <p:cNvPr id="70" name="Rectangle: Rounded Corners 69">
            <a:extLst>
              <a:ext uri="{FF2B5EF4-FFF2-40B4-BE49-F238E27FC236}">
                <a16:creationId xmlns:a16="http://schemas.microsoft.com/office/drawing/2014/main" id="{90216E23-FE65-4EEB-B547-AD117A31F0E3}"/>
              </a:ext>
            </a:extLst>
          </p:cNvPr>
          <p:cNvSpPr/>
          <p:nvPr/>
        </p:nvSpPr>
        <p:spPr>
          <a:xfrm>
            <a:off x="365759" y="4497665"/>
            <a:ext cx="11466577" cy="1498897"/>
          </a:xfrm>
          <a:prstGeom prst="roundRect">
            <a:avLst>
              <a:gd name="adj" fmla="val 478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a16="http://schemas.microsoft.com/office/drawing/2014/main" id="{1418708D-555A-48A9-916F-287D4CBFB084}"/>
              </a:ext>
            </a:extLst>
          </p:cNvPr>
          <p:cNvGrpSpPr/>
          <p:nvPr/>
        </p:nvGrpSpPr>
        <p:grpSpPr>
          <a:xfrm>
            <a:off x="7638281" y="4935204"/>
            <a:ext cx="3499760" cy="606222"/>
            <a:chOff x="5456680" y="1572083"/>
            <a:chExt cx="5225838" cy="387790"/>
          </a:xfrm>
        </p:grpSpPr>
        <p:sp>
          <p:nvSpPr>
            <p:cNvPr id="72" name="TextBox 71">
              <a:extLst>
                <a:ext uri="{FF2B5EF4-FFF2-40B4-BE49-F238E27FC236}">
                  <a16:creationId xmlns:a16="http://schemas.microsoft.com/office/drawing/2014/main" id="{1129393E-F8AE-4500-B511-38346924C2E4}"/>
                </a:ext>
              </a:extLst>
            </p:cNvPr>
            <p:cNvSpPr txBox="1"/>
            <p:nvPr/>
          </p:nvSpPr>
          <p:spPr>
            <a:xfrm>
              <a:off x="5456680" y="1572083"/>
              <a:ext cx="4669408" cy="236255"/>
            </a:xfrm>
            <a:prstGeom prst="rect">
              <a:avLst/>
            </a:prstGeom>
            <a:noFill/>
          </p:spPr>
          <p:txBody>
            <a:bodyPr wrap="square" rtlCol="0">
              <a:spAutoFit/>
            </a:bodyPr>
            <a:lstStyle/>
            <a:p>
              <a:r>
                <a:rPr lang="en-US" dirty="0">
                  <a:latin typeface="+mj-lt"/>
                </a:rPr>
                <a:t>AWS Inferentia</a:t>
              </a:r>
            </a:p>
          </p:txBody>
        </p:sp>
        <p:sp>
          <p:nvSpPr>
            <p:cNvPr id="73" name="TextBox 72">
              <a:extLst>
                <a:ext uri="{FF2B5EF4-FFF2-40B4-BE49-F238E27FC236}">
                  <a16:creationId xmlns:a16="http://schemas.microsoft.com/office/drawing/2014/main" id="{965A02D7-D58A-4D88-B8C8-27C39BAF0AB2}"/>
                </a:ext>
              </a:extLst>
            </p:cNvPr>
            <p:cNvSpPr txBox="1"/>
            <p:nvPr/>
          </p:nvSpPr>
          <p:spPr>
            <a:xfrm>
              <a:off x="5456680" y="1743306"/>
              <a:ext cx="5225838" cy="216567"/>
            </a:xfrm>
            <a:prstGeom prst="rect">
              <a:avLst/>
            </a:prstGeom>
            <a:noFill/>
          </p:spPr>
          <p:txBody>
            <a:bodyPr wrap="square" rtlCol="0">
              <a:spAutoFit/>
            </a:bodyPr>
            <a:lstStyle/>
            <a:p>
              <a:r>
                <a:rPr lang="en-US" sz="1600" dirty="0"/>
                <a:t>ML chip for inference predictions</a:t>
              </a:r>
            </a:p>
          </p:txBody>
        </p:sp>
      </p:grpSp>
      <p:pic>
        <p:nvPicPr>
          <p:cNvPr id="74" name="Graphic 31">
            <a:extLst>
              <a:ext uri="{FF2B5EF4-FFF2-40B4-BE49-F238E27FC236}">
                <a16:creationId xmlns:a16="http://schemas.microsoft.com/office/drawing/2014/main" id="{A7FD5876-667C-45C2-B984-8AC5CC3173D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992" y="1499428"/>
            <a:ext cx="1070278" cy="1070278"/>
          </a:xfrm>
          <a:prstGeom prst="rect">
            <a:avLst/>
          </a:prstGeom>
        </p:spPr>
      </p:pic>
      <p:pic>
        <p:nvPicPr>
          <p:cNvPr id="75" name="Graphic 74">
            <a:extLst>
              <a:ext uri="{FF2B5EF4-FFF2-40B4-BE49-F238E27FC236}">
                <a16:creationId xmlns:a16="http://schemas.microsoft.com/office/drawing/2014/main" id="{135EE49D-CFDE-453B-8F29-4BE16E514F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5054" y="4736168"/>
            <a:ext cx="1024128" cy="1024128"/>
          </a:xfrm>
          <a:prstGeom prst="rect">
            <a:avLst/>
          </a:prstGeom>
        </p:spPr>
      </p:pic>
      <p:pic>
        <p:nvPicPr>
          <p:cNvPr id="76" name="Graphic 75" descr="Train Models">
            <a:extLst>
              <a:ext uri="{FF2B5EF4-FFF2-40B4-BE49-F238E27FC236}">
                <a16:creationId xmlns:a16="http://schemas.microsoft.com/office/drawing/2014/main" id="{1DDBB5A1-55A9-4026-8FB2-B7CE9CCD61B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98922" y="3147268"/>
            <a:ext cx="978201" cy="978201"/>
          </a:xfrm>
          <a:prstGeom prst="rect">
            <a:avLst/>
          </a:prstGeom>
        </p:spPr>
      </p:pic>
      <p:cxnSp>
        <p:nvCxnSpPr>
          <p:cNvPr id="77" name="Straight Connector 76">
            <a:extLst>
              <a:ext uri="{FF2B5EF4-FFF2-40B4-BE49-F238E27FC236}">
                <a16:creationId xmlns:a16="http://schemas.microsoft.com/office/drawing/2014/main" id="{0C0F1F71-2DF4-4716-B8C4-AAFE5BF91234}"/>
              </a:ext>
            </a:extLst>
          </p:cNvPr>
          <p:cNvCxnSpPr/>
          <p:nvPr/>
        </p:nvCxnSpPr>
        <p:spPr>
          <a:xfrm>
            <a:off x="3743412" y="1443210"/>
            <a:ext cx="0" cy="116004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E174FB2B-23B9-44E3-95CC-9E2F5227BE2F}"/>
              </a:ext>
            </a:extLst>
          </p:cNvPr>
          <p:cNvCxnSpPr/>
          <p:nvPr/>
        </p:nvCxnSpPr>
        <p:spPr>
          <a:xfrm>
            <a:off x="3743412" y="3017820"/>
            <a:ext cx="0" cy="116004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E4357A0-158B-4546-93F5-B8C769E743B8}"/>
              </a:ext>
            </a:extLst>
          </p:cNvPr>
          <p:cNvCxnSpPr/>
          <p:nvPr/>
        </p:nvCxnSpPr>
        <p:spPr>
          <a:xfrm>
            <a:off x="3743412" y="4667092"/>
            <a:ext cx="0" cy="1160042"/>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EE8652B6-3C8A-4C37-8B06-618260FBE940}"/>
              </a:ext>
            </a:extLst>
          </p:cNvPr>
          <p:cNvGrpSpPr/>
          <p:nvPr/>
        </p:nvGrpSpPr>
        <p:grpSpPr>
          <a:xfrm>
            <a:off x="4082474" y="4920367"/>
            <a:ext cx="2946286" cy="606222"/>
            <a:chOff x="5456680" y="1572083"/>
            <a:chExt cx="5527596" cy="387790"/>
          </a:xfrm>
        </p:grpSpPr>
        <p:sp>
          <p:nvSpPr>
            <p:cNvPr id="81" name="TextBox 80">
              <a:extLst>
                <a:ext uri="{FF2B5EF4-FFF2-40B4-BE49-F238E27FC236}">
                  <a16:creationId xmlns:a16="http://schemas.microsoft.com/office/drawing/2014/main" id="{1AD5A66A-5AB4-4B5C-9E45-37C4AC855D58}"/>
                </a:ext>
              </a:extLst>
            </p:cNvPr>
            <p:cNvSpPr txBox="1"/>
            <p:nvPr/>
          </p:nvSpPr>
          <p:spPr>
            <a:xfrm>
              <a:off x="5456680" y="1572083"/>
              <a:ext cx="4669408" cy="236255"/>
            </a:xfrm>
            <a:prstGeom prst="rect">
              <a:avLst/>
            </a:prstGeom>
            <a:noFill/>
          </p:spPr>
          <p:txBody>
            <a:bodyPr wrap="square" rtlCol="0">
              <a:spAutoFit/>
            </a:bodyPr>
            <a:lstStyle/>
            <a:p>
              <a:r>
                <a:rPr lang="en-US" dirty="0">
                  <a:latin typeface="+mj-lt"/>
                </a:rPr>
                <a:t>AWS Trainium</a:t>
              </a:r>
            </a:p>
          </p:txBody>
        </p:sp>
        <p:sp>
          <p:nvSpPr>
            <p:cNvPr id="82" name="TextBox 81">
              <a:extLst>
                <a:ext uri="{FF2B5EF4-FFF2-40B4-BE49-F238E27FC236}">
                  <a16:creationId xmlns:a16="http://schemas.microsoft.com/office/drawing/2014/main" id="{819F1B59-606A-4137-8FBF-355AA13A679E}"/>
                </a:ext>
              </a:extLst>
            </p:cNvPr>
            <p:cNvSpPr txBox="1"/>
            <p:nvPr/>
          </p:nvSpPr>
          <p:spPr>
            <a:xfrm>
              <a:off x="5456680" y="1743306"/>
              <a:ext cx="5527596" cy="216567"/>
            </a:xfrm>
            <a:prstGeom prst="rect">
              <a:avLst/>
            </a:prstGeom>
            <a:noFill/>
          </p:spPr>
          <p:txBody>
            <a:bodyPr wrap="square" rtlCol="0">
              <a:spAutoFit/>
            </a:bodyPr>
            <a:lstStyle/>
            <a:p>
              <a:r>
                <a:rPr lang="en-US" sz="1600" dirty="0"/>
                <a:t>ML chip for training models</a:t>
              </a:r>
            </a:p>
          </p:txBody>
        </p:sp>
      </p:grpSp>
      <p:sp>
        <p:nvSpPr>
          <p:cNvPr id="4" name="a11y_slide_end" descr="Notes Section.">
            <a:extLst>
              <a:ext uri="{FF2B5EF4-FFF2-40B4-BE49-F238E27FC236}">
                <a16:creationId xmlns:a16="http://schemas.microsoft.com/office/drawing/2014/main" id="{4D9CE28F-6B5A-42AE-83FF-4F89C50F5E8F}"/>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2632249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NEBRAND EVO (2022-Q4) COLORSET 3" val="tVWOlipz"/>
  <p:tag name="ARTICULATE_SLIDE_COUNT" val="4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neBrand EVO (2022-Q4) ColorSet 3">
  <a:themeElements>
    <a:clrScheme name="OneBrand Evo Set 3">
      <a:dk1>
        <a:sysClr val="windowText" lastClr="000000"/>
      </a:dk1>
      <a:lt1>
        <a:sysClr val="window" lastClr="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AWS One Brand Evo">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lite">
      <a:srgbClr val="1A2F4C"/>
    </a:custClr>
    <a:custClr name="Anchor">
      <a:srgbClr val="003181"/>
    </a:custClr>
    <a:custClr name="Sea Blue">
      <a:srgbClr val="005276"/>
    </a:custClr>
    <a:custClr name="Sky">
      <a:srgbClr val="2074D5"/>
    </a:custClr>
    <a:custClr name="Aqua">
      <a:srgbClr val="007FAA"/>
    </a:custClr>
    <a:custClr name="Cyan">
      <a:srgbClr val="7CE8F4"/>
    </a:custClr>
    <a:custClr name="blank">
      <a:srgbClr val="FFFFFF"/>
    </a:custClr>
    <a:custClr name="blank">
      <a:srgbClr val="FFFFFF"/>
    </a:custClr>
    <a:custClr name="blank">
      <a:srgbClr val="FFFFFF"/>
    </a:custClr>
    <a:custClr name="blank">
      <a:srgbClr val="FFFFFF"/>
    </a:custClr>
    <a:custClr name="Galaxy">
      <a:srgbClr val="330066"/>
    </a:custClr>
    <a:custClr name="Dark Grape">
      <a:srgbClr val="563377"/>
    </a:custClr>
    <a:custClr name="Violet">
      <a:srgbClr val="7C5AED"/>
    </a:custClr>
    <a:custClr name="Bright Lilac">
      <a:srgbClr val="CC83EA"/>
    </a:custClr>
    <a:custClr name="Wine">
      <a:srgbClr val="8F1761"/>
    </a:custClr>
    <a:custClr name="Bloodthorn">
      <a:srgbClr val="B5335C"/>
    </a:custClr>
    <a:custClr name="Cosmos">
      <a:srgbClr val="DF2A5D"/>
    </a:custClr>
    <a:custClr name="Magenta">
      <a:srgbClr val="F46EBB"/>
    </a:custClr>
    <a:custClr name="blank">
      <a:srgbClr val="FFFFFF"/>
    </a:custClr>
    <a:custClr name="blank">
      <a:srgbClr val="FFFFFF"/>
    </a:custClr>
    <a:custClr name="Umber">
      <a:srgbClr val="BE4E2E"/>
    </a:custClr>
    <a:custClr name="Smile">
      <a:srgbClr val="FF9900"/>
    </a:custClr>
    <a:custClr name="Peach">
      <a:srgbClr val="FFAD97"/>
    </a:custClr>
    <a:custClr name="Rind">
      <a:srgbClr val="FBD8B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Evergreen">
      <a:srgbClr val="19594E"/>
    </a:custClr>
    <a:custClr name="Salem">
      <a:srgbClr val="197956"/>
    </a:custClr>
    <a:custClr name="Aloha">
      <a:srgbClr val="1DB893"/>
    </a:custClr>
    <a:custClr name="Mist">
      <a:srgbClr val="9FFCEA"/>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Squid Ink">
      <a:srgbClr val="161E2D"/>
    </a:custClr>
    <a:custClr name="Squid Ink">
      <a:srgbClr val="232F3E"/>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TC Official Evolved ColorSet 4 (2022-Q4).potx" id="{CECD8FAD-F029-48AF-B3C8-C6C68F5F2640}" vid="{A1F5EB9E-5EAA-4239-ADDD-DA0BB31B89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CDB5D98E366024880C1C895298B9659" ma:contentTypeVersion="7" ma:contentTypeDescription="Create a new document." ma:contentTypeScope="" ma:versionID="5ac013f4a8216fa847289fa58814a7da">
  <xsd:schema xmlns:xsd="http://www.w3.org/2001/XMLSchema" xmlns:xs="http://www.w3.org/2001/XMLSchema" xmlns:p="http://schemas.microsoft.com/office/2006/metadata/properties" xmlns:ns2="5230127c-6875-400a-b3d7-87f8cae6ed82" targetNamespace="http://schemas.microsoft.com/office/2006/metadata/properties" ma:root="true" ma:fieldsID="32e3031793d3b462d76a74c898300f3d" ns2:_="">
    <xsd:import namespace="5230127c-6875-400a-b3d7-87f8cae6ed8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30127c-6875-400a-b3d7-87f8cae6ed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EBEB871-F960-4233-9CCF-372CF47D58BB}">
  <ds:schemaRefs>
    <ds:schemaRef ds:uri="http://schemas.microsoft.com/sharepoint/v3/contenttype/forms"/>
  </ds:schemaRefs>
</ds:datastoreItem>
</file>

<file path=customXml/itemProps2.xml><?xml version="1.0" encoding="utf-8"?>
<ds:datastoreItem xmlns:ds="http://schemas.openxmlformats.org/officeDocument/2006/customXml" ds:itemID="{C8FB1552-69AD-43ED-B841-1395DAE1A71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30127c-6875-400a-b3d7-87f8cae6ed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637C169-0046-4A0E-9397-A82D2AB100F1}">
  <ds:schemaRefs>
    <ds:schemaRef ds:uri="http://purl.org/dc/terms/"/>
    <ds:schemaRef ds:uri="http://schemas.microsoft.com/office/2006/metadata/properties"/>
    <ds:schemaRef ds:uri="http://schemas.microsoft.com/office/2006/documentManagement/types"/>
    <ds:schemaRef ds:uri="http://www.w3.org/XML/1998/namespace"/>
    <ds:schemaRef ds:uri="5230127c-6875-400a-b3d7-87f8cae6ed82"/>
    <ds:schemaRef ds:uri="http://purl.org/dc/dcmitype/"/>
    <ds:schemaRef ds:uri="http://schemas.microsoft.com/office/infopath/2007/PartnerControls"/>
    <ds:schemaRef ds:uri="http://schemas.openxmlformats.org/package/2006/metadata/core-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TC Official Evolved ColorSet 3 (2022-Q4)</Template>
  <TotalTime>1680</TotalTime>
  <Words>5859</Words>
  <Application>Microsoft Office PowerPoint</Application>
  <PresentationFormat>Widescreen</PresentationFormat>
  <Paragraphs>466</Paragraphs>
  <Slides>43</Slides>
  <Notes>43</Notes>
  <HiddenSlides>10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Amazon Ember display</vt:lpstr>
      <vt:lpstr>Amazon Ember display</vt:lpstr>
      <vt:lpstr>Amazon Ember Display Heavy</vt:lpstr>
      <vt:lpstr>Amazon Ember Heavy</vt:lpstr>
      <vt:lpstr>Amazon Ember Light</vt:lpstr>
      <vt:lpstr>Arial</vt:lpstr>
      <vt:lpstr>Calibri</vt:lpstr>
      <vt:lpstr>Lucida Console</vt:lpstr>
      <vt:lpstr>OneBrand EVO (2022-Q4) ColorSet 3</vt:lpstr>
      <vt:lpstr>Module 7: Introducing Generative AI</vt:lpstr>
      <vt:lpstr>Module overview</vt:lpstr>
      <vt:lpstr>Module objectives</vt:lpstr>
      <vt:lpstr>Section 1: What is generative AI?</vt:lpstr>
      <vt:lpstr>Generative AI definition</vt:lpstr>
      <vt:lpstr>Generative AI use cases</vt:lpstr>
      <vt:lpstr>Section 1 key takeaways</vt:lpstr>
      <vt:lpstr>Section 2: How does generative AI work?</vt:lpstr>
      <vt:lpstr>Artificial intelligence, machine learning, deep learning, and generative AI</vt:lpstr>
      <vt:lpstr>What are FMs?</vt:lpstr>
      <vt:lpstr>Comparison of traditional and foundation models</vt:lpstr>
      <vt:lpstr>What tasks can foundation models do?</vt:lpstr>
      <vt:lpstr>What are LLMs?</vt:lpstr>
      <vt:lpstr>What is prompt engineering?</vt:lpstr>
      <vt:lpstr>Example of a prompt </vt:lpstr>
      <vt:lpstr>Structure of a prompt</vt:lpstr>
      <vt:lpstr>Demonstration: Explore an FM and Use Prompt Engineering in a Notebook</vt:lpstr>
      <vt:lpstr>Section 2 key takeaways</vt:lpstr>
      <vt:lpstr>Section 3: AWS generative AI offerings</vt:lpstr>
      <vt:lpstr>AWS generative AI offerings</vt:lpstr>
      <vt:lpstr>Benefits of using AWS for generative AI</vt:lpstr>
      <vt:lpstr>Section 3 key takeaways</vt:lpstr>
      <vt:lpstr>Section 4: Amazon Q Developer</vt:lpstr>
      <vt:lpstr>Amazon Q Developer</vt:lpstr>
      <vt:lpstr>Amazon Q Developer supports you across the software development lifecycle (SDLC)</vt:lpstr>
      <vt:lpstr>Demonstration: Creating a Linear Regression Model Using Amazon Q Developer </vt:lpstr>
      <vt:lpstr>Section 4 key takeaways</vt:lpstr>
      <vt:lpstr>Module wrap-up</vt:lpstr>
      <vt:lpstr>Module takeaways</vt:lpstr>
      <vt:lpstr>Module summary</vt:lpstr>
      <vt:lpstr>Complete the knowledge check</vt:lpstr>
      <vt:lpstr>Additional resources</vt:lpstr>
      <vt:lpstr>Thank you</vt:lpstr>
      <vt:lpstr>Generative AI definition</vt:lpstr>
      <vt:lpstr>Generative AI use cases</vt:lpstr>
      <vt:lpstr>Benefits of using AWS for generative AI</vt:lpstr>
      <vt:lpstr>What are FMs?</vt:lpstr>
      <vt:lpstr>Comparison of traditional and foundation models</vt:lpstr>
      <vt:lpstr>Foundation model types</vt:lpstr>
      <vt:lpstr>What is prompt engineering?</vt:lpstr>
      <vt:lpstr>Example of a prompt </vt:lpstr>
      <vt:lpstr>Prompt engineering refinement</vt:lpstr>
      <vt:lpstr>AWS generative AI offerings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 Set 4</dc:title>
  <dc:creator>Stading, Katrina</dc:creator>
  <cp:lastModifiedBy>Daswani, Monisha</cp:lastModifiedBy>
  <cp:revision>312</cp:revision>
  <cp:lastPrinted>2023-11-30T20:59:39Z</cp:lastPrinted>
  <dcterms:created xsi:type="dcterms:W3CDTF">2022-11-09T17:00:30Z</dcterms:created>
  <dcterms:modified xsi:type="dcterms:W3CDTF">2024-10-10T16:55:51Z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ACB859E0-10AE-4F08-A64B-CEA12117A544</vt:lpwstr>
  </property>
  <property fmtid="{D5CDD505-2E9C-101B-9397-08002B2CF9AE}" pid="3" name="ArticulatePath">
    <vt:lpwstr>https://pulselearning.sharepoint.com/sites/AmazonAcademyA11yRemediation-Partner/Shared Documents/Partner/03 Dev/Storyboards/x Templates--Do Not Use/Academy_OneBrandEvolved_PPT_Template</vt:lpwstr>
  </property>
  <property fmtid="{D5CDD505-2E9C-101B-9397-08002B2CF9AE}" pid="4" name="ContentTypeId">
    <vt:lpwstr>0x0101001CDB5D98E366024880C1C895298B9659</vt:lpwstr>
  </property>
</Properties>
</file>