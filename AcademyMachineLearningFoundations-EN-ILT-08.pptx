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2.xml" ContentType="application/vnd.openxmlformats-officedocument.theme+xml"/>
  <Override PartName="/ppt/tags/tag57.xml" ContentType="application/vnd.openxmlformats-officedocument.presentationml.tags+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notesSlides/notesSlide3.xml" ContentType="application/vnd.openxmlformats-officedocument.presentationml.notesSlide+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notesSlides/notesSlide5.xml" ContentType="application/vnd.openxmlformats-officedocument.presentationml.notesSlide+xml"/>
  <Override PartName="/ppt/tags/tag62.xml" ContentType="application/vnd.openxmlformats-officedocument.presentationml.tags+xml"/>
  <Override PartName="/ppt/notesSlides/notesSlide6.xml" ContentType="application/vnd.openxmlformats-officedocument.presentationml.notesSlide+xml"/>
  <Override PartName="/ppt/tags/tag63.xml" ContentType="application/vnd.openxmlformats-officedocument.presentationml.tags+xml"/>
  <Override PartName="/ppt/notesSlides/notesSlide7.xml" ContentType="application/vnd.openxmlformats-officedocument.presentationml.notesSlide+xml"/>
  <Override PartName="/ppt/tags/tag64.xml" ContentType="application/vnd.openxmlformats-officedocument.presentationml.tags+xml"/>
  <Override PartName="/ppt/notesSlides/notesSlide8.xml" ContentType="application/vnd.openxmlformats-officedocument.presentationml.notesSlide+xml"/>
  <Override PartName="/ppt/tags/tag65.xml" ContentType="application/vnd.openxmlformats-officedocument.presentationml.tags+xml"/>
  <Override PartName="/ppt/notesSlides/notesSlide9.xml" ContentType="application/vnd.openxmlformats-officedocument.presentationml.notesSlide+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8" r:id="rId3"/>
  </p:sldMasterIdLst>
  <p:notesMasterIdLst>
    <p:notesMasterId r:id="rId15"/>
  </p:notesMasterIdLst>
  <p:sldIdLst>
    <p:sldId id="258" r:id="rId4"/>
    <p:sldId id="1751" r:id="rId5"/>
    <p:sldId id="1750" r:id="rId6"/>
    <p:sldId id="1754" r:id="rId7"/>
    <p:sldId id="1752" r:id="rId8"/>
    <p:sldId id="1755" r:id="rId9"/>
    <p:sldId id="1753" r:id="rId10"/>
    <p:sldId id="1835" r:id="rId11"/>
    <p:sldId id="1757" r:id="rId12"/>
    <p:sldId id="1758" r:id="rId13"/>
    <p:sldId id="1678" r:id="rId14"/>
  </p:sldIdLst>
  <p:sldSz cx="12192000" cy="6858000"/>
  <p:notesSz cx="7772400" cy="100584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7: Course Wrap-up" id="{4435AA00-829A-40C3-8DCB-FB9ACA7400F3}">
          <p14:sldIdLst>
            <p14:sldId id="258"/>
          </p14:sldIdLst>
        </p14:section>
        <p14:section name="Introduction" id="{76B5C9E1-C14E-4F0D-9DDE-62043A2E240B}">
          <p14:sldIdLst>
            <p14:sldId id="1751"/>
          </p14:sldIdLst>
        </p14:section>
        <p14:section name="Section 1: Course summary" id="{F6ADBA28-EC45-4FF4-82D0-BCF611628D52}">
          <p14:sldIdLst>
            <p14:sldId id="1750"/>
            <p14:sldId id="1754"/>
          </p14:sldIdLst>
        </p14:section>
        <p14:section name="Section 2: AWS Documentation" id="{736A38A2-4BEA-49F7-91FD-568868425907}">
          <p14:sldIdLst>
            <p14:sldId id="1752"/>
            <p14:sldId id="1755"/>
          </p14:sldIdLst>
        </p14:section>
        <p14:section name="Section 3: AWS Certified Machine Learning - Specialty" id="{914530AA-A489-4F88-9BE8-DC9ADBE61001}">
          <p14:sldIdLst>
            <p14:sldId id="1753"/>
            <p14:sldId id="1835"/>
            <p14:sldId id="1757"/>
            <p14:sldId id="1758"/>
          </p14:sldIdLst>
        </p14:section>
        <p14:section name="Module wrap-up" id="{FF92FF6D-5C4A-427B-8471-87D9F1C15538}">
          <p14:sldIdLst>
            <p14:sldId id="16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60" clrIdx="0">
    <p:extLst>
      <p:ext uri="{19B8F6BF-5375-455C-9EA6-DF929625EA0E}">
        <p15:presenceInfo xmlns:p15="http://schemas.microsoft.com/office/powerpoint/2012/main" userId="S-1-5-21-1407069837-2091007605-538272213-31813507" providerId="AD"/>
      </p:ext>
    </p:extLst>
  </p:cmAuthor>
  <p:cmAuthor id="2" name="Matt Scheffler" initials="MS" lastIdx="1" clrIdx="1">
    <p:extLst>
      <p:ext uri="{19B8F6BF-5375-455C-9EA6-DF929625EA0E}">
        <p15:presenceInfo xmlns:p15="http://schemas.microsoft.com/office/powerpoint/2012/main" userId="Matt Scheffler" providerId="None"/>
      </p:ext>
    </p:extLst>
  </p:cmAuthor>
  <p:cmAuthor id="3" name="Raymond, Patty" initials="RP" lastIdx="4" clrIdx="2">
    <p:extLst>
      <p:ext uri="{19B8F6BF-5375-455C-9EA6-DF929625EA0E}">
        <p15:presenceInfo xmlns:p15="http://schemas.microsoft.com/office/powerpoint/2012/main" userId="S-1-5-21-1407069837-2091007605-538272213-29355854" providerId="AD"/>
      </p:ext>
    </p:extLst>
  </p:cmAuthor>
  <p:cmAuthor id="4" name="Daswani, Monisha" initials="DM" lastIdx="3" clrIdx="3">
    <p:extLst>
      <p:ext uri="{19B8F6BF-5375-455C-9EA6-DF929625EA0E}">
        <p15:presenceInfo xmlns:p15="http://schemas.microsoft.com/office/powerpoint/2012/main" userId="S-1-5-21-1407069837-2091007605-538272213-417581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795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50" autoAdjust="0"/>
    <p:restoredTop sz="58734" autoAdjust="0"/>
  </p:normalViewPr>
  <p:slideViewPr>
    <p:cSldViewPr snapToGrid="0">
      <p:cViewPr varScale="1">
        <p:scale>
          <a:sx n="95" d="100"/>
          <a:sy n="95" d="100"/>
        </p:scale>
        <p:origin x="2364" y="84"/>
      </p:cViewPr>
      <p:guideLst/>
    </p:cSldViewPr>
  </p:slideViewPr>
  <p:notesTextViewPr>
    <p:cViewPr>
      <p:scale>
        <a:sx n="1" d="1"/>
        <a:sy n="1" d="1"/>
      </p:scale>
      <p:origin x="0" y="0"/>
    </p:cViewPr>
  </p:notesTextViewPr>
  <p:sorterViewPr>
    <p:cViewPr>
      <p:scale>
        <a:sx n="100" d="100"/>
        <a:sy n="100" d="100"/>
      </p:scale>
      <p:origin x="0" y="-11742"/>
    </p:cViewPr>
  </p:sorterViewPr>
  <p:notesViewPr>
    <p:cSldViewPr snapToGrid="0">
      <p:cViewPr varScale="1">
        <p:scale>
          <a:sx n="131" d="100"/>
          <a:sy n="131" d="100"/>
        </p:scale>
        <p:origin x="4164" y="1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143000" y="3810000"/>
            <a:ext cx="54864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ws.amazon.com/certification/certification-prep/?src=certification-faq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aws.amazon.com/certification/" TargetMode="External"/><Relationship Id="rId4" Type="http://schemas.openxmlformats.org/officeDocument/2006/relationships/hyperlink" Target="https://aws.amazon.com/certification/recertification/"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539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Welcom</a:t>
            </a:r>
            <a:r>
              <a:rPr lang="en-US" sz="1200" baseline="0" dirty="0"/>
              <a:t>e to Module 8: Course Wrap-up</a:t>
            </a:r>
            <a:endParaRPr lang="en-US" sz="1200" dirty="0"/>
          </a:p>
          <a:p>
            <a:pPr marL="0" indent="0">
              <a:buNone/>
            </a:pPr>
            <a:endParaRPr lang="en-US" dirty="0"/>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Congratulations on completing the </a:t>
            </a:r>
            <a:r>
              <a:rPr lang="en-US" sz="1200" dirty="0">
                <a:latin typeface="+mn-lt"/>
              </a:rPr>
              <a:t>AWS Academy </a:t>
            </a:r>
            <a:r>
              <a:rPr lang="en-US" sz="1200" kern="1200" dirty="0">
                <a:solidFill>
                  <a:schemeClr val="tx1"/>
                </a:solidFill>
                <a:effectLst/>
                <a:latin typeface="+mn-lt"/>
                <a:ea typeface="+mn-ea"/>
                <a:cs typeface="+mn-cs"/>
              </a:rPr>
              <a:t>Machine Learning course! You will now take a few minutes to review what you learned, and where to go from here.</a:t>
            </a:r>
          </a:p>
          <a:p>
            <a:endParaRPr lang="en-US" b="0" dirty="0"/>
          </a:p>
        </p:txBody>
      </p:sp>
    </p:spTree>
    <p:extLst>
      <p:ext uri="{BB962C8B-B14F-4D97-AF65-F5344CB8AC3E}">
        <p14:creationId xmlns:p14="http://schemas.microsoft.com/office/powerpoint/2010/main" val="8024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summary explains the topics that were covered in the course.</a:t>
            </a:r>
          </a:p>
          <a:p>
            <a:endParaRPr lang="en-US" b="0" dirty="0"/>
          </a:p>
        </p:txBody>
      </p:sp>
    </p:spTree>
    <p:extLst>
      <p:ext uri="{BB962C8B-B14F-4D97-AF65-F5344CB8AC3E}">
        <p14:creationId xmlns:p14="http://schemas.microsoft.com/office/powerpoint/2010/main" val="339522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4573219"/>
          </a:xfrm>
        </p:spPr>
        <p:txBody>
          <a:bodyPr/>
          <a:lstStyle/>
          <a:p>
            <a:r>
              <a:rPr lang="en-US" dirty="0"/>
              <a:t>In this course, you learned how to describe machine learning. This included learning how to:</a:t>
            </a:r>
          </a:p>
          <a:p>
            <a:pPr marL="171450" lvl="0" indent="-171450">
              <a:buFont typeface="Arial" panose="020B0604020202020204" pitchFamily="34" charset="0"/>
              <a:buChar char="•"/>
            </a:pPr>
            <a:r>
              <a:rPr lang="en-US" sz="1200" dirty="0"/>
              <a:t>Recognize how machine learning and deep learning are part of artificial intelligence</a:t>
            </a:r>
          </a:p>
          <a:p>
            <a:pPr marL="171450" lvl="0" indent="-171450">
              <a:buFont typeface="Arial" panose="020B0604020202020204" pitchFamily="34" charset="0"/>
              <a:buChar char="•"/>
            </a:pPr>
            <a:r>
              <a:rPr lang="en-US" sz="1200" dirty="0"/>
              <a:t>Describe artificial intelligence and machine learning terminology</a:t>
            </a:r>
          </a:p>
          <a:p>
            <a:pPr marL="171450" lvl="0" indent="-171450">
              <a:buFont typeface="Arial" panose="020B0604020202020204" pitchFamily="34" charset="0"/>
              <a:buChar char="•"/>
            </a:pPr>
            <a:r>
              <a:rPr lang="en-US" sz="1200" dirty="0"/>
              <a:t>Identify how machine learning can be used to solve a business problem </a:t>
            </a:r>
          </a:p>
          <a:p>
            <a:pPr marL="171450" lvl="0" indent="-171450">
              <a:buFont typeface="Arial" panose="020B0604020202020204" pitchFamily="34" charset="0"/>
              <a:buChar char="•"/>
            </a:pPr>
            <a:r>
              <a:rPr lang="en-US" sz="1200" dirty="0"/>
              <a:t>Describe the machine learning process </a:t>
            </a:r>
          </a:p>
          <a:p>
            <a:pPr marL="171450" lvl="0" indent="-171450">
              <a:buFont typeface="Arial" panose="020B0604020202020204" pitchFamily="34" charset="0"/>
              <a:buChar char="•"/>
            </a:pPr>
            <a:r>
              <a:rPr lang="en-US" sz="1200" dirty="0"/>
              <a:t>List the tools available to data scientists </a:t>
            </a:r>
          </a:p>
          <a:p>
            <a:pPr marL="171450" lvl="0" indent="-171450">
              <a:buFont typeface="Arial" panose="020B0604020202020204" pitchFamily="34" charset="0"/>
              <a:buChar char="•"/>
            </a:pPr>
            <a:r>
              <a:rPr lang="en-US" sz="1200" dirty="0"/>
              <a:t>Identify when to use machine learning instead of traditional software development 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Differentiate between traditional ML and generative AI</a:t>
            </a:r>
            <a:endParaRPr lang="en-US" sz="1200" dirty="0"/>
          </a:p>
          <a:p>
            <a:endParaRPr lang="en-US" sz="1200" dirty="0"/>
          </a:p>
          <a:p>
            <a:r>
              <a:rPr lang="en-US" sz="1200" dirty="0"/>
              <a:t>You also learned how to implement a machine learning pipeline. This included how to:</a:t>
            </a:r>
          </a:p>
          <a:p>
            <a:pPr marL="171450" indent="-171450">
              <a:buFont typeface="Arial" panose="020B0604020202020204" pitchFamily="34" charset="0"/>
              <a:buChar char="•"/>
            </a:pPr>
            <a:r>
              <a:rPr lang="en-US" sz="1200" dirty="0"/>
              <a:t>Formulate a problem from a business request </a:t>
            </a:r>
          </a:p>
          <a:p>
            <a:pPr marL="171450" lvl="0" indent="-171450">
              <a:buFont typeface="Arial" panose="020B0604020202020204" pitchFamily="34" charset="0"/>
              <a:buChar char="•"/>
            </a:pPr>
            <a:r>
              <a:rPr lang="en-US" sz="1200" dirty="0"/>
              <a:t>Obtain and secure data for machine learning</a:t>
            </a:r>
          </a:p>
          <a:p>
            <a:pPr marL="171450" indent="-171450">
              <a:buFont typeface="Arial" panose="020B0604020202020204" pitchFamily="34" charset="0"/>
              <a:buChar char="•"/>
            </a:pPr>
            <a:r>
              <a:rPr lang="en-US" sz="1200" dirty="0"/>
              <a:t>Build a </a:t>
            </a:r>
            <a:r>
              <a:rPr lang="en-US" sz="1200" dirty="0" err="1"/>
              <a:t>Jupyter</a:t>
            </a:r>
            <a:r>
              <a:rPr lang="en-US" sz="1200" dirty="0"/>
              <a:t> notebook by using Amazon </a:t>
            </a:r>
            <a:r>
              <a:rPr lang="en-US" sz="1200" dirty="0" err="1"/>
              <a:t>SageMaker</a:t>
            </a:r>
            <a:endParaRPr lang="en-US" sz="1200" dirty="0"/>
          </a:p>
          <a:p>
            <a:pPr marL="171450" indent="-171450">
              <a:buFont typeface="Arial" panose="020B0604020202020204" pitchFamily="34" charset="0"/>
              <a:buChar char="•"/>
            </a:pPr>
            <a:r>
              <a:rPr lang="en-US" sz="1200" dirty="0"/>
              <a:t>Outline the process for evaluating data</a:t>
            </a:r>
          </a:p>
          <a:p>
            <a:pPr marL="171450" indent="-171450">
              <a:buFont typeface="Arial" panose="020B0604020202020204" pitchFamily="34" charset="0"/>
              <a:buChar char="•"/>
            </a:pPr>
            <a:r>
              <a:rPr lang="en-US" sz="1200" dirty="0"/>
              <a:t>Explain why data needs to be preprocessed</a:t>
            </a:r>
          </a:p>
          <a:p>
            <a:pPr marL="171450" indent="-171450">
              <a:buFont typeface="Arial" panose="020B0604020202020204" pitchFamily="34" charset="0"/>
              <a:buChar char="•"/>
            </a:pPr>
            <a:r>
              <a:rPr lang="en-US" sz="1200" dirty="0"/>
              <a:t>Use open-source tools to examine and preprocess data</a:t>
            </a:r>
          </a:p>
          <a:p>
            <a:pPr marL="171450" indent="-171450">
              <a:buFont typeface="Arial" panose="020B0604020202020204" pitchFamily="34" charset="0"/>
              <a:buChar char="•"/>
            </a:pPr>
            <a:r>
              <a:rPr lang="en-US" sz="1200" dirty="0"/>
              <a:t>Use Amazon </a:t>
            </a:r>
            <a:r>
              <a:rPr lang="en-US" sz="1200" dirty="0" err="1"/>
              <a:t>SageMaker</a:t>
            </a:r>
            <a:r>
              <a:rPr lang="en-US" sz="1200" dirty="0"/>
              <a:t> to train and host a machine learning model</a:t>
            </a:r>
          </a:p>
          <a:p>
            <a:pPr marL="171450" indent="-171450">
              <a:buFont typeface="Arial" panose="020B0604020202020204" pitchFamily="34" charset="0"/>
              <a:buChar char="•"/>
            </a:pPr>
            <a:r>
              <a:rPr lang="en-US" sz="1200" dirty="0"/>
              <a:t>Use cross validation to test the performance of an ML model</a:t>
            </a:r>
          </a:p>
          <a:p>
            <a:pPr marL="171450" indent="-171450">
              <a:buFont typeface="Arial" panose="020B0604020202020204" pitchFamily="34" charset="0"/>
              <a:buChar char="•"/>
            </a:pPr>
            <a:r>
              <a:rPr lang="en-US" sz="1200" dirty="0"/>
              <a:t>Use a hosted model for inference </a:t>
            </a:r>
          </a:p>
          <a:p>
            <a:pPr marL="171450" indent="-171450">
              <a:buFont typeface="Arial" panose="020B0604020202020204" pitchFamily="34" charset="0"/>
              <a:buChar char="•"/>
            </a:pPr>
            <a:r>
              <a:rPr lang="en-US" sz="1200" dirty="0"/>
              <a:t>Create an Amazon </a:t>
            </a:r>
            <a:r>
              <a:rPr lang="en-US" sz="1200" dirty="0" err="1"/>
              <a:t>SageMaker</a:t>
            </a:r>
            <a:r>
              <a:rPr lang="en-US" sz="1200" dirty="0"/>
              <a:t> hyperparameter tuning job to optimize a model’s effectiveness</a:t>
            </a:r>
          </a:p>
          <a:p>
            <a:endParaRPr lang="en-US" dirty="0"/>
          </a:p>
          <a:p>
            <a:r>
              <a:rPr lang="en-US" dirty="0"/>
              <a:t>Finally, you learned how to use managed Amazon ML services for forecasting, computer vision, and natural language processing. You are now able to:</a:t>
            </a:r>
          </a:p>
          <a:p>
            <a:pPr marL="171450" lvl="0" indent="-171450">
              <a:buFont typeface="Arial" panose="020B0604020202020204" pitchFamily="34" charset="0"/>
              <a:buChar char="•"/>
            </a:pPr>
            <a:r>
              <a:rPr lang="en-US" sz="1200" dirty="0"/>
              <a:t>Describe the business problems that machine learning forecasting solves</a:t>
            </a:r>
          </a:p>
          <a:p>
            <a:pPr marL="171450" lvl="0" indent="-171450">
              <a:buFont typeface="Arial" panose="020B0604020202020204" pitchFamily="34" charset="0"/>
              <a:buChar char="•"/>
            </a:pPr>
            <a:r>
              <a:rPr lang="en-US" sz="1200" dirty="0"/>
              <a:t>Describe the challenges of working with time series data</a:t>
            </a:r>
          </a:p>
          <a:p>
            <a:pPr marL="171450" lvl="0" indent="-171450">
              <a:buFont typeface="Arial" panose="020B0604020202020204" pitchFamily="34" charset="0"/>
              <a:buChar char="•"/>
            </a:pPr>
            <a:r>
              <a:rPr lang="en-US" sz="1200" dirty="0"/>
              <a:t>List the steps that are required to forecast by using Amazon </a:t>
            </a:r>
            <a:r>
              <a:rPr lang="en-US" sz="1200" dirty="0" err="1"/>
              <a:t>SageMaker</a:t>
            </a:r>
            <a:r>
              <a:rPr lang="en-US" sz="1200" dirty="0"/>
              <a:t> Canvas</a:t>
            </a:r>
          </a:p>
          <a:p>
            <a:pPr marL="171450" indent="-171450">
              <a:buFont typeface="Arial" panose="020B0604020202020204" pitchFamily="34" charset="0"/>
              <a:buChar char="•"/>
            </a:pPr>
            <a:r>
              <a:rPr lang="en-US" sz="1200" dirty="0"/>
              <a:t>Use Amazon SageMaker Canvas to make a time series forecast </a:t>
            </a:r>
          </a:p>
          <a:p>
            <a:pPr marL="171450" indent="-171450">
              <a:buFont typeface="Arial" panose="020B0604020202020204" pitchFamily="34" charset="0"/>
              <a:buChar char="•"/>
            </a:pPr>
            <a:r>
              <a:rPr lang="en-US" sz="1200" dirty="0"/>
              <a:t>Describe the computer vision use cases</a:t>
            </a:r>
          </a:p>
          <a:p>
            <a:pPr marL="171450" indent="-171450">
              <a:buFont typeface="Arial" panose="020B0604020202020204" pitchFamily="34" charset="0"/>
              <a:buChar char="•"/>
            </a:pPr>
            <a:r>
              <a:rPr lang="en-US" sz="1200" dirty="0"/>
              <a:t>Describe the managed Amazon ML services for image and video analysis</a:t>
            </a:r>
          </a:p>
          <a:p>
            <a:pPr marL="171450" indent="-171450">
              <a:buFont typeface="Arial" panose="020B0604020202020204" pitchFamily="34" charset="0"/>
              <a:buChar char="•"/>
            </a:pPr>
            <a:r>
              <a:rPr lang="en-US" sz="1200" dirty="0"/>
              <a:t>List the steps that are required to prepare a custom dataset for object detection </a:t>
            </a:r>
          </a:p>
          <a:p>
            <a:pPr marL="171450" indent="-171450">
              <a:buFont typeface="Arial" panose="020B0604020202020204" pitchFamily="34" charset="0"/>
              <a:buChar char="•"/>
            </a:pPr>
            <a:r>
              <a:rPr lang="en-US" sz="1200" dirty="0"/>
              <a:t>Describe how Amazon </a:t>
            </a:r>
            <a:r>
              <a:rPr lang="en-US" sz="1200" dirty="0" err="1"/>
              <a:t>SageMaker</a:t>
            </a:r>
            <a:r>
              <a:rPr lang="en-US" sz="1200" dirty="0"/>
              <a:t> Ground Truth can be used to prepare a custom dataset </a:t>
            </a:r>
          </a:p>
          <a:p>
            <a:pPr marL="171450" indent="-171450">
              <a:buFont typeface="Arial" panose="020B0604020202020204" pitchFamily="34" charset="0"/>
              <a:buChar char="•"/>
            </a:pPr>
            <a:r>
              <a:rPr lang="en-US" sz="1200" dirty="0"/>
              <a:t>Use Amazon </a:t>
            </a:r>
            <a:r>
              <a:rPr lang="en-US" sz="1200" dirty="0" err="1"/>
              <a:t>Rekognition</a:t>
            </a:r>
            <a:r>
              <a:rPr lang="en-US" sz="1200" dirty="0"/>
              <a:t> to perform facial detection</a:t>
            </a:r>
          </a:p>
          <a:p>
            <a:pPr marL="171450" lvl="0" indent="-171450">
              <a:buFont typeface="Arial" panose="020B0604020202020204" pitchFamily="34" charset="0"/>
              <a:buChar char="•"/>
            </a:pPr>
            <a:r>
              <a:rPr lang="en-US" sz="1200" dirty="0"/>
              <a:t>Describe the natural language processing (NLP) use cases that are solved by using managed Amazon ML services </a:t>
            </a:r>
          </a:p>
          <a:p>
            <a:pPr marL="171450" indent="-171450">
              <a:buFont typeface="Arial" panose="020B0604020202020204" pitchFamily="34" charset="0"/>
              <a:buChar char="•"/>
            </a:pPr>
            <a:r>
              <a:rPr lang="en-US" sz="1200" dirty="0"/>
              <a:t>Describe </a:t>
            </a:r>
            <a:r>
              <a:rPr lang="en-US" dirty="0"/>
              <a:t>the managed Amazon ML services </a:t>
            </a:r>
            <a:r>
              <a:rPr lang="en-US" sz="1200" dirty="0"/>
              <a:t>available for NLP</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Explain how Amazon Q Developer works with Amazon </a:t>
            </a:r>
            <a:r>
              <a:rPr lang="en-US" sz="1200" b="0" i="0" kern="1200" dirty="0" err="1">
                <a:solidFill>
                  <a:schemeClr val="tx1"/>
                </a:solidFill>
                <a:effectLst/>
                <a:latin typeface="+mn-lt"/>
                <a:ea typeface="+mn-ea"/>
                <a:cs typeface="+mn-cs"/>
              </a:rPr>
              <a:t>SageMaker</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Jupyter</a:t>
            </a:r>
            <a:r>
              <a:rPr lang="en-US" sz="1200" b="0" i="0" kern="1200" dirty="0">
                <a:solidFill>
                  <a:schemeClr val="tx1"/>
                </a:solidFill>
                <a:effectLst/>
                <a:latin typeface="+mn-lt"/>
                <a:ea typeface="+mn-ea"/>
                <a:cs typeface="+mn-cs"/>
              </a:rPr>
              <a:t> notebooks to optimize/speed-up development of your ML application</a:t>
            </a:r>
            <a:endParaRPr lang="en-US" sz="1200" i="0" dirty="0"/>
          </a:p>
        </p:txBody>
      </p:sp>
    </p:spTree>
    <p:extLst>
      <p:ext uri="{BB962C8B-B14F-4D97-AF65-F5344CB8AC3E}">
        <p14:creationId xmlns:p14="http://schemas.microsoft.com/office/powerpoint/2010/main" val="1279478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will now review the AWS Documentation and common frameworks that represent best practices for implementing solutions with AWS.</a:t>
            </a:r>
          </a:p>
          <a:p>
            <a:endParaRPr lang="en-US" b="0" dirty="0"/>
          </a:p>
        </p:txBody>
      </p:sp>
    </p:spTree>
    <p:extLst>
      <p:ext uri="{BB962C8B-B14F-4D97-AF65-F5344CB8AC3E}">
        <p14:creationId xmlns:p14="http://schemas.microsoft.com/office/powerpoint/2010/main" val="2654503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dirty="0"/>
              <a:t>AWS provides extensive and detailed documentation for each AWS service. Guides and API references are organized by service category. Also, many general resources</a:t>
            </a:r>
            <a:r>
              <a:rPr lang="en-US" sz="1200" baseline="0" dirty="0"/>
              <a:t> </a:t>
            </a:r>
            <a:r>
              <a:rPr lang="en-US" sz="1200" dirty="0"/>
              <a:t>and</a:t>
            </a:r>
            <a:r>
              <a:rPr lang="en-US" sz="1200" baseline="0" dirty="0"/>
              <a:t> </a:t>
            </a:r>
            <a:r>
              <a:rPr lang="en-US" sz="1200" dirty="0"/>
              <a:t>tutorials</a:t>
            </a:r>
            <a:r>
              <a:rPr lang="en-US" sz="1200" baseline="0" dirty="0"/>
              <a:t> </a:t>
            </a:r>
            <a:r>
              <a:rPr lang="en-US" sz="1200" dirty="0"/>
              <a:t>can be accessed from the AWS Documentation pages.  General resources include case studies, an A-to-Z glossary of AWS terms, whitepapers, FAQs, information about AWS Training and Certification, and more.</a:t>
            </a:r>
          </a:p>
          <a:p>
            <a:endParaRPr lang="en-US" sz="1200" dirty="0"/>
          </a:p>
          <a:p>
            <a:r>
              <a:rPr lang="en-US" sz="1200" dirty="0"/>
              <a:t>Also, each SDK and toolkit has</a:t>
            </a:r>
            <a:r>
              <a:rPr lang="en-US" sz="1200" baseline="0" dirty="0"/>
              <a:t> documentation, such as t</a:t>
            </a:r>
            <a:r>
              <a:rPr lang="en-US" sz="1200" dirty="0"/>
              <a:t>he AWS Command Line Interface (AWS CLI), the boto3 libraries for AWS SDK for Python, and many others.</a:t>
            </a:r>
          </a:p>
          <a:p>
            <a:endParaRPr lang="en-US" sz="1200" dirty="0"/>
          </a:p>
          <a:p>
            <a:r>
              <a:rPr lang="en-US" sz="1200" b="1" dirty="0"/>
              <a:t>AWS whitepapers</a:t>
            </a:r>
            <a:r>
              <a:rPr lang="en-US" sz="1200" dirty="0"/>
              <a:t> and guides can be filtered by product, category, or industry, so you can find the information that is most relevant to your needs.</a:t>
            </a:r>
          </a:p>
          <a:p>
            <a:endParaRPr lang="en-US" b="0" dirty="0"/>
          </a:p>
        </p:txBody>
      </p:sp>
    </p:spTree>
    <p:extLst>
      <p:ext uri="{BB962C8B-B14F-4D97-AF65-F5344CB8AC3E}">
        <p14:creationId xmlns:p14="http://schemas.microsoft.com/office/powerpoint/2010/main" val="3592157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this course is not designed to prepare you to achieve the AWS Certified Machine Learning – Specialty, you can continue to work towards certification. The next few slides review how you can achieve that goal.</a:t>
            </a:r>
          </a:p>
          <a:p>
            <a:endParaRPr lang="en-US" b="0" dirty="0"/>
          </a:p>
        </p:txBody>
      </p:sp>
    </p:spTree>
    <p:extLst>
      <p:ext uri="{BB962C8B-B14F-4D97-AF65-F5344CB8AC3E}">
        <p14:creationId xmlns:p14="http://schemas.microsoft.com/office/powerpoint/2010/main" val="523003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4843346"/>
          </a:xfrm>
        </p:spPr>
        <p:txBody>
          <a:bodyPr/>
          <a:lstStyle/>
          <a:p>
            <a:r>
              <a:rPr lang="en-US" dirty="0"/>
              <a:t>AWS Certification helps learners build credibility and confidence by validating their cloud expertise with an industry-recognized credential, and it helps organizations identify skilled professionals who can lead cloud initiatives by using AWS.</a:t>
            </a:r>
          </a:p>
          <a:p>
            <a:endParaRPr lang="en-US" dirty="0"/>
          </a:p>
          <a:p>
            <a:r>
              <a:rPr lang="en-US" dirty="0"/>
              <a:t>You must earn a passing score via a proctored exam to earn an AWS Certification. After receiving a passing score, you will receive your certification credentials. </a:t>
            </a:r>
          </a:p>
          <a:p>
            <a:endParaRPr lang="en-US" dirty="0"/>
          </a:p>
          <a:p>
            <a:pPr lvl="0"/>
            <a:r>
              <a:rPr lang="en-US" dirty="0"/>
              <a:t>AWS Certification does not publish a list of all services or features that are covered in a certification exam. However, the exam guide for each exam lists the current topic areas and objectives covered in the exam. Exam guides can be found at </a:t>
            </a:r>
            <a:r>
              <a:rPr lang="en-GB" dirty="0">
                <a:hlinkClick r:id="rId3"/>
              </a:rPr>
              <a:t>https://aws.amazon.com/certification/certification-prep/?src=certification-faqs</a:t>
            </a:r>
            <a:r>
              <a:rPr lang="en-US" dirty="0"/>
              <a:t>.</a:t>
            </a:r>
          </a:p>
          <a:p>
            <a:endParaRPr lang="en-US" dirty="0"/>
          </a:p>
          <a:p>
            <a:r>
              <a:rPr lang="en-US" dirty="0"/>
              <a:t>You will be required to update your certification (or recertify) every 3 years. View the AWS Certification Recertification page at </a:t>
            </a:r>
            <a:r>
              <a:rPr lang="en-GB" dirty="0">
                <a:hlinkClick r:id="rId4"/>
              </a:rPr>
              <a:t>https://aws.amazon.com/certification/recertification/</a:t>
            </a:r>
            <a:r>
              <a:rPr lang="en-US" dirty="0"/>
              <a:t> for more details.</a:t>
            </a:r>
          </a:p>
          <a:p>
            <a:endParaRPr lang="en-US" dirty="0"/>
          </a:p>
          <a:p>
            <a:r>
              <a:rPr lang="en-US" dirty="0"/>
              <a:t>The information on this slide is current as of November 2024. However, exams are frequently updated and the details regarding which exams are available—and what is tested by each exam—are subject to change. </a:t>
            </a:r>
          </a:p>
          <a:p>
            <a:endParaRPr lang="en-US" dirty="0"/>
          </a:p>
          <a:p>
            <a:r>
              <a:rPr lang="en-US" dirty="0"/>
              <a:t>For the latest AWS certification exam information, go to </a:t>
            </a:r>
            <a:r>
              <a:rPr lang="en-US" dirty="0">
                <a:hlinkClick r:id="rId5"/>
              </a:rPr>
              <a:t>https://aws.amazon.com/certification/</a:t>
            </a:r>
            <a:r>
              <a:rPr lang="en-US" dirty="0"/>
              <a:t>. </a:t>
            </a:r>
          </a:p>
          <a:p>
            <a:pPr defTabSz="966612">
              <a:defRPr/>
            </a:pPr>
            <a:endParaRPr lang="en-US" dirty="0"/>
          </a:p>
        </p:txBody>
      </p:sp>
    </p:spTree>
    <p:extLst>
      <p:ext uri="{BB962C8B-B14F-4D97-AF65-F5344CB8AC3E}">
        <p14:creationId xmlns:p14="http://schemas.microsoft.com/office/powerpoint/2010/main" val="3820123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The AWS Certified Machine Learning – Specialty means that you can select and justify the appropriate machine learning approach for a given business problem. You can also identify appropriate AWS services to implement machine learning solutions. Finally, you can design and implement scalable, cost-optimized, reliable, and secure machine learning solutions.</a:t>
            </a:r>
          </a:p>
          <a:p>
            <a:endParaRPr lang="en-US" dirty="0"/>
          </a:p>
        </p:txBody>
      </p:sp>
    </p:spTree>
    <p:extLst>
      <p:ext uri="{BB962C8B-B14F-4D97-AF65-F5344CB8AC3E}">
        <p14:creationId xmlns:p14="http://schemas.microsoft.com/office/powerpoint/2010/main" val="3955166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Before you take the AWS Certified Machine Learning – Specialty exam, we recommend that you have the following knowledge and experience.</a:t>
            </a:r>
          </a:p>
          <a:p>
            <a:endParaRPr lang="en-US" dirty="0"/>
          </a:p>
          <a:p>
            <a:r>
              <a:rPr lang="en-US" dirty="0"/>
              <a:t>First, you should have 1–2 years of experience in developing, architecting, or running ML and deep learning workloads on the AWS Cloud. Your experience should include performing basic hyperparameter optimization and working with machine learning and deep learning frameworks. You should also be able to express the intuition behind basic ML algorithms. Finally, you should be able to follow model-training best practices along with deployment and operational best practices.</a:t>
            </a:r>
          </a:p>
          <a:p>
            <a:r>
              <a:rPr lang="en-US" dirty="0"/>
              <a:t> </a:t>
            </a:r>
          </a:p>
        </p:txBody>
      </p:sp>
    </p:spTree>
    <p:extLst>
      <p:ext uri="{BB962C8B-B14F-4D97-AF65-F5344CB8AC3E}">
        <p14:creationId xmlns:p14="http://schemas.microsoft.com/office/powerpoint/2010/main" val="1980189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539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Thank you for completing this module.</a:t>
            </a:r>
          </a:p>
          <a:p>
            <a:endParaRPr lang="en-US" b="0" dirty="0"/>
          </a:p>
        </p:txBody>
      </p:sp>
    </p:spTree>
    <p:extLst>
      <p:ext uri="{BB962C8B-B14F-4D97-AF65-F5344CB8AC3E}">
        <p14:creationId xmlns:p14="http://schemas.microsoft.com/office/powerpoint/2010/main" val="3506812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9.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12D9B9CA-678C-44DB-A29A-D7DA4A64C7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84784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r="50690"/>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extLst>
      <p:ext uri="{BB962C8B-B14F-4D97-AF65-F5344CB8AC3E}">
        <p14:creationId xmlns:p14="http://schemas.microsoft.com/office/powerpoint/2010/main" val="42571185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noChangeAspect="1"/>
          </p:cNvSpPr>
          <p:nvPr>
            <p:ph type="pic" idx="22" hasCustomPrompt="1"/>
          </p:nvPr>
        </p:nvSpPr>
        <p:spPr>
          <a:xfrm>
            <a:off x="8951074" y="2423160"/>
            <a:ext cx="2011680" cy="201168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827477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 uri="{C183D7F6-B498-43B3-948B-1728B52AA6E4}">
                <adec:decorative xmlns:adec="http://schemas.microsoft.com/office/drawing/2017/decorative" val="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Tree>
    <p:custDataLst>
      <p:tags r:id="rId1"/>
    </p:custDataLst>
    <p:extLst>
      <p:ext uri="{BB962C8B-B14F-4D97-AF65-F5344CB8AC3E}">
        <p14:creationId xmlns:p14="http://schemas.microsoft.com/office/powerpoint/2010/main" val="139528215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3.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4">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43599" y="6445721"/>
            <a:ext cx="366979" cy="219456"/>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1" r:id="rId32"/>
    <p:sldLayoutId id="2147484292" r:id="rId33"/>
    <p:sldLayoutId id="2147484293" r:id="rId34"/>
    <p:sldLayoutId id="2147484294" r:id="rId35"/>
    <p:sldLayoutId id="2147484295" r:id="rId36"/>
    <p:sldLayoutId id="2147484296" r:id="rId37"/>
    <p:sldLayoutId id="2147484297" r:id="rId38"/>
    <p:sldLayoutId id="2147484298" r:id="rId39"/>
    <p:sldLayoutId id="2147484299" r:id="rId40"/>
    <p:sldLayoutId id="2147484300" r:id="rId41"/>
    <p:sldLayoutId id="2147484301" r:id="rId42"/>
    <p:sldLayoutId id="2147484302" r:id="rId43"/>
    <p:sldLayoutId id="2147484303" r:id="rId44"/>
    <p:sldLayoutId id="2147484304" r:id="rId45"/>
    <p:sldLayoutId id="2147484305" r:id="rId46"/>
    <p:sldLayoutId id="2147484306" r:id="rId47"/>
    <p:sldLayoutId id="2147484307" r:id="rId48"/>
    <p:sldLayoutId id="2147484308" r:id="rId49"/>
    <p:sldLayoutId id="2147484309" r:id="rId50"/>
    <p:sldLayoutId id="2147484310" r:id="rId51"/>
    <p:sldLayoutId id="2147484311" r:id="rId52"/>
    <p:sldLayoutId id="2147484312" r:id="rId53"/>
    <p:sldLayoutId id="2147484313" r:id="rId54"/>
    <p:sldLayoutId id="2147484314" r:id="rId55"/>
    <p:sldLayoutId id="2147484315" r:id="rId56"/>
    <p:sldLayoutId id="2147484316" r:id="rId57"/>
    <p:sldLayoutId id="2147483809" r:id="rId58"/>
    <p:sldLayoutId id="2147484317" r:id="rId59"/>
    <p:sldLayoutId id="2147484318" r:id="rId60"/>
    <p:sldLayoutId id="2147484320" r:id="rId61"/>
    <p:sldLayoutId id="2147484321" r:id="rId62"/>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58.xml"/><Relationship Id="rId4" Type="http://schemas.openxmlformats.org/officeDocument/2006/relationships/image" Target="../media/image2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60.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6.xml.rels><?xml version="1.0" encoding="UTF-8" standalone="yes"?>
<Relationships xmlns="http://schemas.openxmlformats.org/package/2006/relationships"><Relationship Id="rId8" Type="http://schemas.openxmlformats.org/officeDocument/2006/relationships/hyperlink" Target="https://docs.aws.amazon.com/whitepapers/latest/how-aws-pricing-works/abstract-and-introduction.html" TargetMode="External"/><Relationship Id="rId3" Type="http://schemas.openxmlformats.org/officeDocument/2006/relationships/notesSlide" Target="../notesSlides/notesSlide6.xml"/><Relationship Id="rId7" Type="http://schemas.openxmlformats.org/officeDocument/2006/relationships/hyperlink" Target="https://docs.aws.amazon.com/wellarchitected/latest/framework/welcome.html" TargetMode="External"/><Relationship Id="rId2" Type="http://schemas.openxmlformats.org/officeDocument/2006/relationships/slideLayout" Target="../slideLayouts/slideLayout9.xml"/><Relationship Id="rId1" Type="http://schemas.openxmlformats.org/officeDocument/2006/relationships/tags" Target="../tags/tag62.xml"/><Relationship Id="rId6" Type="http://schemas.openxmlformats.org/officeDocument/2006/relationships/hyperlink" Target="https://d0.awsstatic.com/whitepapers/aws-overview.pdf" TargetMode="External"/><Relationship Id="rId5" Type="http://schemas.openxmlformats.org/officeDocument/2006/relationships/hyperlink" Target="https://aws.amazon.com/whitepapers/" TargetMode="External"/><Relationship Id="rId4" Type="http://schemas.openxmlformats.org/officeDocument/2006/relationships/hyperlink" Target="https://docs.aws.amazon.com/" TargetMode="External"/><Relationship Id="rId9" Type="http://schemas.openxmlformats.org/officeDocument/2006/relationships/hyperlink" Target="https://media.amazonwebservices.com/AWS_TCO_Web_Applications.pdf"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notesSlide" Target="../notesSlides/notesSlide8.xml"/><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slideLayout" Target="../slideLayouts/slideLayout42.xml"/><Relationship Id="rId1" Type="http://schemas.openxmlformats.org/officeDocument/2006/relationships/tags" Target="../tags/tag6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65.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66.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67.xml"/><Relationship Id="rId4"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Module 8: Course Wrap-up</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lstStyle/>
          <a:p>
            <a:r>
              <a:rPr lang="en-US" dirty="0"/>
              <a:t>AWS Academy Machine Learning Foundations</a:t>
            </a:r>
          </a:p>
        </p:txBody>
      </p:sp>
    </p:spTree>
    <p:custDataLst>
      <p:tags r:id="rId1"/>
    </p:custDataLst>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latin typeface="+mj-lt"/>
              </a:rPr>
              <a:t>Module overview</a:t>
            </a:r>
            <a:endParaRPr lang="en-US" dirty="0"/>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pPr marL="0" indent="0">
              <a:spcBef>
                <a:spcPts val="1800"/>
              </a:spcBef>
              <a:buNone/>
            </a:pPr>
            <a:r>
              <a:rPr lang="en-US" sz="3200" b="1" dirty="0">
                <a:latin typeface="+mn-lt"/>
                <a:ea typeface="Amazon Ember" panose="02000000000000000000" pitchFamily="2" charset="0"/>
              </a:rPr>
              <a:t>Sections</a:t>
            </a:r>
          </a:p>
          <a:p>
            <a:pPr marL="685800" lvl="1" indent="-457200">
              <a:spcBef>
                <a:spcPts val="1800"/>
              </a:spcBef>
              <a:buFont typeface="+mj-lt"/>
              <a:buAutoNum type="arabicPeriod"/>
            </a:pPr>
            <a:r>
              <a:rPr lang="en-US" dirty="0">
                <a:latin typeface="+mn-lt"/>
              </a:rPr>
              <a:t>Course summary</a:t>
            </a:r>
          </a:p>
          <a:p>
            <a:pPr marL="685800" lvl="1" indent="-457200">
              <a:spcBef>
                <a:spcPts val="1800"/>
              </a:spcBef>
              <a:buFont typeface="+mj-lt"/>
              <a:buAutoNum type="arabicPeriod"/>
            </a:pPr>
            <a:r>
              <a:rPr lang="en-US" dirty="0">
                <a:latin typeface="+mn-lt"/>
              </a:rPr>
              <a:t>AWS Documentation</a:t>
            </a:r>
          </a:p>
          <a:p>
            <a:pPr marL="685800" lvl="1" indent="-457200">
              <a:spcBef>
                <a:spcPts val="1800"/>
              </a:spcBef>
              <a:buFont typeface="+mj-lt"/>
              <a:buAutoNum type="arabicPeriod"/>
            </a:pPr>
            <a:r>
              <a:rPr lang="en-US" dirty="0">
                <a:latin typeface="+mn-lt"/>
              </a:rPr>
              <a:t>Certifications and resources</a:t>
            </a:r>
          </a:p>
        </p:txBody>
      </p:sp>
      <p:pic>
        <p:nvPicPr>
          <p:cNvPr id="7" name="Content Placeholder 10">
            <a:extLst>
              <a:ext uri="{FF2B5EF4-FFF2-40B4-BE49-F238E27FC236}">
                <a16:creationId xmlns:a16="http://schemas.microsoft.com/office/drawing/2014/main" id="{EB0E2025-443B-4687-AE92-97E161C48A35}"/>
              </a:ext>
              <a:ext uri="{C183D7F6-B498-43B3-948B-1728B52AA6E4}">
                <adec:decorative xmlns:adec="http://schemas.microsoft.com/office/drawing/2017/decorative" val="1"/>
              </a:ext>
            </a:extLst>
          </p:cNvPr>
          <p:cNvPicPr>
            <a:picLocks noGrp="1" noChangeAspect="1"/>
          </p:cNvPicPr>
          <p:nvPr>
            <p:ph idx="3"/>
          </p:nvPr>
        </p:nvPicPr>
        <p:blipFill>
          <a:blip r:embed="rId4"/>
          <a:stretch>
            <a:fillRect/>
          </a:stretch>
        </p:blipFill>
        <p:spPr>
          <a:xfrm>
            <a:off x="6162675" y="2235908"/>
            <a:ext cx="5668963" cy="3052934"/>
          </a:xfrm>
          <a:prstGeom prst="rect">
            <a:avLst/>
          </a:prstGeom>
        </p:spPr>
      </p:pic>
    </p:spTree>
    <p:custDataLst>
      <p:tags r:id="rId1"/>
    </p:custDataLst>
    <p:extLst>
      <p:ext uri="{BB962C8B-B14F-4D97-AF65-F5344CB8AC3E}">
        <p14:creationId xmlns:p14="http://schemas.microsoft.com/office/powerpoint/2010/main" val="3738040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3</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1: Course summary </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8: Course Wrap-up</a:t>
            </a:r>
          </a:p>
        </p:txBody>
      </p:sp>
    </p:spTree>
    <p:custDataLst>
      <p:tags r:id="rId1"/>
    </p:custDataLst>
    <p:extLst>
      <p:ext uri="{BB962C8B-B14F-4D97-AF65-F5344CB8AC3E}">
        <p14:creationId xmlns:p14="http://schemas.microsoft.com/office/powerpoint/2010/main" val="3574568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Course summary</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pPr marL="0" indent="0">
              <a:buNone/>
            </a:pPr>
            <a:r>
              <a:rPr lang="en-US" dirty="0"/>
              <a:t>You should now be able to:</a:t>
            </a:r>
          </a:p>
          <a:p>
            <a:pPr lvl="1"/>
            <a:r>
              <a:rPr lang="en-US" dirty="0"/>
              <a:t>Describe machine learning</a:t>
            </a:r>
          </a:p>
          <a:p>
            <a:pPr lvl="1"/>
            <a:r>
              <a:rPr lang="en-US" dirty="0"/>
              <a:t>Implement a machine learning pipeline by using Amazon </a:t>
            </a:r>
            <a:r>
              <a:rPr lang="en-US" dirty="0" err="1"/>
              <a:t>SageMaker</a:t>
            </a:r>
            <a:endParaRPr lang="en-US" dirty="0"/>
          </a:p>
          <a:p>
            <a:pPr lvl="1"/>
            <a:r>
              <a:rPr lang="en-US" dirty="0"/>
              <a:t>Use managed Amazon ML services for forecasting, computer vision, natural language processing, and generative artificial intelligence (AI)</a:t>
            </a:r>
          </a:p>
          <a:p>
            <a:pPr lvl="1"/>
            <a:r>
              <a:rPr lang="en-US" dirty="0"/>
              <a:t>Identify how Amazon ML services for generative AI are used</a:t>
            </a:r>
          </a:p>
        </p:txBody>
      </p:sp>
      <p:pic>
        <p:nvPicPr>
          <p:cNvPr id="5" name="Picture 4">
            <a:extLst>
              <a:ext uri="{FF2B5EF4-FFF2-40B4-BE49-F238E27FC236}">
                <a16:creationId xmlns:a16="http://schemas.microsoft.com/office/drawing/2014/main" id="{57F43BBD-5270-2EF4-082E-173F76305EFD}"/>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4285" t="3704" r="15488" b="3518"/>
          <a:stretch/>
        </p:blipFill>
        <p:spPr>
          <a:xfrm>
            <a:off x="10151874" y="4741895"/>
            <a:ext cx="1367007" cy="1805955"/>
          </a:xfrm>
          <a:prstGeom prst="rect">
            <a:avLst/>
          </a:prstGeom>
        </p:spPr>
      </p:pic>
    </p:spTree>
    <p:custDataLst>
      <p:tags r:id="rId1"/>
    </p:custDataLst>
    <p:extLst>
      <p:ext uri="{BB962C8B-B14F-4D97-AF65-F5344CB8AC3E}">
        <p14:creationId xmlns:p14="http://schemas.microsoft.com/office/powerpoint/2010/main" val="215407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2: AWS Documentation</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8: Course Wrap-up</a:t>
            </a:r>
          </a:p>
        </p:txBody>
      </p:sp>
    </p:spTree>
    <p:custDataLst>
      <p:tags r:id="rId1"/>
    </p:custDataLst>
    <p:extLst>
      <p:ext uri="{BB962C8B-B14F-4D97-AF65-F5344CB8AC3E}">
        <p14:creationId xmlns:p14="http://schemas.microsoft.com/office/powerpoint/2010/main" val="3551609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AWS Documentation</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normAutofit lnSpcReduction="10000"/>
          </a:bodyPr>
          <a:lstStyle/>
          <a:p>
            <a:r>
              <a:rPr lang="en-US" dirty="0"/>
              <a:t>Find user guides, developer guides, API references, tutorials, and more</a:t>
            </a:r>
          </a:p>
          <a:p>
            <a:pPr lvl="1"/>
            <a:r>
              <a:rPr lang="en-US" dirty="0">
                <a:hlinkClick r:id="rId4"/>
              </a:rPr>
              <a:t>AWS Documentation</a:t>
            </a:r>
            <a:endParaRPr lang="en-US" dirty="0"/>
          </a:p>
          <a:p>
            <a:pPr marL="228600" lvl="1" indent="0">
              <a:buNone/>
            </a:pPr>
            <a:endParaRPr lang="en-US" dirty="0"/>
          </a:p>
          <a:p>
            <a:r>
              <a:rPr lang="en-US" dirty="0"/>
              <a:t>Whitepapers are also available at </a:t>
            </a:r>
            <a:r>
              <a:rPr lang="en-US" dirty="0">
                <a:hlinkClick r:id="rId5"/>
              </a:rPr>
              <a:t>AWS Whitepapers</a:t>
            </a:r>
            <a:r>
              <a:rPr lang="en-US" dirty="0"/>
              <a:t> including the following list, which contains recommended reading for the AWS Cloud Practitioner exam –</a:t>
            </a:r>
          </a:p>
          <a:p>
            <a:pPr lvl="1"/>
            <a:r>
              <a:rPr lang="en-US" dirty="0">
                <a:hlinkClick r:id="rId6"/>
              </a:rPr>
              <a:t>Overview of Amazon Web Services</a:t>
            </a:r>
            <a:endParaRPr lang="en-US" dirty="0"/>
          </a:p>
          <a:p>
            <a:pPr lvl="1"/>
            <a:r>
              <a:rPr lang="en-US" dirty="0">
                <a:hlinkClick r:id="rId7"/>
              </a:rPr>
              <a:t>AWS Well-Architected Framework</a:t>
            </a:r>
            <a:endParaRPr lang="en-US" dirty="0"/>
          </a:p>
          <a:p>
            <a:pPr lvl="1"/>
            <a:r>
              <a:rPr lang="en-US" dirty="0">
                <a:hlinkClick r:id="rId8"/>
              </a:rPr>
              <a:t>How AWS Pricing Works</a:t>
            </a:r>
            <a:endParaRPr lang="en-US" dirty="0"/>
          </a:p>
          <a:p>
            <a:pPr lvl="1"/>
            <a:r>
              <a:rPr lang="en-US" dirty="0">
                <a:hlinkClick r:id="rId9"/>
              </a:rPr>
              <a:t>The Total Cost of (Non) Ownership of Web Applications in the Cloud</a:t>
            </a:r>
            <a:endParaRPr lang="en-US" dirty="0"/>
          </a:p>
        </p:txBody>
      </p:sp>
    </p:spTree>
    <p:custDataLst>
      <p:tags r:id="rId1"/>
    </p:custDataLst>
    <p:extLst>
      <p:ext uri="{BB962C8B-B14F-4D97-AF65-F5344CB8AC3E}">
        <p14:creationId xmlns:p14="http://schemas.microsoft.com/office/powerpoint/2010/main" val="2680256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3: AWS Certified Machine Learning – Specialty</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8: Course Wrap-up</a:t>
            </a:r>
          </a:p>
        </p:txBody>
      </p:sp>
    </p:spTree>
    <p:custDataLst>
      <p:tags r:id="rId1"/>
    </p:custDataLst>
    <p:extLst>
      <p:ext uri="{BB962C8B-B14F-4D97-AF65-F5344CB8AC3E}">
        <p14:creationId xmlns:p14="http://schemas.microsoft.com/office/powerpoint/2010/main" val="778872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AWS Certification exams</a:t>
            </a:r>
          </a:p>
        </p:txBody>
      </p:sp>
      <p:sp>
        <p:nvSpPr>
          <p:cNvPr id="7" name="Content Placeholder 48">
            <a:extLst>
              <a:ext uri="{FF2B5EF4-FFF2-40B4-BE49-F238E27FC236}">
                <a16:creationId xmlns:a16="http://schemas.microsoft.com/office/drawing/2014/main" id="{2090CD90-C6E6-2928-6510-74A58214442A}"/>
              </a:ext>
            </a:extLst>
          </p:cNvPr>
          <p:cNvSpPr txBox="1">
            <a:spLocks/>
          </p:cNvSpPr>
          <p:nvPr/>
        </p:nvSpPr>
        <p:spPr>
          <a:xfrm>
            <a:off x="264161" y="1259981"/>
            <a:ext cx="7540094"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chemeClr val="accent1"/>
                </a:solidFill>
                <a:effectLst/>
                <a:uLnTx/>
                <a:uFillTx/>
                <a:latin typeface="+mn-lt"/>
                <a:ea typeface="Amazon Ember" panose="020B0603020204020204" pitchFamily="34" charset="0"/>
                <a:cs typeface="Amazon Ember" panose="020B0603020204020204" pitchFamily="34" charset="0"/>
              </a:rPr>
              <a:t>Role-based certifications</a:t>
            </a:r>
            <a:endParaRPr kumimoji="0" lang="en-US" sz="2800" b="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endParaRPr>
          </a:p>
        </p:txBody>
      </p:sp>
      <p:sp>
        <p:nvSpPr>
          <p:cNvPr id="23" name="Rectangle 22">
            <a:extLst>
              <a:ext uri="{FF2B5EF4-FFF2-40B4-BE49-F238E27FC236}">
                <a16:creationId xmlns:a16="http://schemas.microsoft.com/office/drawing/2014/main" id="{40BF1BBB-C25D-451D-E625-17073B56D241}"/>
              </a:ext>
            </a:extLst>
          </p:cNvPr>
          <p:cNvSpPr/>
          <p:nvPr/>
        </p:nvSpPr>
        <p:spPr>
          <a:xfrm>
            <a:off x="264160" y="5591443"/>
            <a:ext cx="1463040" cy="338554"/>
          </a:xfrm>
          <a:prstGeom prst="rect">
            <a:avLst/>
          </a:prstGeom>
        </p:spPr>
        <p:txBody>
          <a:bodyPr wrap="square" lIns="91440" rIns="91440">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Foundational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36" name="Picture 35" descr="Cloud Practitioner Foundational">
            <a:extLst>
              <a:ext uri="{FF2B5EF4-FFF2-40B4-BE49-F238E27FC236}">
                <a16:creationId xmlns:a16="http://schemas.microsoft.com/office/drawing/2014/main" id="{DCE688B9-C115-4755-8228-E5A7A7BBB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7240" y="5074920"/>
            <a:ext cx="1371600" cy="1371600"/>
          </a:xfrm>
          <a:prstGeom prst="rect">
            <a:avLst/>
          </a:prstGeom>
        </p:spPr>
      </p:pic>
      <p:pic>
        <p:nvPicPr>
          <p:cNvPr id="38" name="Picture 37" descr="AI Practitioner Foundational">
            <a:extLst>
              <a:ext uri="{FF2B5EF4-FFF2-40B4-BE49-F238E27FC236}">
                <a16:creationId xmlns:a16="http://schemas.microsoft.com/office/drawing/2014/main" id="{BCAC96AF-65CF-4789-AB47-BC1E0AF14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0990" y="5074920"/>
            <a:ext cx="1371600" cy="1371600"/>
          </a:xfrm>
          <a:prstGeom prst="rect">
            <a:avLst/>
          </a:prstGeom>
        </p:spPr>
      </p:pic>
      <p:sp>
        <p:nvSpPr>
          <p:cNvPr id="18" name="Rectangle 17">
            <a:extLst>
              <a:ext uri="{FF2B5EF4-FFF2-40B4-BE49-F238E27FC236}">
                <a16:creationId xmlns:a16="http://schemas.microsoft.com/office/drawing/2014/main" id="{DA2DE31E-212D-C051-1EB6-FEE99FB2F7BA}"/>
              </a:ext>
            </a:extLst>
          </p:cNvPr>
          <p:cNvSpPr/>
          <p:nvPr/>
        </p:nvSpPr>
        <p:spPr>
          <a:xfrm>
            <a:off x="264160" y="3957953"/>
            <a:ext cx="1463040" cy="338554"/>
          </a:xfrm>
          <a:prstGeom prst="rect">
            <a:avLst/>
          </a:prstGeom>
        </p:spPr>
        <p:txBody>
          <a:bodyPr wrap="square">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Associate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40" name="Picture 39" descr="Solutions Architect Associate">
            <a:extLst>
              <a:ext uri="{FF2B5EF4-FFF2-40B4-BE49-F238E27FC236}">
                <a16:creationId xmlns:a16="http://schemas.microsoft.com/office/drawing/2014/main" id="{F1188C0F-26DD-43EE-A196-F96B08B356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7240" y="3441430"/>
            <a:ext cx="1371600" cy="1371600"/>
          </a:xfrm>
          <a:prstGeom prst="rect">
            <a:avLst/>
          </a:prstGeom>
        </p:spPr>
      </p:pic>
      <p:pic>
        <p:nvPicPr>
          <p:cNvPr id="42" name="Picture 41" descr="SysOps Administrator Associate">
            <a:extLst>
              <a:ext uri="{FF2B5EF4-FFF2-40B4-BE49-F238E27FC236}">
                <a16:creationId xmlns:a16="http://schemas.microsoft.com/office/drawing/2014/main" id="{9546FF67-151E-4846-A81D-DFBCB47327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60742" y="3441430"/>
            <a:ext cx="1371600" cy="1371600"/>
          </a:xfrm>
          <a:prstGeom prst="rect">
            <a:avLst/>
          </a:prstGeom>
        </p:spPr>
      </p:pic>
      <p:pic>
        <p:nvPicPr>
          <p:cNvPr id="44" name="Picture 43" descr="Developer Associate">
            <a:extLst>
              <a:ext uri="{FF2B5EF4-FFF2-40B4-BE49-F238E27FC236}">
                <a16:creationId xmlns:a16="http://schemas.microsoft.com/office/drawing/2014/main" id="{FA81B0CE-9171-4A78-A02A-3B29EE1FB4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54244" y="3441430"/>
            <a:ext cx="1371600" cy="1371600"/>
          </a:xfrm>
          <a:prstGeom prst="rect">
            <a:avLst/>
          </a:prstGeom>
        </p:spPr>
      </p:pic>
      <p:pic>
        <p:nvPicPr>
          <p:cNvPr id="46" name="Picture 45" descr="Data Engineer Associate">
            <a:extLst>
              <a:ext uri="{FF2B5EF4-FFF2-40B4-BE49-F238E27FC236}">
                <a16:creationId xmlns:a16="http://schemas.microsoft.com/office/drawing/2014/main" id="{389A3C9E-93C8-40F8-B9B2-3301521D7E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47746" y="3441430"/>
            <a:ext cx="1371600" cy="1371600"/>
          </a:xfrm>
          <a:prstGeom prst="rect">
            <a:avLst/>
          </a:prstGeom>
        </p:spPr>
      </p:pic>
      <p:pic>
        <p:nvPicPr>
          <p:cNvPr id="48" name="Picture 47" descr="Machine Learning Engineer Associate">
            <a:extLst>
              <a:ext uri="{FF2B5EF4-FFF2-40B4-BE49-F238E27FC236}">
                <a16:creationId xmlns:a16="http://schemas.microsoft.com/office/drawing/2014/main" id="{68D1D8F8-6739-40F5-A9A1-A7C22C850EB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1247" y="3441430"/>
            <a:ext cx="1371600" cy="1371600"/>
          </a:xfrm>
          <a:prstGeom prst="rect">
            <a:avLst/>
          </a:prstGeom>
        </p:spPr>
      </p:pic>
      <p:sp>
        <p:nvSpPr>
          <p:cNvPr id="14" name="Rectangle 13">
            <a:extLst>
              <a:ext uri="{FF2B5EF4-FFF2-40B4-BE49-F238E27FC236}">
                <a16:creationId xmlns:a16="http://schemas.microsoft.com/office/drawing/2014/main" id="{D4BDF4B2-C924-1521-0747-3DEDEA7D9A5F}"/>
              </a:ext>
            </a:extLst>
          </p:cNvPr>
          <p:cNvSpPr/>
          <p:nvPr/>
        </p:nvSpPr>
        <p:spPr>
          <a:xfrm>
            <a:off x="264160" y="2288987"/>
            <a:ext cx="1463040" cy="338554"/>
          </a:xfrm>
          <a:prstGeom prst="rect">
            <a:avLst/>
          </a:prstGeom>
        </p:spPr>
        <p:txBody>
          <a:bodyPr wrap="square">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Professional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50" name="Picture 49" descr="Solutions Architect Professional">
            <a:extLst>
              <a:ext uri="{FF2B5EF4-FFF2-40B4-BE49-F238E27FC236}">
                <a16:creationId xmlns:a16="http://schemas.microsoft.com/office/drawing/2014/main" id="{73B21BF1-E385-41C1-9AAE-4F1E8DC1D08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67240" y="1772464"/>
            <a:ext cx="1371600" cy="1371600"/>
          </a:xfrm>
          <a:prstGeom prst="rect">
            <a:avLst/>
          </a:prstGeom>
        </p:spPr>
      </p:pic>
      <p:pic>
        <p:nvPicPr>
          <p:cNvPr id="52" name="Picture 51" descr="DevOps Engineer Professional">
            <a:extLst>
              <a:ext uri="{FF2B5EF4-FFF2-40B4-BE49-F238E27FC236}">
                <a16:creationId xmlns:a16="http://schemas.microsoft.com/office/drawing/2014/main" id="{DBD5F3A7-0E07-49A3-90A3-B5BF808DA99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860990" y="1772464"/>
            <a:ext cx="1371600" cy="1371600"/>
          </a:xfrm>
          <a:prstGeom prst="rect">
            <a:avLst/>
          </a:prstGeom>
        </p:spPr>
      </p:pic>
      <p:sp>
        <p:nvSpPr>
          <p:cNvPr id="25" name="Content Placeholder 49">
            <a:extLst>
              <a:ext uri="{FF2B5EF4-FFF2-40B4-BE49-F238E27FC236}">
                <a16:creationId xmlns:a16="http://schemas.microsoft.com/office/drawing/2014/main" id="{5FF06C62-7BE6-714B-640D-A3D8CBE4FE75}"/>
              </a:ext>
            </a:extLst>
          </p:cNvPr>
          <p:cNvSpPr txBox="1">
            <a:spLocks/>
          </p:cNvSpPr>
          <p:nvPr/>
        </p:nvSpPr>
        <p:spPr>
          <a:xfrm>
            <a:off x="7241540" y="1259981"/>
            <a:ext cx="4686300"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chemeClr val="accent1"/>
                </a:solidFill>
                <a:effectLst/>
                <a:uLnTx/>
                <a:uFillTx/>
                <a:latin typeface="+mn-lt"/>
                <a:ea typeface="Amazon Ember" panose="020B0603020204020204" pitchFamily="34" charset="0"/>
                <a:cs typeface="Amazon Ember" panose="020B0603020204020204" pitchFamily="34" charset="0"/>
              </a:rPr>
              <a:t>Specialty certifications</a:t>
            </a:r>
            <a:endParaRPr kumimoji="0" lang="en-US" sz="2800" b="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endParaRPr>
          </a:p>
        </p:txBody>
      </p:sp>
      <p:pic>
        <p:nvPicPr>
          <p:cNvPr id="6" name="Picture 5" descr="Advanced Networking Specialty">
            <a:extLst>
              <a:ext uri="{FF2B5EF4-FFF2-40B4-BE49-F238E27FC236}">
                <a16:creationId xmlns:a16="http://schemas.microsoft.com/office/drawing/2014/main" id="{0241F639-9EFE-47EE-9874-CFF7A18C59D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87786" y="1772464"/>
            <a:ext cx="1371600" cy="1371600"/>
          </a:xfrm>
          <a:prstGeom prst="rect">
            <a:avLst/>
          </a:prstGeom>
        </p:spPr>
      </p:pic>
      <p:pic>
        <p:nvPicPr>
          <p:cNvPr id="32" name="Picture 31" descr="Machine Learning Specialty">
            <a:extLst>
              <a:ext uri="{FF2B5EF4-FFF2-40B4-BE49-F238E27FC236}">
                <a16:creationId xmlns:a16="http://schemas.microsoft.com/office/drawing/2014/main" id="{DB9DFD93-0F0E-44CD-8E13-6105AE23633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93528" y="1772464"/>
            <a:ext cx="1371600" cy="1371600"/>
          </a:xfrm>
          <a:prstGeom prst="rect">
            <a:avLst/>
          </a:prstGeom>
        </p:spPr>
      </p:pic>
      <p:pic>
        <p:nvPicPr>
          <p:cNvPr id="34" name="Picture 33" descr="Security Specialty">
            <a:extLst>
              <a:ext uri="{FF2B5EF4-FFF2-40B4-BE49-F238E27FC236}">
                <a16:creationId xmlns:a16="http://schemas.microsoft.com/office/drawing/2014/main" id="{CA787377-D3BA-4B20-8955-C909A6FDD68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693959" y="1772464"/>
            <a:ext cx="1371600" cy="1371600"/>
          </a:xfrm>
          <a:prstGeom prst="rect">
            <a:avLst/>
          </a:prstGeom>
        </p:spPr>
      </p:pic>
      <p:sp>
        <p:nvSpPr>
          <p:cNvPr id="21" name="Content Placeholder 6">
            <a:extLst>
              <a:ext uri="{FF2B5EF4-FFF2-40B4-BE49-F238E27FC236}">
                <a16:creationId xmlns:a16="http://schemas.microsoft.com/office/drawing/2014/main" id="{D944C1C5-54A5-4337-89D8-A62881C50CB1}"/>
              </a:ext>
            </a:extLst>
          </p:cNvPr>
          <p:cNvSpPr txBox="1">
            <a:spLocks/>
          </p:cNvSpPr>
          <p:nvPr/>
        </p:nvSpPr>
        <p:spPr>
          <a:xfrm>
            <a:off x="4736151" y="5350781"/>
            <a:ext cx="7191688" cy="880246"/>
          </a:xfrm>
          <a:prstGeom prst="rect">
            <a:avLst/>
          </a:prstGeom>
        </p:spPr>
        <p:txBody>
          <a:bodyPr anchor="b"/>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buFont typeface="Amazon Ember"/>
              <a:buNone/>
            </a:pPr>
            <a:r>
              <a:rPr lang="en-US" sz="2400" i="1" dirty="0"/>
              <a:t>This course helps prepare you for the AWS </a:t>
            </a:r>
            <a:r>
              <a:rPr lang="en-US" sz="2400" b="1" i="1" dirty="0"/>
              <a:t>Machine Learning — Specialty</a:t>
            </a:r>
            <a:r>
              <a:rPr lang="en-US" sz="2400" i="1" dirty="0"/>
              <a:t> certification exam</a:t>
            </a:r>
          </a:p>
        </p:txBody>
      </p:sp>
    </p:spTree>
    <p:custDataLst>
      <p:tags r:id="rId1"/>
    </p:custDataLst>
    <p:extLst>
      <p:ext uri="{BB962C8B-B14F-4D97-AF65-F5344CB8AC3E}">
        <p14:creationId xmlns:p14="http://schemas.microsoft.com/office/powerpoint/2010/main" val="1710884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Certification capabilities</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a:xfrm>
            <a:off x="365760" y="1097280"/>
            <a:ext cx="9501706" cy="5330952"/>
          </a:xfrm>
        </p:spPr>
        <p:txBody>
          <a:bodyPr/>
          <a:lstStyle/>
          <a:p>
            <a:pPr marL="0" indent="0">
              <a:buNone/>
            </a:pPr>
            <a:r>
              <a:rPr lang="en-US" dirty="0"/>
              <a:t>Certification validates the following abilities:</a:t>
            </a:r>
          </a:p>
          <a:p>
            <a:pPr lvl="1"/>
            <a:r>
              <a:rPr lang="en-US" dirty="0"/>
              <a:t>Select and justify the appropriate machine learning approach for a given business problem</a:t>
            </a:r>
          </a:p>
          <a:p>
            <a:pPr lvl="1"/>
            <a:r>
              <a:rPr lang="en-US" dirty="0"/>
              <a:t>Identify appropriate AWS services to implement machine learning solutions</a:t>
            </a:r>
          </a:p>
          <a:p>
            <a:pPr lvl="1"/>
            <a:r>
              <a:rPr lang="en-US" dirty="0"/>
              <a:t>Design and implement scalable, cost-optimized, reliable, and secure machine learning solutions</a:t>
            </a:r>
          </a:p>
        </p:txBody>
      </p:sp>
      <p:pic>
        <p:nvPicPr>
          <p:cNvPr id="5" name="Picture 4">
            <a:extLst>
              <a:ext uri="{FF2B5EF4-FFF2-40B4-BE49-F238E27FC236}">
                <a16:creationId xmlns:a16="http://schemas.microsoft.com/office/drawing/2014/main" id="{D1767093-9D55-E182-9BE7-19E38AD053A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67466" y="1523566"/>
            <a:ext cx="1905434" cy="1905434"/>
          </a:xfrm>
          <a:prstGeom prst="rect">
            <a:avLst/>
          </a:prstGeom>
        </p:spPr>
      </p:pic>
    </p:spTree>
    <p:custDataLst>
      <p:tags r:id="rId1"/>
    </p:custDataLst>
    <p:extLst>
      <p:ext uri="{BB962C8B-B14F-4D97-AF65-F5344CB8AC3E}">
        <p14:creationId xmlns:p14="http://schemas.microsoft.com/office/powerpoint/2010/main" val="65276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Certification requirements</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a:xfrm>
            <a:off x="365760" y="1097280"/>
            <a:ext cx="9282737" cy="5330952"/>
          </a:xfrm>
        </p:spPr>
        <p:txBody>
          <a:bodyPr/>
          <a:lstStyle/>
          <a:p>
            <a:pPr marL="0" indent="0">
              <a:buNone/>
            </a:pPr>
            <a:r>
              <a:rPr lang="en-US" dirty="0"/>
              <a:t>Recommended knowledge and experience:</a:t>
            </a:r>
          </a:p>
          <a:p>
            <a:pPr lvl="1" fontAlgn="ctr"/>
            <a:r>
              <a:rPr lang="en-US" dirty="0"/>
              <a:t>1–2 years of experience developing, architecting, or running ML and deep learning workloads on the AWS Cloud</a:t>
            </a:r>
          </a:p>
          <a:p>
            <a:pPr lvl="1" fontAlgn="ctr"/>
            <a:r>
              <a:rPr lang="en-US" dirty="0"/>
              <a:t>The ability to express the intuition behind basic ML algorithms</a:t>
            </a:r>
          </a:p>
          <a:p>
            <a:pPr lvl="1" fontAlgn="ctr"/>
            <a:r>
              <a:rPr lang="en-US" dirty="0"/>
              <a:t>Experience in performing basic hyperparameter optimization</a:t>
            </a:r>
          </a:p>
          <a:p>
            <a:pPr lvl="1" fontAlgn="ctr"/>
            <a:r>
              <a:rPr lang="en-US" dirty="0"/>
              <a:t>Experience with ML and deep learning frameworks</a:t>
            </a:r>
          </a:p>
          <a:p>
            <a:pPr lvl="1" fontAlgn="ctr"/>
            <a:r>
              <a:rPr lang="en-US" dirty="0"/>
              <a:t>The ability to follow model-training best practices</a:t>
            </a:r>
          </a:p>
          <a:p>
            <a:pPr lvl="1" fontAlgn="ctr"/>
            <a:r>
              <a:rPr lang="en-US" dirty="0"/>
              <a:t>The ability to follow deployment and operational best practices</a:t>
            </a:r>
          </a:p>
        </p:txBody>
      </p:sp>
      <p:pic>
        <p:nvPicPr>
          <p:cNvPr id="5" name="Picture 4">
            <a:extLst>
              <a:ext uri="{FF2B5EF4-FFF2-40B4-BE49-F238E27FC236}">
                <a16:creationId xmlns:a16="http://schemas.microsoft.com/office/drawing/2014/main" id="{FDC5C92A-F2F6-55CF-1A81-D77FC9B8159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67466" y="1523566"/>
            <a:ext cx="1905434" cy="1905434"/>
          </a:xfrm>
          <a:prstGeom prst="rect">
            <a:avLst/>
          </a:prstGeom>
        </p:spPr>
      </p:pic>
    </p:spTree>
    <p:custDataLst>
      <p:tags r:id="rId1"/>
    </p:custDataLst>
    <p:extLst>
      <p:ext uri="{BB962C8B-B14F-4D97-AF65-F5344CB8AC3E}">
        <p14:creationId xmlns:p14="http://schemas.microsoft.com/office/powerpoint/2010/main" val="381804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3" name="Title 2">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1"/>
  <p:tag name="ARTICULATE_DESIGN_ID_ONEBRAND EVO (2022-Q4) COLORSET 3" val="tVWOlipz"/>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A40BCACBC0704FBE54FCAD9A364197" ma:contentTypeVersion="9" ma:contentTypeDescription="Create a new document." ma:contentTypeScope="" ma:versionID="cc67bbb27a43bf09a4a8c3ae4ac98682">
  <xsd:schema xmlns:xsd="http://www.w3.org/2001/XMLSchema" xmlns:xs="http://www.w3.org/2001/XMLSchema" xmlns:p="http://schemas.microsoft.com/office/2006/metadata/properties" xmlns:ns2="5b79967b-49e9-425f-a9b8-db6ba98b17c2" targetNamespace="http://schemas.microsoft.com/office/2006/metadata/properties" ma:root="true" ma:fieldsID="67633a473fbac99d9a24a1eeb268e13c" ns2:_="">
    <xsd:import namespace="5b79967b-49e9-425f-a9b8-db6ba98b17c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79967b-49e9-425f-a9b8-db6ba98b17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c6a8ee2-3bee-4e1c-ab85-d316d9eee6bc"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A70A12-FEA6-472C-8DE6-70488B895D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79967b-49e9-425f-a9b8-db6ba98b17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BEB871-F960-4233-9CCF-372CF47D58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 Official Evolved ColorSet 3 (2022-Q4)</Template>
  <TotalTime>2163</TotalTime>
  <Words>1320</Words>
  <Application>Microsoft Office PowerPoint</Application>
  <PresentationFormat>Widescreen</PresentationFormat>
  <Paragraphs>123</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Amazon Ember</vt:lpstr>
      <vt:lpstr>Amazon Ember display</vt:lpstr>
      <vt:lpstr>Amazon Ember display</vt:lpstr>
      <vt:lpstr>Amazon Ember Display Heavy</vt:lpstr>
      <vt:lpstr>Amazon Ember Light</vt:lpstr>
      <vt:lpstr>Arial</vt:lpstr>
      <vt:lpstr>Calibri</vt:lpstr>
      <vt:lpstr>Lucida Console</vt:lpstr>
      <vt:lpstr>OneBrand EVO (2022-Q4) ColorSet 3</vt:lpstr>
      <vt:lpstr>Module 8: Course Wrap-up</vt:lpstr>
      <vt:lpstr>Module overview</vt:lpstr>
      <vt:lpstr>Section 1: Course summary </vt:lpstr>
      <vt:lpstr>Course summary</vt:lpstr>
      <vt:lpstr>Section 2: AWS Documentation</vt:lpstr>
      <vt:lpstr>AWS Documentation</vt:lpstr>
      <vt:lpstr>Section 3: AWS Certified Machine Learning – Specialty</vt:lpstr>
      <vt:lpstr>AWS Certification exams</vt:lpstr>
      <vt:lpstr>Certification capabilities</vt:lpstr>
      <vt:lpstr>Certification requirements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4</dc:title>
  <dc:creator>Stading, Katrina</dc:creator>
  <cp:lastModifiedBy>Daswani, Monisha</cp:lastModifiedBy>
  <cp:revision>147</cp:revision>
  <dcterms:created xsi:type="dcterms:W3CDTF">2022-11-09T17:00:30Z</dcterms:created>
  <dcterms:modified xsi:type="dcterms:W3CDTF">2024-10-29T15:12:31Z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ACB859E0-10AE-4F08-A64B-CEA12117A544</vt:lpwstr>
  </property>
  <property fmtid="{D5CDD505-2E9C-101B-9397-08002B2CF9AE}" pid="3" name="ArticulatePath">
    <vt:lpwstr>https://pulselearning.sharepoint.com/sites/AmazonAcademyA11yRemediation-Partner/Shared Documents/Partner/03 Dev/Storyboards/x Templates--Do Not Use/Academy_OneBrandEvolved_PPT_Template</vt:lpwstr>
  </property>
</Properties>
</file>